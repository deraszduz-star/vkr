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200" b="1">
                <a:solidFill>
                  <a:srgbClr val="17365D"/>
                </a:solidFill>
              </a:rPr>
              <a:t>КФУ vs медиана 7 ФУ РФ (2025)</a:t>
            </a:r>
          </a:p>
        </c:rich>
      </c:tx>
      <c:layout/>
      <c:overlay val="0"/>
    </c:title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КФУ</c:v>
                </c:pt>
              </c:strCache>
            </c:strRef>
          </c:tx>
          <c:spPr>
            <a:solidFill>
              <a:srgbClr val="17365D"/>
            </a:solidFill>
            <a:ln>
              <a:solidFill>
                <a:srgbClr val="17365D"/>
              </a:solidFill>
            </a:ln>
          </c:spPr>
          <c:cat>
            <c:strRef>
              <c:f>Sheet1!$A$2:$A$6</c:f>
              <c:strCache>
                <c:ptCount val="5"/>
                <c:pt idx="0">
                  <c:v>Балл ЕГЭ</c:v>
                </c:pt>
                <c:pt idx="1">
                  <c:v>Иностр., %</c:v>
                </c:pt>
                <c:pt idx="2">
                  <c:v>НИОКР, млрд</c:v>
                </c:pt>
                <c:pt idx="3">
                  <c:v>НПР со ст.</c:v>
                </c:pt>
                <c:pt idx="4">
                  <c:v>Внебюдж.,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74.2</c:v>
                </c:pt>
                <c:pt idx="1">
                  <c:v>19.1</c:v>
                </c:pt>
                <c:pt idx="2">
                  <c:v>25.3</c:v>
                </c:pt>
                <c:pt idx="3">
                  <c:v>4.5</c:v>
                </c:pt>
                <c:pt idx="4">
                  <c:v>46.2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Медиана РФ</c:v>
                </c:pt>
              </c:strCache>
            </c:strRef>
          </c:tx>
          <c:spPr>
            <a:solidFill>
              <a:srgbClr val="F79646"/>
            </a:solidFill>
            <a:ln>
              <a:solidFill>
                <a:srgbClr val="F79646"/>
              </a:solidFill>
            </a:ln>
          </c:spPr>
          <c:cat>
            <c:strRef>
              <c:f>Sheet1!$A$2:$A$6</c:f>
              <c:strCache>
                <c:ptCount val="5"/>
                <c:pt idx="0">
                  <c:v>Балл ЕГЭ</c:v>
                </c:pt>
                <c:pt idx="1">
                  <c:v>Иностр., %</c:v>
                </c:pt>
                <c:pt idx="2">
                  <c:v>НИОКР, млрд</c:v>
                </c:pt>
                <c:pt idx="3">
                  <c:v>НПР со ст.</c:v>
                </c:pt>
                <c:pt idx="4">
                  <c:v>Внебюдж.,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62.8</c:v>
                </c:pt>
                <c:pt idx="1">
                  <c:v>4.9</c:v>
                </c:pt>
                <c:pt idx="2">
                  <c:v>3.0</c:v>
                </c:pt>
                <c:pt idx="3">
                  <c:v>3.1</c:v>
                </c:pt>
                <c:pt idx="4">
                  <c:v>25.0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7365D"/>
                </a:solidFill>
              </a:rPr>
              <a:t>Накопительный NPV (горизонт 5 лет, r = 23 %)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Накопительный NPV, млн ₽</c:v>
                </c:pt>
              </c:strCache>
            </c:strRef>
          </c:tx>
          <c:spPr>
            <a:ln w="38100">
              <a:solidFill>
                <a:srgbClr val="17365D"/>
              </a:solidFill>
            </a:ln>
          </c:spPr>
          <c:dPt>
            <c:idx val="0"/>
            <c:spPr>
              <a:solidFill>
                <a:srgbClr val="17365D"/>
              </a:solidFill>
            </c:spPr>
          </c:dPt>
          <c:dPt>
            <c:idx val="1"/>
            <c:spPr>
              <a:solidFill>
                <a:srgbClr val="17365D"/>
              </a:solidFill>
            </c:spPr>
          </c:dPt>
          <c:dPt>
            <c:idx val="2"/>
            <c:spPr>
              <a:solidFill>
                <a:srgbClr val="17365D"/>
              </a:solidFill>
            </c:spPr>
          </c:dPt>
          <c:dPt>
            <c:idx val="3"/>
            <c:spPr>
              <a:solidFill>
                <a:srgbClr val="17365D"/>
              </a:solidFill>
            </c:spPr>
          </c:dPt>
          <c:dPt>
            <c:idx val="4"/>
            <c:spPr>
              <a:solidFill>
                <a:srgbClr val="17365D"/>
              </a:solidFill>
            </c:spPr>
          </c:dPt>
          <c:dPt>
            <c:idx val="5"/>
            <c:spPr>
              <a:solidFill>
                <a:srgbClr val="17365D"/>
              </a:solidFill>
            </c:spPr>
          </c:dPt>
          <c:dLbls>
            <c:txPr>
              <a:bodyPr/>
              <a:lstStyle/>
              <a:p>
                <a:pPr>
                  <a:defRPr sz="1000" b="1">
                    <a:solidFill>
                      <a:srgbClr val="17365D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-0.79</c:v>
                </c:pt>
                <c:pt idx="1">
                  <c:v>0.8</c:v>
                </c:pt>
                <c:pt idx="2">
                  <c:v>1.99</c:v>
                </c:pt>
                <c:pt idx="3">
                  <c:v>3.06</c:v>
                </c:pt>
                <c:pt idx="4">
                  <c:v>3.55</c:v>
                </c:pt>
                <c:pt idx="5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7365D"/>
                </a:solidFill>
              </a:rPr>
              <a:t>Анализ чувствительности NPV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NPV, тыс. ₽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C0504D"/>
              </a:solidFill>
            </c:spPr>
          </c:dPt>
          <c:dPt>
            <c:idx val="2"/>
            <c:spPr>
              <a:solidFill>
                <a:srgbClr val="F79646"/>
              </a:solidFill>
            </c:spPr>
          </c:dPt>
          <c:dPt>
            <c:idx val="3"/>
            <c:spPr>
              <a:solidFill>
                <a:srgbClr val="F79646"/>
              </a:solidFill>
            </c:spPr>
          </c:dPt>
          <c:dPt>
            <c:idx val="4"/>
            <c:spPr>
              <a:solidFill>
                <a:srgbClr val="4A7BB7"/>
              </a:solidFill>
            </c:spPr>
          </c:dPt>
          <c:dPt>
            <c:idx val="5"/>
            <c:spPr>
              <a:solidFill>
                <a:srgbClr val="9BBB59"/>
              </a:solidFill>
            </c:spPr>
          </c:dPt>
          <c:dLbls>
            <c:txPr>
              <a:bodyPr/>
              <a:lstStyle/>
              <a:p>
                <a:pPr>
                  <a:defRPr sz="1000" b="1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−50 % CF</c:v>
                </c:pt>
                <c:pt idx="1">
                  <c:v>Песс. CF+r</c:v>
                </c:pt>
                <c:pt idx="2">
                  <c:v>−30 % CF</c:v>
                </c:pt>
                <c:pt idx="3">
                  <c:v>+50 % затр.</c:v>
                </c:pt>
                <c:pt idx="4">
                  <c:v>−18 % r=30 %</c:v>
                </c:pt>
                <c:pt idx="5">
                  <c:v>Базовый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1596</c:v>
                </c:pt>
                <c:pt idx="1">
                  <c:v>2020</c:v>
                </c:pt>
                <c:pt idx="2">
                  <c:v>2543</c:v>
                </c:pt>
                <c:pt idx="3">
                  <c:v>3604</c:v>
                </c:pt>
                <c:pt idx="4">
                  <c:v>3261</c:v>
                </c:pt>
                <c:pt idx="5">
                  <c:v>4000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51444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88000"/>
            <a:ext cx="8063999" cy="5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PT Sans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PT Sans"/>
              </a:rPr>
              <a:t>ФГАОУ ВО «Казанский (Приволжский) федеральный университет»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PT Sans"/>
              </a:rPr>
              <a:t>Институт управления, экономики и финансов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806399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1" i="0">
                <a:solidFill>
                  <a:srgbClr val="F2C811"/>
                </a:solidFill>
                <a:latin typeface="PT Sans"/>
              </a:rPr>
              <a:t>ВЫПУСКНАЯ КВАЛИФИКАЦИОННАЯ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728000"/>
            <a:ext cx="8063999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Моделирование и анализ</a:t>
            </a:r>
          </a:p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бизнес-процессов</a:t>
            </a:r>
          </a:p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в образовательной организации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3851999" y="3060000"/>
            <a:ext cx="1440000" cy="216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3384000"/>
            <a:ext cx="3600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ВЫПОЛНИЛ: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ФИО студента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группа __________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направление 38.03.05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0000" y="3384000"/>
            <a:ext cx="3600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НАУЧНЫЙ РУКОВОДИТЕЛЬ: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ФИО, учёная степень,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PT Sans"/>
              </a:rPr>
              <a:t>учёное звание, должность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4752000"/>
            <a:ext cx="806399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1">
                <a:solidFill>
                  <a:srgbClr val="F2C811"/>
                </a:solidFill>
                <a:latin typeface="PT Sans"/>
              </a:rPr>
              <a:t>Казань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АКТУАЛЬНОСТЬ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999" y="900000"/>
            <a:ext cx="2664000" cy="30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1999" y="900000"/>
            <a:ext cx="2664000" cy="90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999" y="1080000"/>
            <a:ext cx="2664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6000" b="1" i="0">
                <a:solidFill>
                  <a:srgbClr val="17365D"/>
                </a:solidFill>
                <a:latin typeface="PT Sans"/>
              </a:rPr>
              <a:t>95 %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999" y="1800000"/>
            <a:ext cx="2520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управленческих процессов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вузов в электронном виде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к 2030 году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999" y="3600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ctr"/>
            <a:r>
              <a:rPr sz="900" b="0" i="1">
                <a:solidFill>
                  <a:srgbClr val="595959"/>
                </a:solidFill>
                <a:latin typeface="PT Sans"/>
              </a:rPr>
              <a:t>Распоряжение Правительства РФ</a:t>
            </a:r>
          </a:p>
          <a:p>
            <a:pPr algn="ctr"/>
            <a:r>
              <a:rPr sz="900" b="0" i="1">
                <a:solidFill>
                  <a:srgbClr val="595959"/>
                </a:solidFill>
                <a:latin typeface="PT Sans"/>
              </a:rPr>
              <a:t>№ 3759-р от 21.12.2021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59999" y="900000"/>
            <a:ext cx="2664000" cy="30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59999" y="900000"/>
            <a:ext cx="2664000" cy="9000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9999" y="1080000"/>
            <a:ext cx="2664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6000" b="1" i="0">
                <a:solidFill>
                  <a:srgbClr val="F79646"/>
                </a:solidFill>
                <a:latin typeface="PT Sans"/>
              </a:rPr>
              <a:t>29 %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1999" y="1800000"/>
            <a:ext cx="2520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российских вузов —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«цифровые аутсайдеры»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(48 % — последователи,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23 % — лидеры)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1999" y="3600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ctr"/>
            <a:r>
              <a:rPr sz="900" b="0" i="1">
                <a:solidFill>
                  <a:srgbClr val="595959"/>
                </a:solidFill>
                <a:latin typeface="PT Sans"/>
              </a:rPr>
              <a:t>НИУ ВШЭ, исследование</a:t>
            </a:r>
          </a:p>
          <a:p>
            <a:pPr algn="ctr"/>
            <a:r>
              <a:rPr sz="900" b="0" i="1">
                <a:solidFill>
                  <a:srgbClr val="595959"/>
                </a:solidFill>
                <a:latin typeface="PT Sans"/>
              </a:rPr>
              <a:t>цифровой трансформации 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67999" y="900000"/>
            <a:ext cx="2664000" cy="30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67999" y="900000"/>
            <a:ext cx="2664000" cy="9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67999" y="1080000"/>
            <a:ext cx="2664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6000" b="1" i="0">
                <a:solidFill>
                  <a:srgbClr val="C0504D"/>
                </a:solidFill>
                <a:latin typeface="PT Sans"/>
              </a:rPr>
              <a:t>64 %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39999" y="1800000"/>
            <a:ext cx="2520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вузов: главный барьер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цифровизации — дефицит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ИТ-кадров (52 % — финансы,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PT Sans"/>
              </a:rPr>
              <a:t>47 % — низкая грамотность)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9999" y="3600000"/>
            <a:ext cx="2520000" cy="324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ctr"/>
            <a:r>
              <a:rPr sz="900" b="0" i="1">
                <a:solidFill>
                  <a:srgbClr val="595959"/>
                </a:solidFill>
                <a:latin typeface="PT Sans"/>
              </a:rPr>
              <a:t>НИУ ВШЭ, исследование</a:t>
            </a:r>
          </a:p>
          <a:p>
            <a:pPr algn="ctr"/>
            <a:r>
              <a:rPr sz="900" b="0" i="1">
                <a:solidFill>
                  <a:srgbClr val="595959"/>
                </a:solidFill>
                <a:latin typeface="PT Sans"/>
              </a:rPr>
              <a:t>цифровой трансформации 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Нормативное давление + низкая зрелость + кадровый барьер  =  необходимость моделирования и анализа БП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999" y="864000"/>
            <a:ext cx="8640000" cy="900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864000"/>
            <a:ext cx="900000" cy="90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 i="0">
                <a:solidFill>
                  <a:srgbClr val="F2C811"/>
                </a:solidFill>
                <a:latin typeface="PT Sans"/>
              </a:rPr>
              <a:t>ЦЕЛЬ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936000"/>
            <a:ext cx="7380000" cy="75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PT Sans"/>
              </a:rPr>
              <a:t>Изучение теоретических основ моделирования и анализа бизнес-процессов и их практическое применение в деятельности структурных подразделений КФУ (Дирекция музеев, Управление кадров, Управление документооборота).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547999" y="2700000"/>
            <a:ext cx="5400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3383999" y="2700000"/>
            <a:ext cx="5400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219999" y="2700000"/>
            <a:ext cx="5400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055999" y="2700000"/>
            <a:ext cx="540000" cy="216000"/>
          </a:xfrm>
          <a:prstGeom prst="rightArrow">
            <a:avLst/>
          </a:prstGeom>
          <a:solidFill>
            <a:srgbClr val="4A7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1999" y="2160000"/>
            <a:ext cx="1296000" cy="1296000"/>
          </a:xfrm>
          <a:prstGeom prst="ellipse">
            <a:avLst/>
          </a:prstGeom>
          <a:solidFill>
            <a:srgbClr val="4A7BB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999" y="2232000"/>
            <a:ext cx="1296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99" y="2663999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ТЕОРИЯ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999" y="3528000"/>
            <a:ext cx="1512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IDEF0 · BPMN · EPC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Lean: 5С · 7 потерь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ДЦ/НДБ/НДЦ</a:t>
            </a:r>
          </a:p>
        </p:txBody>
      </p:sp>
      <p:sp>
        <p:nvSpPr>
          <p:cNvPr id="17" name="Oval 16"/>
          <p:cNvSpPr/>
          <p:nvPr/>
        </p:nvSpPr>
        <p:spPr>
          <a:xfrm>
            <a:off x="2087999" y="2160000"/>
            <a:ext cx="1296000" cy="1296000"/>
          </a:xfrm>
          <a:prstGeom prst="ellipse">
            <a:avLst/>
          </a:prstGeom>
          <a:solidFill>
            <a:srgbClr val="3A68A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7999" y="2232000"/>
            <a:ext cx="1296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7999" y="2663999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ОТРАСЛЬ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9999" y="3528000"/>
            <a:ext cx="1512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Анализ ВО РФ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КФУ vs 7 ФУ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Критерии отбора</a:t>
            </a:r>
          </a:p>
        </p:txBody>
      </p:sp>
      <p:sp>
        <p:nvSpPr>
          <p:cNvPr id="21" name="Oval 20"/>
          <p:cNvSpPr/>
          <p:nvPr/>
        </p:nvSpPr>
        <p:spPr>
          <a:xfrm>
            <a:off x="3923999" y="2160000"/>
            <a:ext cx="1296000" cy="1296000"/>
          </a:xfrm>
          <a:prstGeom prst="ellipse">
            <a:avLst/>
          </a:prstGeom>
          <a:solidFill>
            <a:srgbClr val="2C558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23999" y="2232000"/>
            <a:ext cx="1296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3999" y="2663999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AS 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5999" y="3528000"/>
            <a:ext cx="1512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9 моделей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Узкие места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Доля НДЦ/НДБ</a:t>
            </a:r>
          </a:p>
        </p:txBody>
      </p:sp>
      <p:sp>
        <p:nvSpPr>
          <p:cNvPr id="25" name="Oval 24"/>
          <p:cNvSpPr/>
          <p:nvPr/>
        </p:nvSpPr>
        <p:spPr>
          <a:xfrm>
            <a:off x="5759999" y="2160000"/>
            <a:ext cx="1296000" cy="1296000"/>
          </a:xfrm>
          <a:prstGeom prst="ellipse">
            <a:avLst/>
          </a:prstGeom>
          <a:solidFill>
            <a:srgbClr val="22467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9999" y="2232000"/>
            <a:ext cx="1296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9999" y="2663999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TO 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1999" y="3528000"/>
            <a:ext cx="1512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9 моделей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5С · Битрикс24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OCR · QR-маршрут</a:t>
            </a:r>
          </a:p>
        </p:txBody>
      </p:sp>
      <p:sp>
        <p:nvSpPr>
          <p:cNvPr id="29" name="Oval 28"/>
          <p:cNvSpPr/>
          <p:nvPr/>
        </p:nvSpPr>
        <p:spPr>
          <a:xfrm>
            <a:off x="7595999" y="2160000"/>
            <a:ext cx="1296000" cy="1296000"/>
          </a:xfrm>
          <a:prstGeom prst="ellipse">
            <a:avLst/>
          </a:prstGeom>
          <a:solidFill>
            <a:srgbClr val="17365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95999" y="2232000"/>
            <a:ext cx="1296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PT San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95999" y="2663999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ЭКОНОМИКА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7999" y="3528000"/>
            <a:ext cx="1512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NPV · IRR · DPP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Чувствительность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PT Sans"/>
              </a:rPr>
              <a:t>Порядок внедрения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ТЕОРЕТИКО-МЕТОДОЛОГИЧЕСКАЯ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432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PT Sans"/>
              </a:rPr>
              <a:t>Результаты по задаче 1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4</a:t>
            </a:r>
          </a:p>
        </p:txBody>
      </p:sp>
      <p:sp>
        <p:nvSpPr>
          <p:cNvPr id="7" name="Trapezoid 6"/>
          <p:cNvSpPr/>
          <p:nvPr/>
        </p:nvSpPr>
        <p:spPr>
          <a:xfrm>
            <a:off x="1260000" y="900000"/>
            <a:ext cx="1260000" cy="900000"/>
          </a:xfrm>
          <a:prstGeom prst="trapezoid">
            <a:avLst/>
          </a:prstGeom>
          <a:solidFill>
            <a:srgbClr val="17365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0000" y="1008000"/>
            <a:ext cx="1260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IDEF0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стратегия</a:t>
            </a:r>
          </a:p>
        </p:txBody>
      </p:sp>
      <p:sp>
        <p:nvSpPr>
          <p:cNvPr id="9" name="Trapezoid 8"/>
          <p:cNvSpPr/>
          <p:nvPr/>
        </p:nvSpPr>
        <p:spPr>
          <a:xfrm>
            <a:off x="900000" y="1800000"/>
            <a:ext cx="1980000" cy="972000"/>
          </a:xfrm>
          <a:prstGeom prst="trapezoid">
            <a:avLst/>
          </a:prstGeom>
          <a:solidFill>
            <a:srgbClr val="4A7BB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872000"/>
            <a:ext cx="1980000" cy="827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BPMN 2.0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операции, исполнители</a:t>
            </a:r>
          </a:p>
        </p:txBody>
      </p:sp>
      <p:sp>
        <p:nvSpPr>
          <p:cNvPr id="11" name="Trapezoid 10"/>
          <p:cNvSpPr/>
          <p:nvPr/>
        </p:nvSpPr>
        <p:spPr>
          <a:xfrm>
            <a:off x="468000" y="2772000"/>
            <a:ext cx="2844000" cy="1080000"/>
          </a:xfrm>
          <a:prstGeom prst="trapezoid">
            <a:avLst/>
          </a:prstGeom>
          <a:solidFill>
            <a:srgbClr val="F7964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000" y="2844000"/>
            <a:ext cx="2844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EPC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детализация, узкие места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0" y="900000"/>
            <a:ext cx="1692000" cy="30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900000"/>
            <a:ext cx="1692000" cy="432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0" y="900000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T Sans"/>
              </a:rPr>
              <a:t>НОТАЦИИ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000" y="1403999"/>
            <a:ext cx="1476000" cy="248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IDEF0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   FIPS PUB 183 (NIST)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BPMN 2.0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   OMG, 2011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EPC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   Business Studio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4000" y="900000"/>
            <a:ext cx="1692000" cy="30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7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4000" y="900000"/>
            <a:ext cx="1692000" cy="432000"/>
          </a:xfrm>
          <a:prstGeom prst="rect">
            <a:avLst/>
          </a:prstGeom>
          <a:solidFill>
            <a:srgbClr val="4A7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4000" y="900000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T Sans"/>
              </a:rPr>
              <a:t>LEAN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0" y="1403999"/>
            <a:ext cx="1476000" cy="248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7 видов потерь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   (Тайити Оно)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ДЦ / НДБ / НДЦ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Диаграмма Ишикавы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5С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DMAIC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28000" y="900000"/>
            <a:ext cx="1692000" cy="30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28000" y="900000"/>
            <a:ext cx="1692000" cy="43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28000" y="900000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T Sans"/>
              </a:rPr>
              <a:t>ЭКОНОМИКА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6000" y="1403999"/>
            <a:ext cx="1476000" cy="248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NPV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IRR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DPP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Анализ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   чувствительности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•  SMART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Стек: НОТАЦИИ + LEAN + ИНВЕСТИЦИОННЫЙ АНАЛИЗ — применён к 3 подразделениям КФУ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ПОЛОЖЕНИЕ КФУ В ОТРАСЛИ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432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PT Sans"/>
              </a:rPr>
              <a:t>Результаты по задаче 2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51999" y="827999"/>
          <a:ext cx="4140000" cy="30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680000" y="827999"/>
            <a:ext cx="4212000" cy="28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0" y="827999"/>
            <a:ext cx="4212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ЛИДЕРСТВО КФУ СРЕДИ 7 ФЕДЕРАЛЬНЫХ ВУЗОВ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0" y="1187999"/>
            <a:ext cx="4212000" cy="32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88000" y="1187999"/>
            <a:ext cx="198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Балл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0000" y="1187999"/>
            <a:ext cx="126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17365D"/>
                </a:solidFill>
                <a:latin typeface="PT Sans"/>
              </a:rPr>
              <a:t>74,2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1999" y="1187999"/>
            <a:ext cx="9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2C811"/>
                </a:solidFill>
                <a:latin typeface="PT Sans"/>
              </a:rPr>
              <a:t>★ 1/7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0" y="1547999"/>
            <a:ext cx="4212000" cy="32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8000" y="1547999"/>
            <a:ext cx="198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Иностр. студенты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0" y="1547999"/>
            <a:ext cx="126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17365D"/>
                </a:solidFill>
                <a:latin typeface="PT Sans"/>
              </a:rPr>
              <a:t>19,1 %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1999" y="1547999"/>
            <a:ext cx="9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2C811"/>
                </a:solidFill>
                <a:latin typeface="PT Sans"/>
              </a:rPr>
              <a:t>★ 1/7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0" y="1907999"/>
            <a:ext cx="4212000" cy="32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8000" y="1907999"/>
            <a:ext cx="198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Внебюджет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0000" y="1907999"/>
            <a:ext cx="126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17365D"/>
                </a:solidFill>
                <a:latin typeface="PT Sans"/>
              </a:rPr>
              <a:t>46,2 %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1999" y="1907999"/>
            <a:ext cx="9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2C811"/>
                </a:solidFill>
                <a:latin typeface="PT Sans"/>
              </a:rPr>
              <a:t>★ 2/7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0" y="2267999"/>
            <a:ext cx="4212000" cy="32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8000" y="2267999"/>
            <a:ext cx="198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PT Sans"/>
              </a:rPr>
              <a:t>НИОКР, млрд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0000" y="2267999"/>
            <a:ext cx="126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>
                <a:solidFill>
                  <a:srgbClr val="17365D"/>
                </a:solidFill>
                <a:latin typeface="PT Sans"/>
              </a:rPr>
              <a:t>2,53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1999" y="2267999"/>
            <a:ext cx="9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2C811"/>
                </a:solidFill>
                <a:latin typeface="PT Sans"/>
              </a:rPr>
              <a:t>★ 2/7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🏛 Дирекция музеев (800 тыс. ед.)   ·   👥 ЦРКП (6 615 ППС)   ·   📄 УДК (170 тыс. ед. архива)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АНАЛИЗ ТЕКУЩЕГО СОСТОЯНИЯ (AS 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432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PT Sans"/>
              </a:rPr>
              <a:t>Результаты по задаче 3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999" y="864000"/>
            <a:ext cx="2772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999" y="864000"/>
            <a:ext cx="2772000" cy="3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99" y="864000"/>
            <a:ext cx="277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Дирекция музеев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99" y="1367999"/>
            <a:ext cx="180000" cy="16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5999" y="1367999"/>
            <a:ext cx="180000" cy="162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99" y="1367999"/>
            <a:ext cx="2268001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PT Sans"/>
              </a:rPr>
              <a:t>45 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99" y="1908000"/>
            <a:ext cx="2268001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PT Sans"/>
              </a:rPr>
              <a:t>на экспонат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99" y="2196000"/>
            <a:ext cx="2268001" cy="11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ожидание ПО 10 мин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9 экспонатов / день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ручная фотосъёмка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отсутствие шаблонов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1999" y="864000"/>
            <a:ext cx="2772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31999" y="864000"/>
            <a:ext cx="2772000" cy="3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31999" y="864000"/>
            <a:ext cx="277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ЦРКП  (Управление кадров)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5999" y="1367999"/>
            <a:ext cx="180000" cy="16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5999" y="1367999"/>
            <a:ext cx="180000" cy="162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3999" y="1367999"/>
            <a:ext cx="2268001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PT Sans"/>
              </a:rPr>
              <a:t>5 дней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3999" y="1908000"/>
            <a:ext cx="2268001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PT Sans"/>
              </a:rPr>
              <a:t>на заявление ППС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3999" y="2196000"/>
            <a:ext cx="2268001" cy="11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20 сотрудников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40 ч/мес транспорт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бумажный документооборот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192 мин потерь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1999" y="864000"/>
            <a:ext cx="2772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11999" y="864000"/>
            <a:ext cx="2772000" cy="3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11999" y="864000"/>
            <a:ext cx="2772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УДК (Документооборот)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55999" y="1367999"/>
            <a:ext cx="180000" cy="16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5999" y="1853999"/>
            <a:ext cx="180000" cy="1134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3999" y="1367999"/>
            <a:ext cx="2268001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PT Sans"/>
              </a:rPr>
              <a:t>22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3999" y="1908000"/>
            <a:ext cx="2268001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PT Sans"/>
              </a:rPr>
              <a:t>на справку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3999" y="2196000"/>
            <a:ext cx="2268001" cy="11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архив оцифрован 12 %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ОРД 7 ч ожидания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176 сек / регистрация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PT Sans"/>
              </a:rPr>
              <a:t>•  ручной поиск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999" y="3491999"/>
            <a:ext cx="86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17365D"/>
                </a:solidFill>
                <a:latin typeface="PT Sans"/>
              </a:rPr>
              <a:t>СТРУКТУРА ОПЕРАЦИЙ В ИССЛЕДОВАННЫХ ПРОЦЕССАХ: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999" y="3743998"/>
            <a:ext cx="5529600" cy="396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81599" y="3743998"/>
            <a:ext cx="2073600" cy="39600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55199" y="3743998"/>
            <a:ext cx="1036800" cy="396000"/>
          </a:xfrm>
          <a:prstGeom prst="rect">
            <a:avLst/>
          </a:prstGeom>
          <a:solidFill>
            <a:srgbClr val="9BB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1999" y="3743998"/>
            <a:ext cx="5529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НДЦ — устранить  64 %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81599" y="3743998"/>
            <a:ext cx="20736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НДБ — авто  24 %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55199" y="3743998"/>
            <a:ext cx="10368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ДЦ  12 %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9 моделей  ·  6 из 7 видов потерь Тайити Оно  ·  3 узких места: ручной ввод · бумага · ожидание ИТ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ПРОЕКТИРОВАНИЕ ЦЕЛЕВЫХ ПРОЦЕССОВ (TO BE)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432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PT Sans"/>
              </a:rPr>
              <a:t>Результаты по задаче 4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999" y="864000"/>
            <a:ext cx="8640000" cy="9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999" y="864000"/>
            <a:ext cx="1260000" cy="972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99" y="864000"/>
            <a:ext cx="1260000" cy="9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Дирекция музеев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84000" y="972000"/>
            <a:ext cx="1800000" cy="75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84000" y="972000"/>
            <a:ext cx="18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PT Sans"/>
              </a:rPr>
              <a:t>AS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4000" y="1152000"/>
            <a:ext cx="180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PT Sans"/>
              </a:rPr>
              <a:t>45 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4000" y="1512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PT Sans"/>
              </a:rPr>
              <a:t>9 экс/день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56000" y="1188000"/>
            <a:ext cx="360000" cy="288000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87999" y="972000"/>
            <a:ext cx="1800000" cy="75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7999" y="972000"/>
            <a:ext cx="18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1" i="0">
                <a:solidFill>
                  <a:srgbClr val="9BBB59"/>
                </a:solidFill>
                <a:latin typeface="PT Sans"/>
              </a:rPr>
              <a:t>TO 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7999" y="1152000"/>
            <a:ext cx="180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 i="0">
                <a:solidFill>
                  <a:srgbClr val="9BBB59"/>
                </a:solidFill>
                <a:latin typeface="PT Sans"/>
              </a:rPr>
              <a:t>18 мин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7999" y="1512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PT Sans"/>
              </a:rPr>
              <a:t>30 экс/день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5999" y="936000"/>
            <a:ext cx="306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PT Sans"/>
              </a:rPr>
              <a:t>5С + шаблоны</a:t>
            </a:r>
          </a:p>
          <a:p>
            <a:pPr algn="l"/>
            <a:r>
              <a:rPr sz="1100" b="1" i="0">
                <a:solidFill>
                  <a:srgbClr val="000000"/>
                </a:solidFill>
                <a:latin typeface="PT Sans"/>
              </a:rPr>
              <a:t>привлечение лаборанта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5999" y="144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>
                <a:solidFill>
                  <a:srgbClr val="17365D"/>
                </a:solidFill>
                <a:latin typeface="PT Sans"/>
              </a:rPr>
              <a:t>I₀ 65 тыс. 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5999" y="162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9BBB59"/>
                </a:solidFill>
                <a:latin typeface="PT Sans"/>
              </a:rPr>
              <a:t>▲ +233 % произв.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999" y="1908000"/>
            <a:ext cx="8640000" cy="9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1999" y="1908000"/>
            <a:ext cx="1260000" cy="972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999" y="1908000"/>
            <a:ext cx="1260000" cy="9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ЦРКП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84000" y="2016000"/>
            <a:ext cx="1800000" cy="75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84000" y="2016000"/>
            <a:ext cx="18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PT Sans"/>
              </a:rPr>
              <a:t>AS 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4000" y="2196000"/>
            <a:ext cx="180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PT Sans"/>
              </a:rPr>
              <a:t>5 дней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4000" y="2556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PT Sans"/>
              </a:rPr>
              <a:t>20 чел.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456000" y="2232000"/>
            <a:ext cx="360000" cy="288000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87999" y="2016000"/>
            <a:ext cx="1800000" cy="75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87999" y="2016000"/>
            <a:ext cx="18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1" i="0">
                <a:solidFill>
                  <a:srgbClr val="9BBB59"/>
                </a:solidFill>
                <a:latin typeface="PT Sans"/>
              </a:rPr>
              <a:t>TO 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7999" y="2196000"/>
            <a:ext cx="180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 i="0">
                <a:solidFill>
                  <a:srgbClr val="9BBB59"/>
                </a:solidFill>
                <a:latin typeface="PT Sans"/>
              </a:rPr>
              <a:t>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7999" y="2556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PT Sans"/>
              </a:rPr>
              <a:t>3 чел.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5999" y="1980000"/>
            <a:ext cx="306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PT Sans"/>
              </a:rPr>
              <a:t>Битрикс24</a:t>
            </a:r>
          </a:p>
          <a:p>
            <a:pPr algn="l"/>
            <a:r>
              <a:rPr sz="1100" b="1" i="0">
                <a:solidFill>
                  <a:srgbClr val="000000"/>
                </a:solidFill>
                <a:latin typeface="PT Sans"/>
              </a:rPr>
              <a:t>электронная подпись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5999" y="2484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>
                <a:solidFill>
                  <a:srgbClr val="17365D"/>
                </a:solidFill>
                <a:latin typeface="PT Sans"/>
              </a:rPr>
              <a:t>I₀ 450 тыс. 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5999" y="2664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9BBB59"/>
                </a:solidFill>
                <a:latin typeface="PT Sans"/>
              </a:rPr>
              <a:t>▲ −17 шт. ед.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999" y="2952000"/>
            <a:ext cx="8640000" cy="9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1999" y="2952000"/>
            <a:ext cx="1260000" cy="972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1999" y="2952000"/>
            <a:ext cx="1260000" cy="9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T Sans"/>
              </a:rPr>
              <a:t>УДК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000" y="3060000"/>
            <a:ext cx="1800000" cy="75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84000" y="3060000"/>
            <a:ext cx="18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PT Sans"/>
              </a:rPr>
              <a:t>AS 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84000" y="3240000"/>
            <a:ext cx="180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PT Sans"/>
              </a:rPr>
              <a:t>12 % архива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84000" y="3600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PT Sans"/>
              </a:rPr>
              <a:t>ОРД 7 ч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3456000" y="3276000"/>
            <a:ext cx="360000" cy="288000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87999" y="3060000"/>
            <a:ext cx="1800000" cy="75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87999" y="3060000"/>
            <a:ext cx="18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1" i="0">
                <a:solidFill>
                  <a:srgbClr val="9BBB59"/>
                </a:solidFill>
                <a:latin typeface="PT Sans"/>
              </a:rPr>
              <a:t>TO BE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7999" y="3240000"/>
            <a:ext cx="180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 i="0">
                <a:solidFill>
                  <a:srgbClr val="9BBB59"/>
                </a:solidFill>
                <a:latin typeface="PT Sans"/>
              </a:rPr>
              <a:t>100 % архива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87999" y="3600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PT Sans"/>
              </a:rPr>
              <a:t>ОРД −49,9 %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95999" y="3024000"/>
            <a:ext cx="306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PT Sans"/>
              </a:rPr>
              <a:t>OCR + студенты</a:t>
            </a:r>
          </a:p>
          <a:p>
            <a:pPr algn="l"/>
            <a:r>
              <a:rPr sz="1100" b="1" i="0">
                <a:solidFill>
                  <a:srgbClr val="000000"/>
                </a:solidFill>
                <a:latin typeface="PT Sans"/>
              </a:rPr>
              <a:t>QR + ИИ-проверка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95999" y="3528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>
                <a:solidFill>
                  <a:srgbClr val="17365D"/>
                </a:solidFill>
                <a:latin typeface="PT Sans"/>
              </a:rPr>
              <a:t>I₀ 277,5 тыс. 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5999" y="3708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>
                <a:solidFill>
                  <a:srgbClr val="9BBB59"/>
                </a:solidFill>
                <a:latin typeface="PT Sans"/>
              </a:rPr>
              <a:t>▲ регистр. +21,9 %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9 моделей TO BE  ·  совокупные инвестиции 792,5 тыс. ₽  ·  3 узких места = 3 класса решений (lean + cloud + OCR)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ЭКОНОМИЧЕСКАЯ ЭФФЕКТИВНОСТЬ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432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PT Sans"/>
              </a:rPr>
              <a:t>Результаты по задаче 5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999" y="827999"/>
            <a:ext cx="1692000" cy="827999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999" y="845999"/>
            <a:ext cx="1692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I₀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999" y="1007999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T Sans"/>
              </a:rPr>
              <a:t>792,5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99" y="1421999"/>
            <a:ext cx="169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PT Sans"/>
              </a:rPr>
              <a:t>тыс. 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7999" y="827999"/>
            <a:ext cx="1692000" cy="827999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97999" y="845999"/>
            <a:ext cx="1692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ΔCF/год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7999" y="1007999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T Sans"/>
              </a:rPr>
              <a:t>1 709,7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7999" y="1421999"/>
            <a:ext cx="169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PT Sans"/>
              </a:rPr>
              <a:t>тыс. 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3999" y="827999"/>
            <a:ext cx="1692000" cy="827999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3999" y="845999"/>
            <a:ext cx="1692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NPV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3999" y="1007999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T Sans"/>
              </a:rPr>
              <a:t>4 000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3999" y="1421999"/>
            <a:ext cx="169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PT Sans"/>
              </a:rPr>
              <a:t>тыс. ₽ (5 лет)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9999" y="827999"/>
            <a:ext cx="1692000" cy="827999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9999" y="845999"/>
            <a:ext cx="1692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IRR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9999" y="1007999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T Sans"/>
              </a:rPr>
              <a:t>215 %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9999" y="1421999"/>
            <a:ext cx="169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PT Sans"/>
              </a:rPr>
              <a:t>ставка 23 %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35999" y="827999"/>
            <a:ext cx="1692000" cy="827999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5999" y="845999"/>
            <a:ext cx="1692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>
                <a:solidFill>
                  <a:srgbClr val="F2C811"/>
                </a:solidFill>
                <a:latin typeface="PT Sans"/>
              </a:rPr>
              <a:t>DPP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999" y="1007999"/>
            <a:ext cx="169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T Sans"/>
              </a:rPr>
              <a:t>≈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999" y="1421999"/>
            <a:ext cx="169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PT Sans"/>
              </a:rPr>
              <a:t>месяцев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251999" y="1800000"/>
          <a:ext cx="4680000" cy="27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5040000" y="1800000"/>
          <a:ext cx="3851999" cy="2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Rectangle 28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Очерёдность внедрения:   ① ЦРКП  →  ② УДК  →  ③ МУЗЕИ   ·   запас прочности 83 %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108000"/>
            <a:ext cx="720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>
                <a:solidFill>
                  <a:srgbClr val="17365D"/>
                </a:solidFill>
                <a:latin typeface="PT Sans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432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PT Sans"/>
              </a:rPr>
              <a:t>Цель достигнута · 5 задач решены · методика воспроизводима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666000"/>
            <a:ext cx="8640000" cy="1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4860000"/>
            <a:ext cx="54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200" b="1" i="0">
                <a:solidFill>
                  <a:srgbClr val="17365D"/>
                </a:solidFill>
                <a:latin typeface="PT Sans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999" y="900000"/>
            <a:ext cx="2772000" cy="169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999" y="900000"/>
            <a:ext cx="2772000" cy="324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99" y="900000"/>
            <a:ext cx="27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МЕТОДИКА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99" y="1296000"/>
            <a:ext cx="2772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600" b="1" i="0">
                <a:solidFill>
                  <a:srgbClr val="17365D"/>
                </a:solidFill>
                <a:latin typeface="PT Sans"/>
              </a:rPr>
              <a:t>3 уровня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999" y="2052000"/>
            <a:ext cx="277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PT Sans"/>
              </a:rPr>
              <a:t>IDEF0 + BPMN + EPC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1999" y="900000"/>
            <a:ext cx="2772000" cy="169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7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31999" y="900000"/>
            <a:ext cx="2772000" cy="324000"/>
          </a:xfrm>
          <a:prstGeom prst="rect">
            <a:avLst/>
          </a:prstGeom>
          <a:solidFill>
            <a:srgbClr val="4A7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1999" y="900000"/>
            <a:ext cx="27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ОТРАСЛЬ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1999" y="1296000"/>
            <a:ext cx="2772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600" b="1" i="0">
                <a:solidFill>
                  <a:srgbClr val="4A7BB7"/>
                </a:solidFill>
                <a:latin typeface="PT Sans"/>
              </a:rPr>
              <a:t>★ 1/7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1999" y="2052000"/>
            <a:ext cx="277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PT Sans"/>
              </a:rPr>
              <a:t>КФУ среди ФУ РФ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1999" y="900000"/>
            <a:ext cx="2772000" cy="169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11999" y="900000"/>
            <a:ext cx="2772000" cy="324000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1999" y="900000"/>
            <a:ext cx="277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AS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1999" y="1296000"/>
            <a:ext cx="2772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600" b="1" i="0">
                <a:solidFill>
                  <a:srgbClr val="F79646"/>
                </a:solidFill>
                <a:latin typeface="PT Sans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1999" y="2052000"/>
            <a:ext cx="277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PT Sans"/>
              </a:rPr>
              <a:t>моделей · 64 % НДЦ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000" y="2700000"/>
            <a:ext cx="4140000" cy="1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2000" y="2700000"/>
            <a:ext cx="4140000" cy="324000"/>
          </a:xfrm>
          <a:prstGeom prst="rect">
            <a:avLst/>
          </a:prstGeom>
          <a:solidFill>
            <a:srgbClr val="9BB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000" y="2700000"/>
            <a:ext cx="414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TO BE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000" y="3096000"/>
            <a:ext cx="4140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600" b="1" i="0">
                <a:solidFill>
                  <a:srgbClr val="9BBB59"/>
                </a:solidFill>
                <a:latin typeface="PT Sans"/>
              </a:rPr>
              <a:t>−17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000" y="3780000"/>
            <a:ext cx="414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PT Sans"/>
              </a:rPr>
              <a:t>штатных единиц ЦРКП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2000" y="2700000"/>
            <a:ext cx="4140000" cy="1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2000" y="2700000"/>
            <a:ext cx="4140000" cy="324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2000" y="2700000"/>
            <a:ext cx="4140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T Sans"/>
              </a:rPr>
              <a:t>ЭКОНОМИКА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2000" y="3096000"/>
            <a:ext cx="4140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3600" b="1" i="0">
                <a:solidFill>
                  <a:srgbClr val="C0504D"/>
                </a:solidFill>
                <a:latin typeface="PT Sans"/>
              </a:rPr>
              <a:t>4,0 млн 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2000" y="3780000"/>
            <a:ext cx="414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PT Sans"/>
              </a:rPr>
              <a:t>NPV · IRR 215 % · DPP 7 мес.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999" y="4536000"/>
            <a:ext cx="8640000" cy="306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00" y="4536000"/>
            <a:ext cx="856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 i="1">
                <a:solidFill>
                  <a:srgbClr val="FFFFFF"/>
                </a:solidFill>
                <a:latin typeface="PT Sans"/>
              </a:rPr>
              <a:t>Результаты применимы в КФУ и тиражируемы на 7 федеральных университетов РФ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44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51444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800000"/>
            <a:ext cx="8424000" cy="90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PT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1999" y="2736000"/>
            <a:ext cx="1080000" cy="216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2880000"/>
            <a:ext cx="8424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800" b="0" i="1">
                <a:solidFill>
                  <a:srgbClr val="F2C811"/>
                </a:solidFill>
                <a:latin typeface="PT Sans"/>
              </a:rPr>
              <a:t>Готов ответить на ваши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