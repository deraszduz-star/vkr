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79" r:id="rId5"/>
    <p:sldId id="281" r:id="rId6"/>
    <p:sldId id="282" r:id="rId7"/>
    <p:sldId id="283" r:id="rId8"/>
    <p:sldId id="284" r:id="rId9"/>
    <p:sldId id="280" r:id="rId10"/>
    <p:sldId id="27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3077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f0MoI7WtcNSt+DHMGVizH6/gV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94"/>
  </p:normalViewPr>
  <p:slideViewPr>
    <p:cSldViewPr snapToGrid="0">
      <p:cViewPr varScale="1">
        <p:scale>
          <a:sx n="79" d="100"/>
          <a:sy n="79" d="100"/>
        </p:scale>
        <p:origin x="848" y="48"/>
      </p:cViewPr>
      <p:guideLst>
        <p:guide orient="horz" pos="1620"/>
        <p:guide pos="2880"/>
        <p:guide pos="30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100" b="1">
                <a:solidFill>
                  <a:srgbClr val="17365D"/>
                </a:solidFill>
              </a:rPr>
              <a:t>КФУ vs медиана 7 ФУ РФ (2025)</a:t>
            </a:r>
          </a:p>
        </c:rich>
      </c:tx>
      <c:layout/>
      <c:overlay val="0"/>
    </c:title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КФУ</c:v>
                </c:pt>
              </c:strCache>
            </c:strRef>
          </c:tx>
          <c:spPr>
            <a:solidFill>
              <a:srgbClr val="17365D"/>
            </a:solidFill>
            <a:ln>
              <a:solidFill>
                <a:srgbClr val="17365D"/>
              </a:solidFill>
            </a:ln>
          </c:spPr>
          <c:cat>
            <c:strRef>
              <c:f>Sheet1!$A$2:$A$6</c:f>
              <c:strCache>
                <c:ptCount val="5"/>
                <c:pt idx="0">
                  <c:v>Балл ЕГЭ</c:v>
                </c:pt>
                <c:pt idx="1">
                  <c:v>Иностр., %</c:v>
                </c:pt>
                <c:pt idx="2">
                  <c:v>НИОКР, млрд</c:v>
                </c:pt>
                <c:pt idx="3">
                  <c:v>НПР со ст.</c:v>
                </c:pt>
                <c:pt idx="4">
                  <c:v>Внебюдж., 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74.2</c:v>
                </c:pt>
                <c:pt idx="1">
                  <c:v>19.1</c:v>
                </c:pt>
                <c:pt idx="2">
                  <c:v>25.3</c:v>
                </c:pt>
                <c:pt idx="3">
                  <c:v>4.5</c:v>
                </c:pt>
                <c:pt idx="4">
                  <c:v>46.2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Медиана РФ</c:v>
                </c:pt>
              </c:strCache>
            </c:strRef>
          </c:tx>
          <c:spPr>
            <a:solidFill>
              <a:srgbClr val="F79646"/>
            </a:solidFill>
            <a:ln>
              <a:solidFill>
                <a:srgbClr val="F79646"/>
              </a:solidFill>
            </a:ln>
          </c:spPr>
          <c:cat>
            <c:strRef>
              <c:f>Sheet1!$A$2:$A$6</c:f>
              <c:strCache>
                <c:ptCount val="5"/>
                <c:pt idx="0">
                  <c:v>Балл ЕГЭ</c:v>
                </c:pt>
                <c:pt idx="1">
                  <c:v>Иностр., %</c:v>
                </c:pt>
                <c:pt idx="2">
                  <c:v>НИОКР, млрд</c:v>
                </c:pt>
                <c:pt idx="3">
                  <c:v>НПР со ст.</c:v>
                </c:pt>
                <c:pt idx="4">
                  <c:v>Внебюдж., 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62.8</c:v>
                </c:pt>
                <c:pt idx="1">
                  <c:v>4.9</c:v>
                </c:pt>
                <c:pt idx="2">
                  <c:v>3.0</c:v>
                </c:pt>
                <c:pt idx="3">
                  <c:v>3.1</c:v>
                </c:pt>
                <c:pt idx="4">
                  <c:v>25.0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7365D"/>
                </a:solidFill>
              </a:rPr>
              <a:t>Накопительный NPV (горизонт 5 лет, r = 23 %)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Накопительный NPV, млн ₽</c:v>
                </c:pt>
              </c:strCache>
            </c:strRef>
          </c:tx>
          <c:spPr>
            <a:ln w="38100">
              <a:solidFill>
                <a:srgbClr val="17365D"/>
              </a:solidFill>
            </a:ln>
          </c:spPr>
          <c:dPt>
            <c:idx val="0"/>
            <c:spPr>
              <a:solidFill>
                <a:srgbClr val="17365D"/>
              </a:solidFill>
            </c:spPr>
          </c:dPt>
          <c:dPt>
            <c:idx val="1"/>
            <c:spPr>
              <a:solidFill>
                <a:srgbClr val="17365D"/>
              </a:solidFill>
            </c:spPr>
          </c:dPt>
          <c:dPt>
            <c:idx val="2"/>
            <c:spPr>
              <a:solidFill>
                <a:srgbClr val="17365D"/>
              </a:solidFill>
            </c:spPr>
          </c:dPt>
          <c:dPt>
            <c:idx val="3"/>
            <c:spPr>
              <a:solidFill>
                <a:srgbClr val="17365D"/>
              </a:solidFill>
            </c:spPr>
          </c:dPt>
          <c:dPt>
            <c:idx val="4"/>
            <c:spPr>
              <a:solidFill>
                <a:srgbClr val="17365D"/>
              </a:solidFill>
            </c:spPr>
          </c:dPt>
          <c:dPt>
            <c:idx val="5"/>
            <c:spPr>
              <a:solidFill>
                <a:srgbClr val="17365D"/>
              </a:solidFill>
            </c:spPr>
          </c:dPt>
          <c:dLbls>
            <c:txPr>
              <a:bodyPr/>
              <a:lstStyle/>
              <a:p>
                <a:pPr>
                  <a:defRPr sz="900" b="1">
                    <a:solidFill>
                      <a:srgbClr val="17365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-0.79</c:v>
                </c:pt>
                <c:pt idx="1">
                  <c:v>0.8</c:v>
                </c:pt>
                <c:pt idx="2">
                  <c:v>1.99</c:v>
                </c:pt>
                <c:pt idx="3">
                  <c:v>3.06</c:v>
                </c:pt>
                <c:pt idx="4">
                  <c:v>3.55</c:v>
                </c:pt>
                <c:pt idx="5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7365D"/>
                </a:solidFill>
              </a:rPr>
              <a:t>Анализ чувствительности NPV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NPV, тыс. ₽</c:v>
                </c:pt>
              </c:strCache>
            </c:strRef>
          </c:tx>
          <c:dPt>
            <c:idx val="0"/>
            <c:spPr>
              <a:solidFill>
                <a:srgbClr val="C0504D"/>
              </a:solidFill>
            </c:spPr>
          </c:dPt>
          <c:dPt>
            <c:idx val="1"/>
            <c:spPr>
              <a:solidFill>
                <a:srgbClr val="C0504D"/>
              </a:solidFill>
            </c:spPr>
          </c:dPt>
          <c:dPt>
            <c:idx val="2"/>
            <c:spPr>
              <a:solidFill>
                <a:srgbClr val="F79646"/>
              </a:solidFill>
            </c:spPr>
          </c:dPt>
          <c:dPt>
            <c:idx val="3"/>
            <c:spPr>
              <a:solidFill>
                <a:srgbClr val="F79646"/>
              </a:solidFill>
            </c:spPr>
          </c:dPt>
          <c:dPt>
            <c:idx val="4"/>
            <c:spPr>
              <a:solidFill>
                <a:srgbClr val="4A7BB7"/>
              </a:solidFill>
            </c:spPr>
          </c:dPt>
          <c:dPt>
            <c:idx val="5"/>
            <c:spPr>
              <a:solidFill>
                <a:srgbClr val="9BBB59"/>
              </a:solidFill>
            </c:spPr>
          </c:dPt>
          <c:dLbls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−50 % CF</c:v>
                </c:pt>
                <c:pt idx="1">
                  <c:v>Песс. CF+r</c:v>
                </c:pt>
                <c:pt idx="2">
                  <c:v>−30 % CF</c:v>
                </c:pt>
                <c:pt idx="3">
                  <c:v>+50 % затр.</c:v>
                </c:pt>
                <c:pt idx="4">
                  <c:v>−18 % r=30 %</c:v>
                </c:pt>
                <c:pt idx="5">
                  <c:v>Базовый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1596</c:v>
                </c:pt>
                <c:pt idx="1">
                  <c:v>2020</c:v>
                </c:pt>
                <c:pt idx="2">
                  <c:v>2543</c:v>
                </c:pt>
                <c:pt idx="3">
                  <c:v>3604</c:v>
                </c:pt>
                <c:pt idx="4">
                  <c:v>3261</c:v>
                </c:pt>
                <c:pt idx="5">
                  <c:v>4000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4501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31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1E42EAF-3BD1-EBAB-F6D7-CCAFF00D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90268D2C-7601-447C-9C46-581FF906D4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A83C802E-7ED7-2CE4-D7F0-07C4AB388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4074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6A7FFC9-9472-6A36-4065-9E6F7166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A6E4C98D-9496-90CD-5FD8-5E77AC622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43587522-E067-EDB0-4AB9-64455D9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8020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6A7FFC9-9472-6A36-4065-9E6F7166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A6E4C98D-9496-90CD-5FD8-5E77AC622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43587522-E067-EDB0-4AB9-64455D9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0041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6A7FFC9-9472-6A36-4065-9E6F7166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A6E4C98D-9496-90CD-5FD8-5E77AC622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43587522-E067-EDB0-4AB9-64455D9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7247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113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5463778" y="1371602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8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chart" Target="../charts/chart2.xml"/><Relationship Id="rId7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97" y="-7082"/>
            <a:ext cx="9144793" cy="515766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TextBox 88"/>
          <p:cNvSpPr txBox="1"/>
          <p:nvPr/>
        </p:nvSpPr>
        <p:spPr>
          <a:xfrm>
            <a:off x="540000" y="180000"/>
            <a:ext cx="806399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Министерство науки и высшего образования Российской Федерации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ФГАОУ ВО «Казанский (Приволжский) федеральный университет»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Институт управления, экономики и финансов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0000" y="900000"/>
            <a:ext cx="8063999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 i="0">
                <a:solidFill>
                  <a:srgbClr val="F2C811"/>
                </a:solidFill>
                <a:latin typeface="Arial"/>
              </a:rPr>
              <a:t>ВЫПУСКНАЯ КВАЛИФИКАЦИОННАЯ РАБОТА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0000" y="1224000"/>
            <a:ext cx="806399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Моделирование и анализ</a:t>
            </a:r>
          </a:p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бизнес-процессов</a:t>
            </a:r>
          </a:p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в образовательной организации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31999" y="2448000"/>
            <a:ext cx="1080000" cy="1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0000" y="2700000"/>
            <a:ext cx="3600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ВЫПОЛНИЛ: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ФИО студента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группа __________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направление 38.03.05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60000" y="2700000"/>
            <a:ext cx="3600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НАУЧНЫЙ РУКОВОДИТЕЛЬ: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ФИО, учёная степень,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учёное звание, должность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0000" y="4680000"/>
            <a:ext cx="806399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1">
                <a:solidFill>
                  <a:srgbClr val="F2C811"/>
                </a:solidFill>
                <a:latin typeface="Arial"/>
              </a:rPr>
              <a:t>Казань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026000" y="180000"/>
            <a:ext cx="7974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Arial"/>
              </a:rPr>
              <a:t>АКТУАЛЬНОСТЬ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26000" y="827999"/>
            <a:ext cx="7974000" cy="1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26000" y="972000"/>
            <a:ext cx="2586000" cy="30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6000" y="972000"/>
            <a:ext cx="2586000" cy="90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6000" y="1152000"/>
            <a:ext cx="2586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5600" b="1" i="0">
                <a:solidFill>
                  <a:srgbClr val="17365D"/>
                </a:solidFill>
                <a:latin typeface="Arial"/>
              </a:rPr>
              <a:t>95 %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8000" y="1872000"/>
            <a:ext cx="2442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управленческих процессов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вузов в электронном виде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к 2030 году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98000" y="3672000"/>
            <a:ext cx="2442000" cy="324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Arial"/>
              </a:rPr>
              <a:t>Распоряжение Правительства РФ</a:t>
            </a:r>
          </a:p>
          <a:p>
            <a:pPr algn="ctr"/>
            <a:r>
              <a:rPr sz="900" b="0" i="1">
                <a:solidFill>
                  <a:srgbClr val="595959"/>
                </a:solidFill>
                <a:latin typeface="Arial"/>
              </a:rPr>
              <a:t>№ 3759-р от 21.12.2021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720000" y="972000"/>
            <a:ext cx="2586000" cy="30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720000" y="972000"/>
            <a:ext cx="2586000" cy="900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720000" y="1152000"/>
            <a:ext cx="2586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5600" b="1" i="0">
                <a:solidFill>
                  <a:srgbClr val="F79646"/>
                </a:solidFill>
                <a:latin typeface="Arial"/>
              </a:rPr>
              <a:t>29 %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792000" y="1872000"/>
            <a:ext cx="2442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российских вузов —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«цифровые аутсайдеры»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(48 % — последователи,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23 % — лидеры)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92000" y="3672000"/>
            <a:ext cx="2442000" cy="324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Arial"/>
              </a:rPr>
              <a:t>НИУ ВШЭ, исследование</a:t>
            </a:r>
          </a:p>
          <a:p>
            <a:pPr algn="ctr"/>
            <a:r>
              <a:rPr sz="900" b="0" i="1">
                <a:solidFill>
                  <a:srgbClr val="595959"/>
                </a:solidFill>
                <a:latin typeface="Arial"/>
              </a:rPr>
              <a:t>цифровой трансформации ВО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14000" y="972000"/>
            <a:ext cx="2586000" cy="30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414000" y="972000"/>
            <a:ext cx="2586000" cy="9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14000" y="1152000"/>
            <a:ext cx="2586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5600" b="1" i="0">
                <a:solidFill>
                  <a:srgbClr val="C0504D"/>
                </a:solidFill>
                <a:latin typeface="Arial"/>
              </a:rPr>
              <a:t>64 %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86000" y="1872000"/>
            <a:ext cx="2442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вузов: главный барьер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цифровизации — дефицит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ИТ-кадров (52 % — финансы,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47 % — низкая грамотность)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86000" y="3672000"/>
            <a:ext cx="2442000" cy="324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Arial"/>
              </a:rPr>
              <a:t>НИУ ВШЭ, исследование</a:t>
            </a:r>
          </a:p>
          <a:p>
            <a:pPr algn="ctr"/>
            <a:r>
              <a:rPr sz="900" b="0" i="1">
                <a:solidFill>
                  <a:srgbClr val="595959"/>
                </a:solidFill>
                <a:latin typeface="Arial"/>
              </a:rPr>
              <a:t>цифровой трансформации ВО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Arial"/>
              </a:rPr>
              <a:t>Нормативное давление + низкая зрелость + кадровый барьер  =  необходимость моделирования и анализа БП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Номер слайда 7"/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3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1026000" y="180000"/>
            <a:ext cx="7974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Arial"/>
              </a:rPr>
              <a:t>ЦЕЛЬ И ЗАДАЧИ ИССЛЕДОВАНИЯ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26000" y="827999"/>
            <a:ext cx="7974000" cy="1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26000" y="936000"/>
            <a:ext cx="7974000" cy="827999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34000" y="936000"/>
            <a:ext cx="900000" cy="827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 i="0">
                <a:solidFill>
                  <a:srgbClr val="F2C811"/>
                </a:solidFill>
                <a:latin typeface="Arial"/>
              </a:rPr>
              <a:t>ЦЕЛЬ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14000" y="1008000"/>
            <a:ext cx="6714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Изучение теоретических основ моделирования и анализа бизнес-процессов и их практическое применение в деятельности структурных подразделений КФУ (Дирекция музеев, Управление кадров, Управление документооборота).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2178000" y="2483999"/>
            <a:ext cx="553500" cy="216000"/>
          </a:xfrm>
          <a:prstGeom prst="rightArrow">
            <a:avLst/>
          </a:prstGeom>
          <a:solidFill>
            <a:srgbClr val="4A7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ight Arrow 125"/>
          <p:cNvSpPr/>
          <p:nvPr/>
        </p:nvSpPr>
        <p:spPr>
          <a:xfrm>
            <a:off x="3883500" y="2483999"/>
            <a:ext cx="553500" cy="216000"/>
          </a:xfrm>
          <a:prstGeom prst="rightArrow">
            <a:avLst/>
          </a:prstGeom>
          <a:solidFill>
            <a:srgbClr val="4A7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ight Arrow 126"/>
          <p:cNvSpPr/>
          <p:nvPr/>
        </p:nvSpPr>
        <p:spPr>
          <a:xfrm>
            <a:off x="5589000" y="2483999"/>
            <a:ext cx="553500" cy="216000"/>
          </a:xfrm>
          <a:prstGeom prst="rightArrow">
            <a:avLst/>
          </a:prstGeom>
          <a:solidFill>
            <a:srgbClr val="4A7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ight Arrow 127"/>
          <p:cNvSpPr/>
          <p:nvPr/>
        </p:nvSpPr>
        <p:spPr>
          <a:xfrm>
            <a:off x="7294500" y="2483999"/>
            <a:ext cx="553500" cy="216000"/>
          </a:xfrm>
          <a:prstGeom prst="rightArrow">
            <a:avLst/>
          </a:prstGeom>
          <a:solidFill>
            <a:srgbClr val="4A7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26000" y="2015999"/>
            <a:ext cx="1152000" cy="1152000"/>
          </a:xfrm>
          <a:prstGeom prst="ellipse">
            <a:avLst/>
          </a:prstGeom>
          <a:solidFill>
            <a:srgbClr val="4A7BB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26000" y="2087999"/>
            <a:ext cx="115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6000" y="2483999"/>
            <a:ext cx="1152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2C811"/>
                </a:solidFill>
                <a:latin typeface="Arial"/>
              </a:rPr>
              <a:t>ТЕОРИЯ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6000" y="3239999"/>
            <a:ext cx="1296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IDEF0 · BPMN · EPC</a:t>
            </a:r>
          </a:p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Lean: 5С · 7 потерь</a:t>
            </a:r>
          </a:p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ДЦ/НДБ/НДЦ</a:t>
            </a:r>
          </a:p>
        </p:txBody>
      </p:sp>
      <p:sp>
        <p:nvSpPr>
          <p:cNvPr id="133" name="Oval 132"/>
          <p:cNvSpPr/>
          <p:nvPr/>
        </p:nvSpPr>
        <p:spPr>
          <a:xfrm>
            <a:off x="2731500" y="2015999"/>
            <a:ext cx="1152000" cy="1152000"/>
          </a:xfrm>
          <a:prstGeom prst="ellipse">
            <a:avLst/>
          </a:prstGeom>
          <a:solidFill>
            <a:srgbClr val="3A68A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731500" y="2087999"/>
            <a:ext cx="115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31500" y="2483999"/>
            <a:ext cx="1152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2C811"/>
                </a:solidFill>
                <a:latin typeface="Arial"/>
              </a:rPr>
              <a:t>ОТРАСЛЬ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659500" y="3239999"/>
            <a:ext cx="1296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Анализ ВО РФ</a:t>
            </a:r>
          </a:p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КФУ vs 7 ФУ</a:t>
            </a:r>
          </a:p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Критерии отбора</a:t>
            </a:r>
          </a:p>
        </p:txBody>
      </p:sp>
      <p:sp>
        <p:nvSpPr>
          <p:cNvPr id="137" name="Oval 136"/>
          <p:cNvSpPr/>
          <p:nvPr/>
        </p:nvSpPr>
        <p:spPr>
          <a:xfrm>
            <a:off x="4437000" y="2015999"/>
            <a:ext cx="1152000" cy="1152000"/>
          </a:xfrm>
          <a:prstGeom prst="ellipse">
            <a:avLst/>
          </a:prstGeom>
          <a:solidFill>
            <a:srgbClr val="2C558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437000" y="2087999"/>
            <a:ext cx="115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437000" y="2483999"/>
            <a:ext cx="1152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2C811"/>
                </a:solidFill>
                <a:latin typeface="Arial"/>
              </a:rPr>
              <a:t>AS IS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365000" y="3239999"/>
            <a:ext cx="1296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9 моделей</a:t>
            </a:r>
          </a:p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Узкие места</a:t>
            </a:r>
          </a:p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Доля НДЦ/НДБ</a:t>
            </a:r>
          </a:p>
        </p:txBody>
      </p:sp>
      <p:sp>
        <p:nvSpPr>
          <p:cNvPr id="141" name="Oval 140"/>
          <p:cNvSpPr/>
          <p:nvPr/>
        </p:nvSpPr>
        <p:spPr>
          <a:xfrm>
            <a:off x="6142500" y="2015999"/>
            <a:ext cx="1152000" cy="1152000"/>
          </a:xfrm>
          <a:prstGeom prst="ellipse">
            <a:avLst/>
          </a:prstGeom>
          <a:solidFill>
            <a:srgbClr val="22467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142500" y="2087999"/>
            <a:ext cx="115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42500" y="2483999"/>
            <a:ext cx="1152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2C811"/>
                </a:solidFill>
                <a:latin typeface="Arial"/>
              </a:rPr>
              <a:t>TO BE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070500" y="3239999"/>
            <a:ext cx="1296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9 моделей</a:t>
            </a:r>
          </a:p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5С · Битрикс24</a:t>
            </a:r>
          </a:p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OCR · QR-маршрут</a:t>
            </a:r>
          </a:p>
        </p:txBody>
      </p:sp>
      <p:sp>
        <p:nvSpPr>
          <p:cNvPr id="145" name="Oval 144"/>
          <p:cNvSpPr/>
          <p:nvPr/>
        </p:nvSpPr>
        <p:spPr>
          <a:xfrm>
            <a:off x="7848000" y="2015999"/>
            <a:ext cx="1152000" cy="1152000"/>
          </a:xfrm>
          <a:prstGeom prst="ellipse">
            <a:avLst/>
          </a:prstGeom>
          <a:solidFill>
            <a:srgbClr val="17365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848000" y="2087999"/>
            <a:ext cx="115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48000" y="2483999"/>
            <a:ext cx="1152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2C811"/>
                </a:solidFill>
                <a:latin typeface="Arial"/>
              </a:rPr>
              <a:t>ЭКОНОМИКА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776000" y="3239999"/>
            <a:ext cx="1224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NPV · IRR · DPP</a:t>
            </a:r>
          </a:p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Чувствительность</a:t>
            </a:r>
          </a:p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Порядок внедрения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Номер слайда 7"/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4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1026000" y="180000"/>
            <a:ext cx="7974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Arial"/>
              </a:rPr>
              <a:t>ТЕОРЕТИКО-МЕТОДОЛОГИЧЕСКАЯ БАЗА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6000" y="594000"/>
            <a:ext cx="7974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rial"/>
              </a:rPr>
              <a:t>Результаты по задаче 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26000" y="827999"/>
            <a:ext cx="7974000" cy="1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rapezoid 122"/>
          <p:cNvSpPr/>
          <p:nvPr/>
        </p:nvSpPr>
        <p:spPr>
          <a:xfrm>
            <a:off x="2034000" y="972000"/>
            <a:ext cx="1260000" cy="864000"/>
          </a:xfrm>
          <a:prstGeom prst="trapezoid">
            <a:avLst/>
          </a:prstGeom>
          <a:solidFill>
            <a:srgbClr val="17365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034000" y="1080000"/>
            <a:ext cx="12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IDEF0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125" name="Trapezoid 124"/>
          <p:cNvSpPr/>
          <p:nvPr/>
        </p:nvSpPr>
        <p:spPr>
          <a:xfrm>
            <a:off x="1674000" y="1872000"/>
            <a:ext cx="1980000" cy="900000"/>
          </a:xfrm>
          <a:prstGeom prst="trapezoid">
            <a:avLst/>
          </a:prstGeom>
          <a:solidFill>
            <a:srgbClr val="4A7BB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674000" y="1944000"/>
            <a:ext cx="198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BPMN 2.0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операции, исполнители</a:t>
            </a:r>
          </a:p>
        </p:txBody>
      </p:sp>
      <p:sp>
        <p:nvSpPr>
          <p:cNvPr id="127" name="Trapezoid 126"/>
          <p:cNvSpPr/>
          <p:nvPr/>
        </p:nvSpPr>
        <p:spPr>
          <a:xfrm>
            <a:off x="1242000" y="2807999"/>
            <a:ext cx="2844000" cy="1007999"/>
          </a:xfrm>
          <a:prstGeom prst="trapezoid">
            <a:avLst/>
          </a:prstGeom>
          <a:solidFill>
            <a:srgbClr val="F7964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242000" y="2880000"/>
            <a:ext cx="2844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EPC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детализация, узкие места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157999" y="972000"/>
            <a:ext cx="1566000" cy="28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157999" y="972000"/>
            <a:ext cx="1566000" cy="360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157999" y="972000"/>
            <a:ext cx="1566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НОТАЦИИ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247999" y="1404000"/>
            <a:ext cx="1386000" cy="237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IDEF0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   FIPS PUB 183 (NIST)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BPMN 2.0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   OMG, 2011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EPC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   Business Studio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795999" y="972000"/>
            <a:ext cx="1566000" cy="28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7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795999" y="972000"/>
            <a:ext cx="1566000" cy="360000"/>
          </a:xfrm>
          <a:prstGeom prst="rect">
            <a:avLst/>
          </a:prstGeom>
          <a:solidFill>
            <a:srgbClr val="4A7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795999" y="972000"/>
            <a:ext cx="1566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LEAN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885999" y="1404000"/>
            <a:ext cx="1386000" cy="237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7 видов потерь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   (Тайити Оно)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5С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Кайдзен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SMED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Стандартизация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433999" y="972000"/>
            <a:ext cx="1566000" cy="28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433999" y="972000"/>
            <a:ext cx="1566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433999" y="972000"/>
            <a:ext cx="1566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АНАЛИЗ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523999" y="1404000"/>
            <a:ext cx="1386000" cy="237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SIPOC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Хронометраж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ДЦ / НДБ / НДЦ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Диаграмма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   Ишикавы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•  DMAIC · SMART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Arial"/>
              </a:rPr>
              <a:t>Стек: ОПИСАНИЕ (нотации) + АНАЛИЗ (узкие места) + УЛУЧШЕНИЕ (Lean) — применён к 3 подразделениям КФУ</a:t>
            </a:r>
          </a:p>
        </p:txBody>
      </p:sp>
    </p:spTree>
    <p:extLst>
      <p:ext uri="{BB962C8B-B14F-4D97-AF65-F5344CB8AC3E}">
        <p14:creationId xmlns:p14="http://schemas.microsoft.com/office/powerpoint/2010/main" val="2414681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654DBB99-0041-81DC-EA32-364023B5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>
            <a:extLst>
              <a:ext uri="{FF2B5EF4-FFF2-40B4-BE49-F238E27FC236}">
                <a16:creationId xmlns:a16="http://schemas.microsoft.com/office/drawing/2014/main" id="{D0431820-259B-6A50-55C7-2BF07FA3C6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46BE5F27-4E0F-B565-884D-23AA9EA802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Номер слайда 7">
            <a:extLst>
              <a:ext uri="{FF2B5EF4-FFF2-40B4-BE49-F238E27FC236}">
                <a16:creationId xmlns:a16="http://schemas.microsoft.com/office/drawing/2014/main" id="{12458411-1D60-5D85-DC89-8BCC49AFBBF3}"/>
              </a:ext>
            </a:extLst>
          </p:cNvPr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5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6BB5FD5-1A2A-10F6-EABB-5DFE931E3F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1026000" y="180000"/>
            <a:ext cx="7974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Arial"/>
              </a:rPr>
              <a:t>ПОЛОЖЕНИЕ КФУ В ОТРАСЛИ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6000" y="594000"/>
            <a:ext cx="7974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rial"/>
              </a:rPr>
              <a:t>Результаты по задаче 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26000" y="827999"/>
            <a:ext cx="7974000" cy="1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3" name="Chart 122"/>
          <p:cNvGraphicFramePr>
            <a:graphicFrameLocks noGrp="1"/>
          </p:cNvGraphicFramePr>
          <p:nvPr/>
        </p:nvGraphicFramePr>
        <p:xfrm>
          <a:off x="1026000" y="900000"/>
          <a:ext cx="3780000" cy="2988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24" name="Rectangle 123"/>
          <p:cNvSpPr/>
          <p:nvPr/>
        </p:nvSpPr>
        <p:spPr>
          <a:xfrm>
            <a:off x="4914000" y="900000"/>
            <a:ext cx="4086000" cy="28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914000" y="900000"/>
            <a:ext cx="408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ЛИДЕРСТВО КФУ СРЕДИ 7 ФЕДЕРАЛЬНЫХ ВУЗОВ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914000" y="1260000"/>
            <a:ext cx="4086000" cy="30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022000" y="1260000"/>
            <a:ext cx="1935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Балл ЕГЭ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957000" y="1260000"/>
            <a:ext cx="114408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17365D"/>
                </a:solidFill>
                <a:latin typeface="Arial"/>
              </a:rPr>
              <a:t>74,2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101080" y="1260000"/>
            <a:ext cx="89892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2C811"/>
                </a:solidFill>
                <a:latin typeface="Arial"/>
              </a:rPr>
              <a:t>★ 1/7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14000" y="1620000"/>
            <a:ext cx="4086000" cy="30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022000" y="1620000"/>
            <a:ext cx="1935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Иностр. студенты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957000" y="1620000"/>
            <a:ext cx="114408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17365D"/>
                </a:solidFill>
                <a:latin typeface="Arial"/>
              </a:rPr>
              <a:t>19,1 %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101080" y="1620000"/>
            <a:ext cx="89892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2C811"/>
                </a:solidFill>
                <a:latin typeface="Arial"/>
              </a:rPr>
              <a:t>★ 1/7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914000" y="1980000"/>
            <a:ext cx="4086000" cy="30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022000" y="1980000"/>
            <a:ext cx="1935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Внебюджет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957000" y="1980000"/>
            <a:ext cx="114408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17365D"/>
                </a:solidFill>
                <a:latin typeface="Arial"/>
              </a:rPr>
              <a:t>46,2 %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101080" y="1980000"/>
            <a:ext cx="89892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2C811"/>
                </a:solidFill>
                <a:latin typeface="Arial"/>
              </a:rPr>
              <a:t>★ 2/7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914000" y="2340000"/>
            <a:ext cx="4086000" cy="30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022000" y="2340000"/>
            <a:ext cx="1935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НИОКР, млрд ₽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957000" y="2340000"/>
            <a:ext cx="114408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17365D"/>
                </a:solidFill>
                <a:latin typeface="Arial"/>
              </a:rPr>
              <a:t>2,53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101080" y="2340000"/>
            <a:ext cx="89892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2C811"/>
                </a:solidFill>
                <a:latin typeface="Arial"/>
              </a:rPr>
              <a:t>★ 2/7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Arial"/>
              </a:rPr>
              <a:t>🏛 Дирекция музеев (800 тыс. ед.)   ·   👥 ЦРКП (6 615 ППС)   ·   📄 УДК (170 тыс. ед. архива)</a:t>
            </a:r>
          </a:p>
        </p:txBody>
      </p:sp>
    </p:spTree>
    <p:extLst>
      <p:ext uri="{BB962C8B-B14F-4D97-AF65-F5344CB8AC3E}">
        <p14:creationId xmlns:p14="http://schemas.microsoft.com/office/powerpoint/2010/main" val="1442083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04AB30AA-9FC3-EFD0-7A32-32599E1D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>
            <a:extLst>
              <a:ext uri="{FF2B5EF4-FFF2-40B4-BE49-F238E27FC236}">
                <a16:creationId xmlns:a16="http://schemas.microsoft.com/office/drawing/2014/main" id="{5D5A242F-DF79-51C0-3468-D06936B4F7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4A711DA-ABFD-4DB8-EB38-5E9E4BCEC0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Номер слайда 7">
            <a:extLst>
              <a:ext uri="{FF2B5EF4-FFF2-40B4-BE49-F238E27FC236}">
                <a16:creationId xmlns:a16="http://schemas.microsoft.com/office/drawing/2014/main" id="{0A536BC6-7440-EAAE-2F4F-646E77E9F922}"/>
              </a:ext>
            </a:extLst>
          </p:cNvPr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6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C0FDF83-42F9-05CB-75A9-D202696ED7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1026000" y="180000"/>
            <a:ext cx="7974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Arial"/>
              </a:rPr>
              <a:t>АНАЛИЗ ТЕКУЩЕГО СОСТОЯНИЯ (AS IS)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6000" y="594000"/>
            <a:ext cx="7974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rial"/>
              </a:rPr>
              <a:t>Результаты по задаче 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26000" y="827999"/>
            <a:ext cx="7974000" cy="1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26000" y="917999"/>
            <a:ext cx="2598000" cy="230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26000" y="917999"/>
            <a:ext cx="2598000" cy="324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26000" y="917999"/>
            <a:ext cx="2598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Дирекция музеев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134000" y="1349999"/>
            <a:ext cx="144000" cy="1512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34000" y="1349999"/>
            <a:ext cx="144000" cy="151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386000" y="1349999"/>
            <a:ext cx="2166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C0504D"/>
                </a:solidFill>
                <a:latin typeface="Arial"/>
              </a:rPr>
              <a:t>45 мин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86000" y="1817999"/>
            <a:ext cx="2166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rial"/>
              </a:rPr>
              <a:t>на экспонат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86000" y="2069999"/>
            <a:ext cx="2166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•  ожидание ПО 10 мин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•  9 экспонатов / день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•  ручная фотосъёмка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•  отсутствие шаблонов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714000" y="917999"/>
            <a:ext cx="2598000" cy="230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714000" y="917999"/>
            <a:ext cx="2598000" cy="324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714000" y="917999"/>
            <a:ext cx="2598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ЦРКП  (Управление кадров)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822000" y="1349999"/>
            <a:ext cx="144000" cy="1512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822000" y="1349999"/>
            <a:ext cx="144000" cy="151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074000" y="1349999"/>
            <a:ext cx="2166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C0504D"/>
                </a:solidFill>
                <a:latin typeface="Arial"/>
              </a:rPr>
              <a:t>5 дней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074000" y="1817999"/>
            <a:ext cx="2166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rial"/>
              </a:rPr>
              <a:t>на заявление ППС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074000" y="2069999"/>
            <a:ext cx="2166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•  20 сотрудников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•  40 ч/мес транспорт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•  бумажный документооборот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•  192 мин потерь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402000" y="917999"/>
            <a:ext cx="2598000" cy="230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402000" y="917999"/>
            <a:ext cx="2598000" cy="324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02000" y="917999"/>
            <a:ext cx="2598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УДК (Документооборот)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510000" y="1349999"/>
            <a:ext cx="144000" cy="1512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510000" y="1803599"/>
            <a:ext cx="144000" cy="10584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762000" y="1349999"/>
            <a:ext cx="2166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C0504D"/>
                </a:solidFill>
                <a:latin typeface="Arial"/>
              </a:rPr>
              <a:t>22 мин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762000" y="1817999"/>
            <a:ext cx="2166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rial"/>
              </a:rPr>
              <a:t>на справку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762000" y="2069999"/>
            <a:ext cx="2166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•  архив оцифрован 12 %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•  ОРД 7 ч ожидания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•  176 сек / регистрация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•  ручной поиск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26000" y="3311999"/>
            <a:ext cx="7974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17365D"/>
                </a:solidFill>
                <a:latin typeface="Arial"/>
              </a:rPr>
              <a:t>СТРУКТУРА ОПЕРАЦИЙ В ИССЛЕДОВАННЫХ ПРОЦЕССАХ: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26000" y="3563998"/>
            <a:ext cx="510336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29360" y="3563998"/>
            <a:ext cx="1913760" cy="3600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043120" y="3563998"/>
            <a:ext cx="956880" cy="36000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26000" y="3563998"/>
            <a:ext cx="510336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НДЦ — устранить  64 %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129360" y="3563998"/>
            <a:ext cx="191376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НДБ — авто  24 %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043120" y="3563998"/>
            <a:ext cx="95688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ДЦ  12 %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Arial"/>
              </a:rPr>
              <a:t>9 моделей  ·  6 из 7 видов потерь Тайити Оно  ·  3 узких места: ручной ввод · бумага · ожидание ИТ</a:t>
            </a:r>
          </a:p>
        </p:txBody>
      </p:sp>
    </p:spTree>
    <p:extLst>
      <p:ext uri="{BB962C8B-B14F-4D97-AF65-F5344CB8AC3E}">
        <p14:creationId xmlns:p14="http://schemas.microsoft.com/office/powerpoint/2010/main" val="4157778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04AB30AA-9FC3-EFD0-7A32-32599E1D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>
            <a:extLst>
              <a:ext uri="{FF2B5EF4-FFF2-40B4-BE49-F238E27FC236}">
                <a16:creationId xmlns:a16="http://schemas.microsoft.com/office/drawing/2014/main" id="{5D5A242F-DF79-51C0-3468-D06936B4F7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4A711DA-ABFD-4DB8-EB38-5E9E4BCEC0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Номер слайда 7">
            <a:extLst>
              <a:ext uri="{FF2B5EF4-FFF2-40B4-BE49-F238E27FC236}">
                <a16:creationId xmlns:a16="http://schemas.microsoft.com/office/drawing/2014/main" id="{0A536BC6-7440-EAAE-2F4F-646E77E9F922}"/>
              </a:ext>
            </a:extLst>
          </p:cNvPr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7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C0FDF83-42F9-05CB-75A9-D202696ED7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1026000" y="180000"/>
            <a:ext cx="7974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Arial"/>
              </a:rPr>
              <a:t>ПРОЕКТИРОВАНИЕ ЦЕЛЕВЫХ ПРОЦЕССОВ (TO BE)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6000" y="594000"/>
            <a:ext cx="7974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rial"/>
              </a:rPr>
              <a:t>Результаты по задаче 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26000" y="827999"/>
            <a:ext cx="7974000" cy="1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26000" y="917999"/>
            <a:ext cx="7974000" cy="102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26000" y="917999"/>
            <a:ext cx="1152000" cy="102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26000" y="917999"/>
            <a:ext cx="1152000" cy="102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Дирекция музеев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232000" y="1007999"/>
            <a:ext cx="1584000" cy="84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232000" y="1007999"/>
            <a:ext cx="1584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1" i="0">
                <a:solidFill>
                  <a:srgbClr val="C0504D"/>
                </a:solidFill>
                <a:latin typeface="Arial"/>
              </a:rPr>
              <a:t>AS IS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232000" y="1169998"/>
            <a:ext cx="1584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C0504D"/>
                </a:solidFill>
                <a:latin typeface="Arial"/>
              </a:rPr>
              <a:t>45 мин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232000" y="1583999"/>
            <a:ext cx="1584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9 экс/день</a:t>
            </a:r>
          </a:p>
        </p:txBody>
      </p:sp>
      <p:sp>
        <p:nvSpPr>
          <p:cNvPr id="130" name="Right Arrow 129"/>
          <p:cNvSpPr/>
          <p:nvPr/>
        </p:nvSpPr>
        <p:spPr>
          <a:xfrm>
            <a:off x="3870000" y="1259999"/>
            <a:ext cx="216000" cy="251999"/>
          </a:xfrm>
          <a:prstGeom prst="rightArrow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40000" y="1007999"/>
            <a:ext cx="1584000" cy="84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B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140000" y="1007999"/>
            <a:ext cx="1584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1" i="0">
                <a:solidFill>
                  <a:srgbClr val="9BBB59"/>
                </a:solidFill>
                <a:latin typeface="Arial"/>
              </a:rPr>
              <a:t>TO BE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140000" y="1169998"/>
            <a:ext cx="1584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9BBB59"/>
                </a:solidFill>
                <a:latin typeface="Arial"/>
              </a:rPr>
              <a:t>18 мин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40000" y="1583999"/>
            <a:ext cx="1584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30 экс/день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814000" y="989999"/>
            <a:ext cx="3186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5С + шаблоны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привлечение лаборанта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814000" y="1493999"/>
            <a:ext cx="3186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17365D"/>
                </a:solidFill>
                <a:latin typeface="Arial"/>
              </a:rPr>
              <a:t>I₀ 65 тыс. ₽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814000" y="1673999"/>
            <a:ext cx="3186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9BBB59"/>
                </a:solidFill>
                <a:latin typeface="Arial"/>
              </a:rPr>
              <a:t>▲ +233 % произв.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26000" y="2015999"/>
            <a:ext cx="7974000" cy="102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26000" y="2015999"/>
            <a:ext cx="1152000" cy="102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26000" y="2015999"/>
            <a:ext cx="1152000" cy="102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ЦРКП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32000" y="2105999"/>
            <a:ext cx="1584000" cy="84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232000" y="2105999"/>
            <a:ext cx="1584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1" i="0">
                <a:solidFill>
                  <a:srgbClr val="C0504D"/>
                </a:solidFill>
                <a:latin typeface="Arial"/>
              </a:rPr>
              <a:t>AS IS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232000" y="2267998"/>
            <a:ext cx="1584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C0504D"/>
                </a:solidFill>
                <a:latin typeface="Arial"/>
              </a:rPr>
              <a:t>5 дней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232000" y="2681999"/>
            <a:ext cx="1584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20 чел.</a:t>
            </a:r>
          </a:p>
        </p:txBody>
      </p:sp>
      <p:sp>
        <p:nvSpPr>
          <p:cNvPr id="145" name="Right Arrow 144"/>
          <p:cNvSpPr/>
          <p:nvPr/>
        </p:nvSpPr>
        <p:spPr>
          <a:xfrm>
            <a:off x="3870000" y="2357999"/>
            <a:ext cx="216000" cy="251999"/>
          </a:xfrm>
          <a:prstGeom prst="rightArrow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140000" y="2105999"/>
            <a:ext cx="1584000" cy="84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B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140000" y="2105999"/>
            <a:ext cx="1584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1" i="0">
                <a:solidFill>
                  <a:srgbClr val="9BBB59"/>
                </a:solidFill>
                <a:latin typeface="Arial"/>
              </a:rPr>
              <a:t>TO BE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40000" y="2267998"/>
            <a:ext cx="1584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9BBB59"/>
                </a:solidFill>
                <a:latin typeface="Arial"/>
              </a:rPr>
              <a:t>20 мин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140000" y="2681999"/>
            <a:ext cx="1584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3 чел.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814000" y="2087999"/>
            <a:ext cx="3186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Битрикс24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электронная подпись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814000" y="2591999"/>
            <a:ext cx="3186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17365D"/>
                </a:solidFill>
                <a:latin typeface="Arial"/>
              </a:rPr>
              <a:t>I₀ 450 тыс. ₽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814000" y="2771999"/>
            <a:ext cx="3186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9BBB59"/>
                </a:solidFill>
                <a:latin typeface="Arial"/>
              </a:rPr>
              <a:t>▲ −17 шт. ед.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26000" y="3113999"/>
            <a:ext cx="7974000" cy="102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26000" y="3113999"/>
            <a:ext cx="1152000" cy="102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26000" y="3113999"/>
            <a:ext cx="1152000" cy="102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УДК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232000" y="3203999"/>
            <a:ext cx="1584000" cy="84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232000" y="3203999"/>
            <a:ext cx="1584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1" i="0">
                <a:solidFill>
                  <a:srgbClr val="C0504D"/>
                </a:solidFill>
                <a:latin typeface="Arial"/>
              </a:rPr>
              <a:t>AS IS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232000" y="3365998"/>
            <a:ext cx="1584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C0504D"/>
                </a:solidFill>
                <a:latin typeface="Arial"/>
              </a:rPr>
              <a:t>12 % архива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232000" y="3779999"/>
            <a:ext cx="1584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ОРД 7 ч</a:t>
            </a:r>
          </a:p>
        </p:txBody>
      </p:sp>
      <p:sp>
        <p:nvSpPr>
          <p:cNvPr id="160" name="Right Arrow 159"/>
          <p:cNvSpPr/>
          <p:nvPr/>
        </p:nvSpPr>
        <p:spPr>
          <a:xfrm>
            <a:off x="3870000" y="3455999"/>
            <a:ext cx="216000" cy="251999"/>
          </a:xfrm>
          <a:prstGeom prst="rightArrow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140000" y="3203999"/>
            <a:ext cx="1584000" cy="84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B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140000" y="3203999"/>
            <a:ext cx="1584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1" i="0">
                <a:solidFill>
                  <a:srgbClr val="9BBB59"/>
                </a:solidFill>
                <a:latin typeface="Arial"/>
              </a:rPr>
              <a:t>TO BE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140000" y="3365998"/>
            <a:ext cx="1584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9BBB59"/>
                </a:solidFill>
                <a:latin typeface="Arial"/>
              </a:rPr>
              <a:t>100 % архива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140000" y="3779999"/>
            <a:ext cx="1584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ОРД −49,9 %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814000" y="3185999"/>
            <a:ext cx="3186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OCR + студенты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QR + ИИ-проверка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814000" y="3689999"/>
            <a:ext cx="3186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17365D"/>
                </a:solidFill>
                <a:latin typeface="Arial"/>
              </a:rPr>
              <a:t>I₀ 277,5 тыс. ₽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814000" y="3869999"/>
            <a:ext cx="3186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9BBB59"/>
                </a:solidFill>
                <a:latin typeface="Arial"/>
              </a:rPr>
              <a:t>▲ регистр. +21,9 %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Arial"/>
              </a:rPr>
              <a:t>9 моделей TO BE  ·  совокупные инвестиции 792,5 тыс. ₽  ·  3 узких места = 3 класса решений (lean + cloud + OCR)</a:t>
            </a:r>
          </a:p>
        </p:txBody>
      </p:sp>
    </p:spTree>
    <p:extLst>
      <p:ext uri="{BB962C8B-B14F-4D97-AF65-F5344CB8AC3E}">
        <p14:creationId xmlns:p14="http://schemas.microsoft.com/office/powerpoint/2010/main" val="2892039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04AB30AA-9FC3-EFD0-7A32-32599E1D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>
            <a:extLst>
              <a:ext uri="{FF2B5EF4-FFF2-40B4-BE49-F238E27FC236}">
                <a16:creationId xmlns:a16="http://schemas.microsoft.com/office/drawing/2014/main" id="{5D5A242F-DF79-51C0-3468-D06936B4F7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4A711DA-ABFD-4DB8-EB38-5E9E4BCEC0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Номер слайда 7">
            <a:extLst>
              <a:ext uri="{FF2B5EF4-FFF2-40B4-BE49-F238E27FC236}">
                <a16:creationId xmlns:a16="http://schemas.microsoft.com/office/drawing/2014/main" id="{0A536BC6-7440-EAAE-2F4F-646E77E9F922}"/>
              </a:ext>
            </a:extLst>
          </p:cNvPr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8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C0FDF83-42F9-05CB-75A9-D202696ED7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1026000" y="180000"/>
            <a:ext cx="7974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Arial"/>
              </a:rPr>
              <a:t>ЭКОНОМИЧЕСКАЯ ЭФФЕКТИВНОСТЬ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6000" y="594000"/>
            <a:ext cx="7974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rial"/>
              </a:rPr>
              <a:t>Результаты по задаче 5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26000" y="827999"/>
            <a:ext cx="7974000" cy="1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26000" y="917999"/>
            <a:ext cx="1551600" cy="75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26000" y="935999"/>
            <a:ext cx="1551600" cy="16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2C811"/>
                </a:solidFill>
                <a:latin typeface="Arial"/>
              </a:rPr>
              <a:t>I₀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26000" y="1079999"/>
            <a:ext cx="15516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792,5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6000" y="1457999"/>
            <a:ext cx="15516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тыс. 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631600" y="917999"/>
            <a:ext cx="1551600" cy="75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31600" y="935999"/>
            <a:ext cx="1551600" cy="16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2C811"/>
                </a:solidFill>
                <a:latin typeface="Arial"/>
              </a:rPr>
              <a:t>ΔCF/год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631600" y="1079999"/>
            <a:ext cx="15516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1 709,7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31600" y="1457999"/>
            <a:ext cx="15516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тыс. ₽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237200" y="917999"/>
            <a:ext cx="1551600" cy="75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237200" y="935999"/>
            <a:ext cx="1551600" cy="16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2C811"/>
                </a:solidFill>
                <a:latin typeface="Arial"/>
              </a:rPr>
              <a:t>NPV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37200" y="1079999"/>
            <a:ext cx="15516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4 000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237200" y="1457999"/>
            <a:ext cx="15516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тыс. ₽ (5 лет)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842800" y="917999"/>
            <a:ext cx="1551600" cy="75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842800" y="935999"/>
            <a:ext cx="1551600" cy="16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2C811"/>
                </a:solidFill>
                <a:latin typeface="Arial"/>
              </a:rPr>
              <a:t>IRR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842800" y="1079999"/>
            <a:ext cx="15516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215 %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842800" y="1457999"/>
            <a:ext cx="15516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ставка 23 %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448400" y="917999"/>
            <a:ext cx="1551600" cy="75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448400" y="935999"/>
            <a:ext cx="1551600" cy="16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2C811"/>
                </a:solidFill>
                <a:latin typeface="Arial"/>
              </a:rPr>
              <a:t>DPP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48400" y="1079999"/>
            <a:ext cx="15516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≈ 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48400" y="1457999"/>
            <a:ext cx="15516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месяцев</a:t>
            </a:r>
          </a:p>
        </p:txBody>
      </p:sp>
      <p:graphicFrame>
        <p:nvGraphicFramePr>
          <p:cNvPr id="143" name="Chart 142"/>
          <p:cNvGraphicFramePr>
            <a:graphicFrameLocks noGrp="1"/>
          </p:cNvGraphicFramePr>
          <p:nvPr/>
        </p:nvGraphicFramePr>
        <p:xfrm>
          <a:off x="1026000" y="1800000"/>
          <a:ext cx="4140000" cy="2520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44" name="Chart 143"/>
          <p:cNvGraphicFramePr>
            <a:graphicFrameLocks noGrp="1"/>
          </p:cNvGraphicFramePr>
          <p:nvPr/>
        </p:nvGraphicFramePr>
        <p:xfrm>
          <a:off x="5274000" y="1800000"/>
          <a:ext cx="3726000" cy="25200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45" name="Rectangle 144"/>
          <p:cNvSpPr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Arial"/>
              </a:rPr>
              <a:t>Очерёдность внедрения:   ① ЦРКП  →  ② УДК  →  ③ МУЗЕИ   ·   запас прочности 83 %</a:t>
            </a:r>
          </a:p>
        </p:txBody>
      </p:sp>
    </p:spTree>
    <p:extLst>
      <p:ext uri="{BB962C8B-B14F-4D97-AF65-F5344CB8AC3E}">
        <p14:creationId xmlns:p14="http://schemas.microsoft.com/office/powerpoint/2010/main" val="140972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Номер слайда 7"/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9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1026000" y="180000"/>
            <a:ext cx="7974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Arial"/>
              </a:rPr>
              <a:t>ВЫВОДЫ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6000" y="594000"/>
            <a:ext cx="7974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rial"/>
              </a:rPr>
              <a:t>Цель достигнута · 5 задач решены · методика воспроизводима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26000" y="827999"/>
            <a:ext cx="7974000" cy="1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26000" y="936000"/>
            <a:ext cx="2598000" cy="158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26000" y="936000"/>
            <a:ext cx="2598000" cy="30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26000" y="936000"/>
            <a:ext cx="259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МЕТОДИКА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6000" y="1296000"/>
            <a:ext cx="2598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1" i="0">
                <a:solidFill>
                  <a:srgbClr val="17365D"/>
                </a:solidFill>
                <a:latin typeface="Arial"/>
              </a:rPr>
              <a:t>3 уровня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26000" y="1998000"/>
            <a:ext cx="259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IDEF0 + BPMN + EPC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714000" y="936000"/>
            <a:ext cx="2598000" cy="158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7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714000" y="936000"/>
            <a:ext cx="2598000" cy="306000"/>
          </a:xfrm>
          <a:prstGeom prst="rect">
            <a:avLst/>
          </a:prstGeom>
          <a:solidFill>
            <a:srgbClr val="4A7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714000" y="936000"/>
            <a:ext cx="259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ОТРАСЛЬ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714000" y="1296000"/>
            <a:ext cx="2598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1" i="0">
                <a:solidFill>
                  <a:srgbClr val="4A7BB7"/>
                </a:solidFill>
                <a:latin typeface="Arial"/>
              </a:rPr>
              <a:t>★ 1/7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714000" y="1998000"/>
            <a:ext cx="259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КФУ среди ФУ РФ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02000" y="936000"/>
            <a:ext cx="2598000" cy="158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402000" y="936000"/>
            <a:ext cx="2598000" cy="3060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402000" y="936000"/>
            <a:ext cx="259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AS IS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402000" y="1296000"/>
            <a:ext cx="2598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1" i="0">
                <a:solidFill>
                  <a:srgbClr val="F79646"/>
                </a:solidFill>
                <a:latin typeface="Arial"/>
              </a:rP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02000" y="1998000"/>
            <a:ext cx="259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моделей · 64 % НДЦ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26000" y="2628000"/>
            <a:ext cx="3915000" cy="151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B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26000" y="2628000"/>
            <a:ext cx="3915000" cy="30600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26000" y="2628000"/>
            <a:ext cx="3915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TO BE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26000" y="2988000"/>
            <a:ext cx="3915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1" i="0">
                <a:solidFill>
                  <a:srgbClr val="9BBB59"/>
                </a:solidFill>
                <a:latin typeface="Arial"/>
              </a:rPr>
              <a:t>−17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6000" y="3635999"/>
            <a:ext cx="3915000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штатных единиц ЦРКП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085000" y="2628000"/>
            <a:ext cx="3915000" cy="151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085000" y="2628000"/>
            <a:ext cx="3915000" cy="30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085000" y="2628000"/>
            <a:ext cx="3915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ЭКОНОМИКА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85000" y="2988000"/>
            <a:ext cx="3915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1" i="0">
                <a:solidFill>
                  <a:srgbClr val="C0504D"/>
                </a:solidFill>
                <a:latin typeface="Arial"/>
              </a:rPr>
              <a:t>4,0 млн ₽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85000" y="3635999"/>
            <a:ext cx="3915000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NPV · IRR 215 % · DPP 7 мес.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26000" y="4428000"/>
            <a:ext cx="7974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Arial"/>
              </a:rPr>
              <a:t>Результаты применимы в КФУ и тиражируемы на 7 федеральных университетов РФ</a:t>
            </a:r>
          </a:p>
        </p:txBody>
      </p:sp>
    </p:spTree>
    <p:extLst>
      <p:ext uri="{BB962C8B-B14F-4D97-AF65-F5344CB8AC3E}">
        <p14:creationId xmlns:p14="http://schemas.microsoft.com/office/powerpoint/2010/main" val="458392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9156096" cy="516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2738" y="1558275"/>
            <a:ext cx="5870625" cy="80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183" y="3249792"/>
            <a:ext cx="1043729" cy="1043729"/>
          </a:xfrm>
          <a:prstGeom prst="rect">
            <a:avLst/>
          </a:prstGeom>
        </p:spPr>
      </p:pic>
      <p:sp>
        <p:nvSpPr>
          <p:cNvPr id="361" name="TextBox 360"/>
          <p:cNvSpPr txBox="1"/>
          <p:nvPr/>
        </p:nvSpPr>
        <p:spPr>
          <a:xfrm>
            <a:off x="360000" y="1800000"/>
            <a:ext cx="8424000" cy="9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СПАСИБО ЗА ВНИМАНИЕ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4031999" y="2736000"/>
            <a:ext cx="1080000" cy="216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360000" y="2880000"/>
            <a:ext cx="8424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0" i="1">
                <a:solidFill>
                  <a:srgbClr val="F2C811"/>
                </a:solidFill>
                <a:latin typeface="Arial"/>
              </a:rPr>
              <a:t>Готов ответить на ваши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112</Words>
  <Application>Microsoft Office PowerPoint</Application>
  <PresentationFormat>Экран (16:9)</PresentationFormat>
  <Paragraphs>25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PT Sans</vt:lpstr>
      <vt:lpstr>Times New Roman</vt:lpstr>
      <vt:lpstr>Тема Office</vt:lpstr>
      <vt:lpstr>НАЗВАНИЕ ТЕМЫ</vt:lpstr>
      <vt:lpstr>АКТУАЛЬНОСТЬ</vt:lpstr>
      <vt:lpstr>ЦЕЛИ И ЗАДАЧИ*  *не более 5 задач</vt:lpstr>
      <vt:lpstr>РЕЗУЛЬТАТЫ ПО ЗАДАЧЕ 1</vt:lpstr>
      <vt:lpstr>РЕЗУЛЬТАТЫ ПО ЗАДАЧЕ 2</vt:lpstr>
      <vt:lpstr>РЕЗУЛЬТАТЫ ПО ЗАДАЧЕ 3</vt:lpstr>
      <vt:lpstr>РЕЗУЛЬТАТЫ ПО ЗАДАЧЕ 4</vt:lpstr>
      <vt:lpstr>РЕЗУЛЬТАТЫ ПО ЗАДАЧЕ 5</vt:lpstr>
      <vt:lpstr>ВЫВОДЫ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ГИБКАЯ МЕТОДОЛОГИЯ УПРАВЛЕНИЯ ПРОЕКТАМИ AGILE</dc:title>
  <dc:creator>Ольга</dc:creator>
  <cp:lastModifiedBy>Михаил Кузьмин</cp:lastModifiedBy>
  <cp:revision>43</cp:revision>
  <dcterms:created xsi:type="dcterms:W3CDTF">2022-06-09T15:01:43Z</dcterms:created>
  <dcterms:modified xsi:type="dcterms:W3CDTF">2026-05-08T08:03:20Z</dcterms:modified>
</cp:coreProperties>
</file>