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59" r:id="rId5"/>
    <p:sldId id="269" r:id="rId6"/>
    <p:sldId id="261" r:id="rId7"/>
    <p:sldId id="262" r:id="rId8"/>
    <p:sldId id="268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67" r:id="rId17"/>
    <p:sldId id="263" r:id="rId18"/>
    <p:sldId id="274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2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6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98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00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05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73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25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20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8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25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83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E1211-B65B-455F-9FE8-1A9DA7A7641E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59DDE-C038-4A6E-A9C8-FCDCCF54D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23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 smtClean="0"/>
              <a:t>Оптимизация исполнения запросов организаций и заявлений граждан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Девятиярова</a:t>
            </a:r>
            <a:r>
              <a:rPr lang="ru-RU" dirty="0" smtClean="0"/>
              <a:t> А., Алексеева А. 14.6-110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419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30447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Поиск документов в архиве может занимать неопределенное кол-во времени, из-за чего исполнение запросов организаций и заявлений граждан занимает много времени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smtClean="0"/>
              <a:t>Проблема</a:t>
            </a:r>
            <a:endParaRPr lang="ru-RU" sz="3200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409" y="1568645"/>
            <a:ext cx="4865298" cy="48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56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1. Выдача архивной справки о подтверждении учебы</a:t>
            </a:r>
            <a:endParaRPr lang="ru-RU" sz="3200" dirty="0"/>
          </a:p>
        </p:txBody>
      </p:sp>
      <p:sp>
        <p:nvSpPr>
          <p:cNvPr id="6" name="Нашивка 5"/>
          <p:cNvSpPr/>
          <p:nvPr/>
        </p:nvSpPr>
        <p:spPr>
          <a:xfrm>
            <a:off x="534838" y="1207699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Поставщики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Нашивка 6"/>
          <p:cNvSpPr/>
          <p:nvPr/>
        </p:nvSpPr>
        <p:spPr>
          <a:xfrm>
            <a:off x="2743201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Входы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4951564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Процесс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Нашивка 8"/>
          <p:cNvSpPr/>
          <p:nvPr/>
        </p:nvSpPr>
        <p:spPr>
          <a:xfrm>
            <a:off x="7159927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Результаты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ашивка 9"/>
          <p:cNvSpPr/>
          <p:nvPr/>
        </p:nvSpPr>
        <p:spPr>
          <a:xfrm>
            <a:off x="9368290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Клиенты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34838" y="2018582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Бывшие студенты КФУ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201" y="2010044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Входящая заявка через: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ru-RU" dirty="0" smtClean="0"/>
              <a:t>Электронную почту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ru-RU" dirty="0" smtClean="0"/>
              <a:t>Личное посещение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7159927" y="2010044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Готовая справка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9368290" y="2010044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Бывшая студентка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951564" y="2018582"/>
            <a:ext cx="1923687" cy="57796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Поступление заявки</a:t>
            </a:r>
            <a:endParaRPr lang="ru-RU" sz="1400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4951564" y="2848271"/>
            <a:ext cx="1923687" cy="5991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Поиск дела в архиве</a:t>
            </a:r>
            <a:endParaRPr lang="ru-RU" sz="14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951564" y="3697519"/>
            <a:ext cx="1923687" cy="69080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Формирование документа</a:t>
            </a:r>
            <a:endParaRPr lang="ru-RU" sz="14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960198" y="4638438"/>
            <a:ext cx="1923687" cy="62500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Заверение документа</a:t>
            </a:r>
            <a:endParaRPr lang="ru-RU" sz="140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4960198" y="5513558"/>
            <a:ext cx="1923687" cy="58668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Выдача документа</a:t>
            </a:r>
            <a:endParaRPr lang="ru-RU" sz="1400" dirty="0"/>
          </a:p>
        </p:txBody>
      </p:sp>
      <p:cxnSp>
        <p:nvCxnSpPr>
          <p:cNvPr id="4" name="Прямая со стрелкой 3"/>
          <p:cNvCxnSpPr>
            <a:stCxn id="16" idx="2"/>
            <a:endCxn id="18" idx="0"/>
          </p:cNvCxnSpPr>
          <p:nvPr/>
        </p:nvCxnSpPr>
        <p:spPr>
          <a:xfrm>
            <a:off x="5913408" y="2596551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5906220" y="3447405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5899032" y="4388324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5913408" y="5261838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16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2. Поиск, оформление и выдача тематических, биографических и генеалогических сведений</a:t>
            </a:r>
            <a:endParaRPr lang="ru-RU" sz="3200" dirty="0"/>
          </a:p>
        </p:txBody>
      </p:sp>
      <p:sp>
        <p:nvSpPr>
          <p:cNvPr id="6" name="Нашивка 5"/>
          <p:cNvSpPr/>
          <p:nvPr/>
        </p:nvSpPr>
        <p:spPr>
          <a:xfrm>
            <a:off x="534838" y="1207699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Поставщики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Нашивка 6"/>
          <p:cNvSpPr/>
          <p:nvPr/>
        </p:nvSpPr>
        <p:spPr>
          <a:xfrm>
            <a:off x="2743201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Входы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4951564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Процесс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Нашивка 8"/>
          <p:cNvSpPr/>
          <p:nvPr/>
        </p:nvSpPr>
        <p:spPr>
          <a:xfrm>
            <a:off x="7159927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Результаты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ашивка 9"/>
          <p:cNvSpPr/>
          <p:nvPr/>
        </p:nvSpPr>
        <p:spPr>
          <a:xfrm>
            <a:off x="9368290" y="1207698"/>
            <a:ext cx="2208363" cy="672861"/>
          </a:xfrm>
          <a:prstGeom prst="chevron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Клиенты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34838" y="2018582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Бывшие студенты КФУ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201" y="2010044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Входящая заявка через: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ru-RU" dirty="0" smtClean="0"/>
              <a:t>Электронную почту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ru-RU" dirty="0" smtClean="0"/>
              <a:t>Личное посещение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7159927" y="2010044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Заверенная копия личного дела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9368290" y="2010044"/>
            <a:ext cx="1897811" cy="38732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Бывшие студенты и их родственники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951564" y="2018582"/>
            <a:ext cx="1923687" cy="57796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Поступление заявки</a:t>
            </a:r>
            <a:endParaRPr lang="ru-RU" sz="1400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4951564" y="2848271"/>
            <a:ext cx="1923687" cy="5991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Поиск дела в архиве</a:t>
            </a:r>
            <a:endParaRPr lang="ru-RU" sz="14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951564" y="3697519"/>
            <a:ext cx="1923687" cy="69080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Сканирование личного дела</a:t>
            </a:r>
            <a:endParaRPr lang="ru-RU" sz="14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960198" y="4638438"/>
            <a:ext cx="1923687" cy="62500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Заверение копии личного дела</a:t>
            </a:r>
            <a:endParaRPr lang="ru-RU" sz="140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4960198" y="5513558"/>
            <a:ext cx="1923687" cy="58668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Отправка копии личного дела</a:t>
            </a:r>
            <a:endParaRPr lang="ru-RU" sz="1400" dirty="0"/>
          </a:p>
        </p:txBody>
      </p:sp>
      <p:cxnSp>
        <p:nvCxnSpPr>
          <p:cNvPr id="4" name="Прямая со стрелкой 3"/>
          <p:cNvCxnSpPr>
            <a:stCxn id="16" idx="2"/>
            <a:endCxn id="18" idx="0"/>
          </p:cNvCxnSpPr>
          <p:nvPr/>
        </p:nvCxnSpPr>
        <p:spPr>
          <a:xfrm>
            <a:off x="5913408" y="2596551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5906220" y="3447405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5899032" y="4388324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5913408" y="5261838"/>
            <a:ext cx="0" cy="2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88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3680599"/>
              </p:ext>
            </p:extLst>
          </p:nvPr>
        </p:nvGraphicFramePr>
        <p:xfrm>
          <a:off x="277482" y="626555"/>
          <a:ext cx="11394057" cy="5938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606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5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381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04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35711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Название</a:t>
                      </a:r>
                      <a:r>
                        <a:rPr sz="9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929497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A94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Оптимизация исполнения запросов организаций и заявлений</a:t>
                      </a:r>
                      <a:r>
                        <a:rPr lang="ru-RU" sz="900" baseline="0" dirty="0" smtClean="0">
                          <a:latin typeface="Times New Roman"/>
                          <a:cs typeface="Times New Roman"/>
                        </a:rPr>
                        <a:t> граждан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  <a:lnT w="12700">
                      <a:solidFill>
                        <a:srgbClr val="929497"/>
                      </a:solidFill>
                      <a:prstDash val="solid"/>
                    </a:lnT>
                    <a:lnB w="12700">
                      <a:solidFill>
                        <a:srgbClr val="92949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443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Функциональный</a:t>
                      </a:r>
                      <a:r>
                        <a:rPr sz="9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блок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A9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Документооборот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929497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Стр.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подчинение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571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929497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A94F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ru-RU" sz="800" dirty="0" smtClean="0">
                          <a:latin typeface="Calibri"/>
                          <a:cs typeface="Calibri"/>
                        </a:rPr>
                        <a:t>УДК, Архив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R w="12700">
                      <a:solidFill>
                        <a:srgbClr val="929497"/>
                      </a:solidFill>
                      <a:prstDash val="solid"/>
                    </a:lnR>
                    <a:lnT w="12700">
                      <a:solidFill>
                        <a:srgbClr val="929497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9678">
                <a:tc gridSpan="2"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Описание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проблемы/возможности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00A9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Управление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проектом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00A9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31538">
                <a:tc gridSpan="2"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4145"/>
                        </a:spcBef>
                      </a:pPr>
                      <a:r>
                        <a:rPr lang="ru-RU" sz="900" dirty="0" smtClean="0">
                          <a:solidFill>
                            <a:srgbClr val="0A003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документов в архиве может занимать неопределенное кол-во времени</a:t>
                      </a:r>
                      <a:r>
                        <a:rPr lang="ru-RU" sz="900" baseline="0" dirty="0" smtClean="0">
                          <a:solidFill>
                            <a:srgbClr val="0A003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из-за чего исполнение запросов организаций и заявлений граждан может выполняться долго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6415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844"/>
                        </a:spcBef>
                        <a:buChar char="•"/>
                        <a:tabLst>
                          <a:tab pos="77533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Спонсор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505"/>
                        </a:spcBef>
                        <a:buChar char="•"/>
                        <a:tabLst>
                          <a:tab pos="77533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Владелец</a:t>
                      </a:r>
                      <a:r>
                        <a:rPr sz="800" spc="-6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495"/>
                        </a:spcBef>
                        <a:buChar char="•"/>
                        <a:tabLst>
                          <a:tab pos="775335" algn="l"/>
                        </a:tabLst>
                      </a:pP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Лидер</a:t>
                      </a:r>
                      <a:r>
                        <a:rPr sz="800" spc="-7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внедрения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500"/>
                        </a:spcBef>
                        <a:buChar char="•"/>
                        <a:tabLst>
                          <a:tab pos="775335" algn="l"/>
                        </a:tabLst>
                      </a:pPr>
                      <a:r>
                        <a:rPr sz="800" spc="-25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Руководитель</a:t>
                      </a:r>
                      <a:r>
                        <a:rPr sz="800" spc="-3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r>
                        <a:rPr sz="800" spc="5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(ЧП/ЗП)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505"/>
                        </a:spcBef>
                        <a:buChar char="•"/>
                        <a:tabLst>
                          <a:tab pos="775335" algn="l"/>
                        </a:tabLst>
                      </a:pP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Рабочая</a:t>
                      </a:r>
                      <a:r>
                        <a:rPr sz="800" spc="-55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команда</a:t>
                      </a:r>
                      <a:r>
                        <a:rPr sz="800" spc="-55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9678">
                <a:tc gridSpan="2"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Цели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и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задачи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45B97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Границы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  <a:solidFill>
                      <a:srgbClr val="45B97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006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Ускорить работу и уменьшить</a:t>
                      </a:r>
                      <a:r>
                        <a:rPr lang="ru-RU" sz="900" baseline="0" dirty="0" smtClean="0">
                          <a:latin typeface="Times New Roman"/>
                          <a:cs typeface="Times New Roman"/>
                        </a:rPr>
                        <a:t> неудобства в работе</a:t>
                      </a:r>
                      <a:endParaRPr lang="ru-RU" sz="900" dirty="0" smtClean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Высвободить</a:t>
                      </a:r>
                      <a:r>
                        <a:rPr lang="ru-RU" sz="900" baseline="0" dirty="0" smtClean="0">
                          <a:latin typeface="Times New Roman"/>
                          <a:cs typeface="Times New Roman"/>
                        </a:rPr>
                        <a:t> время на выполнение более крупных и важных задач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ru-RU" sz="900" dirty="0" smtClean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  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Изучение должностных обязанностей сотрудника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Описание деятельности подразделения с детализацией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Поход на </a:t>
                      </a:r>
                      <a:r>
                        <a:rPr lang="ru-RU" sz="800" dirty="0" err="1" smtClean="0">
                          <a:latin typeface="Times New Roman"/>
                          <a:cs typeface="Times New Roman"/>
                        </a:rPr>
                        <a:t>гемба</a:t>
                      </a: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, хронометраж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Рассмотрение деятельности сотрудника и выполняемых когерентно </a:t>
                      </a:r>
                      <a:r>
                        <a:rPr lang="ru-RU" sz="800" dirty="0" err="1" smtClean="0">
                          <a:latin typeface="Times New Roman"/>
                          <a:cs typeface="Times New Roman"/>
                        </a:rPr>
                        <a:t>импроцессов</a:t>
                      </a:r>
                      <a:endParaRPr lang="ru-RU" sz="800" dirty="0" smtClean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Выявление проблем процессов с </a:t>
                      </a:r>
                      <a:r>
                        <a:rPr lang="ru-RU" sz="800" dirty="0" err="1" smtClean="0">
                          <a:latin typeface="Times New Roman"/>
                          <a:cs typeface="Times New Roman"/>
                        </a:rPr>
                        <a:t>т.з</a:t>
                      </a: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. сотрудника и руководителя, анализ, моделирование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Предложения по улучшению, расчет временной экономии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Определение проблем с </a:t>
                      </a:r>
                      <a:r>
                        <a:rPr lang="ru-RU" sz="800" dirty="0" err="1" smtClean="0">
                          <a:latin typeface="Times New Roman"/>
                          <a:cs typeface="Times New Roman"/>
                        </a:rPr>
                        <a:t>т.з</a:t>
                      </a: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. клиента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Рассмотрение деятельности всех сотрудников подразделения и </a:t>
                      </a:r>
                      <a:r>
                        <a:rPr lang="ru-RU" sz="800" dirty="0" err="1" smtClean="0">
                          <a:latin typeface="Times New Roman"/>
                          <a:cs typeface="Times New Roman"/>
                        </a:rPr>
                        <a:t>др</a:t>
                      </a: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 подразделений отдела, а так же выполняемых там процессов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ru-RU" sz="800" dirty="0" smtClean="0">
                          <a:latin typeface="Times New Roman"/>
                          <a:cs typeface="Times New Roman"/>
                        </a:rPr>
                        <a:t>Внедрение улучшений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35711">
                <a:tc gridSpan="2"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Ожидаемые</a:t>
                      </a:r>
                      <a:r>
                        <a:rPr sz="9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выгоды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от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реализации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45B97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Основные</a:t>
                      </a:r>
                      <a:r>
                        <a:rPr sz="9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риски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  <a:solidFill>
                      <a:srgbClr val="45B97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141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   Выполнение</a:t>
                      </a:r>
                      <a:r>
                        <a:rPr lang="ru-RU" sz="900" baseline="0" dirty="0" smtClean="0">
                          <a:latin typeface="Times New Roman"/>
                          <a:cs typeface="Times New Roman"/>
                        </a:rPr>
                        <a:t> запросов будет занимать меньше времени и сотрудники будут успевать обрабатывать больше запросов, также высвободится время на выполнение основных задач сотрудника (номенклатура)</a:t>
                      </a:r>
                      <a:endParaRPr lang="ru-RU" sz="900" dirty="0" smtClean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  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Возможное отсутствие серьезно ощутимого эффекта на производительности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Предложения по мелким изменениям могут не быть восприняты в серьез, даже если это влияет на комфорт сотрудника и его концентрацию во время работы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35711">
                <a:tc gridSpan="2"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Показатели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критичные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для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качества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(СЕЙ)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45B97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Высокоуровневый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план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проекта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  <a:solidFill>
                      <a:srgbClr val="45B97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04257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dirty="0" smtClean="0">
                          <a:latin typeface="Times New Roman"/>
                          <a:cs typeface="Times New Roman"/>
                        </a:rPr>
                        <a:t>  Затрачиваемое время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  <a:lnB w="12700">
                      <a:solidFill>
                        <a:srgbClr val="92949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800" dirty="0" smtClean="0">
                        <a:latin typeface="Times New Roman"/>
                        <a:cs typeface="Times New Roman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buChar char="•"/>
                        <a:tabLst>
                          <a:tab pos="775335" algn="l"/>
                          <a:tab pos="3880485" algn="l"/>
                          <a:tab pos="541464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Старт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800" spc="-20" dirty="0" err="1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Дата</a:t>
                      </a:r>
                      <a:r>
                        <a:rPr lang="ru-RU" sz="800" u="heavy" spc="0" baseline="0" dirty="0" smtClean="0">
                          <a:solidFill>
                            <a:srgbClr val="0A0039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800" u="none" spc="0" baseline="0" dirty="0" smtClean="0">
                          <a:solidFill>
                            <a:srgbClr val="0A0039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31.03.25г</a:t>
                      </a:r>
                      <a:endParaRPr sz="800" u="none" dirty="0">
                        <a:latin typeface="Times New Roman"/>
                        <a:cs typeface="Times New Roman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775335" algn="l"/>
                          <a:tab pos="388048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Определение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800" spc="-20" dirty="0" err="1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Дата</a:t>
                      </a:r>
                      <a:r>
                        <a:rPr lang="ru-RU" sz="800" spc="-20" dirty="0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31.03.25г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60"/>
                        </a:spcBef>
                        <a:buChar char="•"/>
                        <a:tabLst>
                          <a:tab pos="775335" algn="l"/>
                          <a:tab pos="388048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Измерение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800" spc="-20" dirty="0" err="1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Дата</a:t>
                      </a:r>
                      <a:r>
                        <a:rPr lang="ru-RU" sz="800" spc="-20" dirty="0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09.04.25г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60"/>
                        </a:spcBef>
                        <a:buChar char="•"/>
                        <a:tabLst>
                          <a:tab pos="775335" algn="l"/>
                          <a:tab pos="388048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Анализ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800" spc="-20" dirty="0" err="1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Дата</a:t>
                      </a:r>
                      <a:r>
                        <a:rPr lang="ru-RU" sz="800" spc="-20" dirty="0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10.04.25г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60"/>
                        </a:spcBef>
                        <a:buChar char="•"/>
                        <a:tabLst>
                          <a:tab pos="775335" algn="l"/>
                          <a:tab pos="388048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Улучшение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800" spc="-20" dirty="0" err="1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Дата</a:t>
                      </a:r>
                      <a:r>
                        <a:rPr lang="ru-RU" sz="800" spc="-20" dirty="0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21.04.25г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775335" indent="-619760">
                        <a:lnSpc>
                          <a:spcPct val="100000"/>
                        </a:lnSpc>
                        <a:spcBef>
                          <a:spcPts val="60"/>
                        </a:spcBef>
                        <a:buChar char="•"/>
                        <a:tabLst>
                          <a:tab pos="775335" algn="l"/>
                          <a:tab pos="3880485" algn="l"/>
                        </a:tabLst>
                      </a:pPr>
                      <a:r>
                        <a:rPr sz="800" spc="-1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Контроль</a:t>
                      </a:r>
                      <a:r>
                        <a:rPr sz="800" dirty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800" spc="-20" dirty="0" err="1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Дата</a:t>
                      </a:r>
                      <a:r>
                        <a:rPr lang="ru-RU" sz="800" spc="-20" dirty="0" smtClean="0">
                          <a:solidFill>
                            <a:srgbClr val="0A0039"/>
                          </a:solidFill>
                          <a:latin typeface="Calibri"/>
                          <a:cs typeface="Calibri"/>
                        </a:rPr>
                        <a:t> ------------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929497"/>
                      </a:solidFill>
                      <a:prstDash val="solid"/>
                    </a:lnL>
                    <a:lnR w="12700">
                      <a:solidFill>
                        <a:srgbClr val="929497"/>
                      </a:solidFill>
                      <a:prstDash val="solid"/>
                    </a:lnR>
                    <a:lnB w="12700">
                      <a:solidFill>
                        <a:srgbClr val="92949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20947" y="89080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Паспорт проекта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492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150" y="932973"/>
            <a:ext cx="8195095" cy="5795631"/>
          </a:xfrm>
          <a:prstGeom prst="rect">
            <a:avLst/>
          </a:prstGeom>
        </p:spPr>
      </p:pic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Карта сквозного процесса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8142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963" y="69658"/>
            <a:ext cx="9676754" cy="66848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-2303251" y="3201475"/>
            <a:ext cx="5986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+mj-lt"/>
              </a:rPr>
              <a:t>Проблемный процесс </a:t>
            </a:r>
            <a:r>
              <a:rPr lang="en-US" sz="3200" dirty="0" smtClean="0">
                <a:latin typeface="+mj-lt"/>
              </a:rPr>
              <a:t>AS IS</a:t>
            </a:r>
            <a:endParaRPr lang="ru-RU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592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645" y="155275"/>
            <a:ext cx="4672792" cy="32913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76" y="3446601"/>
            <a:ext cx="4668661" cy="3337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01472" y="332638"/>
            <a:ext cx="63304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+mj-lt"/>
              </a:rPr>
              <a:t>Проблемный процесс </a:t>
            </a:r>
            <a:r>
              <a:rPr lang="en-US" sz="3200" dirty="0" smtClean="0">
                <a:latin typeface="+mj-lt"/>
              </a:rPr>
              <a:t>AS IS</a:t>
            </a:r>
            <a:endParaRPr lang="ru-RU" sz="3200" dirty="0" smtClean="0">
              <a:latin typeface="+mj-lt"/>
            </a:endParaRPr>
          </a:p>
          <a:p>
            <a:r>
              <a:rPr lang="ru-RU" sz="3200" dirty="0" smtClean="0">
                <a:latin typeface="+mj-lt"/>
              </a:rPr>
              <a:t>Формирование и печать справки</a:t>
            </a:r>
            <a:endParaRPr lang="ru-RU" sz="3200" dirty="0">
              <a:latin typeface="+mj-lt"/>
            </a:endParaRP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/>
          <a:srcRect l="30597" t="15026" r="14943" b="15780"/>
          <a:stretch/>
        </p:blipFill>
        <p:spPr>
          <a:xfrm>
            <a:off x="6857999" y="2009953"/>
            <a:ext cx="3562709" cy="318832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7687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08" y="923019"/>
            <a:ext cx="10582153" cy="5297069"/>
          </a:xfrm>
        </p:spPr>
      </p:pic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Диаграмма </a:t>
            </a:r>
            <a:r>
              <a:rPr lang="ru-RU" sz="3200" dirty="0" err="1" smtClean="0"/>
              <a:t>Ишикавы</a:t>
            </a: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2000" dirty="0" smtClean="0"/>
              <a:t>Процесс исполнения запросов граждан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7101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993" y="1052422"/>
            <a:ext cx="10947864" cy="5564488"/>
          </a:xfrm>
        </p:spPr>
      </p:pic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Диаграмма </a:t>
            </a:r>
            <a:r>
              <a:rPr lang="ru-RU" sz="3200" dirty="0" err="1" smtClean="0"/>
              <a:t>Ишикавы</a:t>
            </a: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2000" dirty="0" smtClean="0"/>
              <a:t>Процесс поиска личных дел в архиве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8950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32" y="925650"/>
            <a:ext cx="5608756" cy="585101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96" y="925649"/>
            <a:ext cx="5388544" cy="5851019"/>
          </a:xfrm>
          <a:prstGeom prst="rect">
            <a:avLst/>
          </a:prstGeom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7732" y="189498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Анализ шагов процессов – Определение </a:t>
            </a:r>
            <a:r>
              <a:rPr lang="en-US" sz="3200" dirty="0" smtClean="0"/>
              <a:t>CVA, BVA, NVA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3737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Время такта и частота спроса</a:t>
            </a:r>
            <a:endParaRPr lang="ru-RU" sz="3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637" y="4078489"/>
            <a:ext cx="3886742" cy="26864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b="47774"/>
          <a:stretch/>
        </p:blipFill>
        <p:spPr>
          <a:xfrm>
            <a:off x="708583" y="1162693"/>
            <a:ext cx="7829029" cy="291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6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600" y="1190445"/>
            <a:ext cx="9804139" cy="4991633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Варианты оптимизации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9129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75" y="1009292"/>
            <a:ext cx="9332859" cy="9310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675" y="1876711"/>
            <a:ext cx="9344212" cy="4791321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Варианты оптимизации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048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97" y="1701329"/>
            <a:ext cx="9332859" cy="9310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696" y="2632344"/>
            <a:ext cx="9345345" cy="2888561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Варианты оптимизации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4002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412" y="77637"/>
            <a:ext cx="9480475" cy="6598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6200000">
            <a:off x="-2303251" y="3201475"/>
            <a:ext cx="5986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+mj-lt"/>
              </a:rPr>
              <a:t>Проблемный процесс </a:t>
            </a:r>
            <a:r>
              <a:rPr lang="en-US" sz="3200" dirty="0" smtClean="0">
                <a:latin typeface="+mj-lt"/>
              </a:rPr>
              <a:t>TO BE</a:t>
            </a:r>
            <a:endParaRPr lang="ru-RU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215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872" y="121522"/>
            <a:ext cx="4787660" cy="6567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01472" y="332638"/>
            <a:ext cx="63304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+mj-lt"/>
              </a:rPr>
              <a:t>Проблемный процесс </a:t>
            </a:r>
            <a:r>
              <a:rPr lang="en-US" sz="3200" dirty="0" smtClean="0">
                <a:latin typeface="+mj-lt"/>
              </a:rPr>
              <a:t>TO BE</a:t>
            </a:r>
            <a:endParaRPr lang="ru-RU" sz="3200" dirty="0" smtClean="0">
              <a:latin typeface="+mj-lt"/>
            </a:endParaRPr>
          </a:p>
          <a:p>
            <a:r>
              <a:rPr lang="ru-RU" sz="3200" dirty="0" smtClean="0">
                <a:latin typeface="+mj-lt"/>
              </a:rPr>
              <a:t>Формирование и печать справки</a:t>
            </a:r>
            <a:endParaRPr lang="ru-RU" sz="3200" dirty="0">
              <a:latin typeface="+mj-lt"/>
            </a:endParaRP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/>
          <a:srcRect l="28890" t="9226" r="10029" b="67789"/>
          <a:stretch/>
        </p:blipFill>
        <p:spPr>
          <a:xfrm>
            <a:off x="6728603" y="2234239"/>
            <a:ext cx="4194366" cy="2165233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69964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90742" y="27023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Эффект изменений</a:t>
            </a:r>
            <a:endParaRPr lang="ru-RU" sz="32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43" y="270236"/>
            <a:ext cx="5155953" cy="61855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42" y="2251715"/>
            <a:ext cx="5188375" cy="234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1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90742" y="27023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Эффект изменений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265" y="270236"/>
            <a:ext cx="5248023" cy="65211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42" y="2285884"/>
            <a:ext cx="5162756" cy="22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3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96577" cy="644166"/>
          </a:xfrm>
        </p:spPr>
        <p:txBody>
          <a:bodyPr>
            <a:noAutofit/>
          </a:bodyPr>
          <a:lstStyle/>
          <a:p>
            <a:r>
              <a:rPr lang="ru-RU" sz="3200" dirty="0" smtClean="0"/>
              <a:t>Время такта и частота спроса</a:t>
            </a:r>
            <a:endParaRPr lang="ru-RU" sz="3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637" y="4078489"/>
            <a:ext cx="3886742" cy="26864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48175" b="392"/>
          <a:stretch/>
        </p:blipFill>
        <p:spPr>
          <a:xfrm>
            <a:off x="294226" y="1249024"/>
            <a:ext cx="7714411" cy="282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0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65740" y="2478596"/>
            <a:ext cx="5519468" cy="1325563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3413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422</Words>
  <Application>Microsoft Office PowerPoint</Application>
  <PresentationFormat>Широкоэкранный</PresentationFormat>
  <Paragraphs>102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Тема Office</vt:lpstr>
      <vt:lpstr>Оптимизация исполнения запросов организаций и заявлений граждан</vt:lpstr>
      <vt:lpstr>Проблема</vt:lpstr>
      <vt:lpstr>1. Выдача архивной справки о подтверждении учебы</vt:lpstr>
      <vt:lpstr>2. Поиск, оформление и выдача тематических, биографических и генеалогических сведений</vt:lpstr>
      <vt:lpstr>Паспорт проекта</vt:lpstr>
      <vt:lpstr>Карта сквозного процесса </vt:lpstr>
      <vt:lpstr>Презентация PowerPoint</vt:lpstr>
      <vt:lpstr>Презентация PowerPoint</vt:lpstr>
      <vt:lpstr>Диаграмма Ишикавы Процесс исполнения запросов граждан</vt:lpstr>
      <vt:lpstr>Диаграмма Ишикавы Процесс поиска личных дел в архиве</vt:lpstr>
      <vt:lpstr>Анализ шагов процессов – Определение CVA, BVA, NVA</vt:lpstr>
      <vt:lpstr>Время такта и частота спроса</vt:lpstr>
      <vt:lpstr>Варианты оптимизации</vt:lpstr>
      <vt:lpstr>Варианты оптимизации</vt:lpstr>
      <vt:lpstr>Варианты оптимизации</vt:lpstr>
      <vt:lpstr>Презентация PowerPoint</vt:lpstr>
      <vt:lpstr>Презентация PowerPoint</vt:lpstr>
      <vt:lpstr>Эффект изменений</vt:lpstr>
      <vt:lpstr>Эффект изменений</vt:lpstr>
      <vt:lpstr>Время такта и частота спроса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42</cp:revision>
  <dcterms:created xsi:type="dcterms:W3CDTF">2025-04-10T10:12:10Z</dcterms:created>
  <dcterms:modified xsi:type="dcterms:W3CDTF">2025-05-04T09:56:12Z</dcterms:modified>
</cp:coreProperties>
</file>