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7" r:id="rId2"/>
    <p:sldId id="271" r:id="rId3"/>
    <p:sldId id="261" r:id="rId4"/>
    <p:sldId id="286" r:id="rId5"/>
    <p:sldId id="287" r:id="rId6"/>
    <p:sldId id="288" r:id="rId7"/>
    <p:sldId id="289" r:id="rId8"/>
    <p:sldId id="290" r:id="rId9"/>
    <p:sldId id="291" r:id="rId10"/>
    <p:sldId id="292" r:id="rId11"/>
    <p:sldId id="293" r:id="rId12"/>
    <p:sldId id="309" r:id="rId13"/>
    <p:sldId id="285" r:id="rId14"/>
    <p:sldId id="307" r:id="rId15"/>
    <p:sldId id="284" r:id="rId16"/>
    <p:sldId id="305" r:id="rId17"/>
    <p:sldId id="295" r:id="rId18"/>
    <p:sldId id="300" r:id="rId19"/>
    <p:sldId id="296" r:id="rId20"/>
    <p:sldId id="301" r:id="rId21"/>
    <p:sldId id="282" r:id="rId22"/>
    <p:sldId id="283" r:id="rId23"/>
    <p:sldId id="308" r:id="rId24"/>
    <p:sldId id="270" r:id="rId25"/>
  </p:sldIdLst>
  <p:sldSz cx="9144000" cy="5143500" type="screen16x9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рапивина Валерия" initials="КВ" lastIdx="1" clrIdx="0">
    <p:extLst>
      <p:ext uri="{19B8F6BF-5375-455C-9EA6-DF929625EA0E}">
        <p15:presenceInfo xmlns:p15="http://schemas.microsoft.com/office/powerpoint/2012/main" userId="a37c4008e2794c5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ABEF"/>
    <a:srgbClr val="5989E9"/>
    <a:srgbClr val="AADDFC"/>
    <a:srgbClr val="00549F"/>
    <a:srgbClr val="E2ECF8"/>
    <a:srgbClr val="D6E0EC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3979" autoAdjust="0"/>
  </p:normalViewPr>
  <p:slideViewPr>
    <p:cSldViewPr>
      <p:cViewPr varScale="1">
        <p:scale>
          <a:sx n="87" d="100"/>
          <a:sy n="87" d="100"/>
        </p:scale>
        <p:origin x="608" y="5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71BDCD-EBE6-4678-8413-13BFAA387E1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A570D4-9143-4E91-8959-8D963457B76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363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0167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7391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14522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581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5269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6834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651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1666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96492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03279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151621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2664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33828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66366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1049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58790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2663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97007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91229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75997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804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52167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i="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44541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570D4-9143-4E91-8959-8D963457B763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0671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05.05.2025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" y="824927"/>
            <a:ext cx="3347865" cy="76925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TextBox 4"/>
          <p:cNvSpPr txBox="1"/>
          <p:nvPr/>
        </p:nvSpPr>
        <p:spPr>
          <a:xfrm>
            <a:off x="90496" y="1828832"/>
            <a:ext cx="5624505" cy="193899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ru-RU" sz="4000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Архивные подразделения КФУ (ИУЭФ + Педагогический)</a:t>
            </a:r>
            <a:endParaRPr lang="ru-RU" sz="4000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B99288A-28EA-4333-A305-E315C8C40F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059582"/>
            <a:ext cx="1728192" cy="33049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958047-ADF5-473F-B58F-5299B77F1D8E}"/>
              </a:ext>
            </a:extLst>
          </p:cNvPr>
          <p:cNvSpPr txBox="1"/>
          <p:nvPr/>
        </p:nvSpPr>
        <p:spPr>
          <a:xfrm>
            <a:off x="8316416" y="4659982"/>
            <a:ext cx="7015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solidFill>
                  <a:schemeClr val="bg1">
                    <a:lumMod val="50000"/>
                  </a:schemeClr>
                </a:solidFill>
                <a:latin typeface="PT Sans" panose="020B0503020203020204" pitchFamily="34" charset="-52"/>
              </a:rPr>
              <a:t>2025</a:t>
            </a:r>
            <a:endParaRPr lang="ru-RU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1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42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827584" y="87534"/>
            <a:ext cx="7488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ОПИСАНИЕ ПОДРАЗДЕЛЕНИЙ </a:t>
            </a:r>
            <a:r>
              <a:rPr lang="ru-RU" sz="2400" b="1" dirty="0">
                <a:solidFill>
                  <a:srgbClr val="00549F"/>
                </a:solidFill>
                <a:latin typeface="PT Sans" panose="020B0503020203020204" pitchFamily="34" charset="-52"/>
              </a:rPr>
              <a:t>АРХИВА КФУ (АРХИВ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ИУЭФ + АРХИВ ПЕДАГОГИЧЕСКОГО)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BBB8DD9-1CEC-417C-B9F0-DCB6C7F257ED}"/>
              </a:ext>
            </a:extLst>
          </p:cNvPr>
          <p:cNvSpPr txBox="1"/>
          <p:nvPr/>
        </p:nvSpPr>
        <p:spPr>
          <a:xfrm>
            <a:off x="889539" y="882782"/>
            <a:ext cx="746466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PT Sans" panose="020B0503020203020204"/>
              </a:rPr>
              <a:t>Архивы </a:t>
            </a:r>
            <a:r>
              <a:rPr lang="ru-RU" b="1" dirty="0">
                <a:latin typeface="PT Sans" panose="020B0503020203020204"/>
              </a:rPr>
              <a:t>Финансового </a:t>
            </a:r>
            <a:r>
              <a:rPr lang="ru-RU" b="1" dirty="0" smtClean="0">
                <a:latin typeface="PT Sans" panose="020B0503020203020204"/>
              </a:rPr>
              <a:t>и Педагогического институтов </a:t>
            </a:r>
            <a:r>
              <a:rPr lang="ru-RU" b="1" dirty="0">
                <a:latin typeface="PT Sans" panose="020B0503020203020204"/>
              </a:rPr>
              <a:t>КФУ </a:t>
            </a:r>
            <a:r>
              <a:rPr lang="ru-RU" dirty="0">
                <a:latin typeface="PT Sans" panose="020B0503020203020204"/>
              </a:rPr>
              <a:t>– </a:t>
            </a:r>
            <a:r>
              <a:rPr lang="ru-RU" dirty="0" smtClean="0">
                <a:latin typeface="PT Sans" panose="020B0503020203020204"/>
              </a:rPr>
              <a:t>структурные подразделения, обеспечивающие </a:t>
            </a:r>
            <a:r>
              <a:rPr lang="ru-RU" dirty="0">
                <a:latin typeface="PT Sans" panose="020B0503020203020204"/>
              </a:rPr>
              <a:t>сохранность, систематизацию и управление документами института. </a:t>
            </a:r>
            <a:endParaRPr lang="ru-RU" sz="1600" dirty="0">
              <a:solidFill>
                <a:schemeClr val="bg1">
                  <a:lumMod val="50000"/>
                </a:schemeClr>
              </a:solidFill>
              <a:latin typeface="PT Sans" panose="020B0503020203020204"/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858325" y="1926554"/>
            <a:ext cx="3528392" cy="2867496"/>
            <a:chOff x="827584" y="1772978"/>
            <a:chExt cx="3528392" cy="2867496"/>
          </a:xfrm>
        </p:grpSpPr>
        <p:sp>
          <p:nvSpPr>
            <p:cNvPr id="12" name="Скругленный прямоугольник 11"/>
            <p:cNvSpPr/>
            <p:nvPr/>
          </p:nvSpPr>
          <p:spPr>
            <a:xfrm>
              <a:off x="827584" y="1772978"/>
              <a:ext cx="3528392" cy="2825692"/>
            </a:xfrm>
            <a:prstGeom prst="roundRect">
              <a:avLst/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" name="TextBox 1"/>
            <p:cNvSpPr txBox="1"/>
            <p:nvPr/>
          </p:nvSpPr>
          <p:spPr>
            <a:xfrm>
              <a:off x="971600" y="1778152"/>
              <a:ext cx="3384376" cy="28623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Ключевые функции: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ru-RU" dirty="0"/>
                <a:t>Прием, учет, хранение и утилизация документов.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ru-RU" dirty="0"/>
                <a:t>Формирование юридически значимых справок (подтверждение дипломов, трудового стажа).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ru-RU" dirty="0"/>
                <a:t>Соблюдение законодательства РФ (ФЗ № 125, 152 – ФЗ, ГСДОУ). </a:t>
              </a:r>
            </a:p>
          </p:txBody>
        </p:sp>
      </p:grpSp>
      <p:grpSp>
        <p:nvGrpSpPr>
          <p:cNvPr id="8" name="Группа 7"/>
          <p:cNvGrpSpPr/>
          <p:nvPr/>
        </p:nvGrpSpPr>
        <p:grpSpPr>
          <a:xfrm>
            <a:off x="4788024" y="1923678"/>
            <a:ext cx="3528392" cy="2825692"/>
            <a:chOff x="4788024" y="1690274"/>
            <a:chExt cx="3528392" cy="2825692"/>
          </a:xfrm>
        </p:grpSpPr>
        <p:sp>
          <p:nvSpPr>
            <p:cNvPr id="7" name="Скругленный прямоугольник 6"/>
            <p:cNvSpPr/>
            <p:nvPr/>
          </p:nvSpPr>
          <p:spPr>
            <a:xfrm>
              <a:off x="4788024" y="1690274"/>
              <a:ext cx="3528392" cy="2825692"/>
            </a:xfrm>
            <a:prstGeom prst="roundRect">
              <a:avLst/>
            </a:prstGeom>
            <a:solidFill>
              <a:schemeClr val="tx2">
                <a:lumMod val="20000"/>
                <a:lumOff val="8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32040" y="1793492"/>
              <a:ext cx="3384376" cy="2585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dirty="0"/>
                <a:t>Хранящиеся документы: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ru-RU" dirty="0"/>
                <a:t>Личные дела преподавателей, студентов, сотрудников.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ru-RU" dirty="0"/>
                <a:t>Приказы о приеме/ увольнении, зарплатные ведомости, расчетные счета. </a:t>
              </a: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ru-RU" dirty="0"/>
                <a:t>Архивные копии дипломов и академических справок.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908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 в схемах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1600" y="1491630"/>
            <a:ext cx="7860447" cy="33003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49695" y="84355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SIPO</a:t>
            </a:r>
            <a:r>
              <a:rPr lang="ru-RU" sz="2800" b="1" dirty="0" smtClean="0"/>
              <a:t>С</a:t>
            </a:r>
            <a:endParaRPr lang="ru-RU" sz="2800" b="1" dirty="0">
              <a:latin typeface="PT Sans" panose="020B0503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3684344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74888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1 уровень детализации)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34781" y="670113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/>
              <a:t>IDEF0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74" y="1193333"/>
            <a:ext cx="8015871" cy="374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695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4176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</a:t>
            </a:r>
            <a:r>
              <a:rPr lang="ru-RU" sz="2400" b="1" dirty="0">
                <a:solidFill>
                  <a:srgbClr val="00549F"/>
                </a:solidFill>
                <a:latin typeface="PT Sans" panose="020B0503020203020204" pitchFamily="34" charset="-52"/>
              </a:rPr>
              <a:t>2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19672" y="2139702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CFFC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297" y="-33692"/>
            <a:ext cx="3620704" cy="5177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12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ч.1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2211710"/>
            <a:ext cx="3816424" cy="98655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5"/>
          <a:srcRect r="1612"/>
          <a:stretch/>
        </p:blipFill>
        <p:spPr>
          <a:xfrm>
            <a:off x="4644008" y="0"/>
            <a:ext cx="453650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83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/>
          <a:srcRect l="1416" r="5178"/>
          <a:stretch/>
        </p:blipFill>
        <p:spPr>
          <a:xfrm>
            <a:off x="4391472" y="160896"/>
            <a:ext cx="4752528" cy="468124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2211709"/>
            <a:ext cx="3816424" cy="986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ч.2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70928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7709" y="304116"/>
            <a:ext cx="4807247" cy="4535267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2211709"/>
            <a:ext cx="3816424" cy="986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ч.3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518313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211709"/>
            <a:ext cx="3816424" cy="986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ч.4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8064" y="599208"/>
            <a:ext cx="3724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72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en-US" dirty="0" err="1"/>
              <a:t>Проблемы</a:t>
            </a:r>
            <a:r>
              <a:rPr lang="en-US" dirty="0"/>
              <a:t> и </a:t>
            </a:r>
            <a:r>
              <a:rPr lang="en-US" dirty="0" err="1"/>
              <a:t>потери</a:t>
            </a:r>
            <a:r>
              <a:rPr lang="en-US" dirty="0"/>
              <a:t> в </a:t>
            </a:r>
            <a:r>
              <a:rPr lang="en-US" dirty="0" err="1"/>
              <a:t>архиве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796" y="658071"/>
            <a:ext cx="7231533" cy="4433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105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 smtClean="0"/>
              <a:t>Диаграмма передвижений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04" y="904665"/>
            <a:ext cx="3869691" cy="2963229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0072" y="811223"/>
            <a:ext cx="3735313" cy="3179247"/>
          </a:xfrm>
          <a:prstGeom prst="rect">
            <a:avLst/>
          </a:prstGeom>
        </p:spPr>
      </p:pic>
      <p:cxnSp>
        <p:nvCxnSpPr>
          <p:cNvPr id="8" name="Прямая соединительная линия 7"/>
          <p:cNvCxnSpPr/>
          <p:nvPr/>
        </p:nvCxnSpPr>
        <p:spPr>
          <a:xfrm flipH="1">
            <a:off x="5066462" y="557589"/>
            <a:ext cx="2221" cy="4585911"/>
          </a:xfrm>
          <a:prstGeom prst="line">
            <a:avLst/>
          </a:prstGeom>
          <a:ln w="2857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475656" y="3990470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Перемещения внутри здания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5737183" y="3990469"/>
            <a:ext cx="2304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Перемещения внутри кабинета*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5188491" y="4731990"/>
            <a:ext cx="2664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>
                <a:latin typeface="PT Sans" panose="020B0503020203020204"/>
              </a:rPr>
              <a:t>* Для архива ИУЭФ</a:t>
            </a:r>
            <a:endParaRPr lang="ru-RU" sz="1200" dirty="0">
              <a:latin typeface="PT Sans" panose="020B0503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8447312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978974" y="105167"/>
            <a:ext cx="7344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 smtClean="0"/>
              <a:t>Выявление </a:t>
            </a:r>
            <a:r>
              <a:rPr lang="ru-RU" dirty="0"/>
              <a:t>шагов процесса, не приносящих ценности клиенту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74" y="1419622"/>
            <a:ext cx="8113747" cy="280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026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en-US" dirty="0" err="1"/>
              <a:t>Проблемы</a:t>
            </a:r>
            <a:r>
              <a:rPr lang="en-US" dirty="0"/>
              <a:t> и </a:t>
            </a:r>
            <a:r>
              <a:rPr lang="en-US" dirty="0" err="1"/>
              <a:t>потери</a:t>
            </a:r>
            <a:r>
              <a:rPr lang="en-US" dirty="0"/>
              <a:t> в </a:t>
            </a:r>
            <a:r>
              <a:rPr lang="en-US" dirty="0" err="1"/>
              <a:t>архиве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20339" y="2045724"/>
            <a:ext cx="2931581" cy="1346207"/>
          </a:xfrm>
          <a:prstGeom prst="roundRect">
            <a:avLst>
              <a:gd name="adj" fmla="val 1681"/>
            </a:avLst>
          </a:prstGeom>
          <a:solidFill>
            <a:srgbClr val="E2ECF8"/>
          </a:solidFill>
          <a:ln/>
        </p:spPr>
      </p:sp>
      <p:sp>
        <p:nvSpPr>
          <p:cNvPr id="8" name="Text 2"/>
          <p:cNvSpPr/>
          <p:nvPr/>
        </p:nvSpPr>
        <p:spPr>
          <a:xfrm>
            <a:off x="993493" y="2045724"/>
            <a:ext cx="2786419" cy="67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Излишняя транспортировка</a:t>
            </a:r>
            <a:endParaRPr lang="en-US" b="1" dirty="0"/>
          </a:p>
        </p:txBody>
      </p:sp>
      <p:sp>
        <p:nvSpPr>
          <p:cNvPr id="9" name="Text 3"/>
          <p:cNvSpPr/>
          <p:nvPr/>
        </p:nvSpPr>
        <p:spPr>
          <a:xfrm>
            <a:off x="984117" y="2801088"/>
            <a:ext cx="2637813" cy="453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 err="1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Сотрудник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ru-RU" sz="14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</a:t>
            </a:r>
            <a:r>
              <a:rPr lang="en-US" sz="1400" dirty="0" err="1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носит</a:t>
            </a:r>
            <a:r>
              <a:rPr lang="en-US" sz="1400" dirty="0" smtClean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документы на печать в главное здание.</a:t>
            </a:r>
            <a:endParaRPr lang="en-US" sz="1400" dirty="0"/>
          </a:p>
        </p:txBody>
      </p:sp>
      <p:sp>
        <p:nvSpPr>
          <p:cNvPr id="10" name="Shape 4"/>
          <p:cNvSpPr/>
          <p:nvPr/>
        </p:nvSpPr>
        <p:spPr>
          <a:xfrm>
            <a:off x="920339" y="721691"/>
            <a:ext cx="2931581" cy="1129980"/>
          </a:xfrm>
          <a:prstGeom prst="roundRect">
            <a:avLst>
              <a:gd name="adj" fmla="val 1681"/>
            </a:avLst>
          </a:prstGeom>
          <a:solidFill>
            <a:srgbClr val="E2ECF8"/>
          </a:solidFill>
          <a:ln/>
        </p:spPr>
      </p:sp>
      <p:sp>
        <p:nvSpPr>
          <p:cNvPr id="11" name="Text 5"/>
          <p:cNvSpPr/>
          <p:nvPr/>
        </p:nvSpPr>
        <p:spPr>
          <a:xfrm>
            <a:off x="1027625" y="751642"/>
            <a:ext cx="3211235" cy="421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Излишние перемещения</a:t>
            </a:r>
            <a:endParaRPr lang="en-US" b="1" dirty="0"/>
          </a:p>
        </p:txBody>
      </p:sp>
      <p:sp>
        <p:nvSpPr>
          <p:cNvPr id="12" name="Text 6"/>
          <p:cNvSpPr/>
          <p:nvPr/>
        </p:nvSpPr>
        <p:spPr>
          <a:xfrm>
            <a:off x="1026868" y="1184470"/>
            <a:ext cx="2595062" cy="499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документов требует перемещений внутри архива.</a:t>
            </a:r>
            <a:endParaRPr lang="en-US" sz="1400" dirty="0"/>
          </a:p>
        </p:txBody>
      </p:sp>
      <p:sp>
        <p:nvSpPr>
          <p:cNvPr id="14" name="Shape 7"/>
          <p:cNvSpPr/>
          <p:nvPr/>
        </p:nvSpPr>
        <p:spPr>
          <a:xfrm>
            <a:off x="920340" y="4011910"/>
            <a:ext cx="7662950" cy="965656"/>
          </a:xfrm>
          <a:prstGeom prst="roundRect">
            <a:avLst>
              <a:gd name="adj" fmla="val 2603"/>
            </a:avLst>
          </a:prstGeom>
          <a:solidFill>
            <a:srgbClr val="E2ECF8"/>
          </a:solidFill>
          <a:ln/>
        </p:spPr>
      </p:sp>
      <p:sp>
        <p:nvSpPr>
          <p:cNvPr id="15" name="Text 8"/>
          <p:cNvSpPr/>
          <p:nvPr/>
        </p:nvSpPr>
        <p:spPr>
          <a:xfrm>
            <a:off x="1253681" y="4128804"/>
            <a:ext cx="43631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b="1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Отсутствие цифрового архива</a:t>
            </a:r>
            <a:endParaRPr lang="en-US" b="1" dirty="0"/>
          </a:p>
        </p:txBody>
      </p:sp>
      <p:sp>
        <p:nvSpPr>
          <p:cNvPr id="16" name="Text 9"/>
          <p:cNvSpPr/>
          <p:nvPr/>
        </p:nvSpPr>
        <p:spPr>
          <a:xfrm>
            <a:off x="1253682" y="4387850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Основная проблема, вызывающая потери времени и риски.</a:t>
            </a:r>
            <a:endParaRPr lang="en-US" sz="1400" dirty="0"/>
          </a:p>
        </p:txBody>
      </p:sp>
      <p:pic>
        <p:nvPicPr>
          <p:cNvPr id="20" name="Рисунок 19" descr="Изображение выглядит как текст, снимок экрана, число, Шрифт&#10;&#10;Автоматически созданное описание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7301" y="682762"/>
            <a:ext cx="5227320" cy="2743200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5064729" y="3358190"/>
            <a:ext cx="291246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ВРЕМЯ ТАКТА – 1800СЕК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8100392" y="1202850"/>
            <a:ext cx="482897" cy="216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Скругленный прямоугольник 12"/>
          <p:cNvSpPr/>
          <p:nvPr/>
        </p:nvSpPr>
        <p:spPr>
          <a:xfrm>
            <a:off x="3878209" y="3254545"/>
            <a:ext cx="117727" cy="2013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Скругленный прямоугольник 17"/>
          <p:cNvSpPr/>
          <p:nvPr/>
        </p:nvSpPr>
        <p:spPr>
          <a:xfrm>
            <a:off x="9016894" y="3291247"/>
            <a:ext cx="117727" cy="20136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1759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/>
          <p:cNvSpPr txBox="1"/>
          <p:nvPr/>
        </p:nvSpPr>
        <p:spPr>
          <a:xfrm>
            <a:off x="1043608" y="9592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en-US" dirty="0" smtClean="0"/>
              <a:t>DMAIC</a:t>
            </a:r>
            <a:endParaRPr lang="en-US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2" name="Шеврон 1"/>
          <p:cNvSpPr/>
          <p:nvPr/>
        </p:nvSpPr>
        <p:spPr>
          <a:xfrm>
            <a:off x="976916" y="673494"/>
            <a:ext cx="1732636" cy="399974"/>
          </a:xfrm>
          <a:prstGeom prst="chevron">
            <a:avLst>
              <a:gd name="adj" fmla="val 38499"/>
            </a:avLst>
          </a:prstGeom>
          <a:solidFill>
            <a:srgbClr val="AADD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  <a:latin typeface="PT Sans" panose="020B0503020203020204"/>
            </a:endParaRPr>
          </a:p>
        </p:txBody>
      </p:sp>
      <p:sp>
        <p:nvSpPr>
          <p:cNvPr id="10" name="Шеврон 9"/>
          <p:cNvSpPr/>
          <p:nvPr/>
        </p:nvSpPr>
        <p:spPr>
          <a:xfrm>
            <a:off x="2650871" y="704170"/>
            <a:ext cx="1663879" cy="399975"/>
          </a:xfrm>
          <a:prstGeom prst="chevron">
            <a:avLst>
              <a:gd name="adj" fmla="val 38499"/>
            </a:avLst>
          </a:prstGeom>
          <a:solidFill>
            <a:srgbClr val="AADD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  <a:latin typeface="PT Sans" panose="020B0503020203020204"/>
            </a:endParaRPr>
          </a:p>
        </p:txBody>
      </p:sp>
      <p:sp>
        <p:nvSpPr>
          <p:cNvPr id="11" name="Шеврон 10"/>
          <p:cNvSpPr/>
          <p:nvPr/>
        </p:nvSpPr>
        <p:spPr>
          <a:xfrm>
            <a:off x="4245026" y="701142"/>
            <a:ext cx="1636992" cy="394692"/>
          </a:xfrm>
          <a:prstGeom prst="chevron">
            <a:avLst>
              <a:gd name="adj" fmla="val 38499"/>
            </a:avLst>
          </a:prstGeom>
          <a:solidFill>
            <a:srgbClr val="AADD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  <a:latin typeface="PT Sans" panose="020B0503020203020204"/>
            </a:endParaRPr>
          </a:p>
        </p:txBody>
      </p:sp>
      <p:sp>
        <p:nvSpPr>
          <p:cNvPr id="12" name="Шеврон 11"/>
          <p:cNvSpPr/>
          <p:nvPr/>
        </p:nvSpPr>
        <p:spPr>
          <a:xfrm>
            <a:off x="5809554" y="703227"/>
            <a:ext cx="1636992" cy="390657"/>
          </a:xfrm>
          <a:prstGeom prst="chevron">
            <a:avLst>
              <a:gd name="adj" fmla="val 38499"/>
            </a:avLst>
          </a:prstGeom>
          <a:solidFill>
            <a:srgbClr val="AADD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  <a:latin typeface="PT Sans" panose="020B0503020203020204"/>
            </a:endParaRPr>
          </a:p>
        </p:txBody>
      </p:sp>
      <p:sp>
        <p:nvSpPr>
          <p:cNvPr id="13" name="Шеврон 12"/>
          <p:cNvSpPr/>
          <p:nvPr/>
        </p:nvSpPr>
        <p:spPr>
          <a:xfrm>
            <a:off x="7400353" y="698296"/>
            <a:ext cx="1595352" cy="395588"/>
          </a:xfrm>
          <a:prstGeom prst="chevron">
            <a:avLst>
              <a:gd name="adj" fmla="val 38499"/>
            </a:avLst>
          </a:prstGeom>
          <a:solidFill>
            <a:srgbClr val="AADD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000">
              <a:solidFill>
                <a:schemeClr val="tx1"/>
              </a:solidFill>
              <a:latin typeface="PT Sans" panose="020B0503020203020204"/>
            </a:endParaRPr>
          </a:p>
        </p:txBody>
      </p:sp>
      <p:sp>
        <p:nvSpPr>
          <p:cNvPr id="15" name="object 3"/>
          <p:cNvSpPr txBox="1"/>
          <p:nvPr/>
        </p:nvSpPr>
        <p:spPr>
          <a:xfrm>
            <a:off x="1365104" y="699542"/>
            <a:ext cx="891144" cy="328703"/>
          </a:xfrm>
          <a:prstGeom prst="rect">
            <a:avLst/>
          </a:prstGeom>
        </p:spPr>
        <p:txBody>
          <a:bodyPr vert="horz" wrap="square" lIns="0" tIns="5484" rIns="0" bIns="0" rtlCol="0">
            <a:spAutoFit/>
          </a:bodyPr>
          <a:lstStyle/>
          <a:p>
            <a:pPr algn="ctr">
              <a:spcBef>
                <a:spcPts val="43"/>
              </a:spcBef>
            </a:pPr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ОПРЕДЕЛЕНИЕ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  <a:p>
            <a:pPr marL="8947" algn="ctr"/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Define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</p:txBody>
      </p:sp>
      <p:sp>
        <p:nvSpPr>
          <p:cNvPr id="18" name="object 5"/>
          <p:cNvSpPr txBox="1"/>
          <p:nvPr/>
        </p:nvSpPr>
        <p:spPr>
          <a:xfrm>
            <a:off x="3107261" y="698298"/>
            <a:ext cx="744659" cy="328703"/>
          </a:xfrm>
          <a:prstGeom prst="rect">
            <a:avLst/>
          </a:prstGeom>
        </p:spPr>
        <p:txBody>
          <a:bodyPr vert="horz" wrap="square" lIns="0" tIns="5484" rIns="0" bIns="0" rtlCol="0">
            <a:spAutoFit/>
          </a:bodyPr>
          <a:lstStyle/>
          <a:p>
            <a:pPr algn="ctr">
              <a:spcBef>
                <a:spcPts val="43"/>
              </a:spcBef>
            </a:pPr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ИЗМЕРЕНИЕ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  <a:p>
            <a:pPr marL="10101" algn="ctr"/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Measure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</p:txBody>
      </p:sp>
      <p:sp>
        <p:nvSpPr>
          <p:cNvPr id="19" name="object 7"/>
          <p:cNvSpPr txBox="1"/>
          <p:nvPr/>
        </p:nvSpPr>
        <p:spPr>
          <a:xfrm>
            <a:off x="4812084" y="698298"/>
            <a:ext cx="512854" cy="328703"/>
          </a:xfrm>
          <a:prstGeom prst="rect">
            <a:avLst/>
          </a:prstGeom>
        </p:spPr>
        <p:txBody>
          <a:bodyPr vert="horz" wrap="square" lIns="0" tIns="5484" rIns="0" bIns="0" rtlCol="0">
            <a:spAutoFit/>
          </a:bodyPr>
          <a:lstStyle/>
          <a:p>
            <a:pPr marL="5772">
              <a:spcBef>
                <a:spcPts val="43"/>
              </a:spcBef>
            </a:pPr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АНАЛИЗ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  <a:p>
            <a:pPr marL="34633"/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Analyze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</p:txBody>
      </p:sp>
      <p:sp>
        <p:nvSpPr>
          <p:cNvPr id="20" name="object 9"/>
          <p:cNvSpPr txBox="1"/>
          <p:nvPr/>
        </p:nvSpPr>
        <p:spPr>
          <a:xfrm>
            <a:off x="5919948" y="698297"/>
            <a:ext cx="1398667" cy="328703"/>
          </a:xfrm>
          <a:prstGeom prst="rect">
            <a:avLst/>
          </a:prstGeom>
        </p:spPr>
        <p:txBody>
          <a:bodyPr vert="horz" wrap="square" lIns="0" tIns="5484" rIns="0" bIns="0" rtlCol="0">
            <a:spAutoFit/>
          </a:bodyPr>
          <a:lstStyle/>
          <a:p>
            <a:pPr algn="ctr">
              <a:spcBef>
                <a:spcPts val="43"/>
              </a:spcBef>
            </a:pPr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СОВЕРШЕНСТВОВАНИЕ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  <a:p>
            <a:pPr marL="8370" algn="ctr"/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Improve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</p:txBody>
      </p:sp>
      <p:sp>
        <p:nvSpPr>
          <p:cNvPr id="21" name="object 11"/>
          <p:cNvSpPr txBox="1"/>
          <p:nvPr/>
        </p:nvSpPr>
        <p:spPr>
          <a:xfrm>
            <a:off x="7835994" y="698296"/>
            <a:ext cx="659026" cy="328703"/>
          </a:xfrm>
          <a:prstGeom prst="rect">
            <a:avLst/>
          </a:prstGeom>
        </p:spPr>
        <p:txBody>
          <a:bodyPr vert="horz" wrap="square" lIns="0" tIns="5484" rIns="0" bIns="0" rtlCol="0">
            <a:spAutoFit/>
          </a:bodyPr>
          <a:lstStyle/>
          <a:p>
            <a:pPr algn="ctr">
              <a:spcBef>
                <a:spcPts val="43"/>
              </a:spcBef>
            </a:pPr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КОНТРОЛЬ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  <a:p>
            <a:pPr marL="8658" algn="ctr"/>
            <a:r>
              <a:rPr sz="1050" b="1" spc="-5" dirty="0">
                <a:solidFill>
                  <a:srgbClr val="002060"/>
                </a:solidFill>
                <a:latin typeface="PT Sans" panose="020B0503020203020204"/>
                <a:cs typeface="Calibri"/>
              </a:rPr>
              <a:t>Control</a:t>
            </a:r>
            <a:endParaRPr sz="1050" dirty="0">
              <a:solidFill>
                <a:srgbClr val="002060"/>
              </a:solidFill>
              <a:latin typeface="PT Sans" panose="020B0503020203020204"/>
              <a:cs typeface="Calibri"/>
            </a:endParaRPr>
          </a:p>
        </p:txBody>
      </p:sp>
      <p:sp>
        <p:nvSpPr>
          <p:cNvPr id="22" name="object 54"/>
          <p:cNvSpPr/>
          <p:nvPr/>
        </p:nvSpPr>
        <p:spPr>
          <a:xfrm>
            <a:off x="972825" y="1180420"/>
            <a:ext cx="1626836" cy="311966"/>
          </a:xfrm>
          <a:custGeom>
            <a:avLst/>
            <a:gdLst/>
            <a:ahLst/>
            <a:cxnLst/>
            <a:rect l="l" t="t" r="r" b="b"/>
            <a:pathLst>
              <a:path w="3434079" h="784860">
                <a:moveTo>
                  <a:pt x="125555" y="199"/>
                </a:moveTo>
                <a:lnTo>
                  <a:pt x="79024" y="580"/>
                </a:lnTo>
                <a:lnTo>
                  <a:pt x="33280" y="5914"/>
                </a:lnTo>
                <a:lnTo>
                  <a:pt x="5645" y="33600"/>
                </a:lnTo>
                <a:lnTo>
                  <a:pt x="298" y="79445"/>
                </a:lnTo>
                <a:lnTo>
                  <a:pt x="-18" y="684585"/>
                </a:lnTo>
                <a:lnTo>
                  <a:pt x="298" y="706048"/>
                </a:lnTo>
                <a:lnTo>
                  <a:pt x="5670" y="751766"/>
                </a:lnTo>
                <a:lnTo>
                  <a:pt x="33368" y="779325"/>
                </a:lnTo>
                <a:lnTo>
                  <a:pt x="79176" y="784659"/>
                </a:lnTo>
                <a:lnTo>
                  <a:pt x="100689" y="785040"/>
                </a:lnTo>
                <a:lnTo>
                  <a:pt x="3333012" y="785040"/>
                </a:lnTo>
                <a:lnTo>
                  <a:pt x="3372635" y="783897"/>
                </a:lnTo>
                <a:lnTo>
                  <a:pt x="3410099" y="775134"/>
                </a:lnTo>
                <a:lnTo>
                  <a:pt x="3430545" y="739194"/>
                </a:lnTo>
                <a:lnTo>
                  <a:pt x="3433466" y="684585"/>
                </a:lnTo>
                <a:lnTo>
                  <a:pt x="3433466" y="100781"/>
                </a:lnTo>
                <a:lnTo>
                  <a:pt x="3427751" y="33473"/>
                </a:lnTo>
                <a:lnTo>
                  <a:pt x="3400066" y="5914"/>
                </a:lnTo>
                <a:lnTo>
                  <a:pt x="3354220" y="580"/>
                </a:lnTo>
                <a:lnTo>
                  <a:pt x="125555" y="19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r>
              <a:rPr lang="ru-RU" sz="1000" dirty="0">
                <a:latin typeface="PT Sans" panose="020B0503020203020204"/>
              </a:rPr>
              <a:t>Цель: Определение проблем и целей проекта  </a:t>
            </a:r>
          </a:p>
        </p:txBody>
      </p:sp>
      <p:sp>
        <p:nvSpPr>
          <p:cNvPr id="23" name="object 14"/>
          <p:cNvSpPr txBox="1"/>
          <p:nvPr/>
        </p:nvSpPr>
        <p:spPr>
          <a:xfrm>
            <a:off x="959455" y="1638967"/>
            <a:ext cx="1596321" cy="290965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1. Описание проблемы на внешнем уровне</a:t>
            </a:r>
            <a:endParaRPr sz="300" dirty="0">
              <a:latin typeface="PT Sans" panose="020B0503020203020204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04413" y="1893198"/>
            <a:ext cx="1711441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PT Sans" panose="020B0503020203020204"/>
              </a:rPr>
              <a:t>1.1</a:t>
            </a:r>
            <a:r>
              <a:rPr lang="ru-RU" sz="900" dirty="0">
                <a:latin typeface="PT Sans" panose="020B0503020203020204"/>
              </a:rPr>
              <a:t>. Проблема:  </a:t>
            </a:r>
          </a:p>
          <a:p>
            <a:r>
              <a:rPr lang="ru-RU" sz="900" dirty="0" smtClean="0">
                <a:latin typeface="PT Sans" panose="020B0503020203020204"/>
              </a:rPr>
              <a:t> - Низкий </a:t>
            </a:r>
            <a:r>
              <a:rPr lang="ru-RU" sz="900" dirty="0">
                <a:latin typeface="PT Sans" panose="020B0503020203020204"/>
              </a:rPr>
              <a:t>уровень оцифровки документов (12% </a:t>
            </a:r>
            <a:r>
              <a:rPr lang="ru-RU" sz="900" dirty="0" smtClean="0">
                <a:latin typeface="PT Sans" panose="020B0503020203020204"/>
              </a:rPr>
              <a:t>(2014–2025 </a:t>
            </a:r>
            <a:r>
              <a:rPr lang="ru-RU" sz="900" dirty="0">
                <a:latin typeface="PT Sans" panose="020B0503020203020204"/>
              </a:rPr>
              <a:t>гг</a:t>
            </a:r>
            <a:r>
              <a:rPr lang="ru-RU" sz="900" dirty="0" smtClean="0">
                <a:latin typeface="PT Sans" panose="020B0503020203020204"/>
              </a:rPr>
              <a:t>.), за </a:t>
            </a:r>
            <a:r>
              <a:rPr lang="ru-RU" sz="900" dirty="0">
                <a:latin typeface="PT Sans" panose="020B0503020203020204"/>
              </a:rPr>
              <a:t>1960–2014 гг. недоступны в цифровом формате).  </a:t>
            </a:r>
          </a:p>
          <a:p>
            <a:r>
              <a:rPr lang="ru-RU" sz="900" dirty="0" smtClean="0">
                <a:latin typeface="PT Sans" panose="020B0503020203020204"/>
              </a:rPr>
              <a:t> </a:t>
            </a:r>
            <a:r>
              <a:rPr lang="ru-RU" sz="900" dirty="0">
                <a:latin typeface="PT Sans" panose="020B0503020203020204"/>
              </a:rPr>
              <a:t>- Физический поиск документов увеличивает время выдачи справок до 22 минут.  </a:t>
            </a:r>
          </a:p>
          <a:p>
            <a:r>
              <a:rPr lang="ru-RU" sz="900" dirty="0" smtClean="0">
                <a:latin typeface="PT Sans" panose="020B0503020203020204"/>
              </a:rPr>
              <a:t> </a:t>
            </a:r>
            <a:r>
              <a:rPr lang="ru-RU" sz="900" dirty="0">
                <a:latin typeface="PT Sans" panose="020B0503020203020204"/>
              </a:rPr>
              <a:t>- Риск утери данных из-за отсутствия резервных копий.  </a:t>
            </a:r>
          </a:p>
        </p:txBody>
      </p:sp>
      <p:sp>
        <p:nvSpPr>
          <p:cNvPr id="24" name="object 14"/>
          <p:cNvSpPr txBox="1"/>
          <p:nvPr/>
        </p:nvSpPr>
        <p:spPr>
          <a:xfrm>
            <a:off x="984097" y="3485593"/>
            <a:ext cx="1571679" cy="290965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</a:t>
            </a:r>
            <a:r>
              <a:rPr lang="ru-RU" sz="900" dirty="0" smtClean="0">
                <a:latin typeface="PT Sans" panose="020B0503020203020204"/>
              </a:rPr>
              <a:t>2. </a:t>
            </a:r>
            <a:r>
              <a:rPr lang="ru-RU" sz="900" dirty="0">
                <a:latin typeface="PT Sans" panose="020B0503020203020204"/>
              </a:rPr>
              <a:t>Определение ключевых показателей </a:t>
            </a:r>
            <a:endParaRPr sz="900" dirty="0">
              <a:latin typeface="PT Sans" panose="020B0503020203020204"/>
              <a:cs typeface="Calibr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59455" y="3776680"/>
            <a:ext cx="1640206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PT Sans" panose="020B0503020203020204"/>
              </a:rPr>
              <a:t>2</a:t>
            </a:r>
            <a:r>
              <a:rPr lang="ru-RU" sz="900" dirty="0" smtClean="0">
                <a:latin typeface="PT Sans" panose="020B0503020203020204"/>
              </a:rPr>
              <a:t>.1</a:t>
            </a:r>
            <a:r>
              <a:rPr lang="ru-RU" sz="900" dirty="0">
                <a:latin typeface="PT Sans" panose="020B0503020203020204"/>
              </a:rPr>
              <a:t>. </a:t>
            </a:r>
            <a:r>
              <a:rPr lang="ru-RU" sz="900" dirty="0" smtClean="0">
                <a:latin typeface="PT Sans" panose="020B0503020203020204"/>
              </a:rPr>
              <a:t>Метрики</a:t>
            </a:r>
            <a:r>
              <a:rPr lang="ru-RU" sz="900" dirty="0">
                <a:latin typeface="PT Sans" panose="020B0503020203020204"/>
              </a:rPr>
              <a:t>:  </a:t>
            </a:r>
          </a:p>
          <a:p>
            <a:r>
              <a:rPr lang="ru-RU" sz="900" dirty="0">
                <a:latin typeface="PT Sans" panose="020B0503020203020204"/>
              </a:rPr>
              <a:t>   - Время выдачи справок: 1305 сек (22 мин).  </a:t>
            </a:r>
          </a:p>
          <a:p>
            <a:r>
              <a:rPr lang="ru-RU" sz="900" dirty="0">
                <a:latin typeface="PT Sans" panose="020B0503020203020204"/>
              </a:rPr>
              <a:t>   - Объем документов для оцифровки: 30 тыс. единиц.  </a:t>
            </a:r>
          </a:p>
          <a:p>
            <a:r>
              <a:rPr lang="ru-RU" sz="900" dirty="0">
                <a:latin typeface="PT Sans" panose="020B0503020203020204"/>
              </a:rPr>
              <a:t>   - Уровень удовлетворенности сотрудников: низкий из-за ручного поиска.  </a:t>
            </a:r>
          </a:p>
        </p:txBody>
      </p:sp>
      <p:sp>
        <p:nvSpPr>
          <p:cNvPr id="30" name="object 54"/>
          <p:cNvSpPr/>
          <p:nvPr/>
        </p:nvSpPr>
        <p:spPr>
          <a:xfrm>
            <a:off x="2670534" y="1180420"/>
            <a:ext cx="1524501" cy="311966"/>
          </a:xfrm>
          <a:custGeom>
            <a:avLst/>
            <a:gdLst/>
            <a:ahLst/>
            <a:cxnLst/>
            <a:rect l="l" t="t" r="r" b="b"/>
            <a:pathLst>
              <a:path w="3434079" h="784860">
                <a:moveTo>
                  <a:pt x="125555" y="199"/>
                </a:moveTo>
                <a:lnTo>
                  <a:pt x="79024" y="580"/>
                </a:lnTo>
                <a:lnTo>
                  <a:pt x="33280" y="5914"/>
                </a:lnTo>
                <a:lnTo>
                  <a:pt x="5645" y="33600"/>
                </a:lnTo>
                <a:lnTo>
                  <a:pt x="298" y="79445"/>
                </a:lnTo>
                <a:lnTo>
                  <a:pt x="-18" y="684585"/>
                </a:lnTo>
                <a:lnTo>
                  <a:pt x="298" y="706048"/>
                </a:lnTo>
                <a:lnTo>
                  <a:pt x="5670" y="751766"/>
                </a:lnTo>
                <a:lnTo>
                  <a:pt x="33368" y="779325"/>
                </a:lnTo>
                <a:lnTo>
                  <a:pt x="79176" y="784659"/>
                </a:lnTo>
                <a:lnTo>
                  <a:pt x="100689" y="785040"/>
                </a:lnTo>
                <a:lnTo>
                  <a:pt x="3333012" y="785040"/>
                </a:lnTo>
                <a:lnTo>
                  <a:pt x="3372635" y="783897"/>
                </a:lnTo>
                <a:lnTo>
                  <a:pt x="3410099" y="775134"/>
                </a:lnTo>
                <a:lnTo>
                  <a:pt x="3430545" y="739194"/>
                </a:lnTo>
                <a:lnTo>
                  <a:pt x="3433466" y="684585"/>
                </a:lnTo>
                <a:lnTo>
                  <a:pt x="3433466" y="100781"/>
                </a:lnTo>
                <a:lnTo>
                  <a:pt x="3427751" y="33473"/>
                </a:lnTo>
                <a:lnTo>
                  <a:pt x="3400066" y="5914"/>
                </a:lnTo>
                <a:lnTo>
                  <a:pt x="3354220" y="580"/>
                </a:lnTo>
                <a:lnTo>
                  <a:pt x="125555" y="19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r>
              <a:rPr lang="ru-RU" sz="1000" dirty="0">
                <a:latin typeface="PT Sans" panose="020B0503020203020204"/>
              </a:rPr>
              <a:t>Цель: Анализ текущего состояния процесса </a:t>
            </a:r>
          </a:p>
        </p:txBody>
      </p:sp>
      <p:sp>
        <p:nvSpPr>
          <p:cNvPr id="31" name="object 14"/>
          <p:cNvSpPr txBox="1"/>
          <p:nvPr/>
        </p:nvSpPr>
        <p:spPr>
          <a:xfrm>
            <a:off x="2657165" y="1643104"/>
            <a:ext cx="1554796" cy="284938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 anchor="ctr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1. </a:t>
            </a:r>
            <a:r>
              <a:rPr lang="ru-RU" sz="900" dirty="0" smtClean="0">
                <a:latin typeface="PT Sans" panose="020B0503020203020204"/>
              </a:rPr>
              <a:t>Детализация процесса</a:t>
            </a:r>
            <a:endParaRPr lang="ru-RU" sz="900" dirty="0">
              <a:latin typeface="PT Sans" panose="020B0503020203020204"/>
              <a:cs typeface="Calibr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621708" y="1916682"/>
            <a:ext cx="15402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PT Sans" panose="020B0503020203020204"/>
              </a:rPr>
              <a:t>1.1 </a:t>
            </a:r>
            <a:r>
              <a:rPr lang="ru-RU" sz="900" dirty="0">
                <a:latin typeface="PT Sans" panose="020B0503020203020204"/>
              </a:rPr>
              <a:t>Карта процесса:  </a:t>
            </a:r>
          </a:p>
          <a:p>
            <a:r>
              <a:rPr lang="ru-RU" sz="900" dirty="0">
                <a:latin typeface="PT Sans" panose="020B0503020203020204"/>
              </a:rPr>
              <a:t>   - </a:t>
            </a:r>
            <a:r>
              <a:rPr lang="ru-RU" sz="900" dirty="0">
                <a:latin typeface="PT Sans" panose="020B0503020203020204"/>
              </a:rPr>
              <a:t>Запрос документа → Физический </a:t>
            </a:r>
            <a:r>
              <a:rPr lang="ru-RU" sz="900" dirty="0">
                <a:latin typeface="PT Sans" panose="020B0503020203020204"/>
              </a:rPr>
              <a:t>поиск → </a:t>
            </a:r>
            <a:r>
              <a:rPr lang="ru-RU" sz="900" dirty="0" smtClean="0">
                <a:latin typeface="PT Sans" panose="020B0503020203020204"/>
              </a:rPr>
              <a:t>Ручная </a:t>
            </a:r>
            <a:r>
              <a:rPr lang="ru-RU" sz="900" dirty="0">
                <a:latin typeface="PT Sans" panose="020B0503020203020204"/>
              </a:rPr>
              <a:t>обработка → Выдача справки.  </a:t>
            </a:r>
          </a:p>
          <a:p>
            <a:r>
              <a:rPr lang="ru-RU" sz="900" dirty="0" smtClean="0">
                <a:latin typeface="PT Sans" panose="020B0503020203020204"/>
              </a:rPr>
              <a:t>1.2</a:t>
            </a:r>
            <a:r>
              <a:rPr lang="ru-RU" sz="900" dirty="0">
                <a:latin typeface="PT Sans" panose="020B0503020203020204"/>
              </a:rPr>
              <a:t>. Болевые точки:  </a:t>
            </a:r>
          </a:p>
          <a:p>
            <a:r>
              <a:rPr lang="ru-RU" sz="900" dirty="0">
                <a:latin typeface="PT Sans" panose="020B0503020203020204"/>
              </a:rPr>
              <a:t>   - Отсутствие электронного каталога.  </a:t>
            </a:r>
          </a:p>
          <a:p>
            <a:r>
              <a:rPr lang="ru-RU" sz="900" dirty="0">
                <a:latin typeface="PT Sans" panose="020B0503020203020204"/>
              </a:rPr>
              <a:t>   - Зависимость от физического хранения. </a:t>
            </a:r>
          </a:p>
        </p:txBody>
      </p:sp>
      <p:sp>
        <p:nvSpPr>
          <p:cNvPr id="33" name="object 14"/>
          <p:cNvSpPr txBox="1"/>
          <p:nvPr/>
        </p:nvSpPr>
        <p:spPr>
          <a:xfrm>
            <a:off x="2681806" y="3485593"/>
            <a:ext cx="1513229" cy="303789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</a:t>
            </a:r>
            <a:r>
              <a:rPr lang="ru-RU" sz="900" dirty="0" smtClean="0">
                <a:latin typeface="PT Sans" panose="020B0503020203020204"/>
              </a:rPr>
              <a:t>2. </a:t>
            </a:r>
            <a:r>
              <a:rPr lang="ru-RU" sz="900" dirty="0">
                <a:latin typeface="PT Sans" panose="020B0503020203020204"/>
              </a:rPr>
              <a:t>Сбор данных </a:t>
            </a:r>
          </a:p>
          <a:p>
            <a:pPr marL="32901" marR="206066">
              <a:lnSpc>
                <a:spcPct val="102499"/>
              </a:lnSpc>
              <a:spcBef>
                <a:spcPts val="66"/>
              </a:spcBef>
            </a:pPr>
            <a:endParaRPr sz="900" dirty="0">
              <a:latin typeface="PT Sans" panose="020B0503020203020204"/>
              <a:cs typeface="Calibr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657164" y="3776680"/>
            <a:ext cx="153787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PT Sans" panose="020B0503020203020204"/>
              </a:rPr>
              <a:t>2</a:t>
            </a:r>
            <a:r>
              <a:rPr lang="ru-RU" sz="900" dirty="0" smtClean="0">
                <a:latin typeface="PT Sans" panose="020B0503020203020204"/>
              </a:rPr>
              <a:t>.1</a:t>
            </a:r>
            <a:r>
              <a:rPr lang="ru-RU" sz="900" dirty="0">
                <a:latin typeface="PT Sans" panose="020B0503020203020204"/>
              </a:rPr>
              <a:t>. </a:t>
            </a:r>
            <a:r>
              <a:rPr lang="ru-RU" sz="900" dirty="0" smtClean="0">
                <a:latin typeface="PT Sans" panose="020B0503020203020204"/>
              </a:rPr>
              <a:t>Метрики </a:t>
            </a:r>
            <a:r>
              <a:rPr lang="ru-RU" sz="900" dirty="0">
                <a:latin typeface="PT Sans" panose="020B0503020203020204"/>
              </a:rPr>
              <a:t>для анализа:  </a:t>
            </a:r>
          </a:p>
          <a:p>
            <a:r>
              <a:rPr lang="ru-RU" sz="900" dirty="0">
                <a:latin typeface="PT Sans" panose="020B0503020203020204"/>
              </a:rPr>
              <a:t>   - Среднее время на поиск документа: 15 мин.  </a:t>
            </a:r>
          </a:p>
          <a:p>
            <a:r>
              <a:rPr lang="ru-RU" sz="900" dirty="0">
                <a:latin typeface="PT Sans" panose="020B0503020203020204"/>
              </a:rPr>
              <a:t>   - Емкость текущих носителей: недостаточна для оцифровки.</a:t>
            </a:r>
          </a:p>
        </p:txBody>
      </p:sp>
      <p:sp>
        <p:nvSpPr>
          <p:cNvPr id="35" name="object 54"/>
          <p:cNvSpPr/>
          <p:nvPr/>
        </p:nvSpPr>
        <p:spPr>
          <a:xfrm>
            <a:off x="4263074" y="1173581"/>
            <a:ext cx="1537827" cy="447190"/>
          </a:xfrm>
          <a:custGeom>
            <a:avLst/>
            <a:gdLst/>
            <a:ahLst/>
            <a:cxnLst/>
            <a:rect l="l" t="t" r="r" b="b"/>
            <a:pathLst>
              <a:path w="3434079" h="784860">
                <a:moveTo>
                  <a:pt x="125555" y="199"/>
                </a:moveTo>
                <a:lnTo>
                  <a:pt x="79024" y="580"/>
                </a:lnTo>
                <a:lnTo>
                  <a:pt x="33280" y="5914"/>
                </a:lnTo>
                <a:lnTo>
                  <a:pt x="5645" y="33600"/>
                </a:lnTo>
                <a:lnTo>
                  <a:pt x="298" y="79445"/>
                </a:lnTo>
                <a:lnTo>
                  <a:pt x="-18" y="684585"/>
                </a:lnTo>
                <a:lnTo>
                  <a:pt x="298" y="706048"/>
                </a:lnTo>
                <a:lnTo>
                  <a:pt x="5670" y="751766"/>
                </a:lnTo>
                <a:lnTo>
                  <a:pt x="33368" y="779325"/>
                </a:lnTo>
                <a:lnTo>
                  <a:pt x="79176" y="784659"/>
                </a:lnTo>
                <a:lnTo>
                  <a:pt x="100689" y="785040"/>
                </a:lnTo>
                <a:lnTo>
                  <a:pt x="3333012" y="785040"/>
                </a:lnTo>
                <a:lnTo>
                  <a:pt x="3372635" y="783897"/>
                </a:lnTo>
                <a:lnTo>
                  <a:pt x="3410099" y="775134"/>
                </a:lnTo>
                <a:lnTo>
                  <a:pt x="3430545" y="739194"/>
                </a:lnTo>
                <a:lnTo>
                  <a:pt x="3433466" y="684585"/>
                </a:lnTo>
                <a:lnTo>
                  <a:pt x="3433466" y="100781"/>
                </a:lnTo>
                <a:lnTo>
                  <a:pt x="3427751" y="33473"/>
                </a:lnTo>
                <a:lnTo>
                  <a:pt x="3400066" y="5914"/>
                </a:lnTo>
                <a:lnTo>
                  <a:pt x="3354220" y="580"/>
                </a:lnTo>
                <a:lnTo>
                  <a:pt x="125555" y="19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r>
              <a:rPr lang="ru-RU" sz="1000" dirty="0">
                <a:latin typeface="PT Sans" panose="020B0503020203020204"/>
              </a:rPr>
              <a:t>Цель: Выявление причин проблем и разработка решений </a:t>
            </a:r>
          </a:p>
        </p:txBody>
      </p:sp>
      <p:sp>
        <p:nvSpPr>
          <p:cNvPr id="36" name="object 14"/>
          <p:cNvSpPr txBox="1"/>
          <p:nvPr/>
        </p:nvSpPr>
        <p:spPr>
          <a:xfrm>
            <a:off x="4276442" y="1633252"/>
            <a:ext cx="1524459" cy="290965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 anchor="ctr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1. Разработка </a:t>
            </a:r>
            <a:r>
              <a:rPr lang="ru-RU" sz="900" dirty="0" smtClean="0">
                <a:latin typeface="PT Sans" panose="020B0503020203020204"/>
              </a:rPr>
              <a:t>решений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63074" y="1923678"/>
            <a:ext cx="152535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PT Sans" panose="020B0503020203020204"/>
              </a:rPr>
              <a:t>1.1 </a:t>
            </a:r>
            <a:r>
              <a:rPr lang="ru-RU" sz="900" dirty="0">
                <a:latin typeface="PT Sans" panose="020B0503020203020204"/>
              </a:rPr>
              <a:t>Действия:  </a:t>
            </a:r>
          </a:p>
          <a:p>
            <a:r>
              <a:rPr lang="ru-RU" sz="900" dirty="0">
                <a:latin typeface="PT Sans" panose="020B0503020203020204"/>
              </a:rPr>
              <a:t>   - Закупка SSD-дисков и настройка ПО для сканирования.  </a:t>
            </a:r>
          </a:p>
          <a:p>
            <a:r>
              <a:rPr lang="ru-RU" sz="900" dirty="0">
                <a:latin typeface="PT Sans" panose="020B0503020203020204"/>
              </a:rPr>
              <a:t>   - Привлечение студентов для массовой оцифровки.  </a:t>
            </a:r>
          </a:p>
          <a:p>
            <a:r>
              <a:rPr lang="ru-RU" sz="900" dirty="0">
                <a:latin typeface="PT Sans" panose="020B0503020203020204"/>
              </a:rPr>
              <a:t>   - Создание структурированного электронного каталога.  </a:t>
            </a:r>
          </a:p>
        </p:txBody>
      </p:sp>
      <p:sp>
        <p:nvSpPr>
          <p:cNvPr id="40" name="object 54"/>
          <p:cNvSpPr/>
          <p:nvPr/>
        </p:nvSpPr>
        <p:spPr>
          <a:xfrm>
            <a:off x="5854733" y="1173581"/>
            <a:ext cx="1583160" cy="311966"/>
          </a:xfrm>
          <a:custGeom>
            <a:avLst/>
            <a:gdLst/>
            <a:ahLst/>
            <a:cxnLst/>
            <a:rect l="l" t="t" r="r" b="b"/>
            <a:pathLst>
              <a:path w="3434079" h="784860">
                <a:moveTo>
                  <a:pt x="125555" y="199"/>
                </a:moveTo>
                <a:lnTo>
                  <a:pt x="79024" y="580"/>
                </a:lnTo>
                <a:lnTo>
                  <a:pt x="33280" y="5914"/>
                </a:lnTo>
                <a:lnTo>
                  <a:pt x="5645" y="33600"/>
                </a:lnTo>
                <a:lnTo>
                  <a:pt x="298" y="79445"/>
                </a:lnTo>
                <a:lnTo>
                  <a:pt x="-18" y="684585"/>
                </a:lnTo>
                <a:lnTo>
                  <a:pt x="298" y="706048"/>
                </a:lnTo>
                <a:lnTo>
                  <a:pt x="5670" y="751766"/>
                </a:lnTo>
                <a:lnTo>
                  <a:pt x="33368" y="779325"/>
                </a:lnTo>
                <a:lnTo>
                  <a:pt x="79176" y="784659"/>
                </a:lnTo>
                <a:lnTo>
                  <a:pt x="100689" y="785040"/>
                </a:lnTo>
                <a:lnTo>
                  <a:pt x="3333012" y="785040"/>
                </a:lnTo>
                <a:lnTo>
                  <a:pt x="3372635" y="783897"/>
                </a:lnTo>
                <a:lnTo>
                  <a:pt x="3410099" y="775134"/>
                </a:lnTo>
                <a:lnTo>
                  <a:pt x="3430545" y="739194"/>
                </a:lnTo>
                <a:lnTo>
                  <a:pt x="3433466" y="684585"/>
                </a:lnTo>
                <a:lnTo>
                  <a:pt x="3433466" y="100781"/>
                </a:lnTo>
                <a:lnTo>
                  <a:pt x="3427751" y="33473"/>
                </a:lnTo>
                <a:lnTo>
                  <a:pt x="3400066" y="5914"/>
                </a:lnTo>
                <a:lnTo>
                  <a:pt x="3354220" y="580"/>
                </a:lnTo>
                <a:lnTo>
                  <a:pt x="125555" y="19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r>
              <a:rPr lang="ru-RU" sz="1000" dirty="0">
                <a:latin typeface="PT Sans" panose="020B0503020203020204"/>
              </a:rPr>
              <a:t>Цель: Внедрение изменений </a:t>
            </a:r>
          </a:p>
        </p:txBody>
      </p:sp>
      <p:sp>
        <p:nvSpPr>
          <p:cNvPr id="41" name="object 14"/>
          <p:cNvSpPr txBox="1"/>
          <p:nvPr/>
        </p:nvSpPr>
        <p:spPr>
          <a:xfrm>
            <a:off x="5841364" y="1632129"/>
            <a:ext cx="1554796" cy="293210"/>
          </a:xfrm>
          <a:prstGeom prst="rect">
            <a:avLst/>
          </a:prstGeom>
          <a:solidFill>
            <a:srgbClr val="5989E9">
              <a:alpha val="71000"/>
            </a:srgbClr>
          </a:solidFill>
        </p:spPr>
        <p:txBody>
          <a:bodyPr vert="horz" wrap="square" lIns="0" tIns="8370" rIns="0" bIns="0" rtlCol="0" anchor="ctr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1. План внедрения </a:t>
            </a:r>
            <a:endParaRPr lang="ru-RU" sz="900" dirty="0" smtClean="0">
              <a:latin typeface="PT Sans" panose="020B0503020203020204"/>
            </a:endParaRPr>
          </a:p>
          <a:p>
            <a:pPr marL="32901" marR="206066">
              <a:lnSpc>
                <a:spcPct val="102499"/>
              </a:lnSpc>
              <a:spcBef>
                <a:spcPts val="66"/>
              </a:spcBef>
            </a:pPr>
            <a:endParaRPr lang="ru-RU" sz="900" dirty="0">
              <a:latin typeface="PT Sans" panose="020B0503020203020204"/>
              <a:cs typeface="Calibr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848616" y="1923678"/>
            <a:ext cx="15402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PT Sans" panose="020B0503020203020204"/>
              </a:rPr>
              <a:t>1.1 </a:t>
            </a:r>
            <a:r>
              <a:rPr lang="ru-RU" sz="900" dirty="0">
                <a:latin typeface="PT Sans" panose="020B0503020203020204"/>
              </a:rPr>
              <a:t>Этапы:  </a:t>
            </a:r>
          </a:p>
          <a:p>
            <a:r>
              <a:rPr lang="ru-RU" sz="900" dirty="0">
                <a:latin typeface="PT Sans" panose="020B0503020203020204"/>
              </a:rPr>
              <a:t>   - Подготовка (7 дней): формирование группы, закупка оборудования.  </a:t>
            </a:r>
          </a:p>
          <a:p>
            <a:r>
              <a:rPr lang="ru-RU" sz="900" dirty="0">
                <a:latin typeface="PT Sans" panose="020B0503020203020204"/>
              </a:rPr>
              <a:t>   - Сканирование </a:t>
            </a:r>
            <a:r>
              <a:rPr lang="ru-RU" sz="900" dirty="0" smtClean="0">
                <a:latin typeface="PT Sans" panose="020B0503020203020204"/>
              </a:rPr>
              <a:t>(27 </a:t>
            </a:r>
            <a:r>
              <a:rPr lang="ru-RU" sz="900" dirty="0">
                <a:latin typeface="PT Sans" panose="020B0503020203020204"/>
              </a:rPr>
              <a:t>дней): оцифровка </a:t>
            </a:r>
            <a:r>
              <a:rPr lang="ru-RU" sz="900" dirty="0" smtClean="0">
                <a:latin typeface="PT Sans" panose="020B0503020203020204"/>
              </a:rPr>
              <a:t>30 </a:t>
            </a:r>
            <a:r>
              <a:rPr lang="ru-RU" sz="900" dirty="0">
                <a:latin typeface="PT Sans" panose="020B0503020203020204"/>
              </a:rPr>
              <a:t>тыс. документов.  </a:t>
            </a:r>
          </a:p>
          <a:p>
            <a:r>
              <a:rPr lang="ru-RU" sz="900" dirty="0">
                <a:latin typeface="PT Sans" panose="020B0503020203020204"/>
              </a:rPr>
              <a:t>   - Контроль качества (3 дня): проверка OCR, обучение сотрудников.  </a:t>
            </a:r>
          </a:p>
        </p:txBody>
      </p:sp>
      <p:sp>
        <p:nvSpPr>
          <p:cNvPr id="43" name="object 14"/>
          <p:cNvSpPr txBox="1"/>
          <p:nvPr/>
        </p:nvSpPr>
        <p:spPr>
          <a:xfrm>
            <a:off x="5866005" y="3478754"/>
            <a:ext cx="1513229" cy="284938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</a:t>
            </a:r>
            <a:r>
              <a:rPr lang="ru-RU" sz="900" dirty="0" smtClean="0">
                <a:latin typeface="PT Sans" panose="020B0503020203020204"/>
              </a:rPr>
              <a:t>2. </a:t>
            </a:r>
            <a:r>
              <a:rPr lang="ru-RU" sz="900" dirty="0">
                <a:latin typeface="PT Sans" panose="020B0503020203020204"/>
              </a:rPr>
              <a:t>Тестирование решений </a:t>
            </a:r>
            <a:endParaRPr sz="900" dirty="0">
              <a:latin typeface="PT Sans" panose="020B0503020203020204"/>
              <a:cs typeface="Calibr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841363" y="3769841"/>
            <a:ext cx="1537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PT Sans" panose="020B0503020203020204"/>
              </a:rPr>
              <a:t>2</a:t>
            </a:r>
            <a:r>
              <a:rPr lang="ru-RU" sz="900" dirty="0" smtClean="0">
                <a:latin typeface="PT Sans" panose="020B0503020203020204"/>
              </a:rPr>
              <a:t>.1</a:t>
            </a:r>
            <a:r>
              <a:rPr lang="ru-RU" sz="900" dirty="0">
                <a:latin typeface="PT Sans" panose="020B0503020203020204"/>
              </a:rPr>
              <a:t>. Пилотный проект:  </a:t>
            </a:r>
          </a:p>
          <a:p>
            <a:r>
              <a:rPr lang="ru-RU" sz="900" dirty="0">
                <a:latin typeface="PT Sans" panose="020B0503020203020204"/>
              </a:rPr>
              <a:t>   - Оцифровка 1000 документов → сокращение времени поиска до 10 мин.</a:t>
            </a:r>
          </a:p>
        </p:txBody>
      </p:sp>
      <p:sp>
        <p:nvSpPr>
          <p:cNvPr id="45" name="object 54"/>
          <p:cNvSpPr/>
          <p:nvPr/>
        </p:nvSpPr>
        <p:spPr>
          <a:xfrm>
            <a:off x="7474010" y="1173581"/>
            <a:ext cx="1524501" cy="311966"/>
          </a:xfrm>
          <a:custGeom>
            <a:avLst/>
            <a:gdLst/>
            <a:ahLst/>
            <a:cxnLst/>
            <a:rect l="l" t="t" r="r" b="b"/>
            <a:pathLst>
              <a:path w="3434079" h="784860">
                <a:moveTo>
                  <a:pt x="125555" y="199"/>
                </a:moveTo>
                <a:lnTo>
                  <a:pt x="79024" y="580"/>
                </a:lnTo>
                <a:lnTo>
                  <a:pt x="33280" y="5914"/>
                </a:lnTo>
                <a:lnTo>
                  <a:pt x="5645" y="33600"/>
                </a:lnTo>
                <a:lnTo>
                  <a:pt x="298" y="79445"/>
                </a:lnTo>
                <a:lnTo>
                  <a:pt x="-18" y="684585"/>
                </a:lnTo>
                <a:lnTo>
                  <a:pt x="298" y="706048"/>
                </a:lnTo>
                <a:lnTo>
                  <a:pt x="5670" y="751766"/>
                </a:lnTo>
                <a:lnTo>
                  <a:pt x="33368" y="779325"/>
                </a:lnTo>
                <a:lnTo>
                  <a:pt x="79176" y="784659"/>
                </a:lnTo>
                <a:lnTo>
                  <a:pt x="100689" y="785040"/>
                </a:lnTo>
                <a:lnTo>
                  <a:pt x="3333012" y="785040"/>
                </a:lnTo>
                <a:lnTo>
                  <a:pt x="3372635" y="783897"/>
                </a:lnTo>
                <a:lnTo>
                  <a:pt x="3410099" y="775134"/>
                </a:lnTo>
                <a:lnTo>
                  <a:pt x="3430545" y="739194"/>
                </a:lnTo>
                <a:lnTo>
                  <a:pt x="3433466" y="684585"/>
                </a:lnTo>
                <a:lnTo>
                  <a:pt x="3433466" y="100781"/>
                </a:lnTo>
                <a:lnTo>
                  <a:pt x="3427751" y="33473"/>
                </a:lnTo>
                <a:lnTo>
                  <a:pt x="3400066" y="5914"/>
                </a:lnTo>
                <a:lnTo>
                  <a:pt x="3354220" y="580"/>
                </a:lnTo>
                <a:lnTo>
                  <a:pt x="125555" y="199"/>
                </a:ln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</p:spPr>
        <p:txBody>
          <a:bodyPr wrap="square" lIns="0" tIns="0" rIns="0" bIns="0" rtlCol="0"/>
          <a:lstStyle/>
          <a:p>
            <a:r>
              <a:rPr lang="ru-RU" sz="1000" dirty="0">
                <a:latin typeface="PT Sans" panose="020B0503020203020204"/>
              </a:rPr>
              <a:t>Цель: Закрепление результатов</a:t>
            </a:r>
          </a:p>
        </p:txBody>
      </p:sp>
      <p:sp>
        <p:nvSpPr>
          <p:cNvPr id="46" name="object 14"/>
          <p:cNvSpPr txBox="1"/>
          <p:nvPr/>
        </p:nvSpPr>
        <p:spPr>
          <a:xfrm>
            <a:off x="7460641" y="1636265"/>
            <a:ext cx="1554796" cy="284938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 anchor="ctr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1. Мониторинг процесса </a:t>
            </a:r>
            <a:endParaRPr lang="ru-RU" sz="900" dirty="0">
              <a:latin typeface="PT Sans" panose="020B0503020203020204"/>
              <a:cs typeface="Calibri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436413" y="1925339"/>
            <a:ext cx="154029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 smtClean="0">
                <a:latin typeface="PT Sans" panose="020B0503020203020204"/>
              </a:rPr>
              <a:t>1.1 </a:t>
            </a:r>
            <a:r>
              <a:rPr lang="ru-RU" sz="900" dirty="0">
                <a:latin typeface="PT Sans" panose="020B0503020203020204"/>
              </a:rPr>
              <a:t>Метрики контроля:  </a:t>
            </a:r>
          </a:p>
          <a:p>
            <a:r>
              <a:rPr lang="ru-RU" sz="900" dirty="0">
                <a:latin typeface="PT Sans" panose="020B0503020203020204"/>
              </a:rPr>
              <a:t>   - </a:t>
            </a:r>
            <a:r>
              <a:rPr lang="ru-RU" sz="900" dirty="0" err="1">
                <a:latin typeface="PT Sans" panose="020B0503020203020204"/>
              </a:rPr>
              <a:t>Заполненность</a:t>
            </a:r>
            <a:r>
              <a:rPr lang="ru-RU" sz="900" dirty="0">
                <a:latin typeface="PT Sans" panose="020B0503020203020204"/>
              </a:rPr>
              <a:t> SSD: не более 90%.  </a:t>
            </a:r>
          </a:p>
          <a:p>
            <a:r>
              <a:rPr lang="ru-RU" sz="900" dirty="0">
                <a:latin typeface="PT Sans" panose="020B0503020203020204"/>
              </a:rPr>
              <a:t>   - Время доступа к файлам: ≤ 2 сек.</a:t>
            </a:r>
          </a:p>
        </p:txBody>
      </p:sp>
      <p:sp>
        <p:nvSpPr>
          <p:cNvPr id="48" name="object 14"/>
          <p:cNvSpPr txBox="1"/>
          <p:nvPr/>
        </p:nvSpPr>
        <p:spPr>
          <a:xfrm>
            <a:off x="7485282" y="3478754"/>
            <a:ext cx="1513229" cy="284938"/>
          </a:xfrm>
          <a:prstGeom prst="rect">
            <a:avLst/>
          </a:prstGeom>
          <a:solidFill>
            <a:srgbClr val="89ABEF"/>
          </a:solidFill>
        </p:spPr>
        <p:txBody>
          <a:bodyPr vert="horz" wrap="square" lIns="0" tIns="8370" rIns="0" bIns="0" rtlCol="0">
            <a:spAutoFit/>
          </a:bodyPr>
          <a:lstStyle/>
          <a:p>
            <a:pPr marL="32901" marR="206066">
              <a:lnSpc>
                <a:spcPct val="102499"/>
              </a:lnSpc>
              <a:spcBef>
                <a:spcPts val="66"/>
              </a:spcBef>
            </a:pPr>
            <a:r>
              <a:rPr lang="ru-RU" sz="900" dirty="0">
                <a:latin typeface="PT Sans" panose="020B0503020203020204"/>
              </a:rPr>
              <a:t>Шаг </a:t>
            </a:r>
            <a:r>
              <a:rPr lang="ru-RU" sz="900" dirty="0" smtClean="0">
                <a:latin typeface="PT Sans" panose="020B0503020203020204"/>
              </a:rPr>
              <a:t>2. </a:t>
            </a:r>
            <a:r>
              <a:rPr lang="ru-RU" sz="900" dirty="0">
                <a:latin typeface="PT Sans" panose="020B0503020203020204"/>
              </a:rPr>
              <a:t>Документирование </a:t>
            </a:r>
            <a:r>
              <a:rPr lang="ru-RU" sz="900" dirty="0" smtClean="0">
                <a:latin typeface="PT Sans" panose="020B0503020203020204"/>
              </a:rPr>
              <a:t>результатов</a:t>
            </a:r>
            <a:endParaRPr sz="900" dirty="0">
              <a:latin typeface="PT Sans" panose="020B0503020203020204"/>
              <a:cs typeface="Calibri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460640" y="3769841"/>
            <a:ext cx="153787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900" dirty="0">
                <a:latin typeface="PT Sans" panose="020B0503020203020204"/>
              </a:rPr>
              <a:t>2</a:t>
            </a:r>
            <a:r>
              <a:rPr lang="ru-RU" sz="900" dirty="0" smtClean="0">
                <a:latin typeface="PT Sans" panose="020B0503020203020204"/>
              </a:rPr>
              <a:t>.1</a:t>
            </a:r>
            <a:r>
              <a:rPr lang="ru-RU" sz="900" dirty="0">
                <a:latin typeface="PT Sans" panose="020B0503020203020204"/>
              </a:rPr>
              <a:t>. Итоговый отчет:  </a:t>
            </a:r>
          </a:p>
          <a:p>
            <a:r>
              <a:rPr lang="ru-RU" sz="900" dirty="0">
                <a:latin typeface="PT Sans" panose="020B0503020203020204"/>
              </a:rPr>
              <a:t>   - Достигнутое время выдачи справок: 850 сек (14 мин).  </a:t>
            </a:r>
          </a:p>
          <a:p>
            <a:r>
              <a:rPr lang="ru-RU" sz="900" dirty="0">
                <a:latin typeface="PT Sans" panose="020B0503020203020204"/>
              </a:rPr>
              <a:t>   - Уровень оцифровки: 100%.</a:t>
            </a:r>
          </a:p>
        </p:txBody>
      </p:sp>
    </p:spTree>
    <p:extLst>
      <p:ext uri="{BB962C8B-B14F-4D97-AF65-F5344CB8AC3E}">
        <p14:creationId xmlns:p14="http://schemas.microsoft.com/office/powerpoint/2010/main" val="417715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608" y="95924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/>
              <a:t>Предложения по </a:t>
            </a:r>
            <a:r>
              <a:rPr lang="ru-RU" dirty="0" smtClean="0"/>
              <a:t>оптимизации</a:t>
            </a:r>
            <a:endParaRPr lang="ru-RU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74ABBB-AC3E-448C-A919-846FD79C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4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D90792-3CF6-48B7-B53F-AADCC3C6365A}"/>
              </a:ext>
            </a:extLst>
          </p:cNvPr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D579DB-7E1C-4C2D-A2DA-3B5F9CFF6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3"/>
            <a:ext cx="524805" cy="1141075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830585" y="641175"/>
            <a:ext cx="7485831" cy="4434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В рамках оптимизации работы архива и повышения эффективности доступа к документам предлагаем внедрить комплекс мер, направленных на решение ключевых проблем:</a:t>
            </a:r>
            <a:endParaRPr lang="ru-RU" sz="1700" dirty="0">
              <a:latin typeface="PT Sans" panose="020B0503020203020204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rgbClr val="404040"/>
              </a:buClr>
              <a:buFont typeface="Segoe UI" panose="020B0502040204020203" pitchFamily="34" charset="0"/>
              <a:buAutoNum type="arabicPeriod"/>
            </a:pP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Поиск необходимых дел требует физического перемещения по архиву, что приводит к потере времени и снижению продуктивности;</a:t>
            </a:r>
            <a:endParaRPr lang="ru-RU" sz="1700" dirty="0">
              <a:latin typeface="PT Sans" panose="020B0503020203020204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rgbClr val="404040"/>
              </a:buClr>
              <a:buFont typeface="Segoe UI" panose="020B0502040204020203" pitchFamily="34" charset="0"/>
              <a:buAutoNum type="arabicPeriod"/>
            </a:pP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отсутствие оцифрованных документов затрудняет идентификацию документов;</a:t>
            </a:r>
            <a:endParaRPr lang="ru-RU" sz="1700" dirty="0">
              <a:latin typeface="PT Sans" panose="020B0503020203020204"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Clr>
                <a:srgbClr val="404040"/>
              </a:buClr>
              <a:buFont typeface="Segoe UI" panose="020B0502040204020203" pitchFamily="34" charset="0"/>
              <a:buAutoNum type="arabicPeriod"/>
            </a:pP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информация хранится только в физическом виде, что увеличивает риск её утери и замедляет процессы.</a:t>
            </a:r>
            <a:endParaRPr lang="ru-RU" sz="1700" dirty="0">
              <a:latin typeface="PT Sans" panose="020B0503020203020204"/>
              <a:ea typeface="Calibri" panose="020F0502020204030204" pitchFamily="34" charset="0"/>
            </a:endParaRPr>
          </a:p>
          <a:p>
            <a:pPr>
              <a:spcAft>
                <a:spcPts val="0"/>
              </a:spcAft>
            </a:pP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Мы предлагаем </a:t>
            </a:r>
            <a:r>
              <a:rPr lang="ru-RU" sz="1700" b="1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оцифровать документы с помощью OCR </a:t>
            </a: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и хранить все в электронном формате на внешнем </a:t>
            </a:r>
            <a:r>
              <a:rPr lang="ru-RU" sz="1700" dirty="0" err="1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ssd</a:t>
            </a: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 диске, при этом сохраняя бумажные </a:t>
            </a:r>
            <a:r>
              <a:rPr lang="ru-RU" sz="1700" dirty="0" smtClean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оригиналы</a:t>
            </a:r>
          </a:p>
          <a:p>
            <a:r>
              <a:rPr lang="ru-RU" sz="1700" b="1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Вторым вариантом </a:t>
            </a:r>
            <a:r>
              <a:rPr lang="ru-RU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решения ключевых проблем является привлечение студентов, проходящих практику внутри ИУЭФ для оцифровки имеющихся документов путем трансформации данных в виде </a:t>
            </a:r>
            <a:r>
              <a:rPr lang="en-US" sz="1700" dirty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PDF/Word </a:t>
            </a:r>
            <a:r>
              <a:rPr lang="ru-RU" sz="1700" dirty="0" err="1" smtClean="0"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rPr>
              <a:t>фората</a:t>
            </a:r>
            <a:endParaRPr lang="ru-RU" sz="1700" dirty="0">
              <a:effectLst/>
              <a:latin typeface="PT Sans" panose="020B0503020203020204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74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74ABBB-AC3E-448C-A919-846FD79C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4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D90792-3CF6-48B7-B53F-AADCC3C6365A}"/>
              </a:ext>
            </a:extLst>
          </p:cNvPr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D579DB-7E1C-4C2D-A2DA-3B5F9CFF6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3"/>
            <a:ext cx="524805" cy="1141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2780" y="1312788"/>
            <a:ext cx="357679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PT Sans" panose="020B0503020203020204"/>
              </a:rPr>
              <a:t>Функциональный блок: </a:t>
            </a:r>
            <a:r>
              <a:rPr lang="ru-RU" sz="2000" dirty="0" smtClean="0">
                <a:latin typeface="PT Sans" panose="020B0503020203020204"/>
              </a:rPr>
              <a:t>отдел документооборота КФУ (подразделения архива)</a:t>
            </a:r>
            <a:endParaRPr lang="ru-RU" sz="2000" dirty="0">
              <a:latin typeface="PT Sans" panose="020B0503020203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84" y="2374810"/>
            <a:ext cx="36003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PT Sans" panose="020B0503020203020204"/>
              </a:rPr>
              <a:t>Целевая аудитория: </a:t>
            </a:r>
            <a:r>
              <a:rPr lang="ru-RU" sz="2000" dirty="0" smtClean="0">
                <a:latin typeface="PT Sans" panose="020B0503020203020204"/>
              </a:rPr>
              <a:t>сотрудники архива </a:t>
            </a:r>
            <a:endParaRPr lang="ru-RU" sz="2000" dirty="0">
              <a:latin typeface="PT Sans" panose="020B0503020203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9719" y="3082696"/>
            <a:ext cx="37543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1" dirty="0" smtClean="0">
                <a:latin typeface="PT Sans" panose="020B0503020203020204"/>
              </a:rPr>
              <a:t>Требования бизнеса: </a:t>
            </a:r>
            <a:r>
              <a:rPr lang="ru-RU" sz="2000" dirty="0">
                <a:latin typeface="PT Sans" panose="020B0503020203020204"/>
              </a:rPr>
              <a:t>Точность OCR ≥98%, скорость обработки </a:t>
            </a:r>
            <a:r>
              <a:rPr lang="ru-RU" sz="2000" dirty="0" smtClean="0">
                <a:latin typeface="PT Sans" panose="020B0503020203020204"/>
              </a:rPr>
              <a:t>≤ 1 </a:t>
            </a:r>
            <a:r>
              <a:rPr lang="ru-RU" sz="2000" dirty="0">
                <a:latin typeface="PT Sans" panose="020B0503020203020204"/>
              </a:rPr>
              <a:t>мин/док</a:t>
            </a:r>
            <a:r>
              <a:rPr lang="ru-RU" sz="2000" dirty="0" smtClean="0">
                <a:latin typeface="PT Sans" panose="020B0503020203020204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27667" y="1275889"/>
            <a:ext cx="3660757" cy="2862322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>
              <a:spcAft>
                <a:spcPts val="0"/>
              </a:spcAft>
              <a:defRPr>
                <a:solidFill>
                  <a:srgbClr val="000000"/>
                </a:solidFill>
                <a:latin typeface="PT Sans" panose="020B0503020203020204"/>
                <a:ea typeface="Calibri" panose="020F0502020204030204" pitchFamily="34" charset="0"/>
              </a:defRPr>
            </a:lvl1pPr>
          </a:lstStyle>
          <a:p>
            <a:r>
              <a:rPr lang="ru-RU" sz="2000" b="1" dirty="0"/>
              <a:t>Описание проблемы:</a:t>
            </a:r>
          </a:p>
          <a:p>
            <a:r>
              <a:rPr lang="ru-RU" sz="2000" dirty="0"/>
              <a:t>Недостаточная оцифровка:</a:t>
            </a:r>
            <a:br>
              <a:rPr lang="ru-RU" sz="2000" dirty="0"/>
            </a:br>
            <a:r>
              <a:rPr lang="ru-RU" sz="2000" dirty="0"/>
              <a:t>Только 12% документов (с 2014 года) доступны в цифровом формате. Документы за 1960–2014 гг. (</a:t>
            </a:r>
            <a:r>
              <a:rPr lang="ru-RU" sz="2000" dirty="0" smtClean="0"/>
              <a:t>385 </a:t>
            </a:r>
            <a:r>
              <a:rPr lang="ru-RU" sz="2000" dirty="0"/>
              <a:t>тыс. единиц) требуют ручного поиска, что занимает достаточное количество времени</a:t>
            </a:r>
            <a:r>
              <a:rPr lang="ru-RU" sz="2000" dirty="0" smtClean="0"/>
              <a:t>.</a:t>
            </a:r>
            <a:endParaRPr lang="ru-RU" sz="2000" dirty="0"/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4572000" y="1228608"/>
            <a:ext cx="0" cy="3215350"/>
          </a:xfrm>
          <a:prstGeom prst="line">
            <a:avLst/>
          </a:prstGeom>
          <a:ln w="28575">
            <a:solidFill>
              <a:srgbClr val="00549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7937" y="32108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 smtClean="0"/>
              <a:t>Общие характеристики </a:t>
            </a:r>
            <a:r>
              <a:rPr lang="ru-RU" dirty="0"/>
              <a:t>проекта</a:t>
            </a:r>
          </a:p>
        </p:txBody>
      </p:sp>
    </p:spTree>
    <p:extLst>
      <p:ext uri="{BB962C8B-B14F-4D97-AF65-F5344CB8AC3E}">
        <p14:creationId xmlns:p14="http://schemas.microsoft.com/office/powerpoint/2010/main" val="306970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59231"/>
            <a:ext cx="8316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ч.1</a:t>
            </a:r>
          </a:p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После оптимизации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68591" y="546971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890228"/>
            <a:ext cx="5400600" cy="4080123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507" y="1070191"/>
            <a:ext cx="3816424" cy="986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592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59231"/>
            <a:ext cx="30892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ч.2</a:t>
            </a:r>
          </a:p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После оптимизации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3648" y="1592071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059" y="14778"/>
            <a:ext cx="5152644" cy="493532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84" y="2116930"/>
            <a:ext cx="3528392" cy="912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133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211709"/>
            <a:ext cx="3816424" cy="986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39604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ч.3</a:t>
            </a:r>
          </a:p>
          <a:p>
            <a:r>
              <a:rPr lang="ru-RU" sz="2400" b="1" dirty="0">
                <a:solidFill>
                  <a:srgbClr val="00549F"/>
                </a:solidFill>
                <a:latin typeface="PT Sans" panose="020B0503020203020204" pitchFamily="34" charset="-52"/>
              </a:rPr>
              <a:t>После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оптимизации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9824" y="1"/>
            <a:ext cx="3333915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52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E879BAB-C986-4BEB-8A83-997513045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55676" y="1351598"/>
            <a:ext cx="23042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smtClean="0">
                <a:latin typeface="PT Sans" panose="020B0503020203020204"/>
              </a:rPr>
              <a:t>EPC</a:t>
            </a:r>
            <a:endParaRPr lang="ru-RU" sz="2800" b="1" dirty="0">
              <a:latin typeface="PT Sans" panose="020B0503020203020204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84" y="2211709"/>
            <a:ext cx="3816424" cy="986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7584" y="183710"/>
            <a:ext cx="41044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Основные процессы Архива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(3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уровень детализации)</a:t>
            </a:r>
            <a:r>
              <a:rPr lang="en-US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ч.4</a:t>
            </a:r>
          </a:p>
          <a:p>
            <a:r>
              <a:rPr lang="ru-RU" sz="2400" b="1" dirty="0">
                <a:solidFill>
                  <a:srgbClr val="00549F"/>
                </a:solidFill>
                <a:latin typeface="PT Sans" panose="020B0503020203020204" pitchFamily="34" charset="-52"/>
              </a:rPr>
              <a:t>После </a:t>
            </a:r>
            <a:r>
              <a:rPr lang="ru-RU" sz="2400" b="1" dirty="0" smtClean="0">
                <a:solidFill>
                  <a:srgbClr val="00549F"/>
                </a:solidFill>
                <a:latin typeface="PT Sans" panose="020B0503020203020204" pitchFamily="34" charset="-52"/>
              </a:rPr>
              <a:t>оптимизации</a:t>
            </a:r>
            <a:endParaRPr lang="ru-RU" sz="2400" b="1" dirty="0">
              <a:solidFill>
                <a:srgbClr val="00549F"/>
              </a:solidFill>
              <a:latin typeface="PT Sans" panose="020B0503020203020204" pitchFamily="34" charset="-52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0936" y="0"/>
            <a:ext cx="3449593" cy="513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07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043608" y="8921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/>
              <a:t>План внедрения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74ABBB-AC3E-448C-A919-846FD79C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4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D90792-3CF6-48B7-B53F-AADCC3C6365A}"/>
              </a:ext>
            </a:extLst>
          </p:cNvPr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D579DB-7E1C-4C2D-A2DA-3B5F9CFF6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3"/>
            <a:ext cx="524805" cy="1141075"/>
          </a:xfrm>
          <a:prstGeom prst="rect">
            <a:avLst/>
          </a:prstGeom>
        </p:spPr>
      </p:pic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8548356"/>
              </p:ext>
            </p:extLst>
          </p:nvPr>
        </p:nvGraphicFramePr>
        <p:xfrm>
          <a:off x="1056675" y="728725"/>
          <a:ext cx="7905797" cy="25734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3862">
                  <a:extLst>
                    <a:ext uri="{9D8B030D-6E8A-4147-A177-3AD203B41FA5}">
                      <a16:colId xmlns:a16="http://schemas.microsoft.com/office/drawing/2014/main" val="1839225562"/>
                    </a:ext>
                  </a:extLst>
                </a:gridCol>
                <a:gridCol w="2937558">
                  <a:extLst>
                    <a:ext uri="{9D8B030D-6E8A-4147-A177-3AD203B41FA5}">
                      <a16:colId xmlns:a16="http://schemas.microsoft.com/office/drawing/2014/main" val="2984500366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3588731437"/>
                    </a:ext>
                  </a:extLst>
                </a:gridCol>
                <a:gridCol w="2448273">
                  <a:extLst>
                    <a:ext uri="{9D8B030D-6E8A-4147-A177-3AD203B41FA5}">
                      <a16:colId xmlns:a16="http://schemas.microsoft.com/office/drawing/2014/main" val="3739467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Этап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Задачи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Сроки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Ответственные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19915693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1. Подготовка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1.1. Формирование рабочей группы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7 дней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Заведующий архивом, руководство института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6010398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1.2. Анализ объема документов и требований к качеству сканирования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7 дней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Руководитель проекта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310665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1.3 Выбор и закупка </a:t>
                      </a:r>
                      <a:r>
                        <a:rPr lang="en-US" sz="1200" dirty="0">
                          <a:effectLst/>
                        </a:rPr>
                        <a:t>SSD</a:t>
                      </a: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-диска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2-3 дня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Сотрудник </a:t>
                      </a:r>
                      <a:r>
                        <a:rPr lang="en-US" sz="1200">
                          <a:effectLst/>
                        </a:rPr>
                        <a:t>IT</a:t>
                      </a:r>
                      <a:r>
                        <a:rPr lang="ru-RU" sz="1200">
                          <a:effectLst/>
                          <a:latin typeface="PT Sans" panose="020B0503020203020204"/>
                        </a:rPr>
                        <a:t>-отдела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876706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1.4. Настройка ПО для сканирования и </a:t>
                      </a:r>
                      <a:r>
                        <a:rPr lang="en-US" sz="1200">
                          <a:effectLst/>
                        </a:rPr>
                        <a:t>OCR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3 дня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Сотрудники </a:t>
                      </a:r>
                      <a:r>
                        <a:rPr lang="ru-RU" sz="1200" dirty="0" err="1">
                          <a:effectLst/>
                          <a:latin typeface="PT Sans" panose="020B0503020203020204"/>
                        </a:rPr>
                        <a:t>стартапа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2756769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2. Сканирование и организация хранения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2.1. Сканирование документов 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 smtClean="0">
                          <a:effectLst/>
                          <a:latin typeface="PT Sans" panose="020B0503020203020204"/>
                        </a:rPr>
                        <a:t>27 </a:t>
                      </a: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дней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Сотрудники стартапа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7521853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2.2. Организация структуры папок на диске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7 дней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Сотрудники стартапа и/или сотрудник архива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3900186"/>
                  </a:ext>
                </a:extLst>
              </a:tr>
              <a:tr h="378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3. Мониторинг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3.1. Контроль заполнения диска и скорости доступа к файлам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постоянно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Сотрудник архива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52117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4. Отчётность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4.1. Составление итогового отчёта по проекту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PT Sans" panose="020B0503020203020204"/>
                        </a:rPr>
                        <a:t>1 день</a:t>
                      </a:r>
                      <a:endParaRPr lang="ru-RU" sz="120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PT Sans" panose="020B0503020203020204"/>
                        </a:rPr>
                        <a:t>Руководитель проекта</a:t>
                      </a:r>
                      <a:endParaRPr lang="ru-RU" sz="1200" dirty="0">
                        <a:effectLst/>
                        <a:latin typeface="PT Sans" panose="020B0503020203020204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848836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971600" y="3302174"/>
            <a:ext cx="7905797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b="1" dirty="0">
                <a:latin typeface="PT Sans" panose="020B0503020203020204"/>
              </a:rPr>
              <a:t>ВОЗМОЖНЫЕ СОТРУНИЧЕСТВА </a:t>
            </a:r>
            <a:endParaRPr lang="ru-RU" sz="1400" b="1" dirty="0" smtClean="0">
              <a:latin typeface="PT Sans" panose="020B0503020203020204"/>
            </a:endParaRPr>
          </a:p>
          <a:p>
            <a:r>
              <a:rPr lang="ru-RU" sz="1400" dirty="0" smtClean="0">
                <a:latin typeface="PT Sans" panose="020B0503020203020204"/>
              </a:rPr>
              <a:t>На </a:t>
            </a:r>
            <a:r>
              <a:rPr lang="ru-RU" sz="1400" dirty="0">
                <a:latin typeface="PT Sans" panose="020B0503020203020204"/>
              </a:rPr>
              <a:t>данный момент на рынке подобные услуги предоставляют такие организации как: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ru-RU" sz="1400" dirty="0" smtClean="0">
                <a:latin typeface="PT Sans" panose="020B0503020203020204"/>
                <a:ea typeface="Calibri" panose="020F0502020204030204" pitchFamily="34" charset="0"/>
              </a:rPr>
              <a:t>ООО </a:t>
            </a:r>
            <a:r>
              <a:rPr lang="ru-RU" sz="1400" dirty="0" err="1" smtClean="0">
                <a:latin typeface="PT Sans" panose="020B0503020203020204"/>
                <a:ea typeface="Calibri" panose="020F0502020204030204" pitchFamily="34" charset="0"/>
              </a:rPr>
              <a:t>Логстрим</a:t>
            </a:r>
            <a:endParaRPr lang="ru-RU" sz="1400" dirty="0" smtClean="0">
              <a:latin typeface="PT Sans" panose="020B0503020203020204"/>
              <a:ea typeface="Calibri" panose="020F050202020403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PT Sans" panose="020B0503020203020204"/>
              </a:rPr>
              <a:t>ООО «СЛ Софт» (готовое решение -</a:t>
            </a:r>
            <a:r>
              <a:rPr lang="en-US" sz="1400" dirty="0"/>
              <a:t>SOICA</a:t>
            </a:r>
            <a:r>
              <a:rPr lang="ru-RU" sz="1400" dirty="0">
                <a:latin typeface="PT Sans" panose="020B0503020203020204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>
                <a:latin typeface="PT Sans" panose="020B0503020203020204"/>
              </a:rPr>
              <a:t>PIX </a:t>
            </a:r>
            <a:r>
              <a:rPr lang="ru-RU" sz="1400" dirty="0" err="1">
                <a:latin typeface="PT Sans" panose="020B0503020203020204"/>
              </a:rPr>
              <a:t>Robotics</a:t>
            </a:r>
            <a:r>
              <a:rPr lang="ru-RU" sz="1400" dirty="0">
                <a:latin typeface="PT Sans" panose="020B0503020203020204"/>
              </a:rPr>
              <a:t> (внедрение ПО)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 err="1">
                <a:latin typeface="PT Sans" panose="020B0503020203020204"/>
              </a:rPr>
              <a:t>Content</a:t>
            </a:r>
            <a:r>
              <a:rPr lang="ru-RU" sz="1400" dirty="0">
                <a:latin typeface="PT Sans" panose="020B0503020203020204"/>
              </a:rPr>
              <a:t> AI</a:t>
            </a:r>
          </a:p>
          <a:p>
            <a:pPr marL="342900" indent="-342900">
              <a:buFont typeface="+mj-lt"/>
              <a:buAutoNum type="arabicPeriod"/>
            </a:pPr>
            <a:r>
              <a:rPr lang="ru-RU" sz="1400" dirty="0" err="1">
                <a:latin typeface="PT Sans" panose="020B0503020203020204"/>
              </a:rPr>
              <a:t>Smart</a:t>
            </a:r>
            <a:r>
              <a:rPr lang="ru-RU" sz="1400" dirty="0">
                <a:latin typeface="PT Sans" panose="020B0503020203020204"/>
              </a:rPr>
              <a:t> </a:t>
            </a:r>
            <a:r>
              <a:rPr lang="ru-RU" sz="1400" dirty="0" err="1" smtClean="0">
                <a:latin typeface="PT Sans" panose="020B0503020203020204"/>
              </a:rPr>
              <a:t>Engines</a:t>
            </a:r>
            <a:endParaRPr lang="ru-RU" sz="1400" dirty="0">
              <a:latin typeface="PT Sans" panose="020B0503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195252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74ABBB-AC3E-448C-A919-846FD79C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4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D90792-3CF6-48B7-B53F-AADCC3C6365A}"/>
              </a:ext>
            </a:extLst>
          </p:cNvPr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D579DB-7E1C-4C2D-A2DA-3B5F9CFF6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3"/>
            <a:ext cx="524805" cy="114107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75973" y="196405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 smtClean="0"/>
              <a:t>Риски проекта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6930124"/>
              </p:ext>
            </p:extLst>
          </p:nvPr>
        </p:nvGraphicFramePr>
        <p:xfrm>
          <a:off x="1011824" y="1132171"/>
          <a:ext cx="7436644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942">
                  <a:extLst>
                    <a:ext uri="{9D8B030D-6E8A-4147-A177-3AD203B41FA5}">
                      <a16:colId xmlns:a16="http://schemas.microsoft.com/office/drawing/2014/main" val="3573911718"/>
                    </a:ext>
                  </a:extLst>
                </a:gridCol>
                <a:gridCol w="2521332">
                  <a:extLst>
                    <a:ext uri="{9D8B030D-6E8A-4147-A177-3AD203B41FA5}">
                      <a16:colId xmlns:a16="http://schemas.microsoft.com/office/drawing/2014/main" val="1562495762"/>
                    </a:ext>
                  </a:extLst>
                </a:gridCol>
                <a:gridCol w="3411214">
                  <a:extLst>
                    <a:ext uri="{9D8B030D-6E8A-4147-A177-3AD203B41FA5}">
                      <a16:colId xmlns:a16="http://schemas.microsoft.com/office/drawing/2014/main" val="3747966800"/>
                    </a:ext>
                  </a:extLst>
                </a:gridCol>
                <a:gridCol w="1059156">
                  <a:extLst>
                    <a:ext uri="{9D8B030D-6E8A-4147-A177-3AD203B41FA5}">
                      <a16:colId xmlns:a16="http://schemas.microsoft.com/office/drawing/2014/main" val="351759724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№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Вариант изменений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Описание риска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Степень влияния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0524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1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PT Sans" panose="020B0503020203020204"/>
                        </a:rPr>
                        <a:t>Оцифровка с помощью технологии </a:t>
                      </a:r>
                      <a:r>
                        <a:rPr lang="en-US" dirty="0" smtClean="0">
                          <a:latin typeface="PT Sans" panose="020B0503020203020204"/>
                        </a:rPr>
                        <a:t>OCR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PT Sans" panose="020B0503020203020204"/>
                        </a:rPr>
                        <a:t>Низкая точность OCR для рукописных текстов 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Высокая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72130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2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PT Sans" panose="020B0503020203020204"/>
                        </a:rPr>
                        <a:t>Оцифровка с помощью технологии </a:t>
                      </a:r>
                      <a:r>
                        <a:rPr lang="en-US" dirty="0" smtClean="0">
                          <a:latin typeface="PT Sans" panose="020B0503020203020204"/>
                        </a:rPr>
                        <a:t>OCR</a:t>
                      </a:r>
                      <a:endParaRPr lang="ru-RU" dirty="0" smtClean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PT Sans" panose="020B0503020203020204"/>
                        </a:rPr>
                        <a:t>Неполнота данных из-за поврежденных документов 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Высокая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7447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3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PT Sans" panose="020B0503020203020204"/>
                        </a:rPr>
                        <a:t>Оцифровка с помощью технологии </a:t>
                      </a:r>
                      <a:r>
                        <a:rPr lang="en-US" dirty="0" smtClean="0">
                          <a:latin typeface="PT Sans" panose="020B0503020203020204"/>
                        </a:rPr>
                        <a:t>OCR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 smtClean="0">
                          <a:latin typeface="PT Sans" panose="020B0503020203020204"/>
                        </a:rPr>
                        <a:t>Задержки со стороны компании-исполнителя 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Низкая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18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latin typeface="PT Sans" panose="020B0503020203020204"/>
                        </a:rPr>
                        <a:t>4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 smtClean="0">
                          <a:latin typeface="PT Sans" panose="020B0503020203020204"/>
                        </a:rPr>
                        <a:t>Оцифровка с помощью студентов</a:t>
                      </a:r>
                      <a:r>
                        <a:rPr lang="ru-RU" baseline="0" dirty="0" smtClean="0">
                          <a:latin typeface="PT Sans" panose="020B0503020203020204"/>
                        </a:rPr>
                        <a:t> на практике</a:t>
                      </a:r>
                      <a:endParaRPr lang="ru-RU" dirty="0" smtClean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>
                          <a:latin typeface="PT Sans" panose="020B0503020203020204"/>
                        </a:rPr>
                        <a:t>Человеческий фактор (некорректный</a:t>
                      </a:r>
                      <a:r>
                        <a:rPr lang="ru-RU" baseline="0" dirty="0" smtClean="0">
                          <a:latin typeface="PT Sans" panose="020B0503020203020204"/>
                        </a:rPr>
                        <a:t> перенос данных)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>
                          <a:latin typeface="PT Sans" panose="020B0503020203020204"/>
                        </a:rPr>
                        <a:t>Высокая</a:t>
                      </a:r>
                      <a:endParaRPr lang="ru-RU" dirty="0">
                        <a:latin typeface="PT Sans" panose="020B0503020203020204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43565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3338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B3758C0-3B65-4B6D-8CDA-D19D737FE3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90" y="87534"/>
            <a:ext cx="524805" cy="1141075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4674ABBB-AC3E-448C-A919-846FD79CAF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4"/>
            <a:ext cx="524805" cy="1141075"/>
          </a:xfrm>
          <a:prstGeom prst="rect">
            <a:avLst/>
          </a:prstGeom>
        </p:spPr>
      </p:pic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72D90792-3CF6-48B7-B53F-AADCC3C6365A}"/>
              </a:ext>
            </a:extLst>
          </p:cNvPr>
          <p:cNvSpPr/>
          <p:nvPr/>
        </p:nvSpPr>
        <p:spPr>
          <a:xfrm>
            <a:off x="0" y="0"/>
            <a:ext cx="827584" cy="5143500"/>
          </a:xfrm>
          <a:prstGeom prst="rect">
            <a:avLst/>
          </a:prstGeom>
          <a:gradFill flip="none" rotWithShape="1">
            <a:gsLst>
              <a:gs pos="0">
                <a:srgbClr val="00549F">
                  <a:shade val="30000"/>
                  <a:satMod val="115000"/>
                </a:srgbClr>
              </a:gs>
              <a:gs pos="50000">
                <a:srgbClr val="00549F">
                  <a:shade val="67500"/>
                  <a:satMod val="115000"/>
                </a:srgbClr>
              </a:gs>
              <a:gs pos="100000">
                <a:srgbClr val="00549F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AD579DB-7E1C-4C2D-A2DA-3B5F9CFF64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89" y="87533"/>
            <a:ext cx="524805" cy="1141075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781590" y="2941662"/>
            <a:ext cx="32863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PT Sans" panose="020B0503020203020204"/>
              </a:rPr>
              <a:t>Экономия после сокращения времени работы/увольнения</a:t>
            </a:r>
            <a:r>
              <a:rPr lang="ru-RU" b="1" dirty="0" smtClean="0">
                <a:latin typeface="PT Sans" panose="020B0503020203020204"/>
              </a:rPr>
              <a:t>:</a:t>
            </a:r>
            <a:endParaRPr lang="ru-RU" b="1" dirty="0" smtClean="0">
              <a:latin typeface="PT Sans" panose="020B0503020203020204"/>
            </a:endParaRPr>
          </a:p>
          <a:p>
            <a:r>
              <a:rPr lang="ru-RU" dirty="0">
                <a:latin typeface="PT Sans" panose="020B0503020203020204"/>
              </a:rPr>
              <a:t>Экономия в </a:t>
            </a:r>
            <a:r>
              <a:rPr lang="ru-RU" dirty="0" smtClean="0">
                <a:latin typeface="PT Sans" panose="020B0503020203020204"/>
              </a:rPr>
              <a:t>год = з/п * 12 </a:t>
            </a:r>
            <a:r>
              <a:rPr lang="ru-RU" dirty="0" err="1" smtClean="0">
                <a:latin typeface="PT Sans" panose="020B0503020203020204"/>
              </a:rPr>
              <a:t>мес</a:t>
            </a:r>
            <a:r>
              <a:rPr lang="ru-RU" dirty="0" smtClean="0">
                <a:latin typeface="PT Sans" panose="020B0503020203020204"/>
              </a:rPr>
              <a:t> </a:t>
            </a:r>
          </a:p>
          <a:p>
            <a:r>
              <a:rPr lang="ru-RU" dirty="0" smtClean="0">
                <a:latin typeface="PT Sans" panose="020B0503020203020204"/>
              </a:rPr>
              <a:t>40 000 руб. * 12 </a:t>
            </a:r>
            <a:r>
              <a:rPr lang="ru-RU" dirty="0" err="1" smtClean="0">
                <a:latin typeface="PT Sans" panose="020B0503020203020204"/>
              </a:rPr>
              <a:t>мес</a:t>
            </a:r>
            <a:r>
              <a:rPr lang="ru-RU" dirty="0" smtClean="0">
                <a:latin typeface="PT Sans" panose="020B0503020203020204"/>
              </a:rPr>
              <a:t> = 480 000 руб.</a:t>
            </a:r>
            <a:endParaRPr lang="ru-RU" dirty="0">
              <a:latin typeface="PT Sans" panose="020B0503020203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7937" y="321083"/>
            <a:ext cx="7344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sz="2400" b="1">
                <a:solidFill>
                  <a:srgbClr val="00549F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 dirty="0" smtClean="0"/>
              <a:t>Эффекты от внедрения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21583" y="915566"/>
            <a:ext cx="7487311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ru-RU" sz="2000" b="1" dirty="0">
                <a:latin typeface="PT Sans" panose="020B0503020203020204"/>
                <a:ea typeface="Calibri" panose="020F0502020204030204" pitchFamily="34" charset="0"/>
              </a:rPr>
              <a:t>ЭФФЕКТ:</a:t>
            </a:r>
          </a:p>
          <a:p>
            <a:pPr>
              <a:spcAft>
                <a:spcPts val="0"/>
              </a:spcAft>
            </a:pPr>
            <a:r>
              <a:rPr lang="ru-RU" dirty="0">
                <a:latin typeface="PT Sans" panose="020B0503020203020204"/>
                <a:ea typeface="Calibri" panose="020F0502020204030204" pitchFamily="34" charset="0"/>
              </a:rPr>
              <a:t>Данное решение позволяет сократить перемещения и решить потери излишнего перемещения. По нашим расчётам процесс выдачи справок будет занимать </a:t>
            </a:r>
            <a:r>
              <a:rPr lang="ru-RU" b="1" dirty="0">
                <a:latin typeface="PT Sans" panose="020B0503020203020204"/>
                <a:ea typeface="Calibri" panose="020F0502020204030204" pitchFamily="34" charset="0"/>
              </a:rPr>
              <a:t>850 сек </a:t>
            </a:r>
            <a:r>
              <a:rPr lang="ru-RU" dirty="0">
                <a:latin typeface="PT Sans" panose="020B0503020203020204"/>
                <a:ea typeface="Calibri" panose="020F0502020204030204" pitchFamily="34" charset="0"/>
              </a:rPr>
              <a:t>(14 мин) вместо </a:t>
            </a:r>
            <a:r>
              <a:rPr lang="ru-RU" b="1" dirty="0">
                <a:latin typeface="PT Sans" panose="020B0503020203020204"/>
                <a:ea typeface="Calibri" panose="020F0502020204030204" pitchFamily="34" charset="0"/>
              </a:rPr>
              <a:t>1305с </a:t>
            </a:r>
            <a:r>
              <a:rPr lang="ru-RU" dirty="0">
                <a:latin typeface="PT Sans" panose="020B0503020203020204"/>
                <a:ea typeface="Calibri" panose="020F0502020204030204" pitchFamily="34" charset="0"/>
              </a:rPr>
              <a:t>сек (22 мин</a:t>
            </a:r>
            <a:r>
              <a:rPr lang="ru-RU" dirty="0" smtClean="0">
                <a:latin typeface="PT Sans" panose="020B0503020203020204"/>
                <a:ea typeface="Calibri" panose="020F0502020204030204" pitchFamily="34" charset="0"/>
              </a:rPr>
              <a:t>) сейчас</a:t>
            </a:r>
            <a:endParaRPr lang="ru-RU" dirty="0">
              <a:latin typeface="PT Sans" panose="020B0503020203020204"/>
              <a:ea typeface="Calibri" panose="020F0502020204030204" pitchFamily="34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920" y="2123926"/>
            <a:ext cx="5260505" cy="25360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23928" y="4659982"/>
            <a:ext cx="49685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 smtClean="0">
                <a:latin typeface="PT Sans" panose="020B0503020203020204"/>
              </a:rPr>
              <a:t>Сокращение шагов процесса, не приносящих пользы</a:t>
            </a:r>
            <a:endParaRPr lang="ru-RU" sz="1600" dirty="0">
              <a:latin typeface="PT Sans" panose="020B0503020203020204"/>
            </a:endParaRPr>
          </a:p>
        </p:txBody>
      </p:sp>
    </p:spTree>
    <p:extLst>
      <p:ext uri="{BB962C8B-B14F-4D97-AF65-F5344CB8AC3E}">
        <p14:creationId xmlns:p14="http://schemas.microsoft.com/office/powerpoint/2010/main" val="2355402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MSShafigullin\Desktop\Проекты\Брендбук\Гайдлайн\Презентация\презентация шаблон КФУ-01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72"/>
          <a:stretch/>
        </p:blipFill>
        <p:spPr bwMode="auto">
          <a:xfrm>
            <a:off x="0" y="1786"/>
            <a:ext cx="9144000" cy="514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898;g89d9307d70_13_164"/>
          <p:cNvSpPr txBox="1"/>
          <p:nvPr/>
        </p:nvSpPr>
        <p:spPr>
          <a:xfrm>
            <a:off x="2267744" y="2074200"/>
            <a:ext cx="5904656" cy="9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67"/>
              <a:buFont typeface="Arial"/>
              <a:buNone/>
            </a:pP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Спасибо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за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 </a:t>
            </a:r>
            <a:r>
              <a:rPr lang="en-US" sz="3600" b="1" i="0" u="none" strike="noStrike" cap="none" dirty="0" err="1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внимание</a:t>
            </a:r>
            <a:r>
              <a:rPr lang="en-US" sz="3600" b="1" i="0" u="none" strike="noStrike" cap="none" dirty="0">
                <a:solidFill>
                  <a:schemeClr val="bg1"/>
                </a:solidFill>
                <a:latin typeface="PT Sans" panose="020B0503020203020204" pitchFamily="34" charset="-52"/>
                <a:ea typeface="Arial"/>
                <a:cs typeface="Arial"/>
                <a:sym typeface="Arial"/>
              </a:rPr>
              <a:t>!</a:t>
            </a:r>
            <a:endParaRPr sz="3600" b="1" i="0" u="none" strike="noStrike" cap="none" dirty="0">
              <a:solidFill>
                <a:schemeClr val="bg1"/>
              </a:solidFill>
              <a:latin typeface="PT Sans" panose="020B0503020203020204" pitchFamily="34" charset="-52"/>
              <a:ea typeface="Arial"/>
              <a:cs typeface="Arial"/>
              <a:sym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4187607"/>
            <a:ext cx="6552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Подготовили студенты гр.: 14.6-110</a:t>
            </a:r>
          </a:p>
          <a:p>
            <a:r>
              <a:rPr lang="ru-RU" sz="1400" b="1" dirty="0" err="1">
                <a:solidFill>
                  <a:schemeClr val="bg1"/>
                </a:solidFill>
                <a:latin typeface="PT Sans" panose="020B0503020203020204" pitchFamily="34" charset="-52"/>
              </a:rPr>
              <a:t>Гильманова</a:t>
            </a:r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 Рената</a:t>
            </a:r>
          </a:p>
          <a:p>
            <a:r>
              <a:rPr lang="ru-RU" sz="1400" b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Иванова </a:t>
            </a:r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Анна</a:t>
            </a:r>
          </a:p>
          <a:p>
            <a:r>
              <a:rPr lang="ru-RU" sz="1400" b="1" dirty="0" smtClean="0">
                <a:solidFill>
                  <a:schemeClr val="bg1"/>
                </a:solidFill>
                <a:latin typeface="PT Sans" panose="020B0503020203020204" pitchFamily="34" charset="-52"/>
              </a:rPr>
              <a:t>Яркина </a:t>
            </a:r>
            <a:r>
              <a:rPr lang="ru-RU" sz="1400" b="1" dirty="0">
                <a:solidFill>
                  <a:schemeClr val="bg1"/>
                </a:solidFill>
                <a:latin typeface="PT Sans" panose="020B0503020203020204" pitchFamily="34" charset="-52"/>
              </a:rPr>
              <a:t>Арина</a:t>
            </a:r>
            <a:endParaRPr lang="en-US" sz="1200" dirty="0">
              <a:solidFill>
                <a:schemeClr val="bg1"/>
              </a:solidFill>
              <a:latin typeface="PT Sans" panose="020B0503020203020204" pitchFamily="34" charset="-52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1F81E5-8EFA-4C91-9D37-F65076B7B4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811" y="656018"/>
            <a:ext cx="1554123" cy="635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990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1981</TotalTime>
  <Words>1175</Words>
  <Application>Microsoft Office PowerPoint</Application>
  <PresentationFormat>Экран (16:9)</PresentationFormat>
  <Paragraphs>219</Paragraphs>
  <Slides>24</Slides>
  <Notes>24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2" baseType="lpstr">
      <vt:lpstr>Arial</vt:lpstr>
      <vt:lpstr>Calibri</vt:lpstr>
      <vt:lpstr>PT Sans</vt:lpstr>
      <vt:lpstr>Roboto</vt:lpstr>
      <vt:lpstr>Roboto Slab</vt:lpstr>
      <vt:lpstr>Segoe UI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Шафигуллин Марат Шарифуллович</dc:creator>
  <cp:lastModifiedBy>Яркина Арина Алексеевна</cp:lastModifiedBy>
  <cp:revision>149</cp:revision>
  <dcterms:created xsi:type="dcterms:W3CDTF">2020-07-15T10:53:07Z</dcterms:created>
  <dcterms:modified xsi:type="dcterms:W3CDTF">2025-05-05T09:49:54Z</dcterms:modified>
</cp:coreProperties>
</file>