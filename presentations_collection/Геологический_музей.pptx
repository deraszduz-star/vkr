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8" r:id="rId1"/>
  </p:sldMasterIdLst>
  <p:sldIdLst>
    <p:sldId id="256" r:id="rId2"/>
    <p:sldId id="257" r:id="rId3"/>
    <p:sldId id="263" r:id="rId4"/>
    <p:sldId id="261" r:id="rId5"/>
    <p:sldId id="262" r:id="rId6"/>
    <p:sldId id="259" r:id="rId7"/>
    <p:sldId id="260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FFB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Средний стиль 2 —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ABFCF23-3B69-468F-B69F-88F6DE6A72F2}" styleName="Средний стиль 1 — акцент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0660B408-B3CF-4A94-85FC-2B1E0A45F4A2}" styleName="Темный стиль 2 — акцент 1/акцент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46F890A9-2807-4EBB-B81D-B2AA78EC7F39}" styleName="Темный стиль 2 — акцент 5/акцент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B301B821-A1FF-4177-AEE7-76D212191A09}" styleName="Средний стиль 1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94DA9C-470E-4E67-87F2-35C0C58422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1D967D1-61AE-4EDA-A18F-A08CD9CA34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C1BD7C8-FC0E-4E1E-9C2B-E31DF35CAB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0FF47-8632-4111-8C64-282B99EE7103}" type="datetimeFigureOut">
              <a:rPr lang="ru-RU" smtClean="0"/>
              <a:t>29.04.2025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E3A58DF-6856-4C96-BF60-D11D530369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DE54F8B-1B3A-4310-9242-B424063C9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FCEEE3-204F-46D5-B99B-9C20A7A55F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24978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CCD71D-FAE2-4C40-8830-6F82F4626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A96CF86-91FF-46B3-B8A8-81D982E486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4CBDF67-278B-495A-B98E-A640825D11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0FF47-8632-4111-8C64-282B99EE7103}" type="datetimeFigureOut">
              <a:rPr lang="ru-RU" smtClean="0"/>
              <a:t>29.04.2025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DC8E4F6-5BAB-40ED-8730-028196EDB7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6D1DD29-625E-4BFB-8BB2-A3BBB4250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FCEEE3-204F-46D5-B99B-9C20A7A55F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578723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AAB95D-F644-47A1-BEFA-6ECB605B33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B4DD778-4C80-4932-85F0-5A09081DF2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4C54889-9A9F-44DE-A943-78654DC110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0FF47-8632-4111-8C64-282B99EE7103}" type="datetimeFigureOut">
              <a:rPr lang="ru-RU" smtClean="0"/>
              <a:t>29.04.2025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4A3A060-C60A-4A13-A494-A61291BA0E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C7FFA6D-13D5-45E0-9C6F-64900D863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FCEEE3-204F-46D5-B99B-9C20A7A55F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036775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B5AB27-D25B-4D71-A60A-A9CC5E99CC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1B69E74-C8C9-4AEE-A645-0CD37B071F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2AF5A91-6383-452F-922C-F54C2F7DAE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9074E2D-4399-4E92-84E6-9F0A031FC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0FF47-8632-4111-8C64-282B99EE7103}" type="datetimeFigureOut">
              <a:rPr lang="ru-RU" smtClean="0"/>
              <a:t>29.04.2025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5F321F5-E993-40E5-9E7D-17C676ACA0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31A28FF-FCAB-4FD3-AE42-52CEB2D9E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FCEEE3-204F-46D5-B99B-9C20A7A55F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656871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B8B5FF-11E0-4CB4-9B11-0810C2C40A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783FDF7-0CBD-469D-9D51-4CEB03A968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FD01940-C6F8-4040-BD94-1DB0187B17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AF9E2F89-BA09-4A80-9054-370DC6BC77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49705808-9C44-406E-9371-B30918411E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C08CED2E-6474-425C-8BB4-FB44C9836E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0FF47-8632-4111-8C64-282B99EE7103}" type="datetimeFigureOut">
              <a:rPr lang="ru-RU" smtClean="0"/>
              <a:t>29.04.2025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301629BC-72B9-4B97-B1E9-C8A4CEC44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8718131D-FCFB-44B4-9B28-BAD4A9F5D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FCEEE3-204F-46D5-B99B-9C20A7A55F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85217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8BC3D1-A298-4828-9A42-CC0C237827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BEBEA241-B087-4B0D-A315-857F47837F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0FF47-8632-4111-8C64-282B99EE7103}" type="datetimeFigureOut">
              <a:rPr lang="ru-RU" smtClean="0"/>
              <a:t>29.04.2025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21115781-6874-4398-8E20-A526E1103B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A01D06E-8968-4AE8-B2CF-5E74ECDAB1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FCEEE3-204F-46D5-B99B-9C20A7A55F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25100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BD0F4AAE-5E8D-423C-A6A9-0D9DEB4847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0FF47-8632-4111-8C64-282B99EE7103}" type="datetimeFigureOut">
              <a:rPr lang="ru-RU" smtClean="0"/>
              <a:t>29.04.2025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6D392FCC-1BB4-4EE5-B744-D7D19A546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D6C0E31-AE27-46B7-85C4-260A5FF46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FCEEE3-204F-46D5-B99B-9C20A7A55F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244747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280B2B-0A5D-4EF6-889B-DDB8FAAE9C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20842A1-C89B-41AF-BAA1-1E5E7A7538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B9520F8-A795-4108-89D2-51B819B850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9D78AE0-9D74-41E2-B827-43D556D5EF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0FF47-8632-4111-8C64-282B99EE7103}" type="datetimeFigureOut">
              <a:rPr lang="ru-RU" smtClean="0"/>
              <a:t>29.04.2025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1A0E7B1-D2EC-42E8-ABFC-6F4AAB9ADE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F320881-5C2D-42F1-9AEB-5C1D3BFE5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FCEEE3-204F-46D5-B99B-9C20A7A55F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86954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903B8D-D192-4C4E-B08D-A7D5D842B9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B9BB8382-2406-4B3A-A94D-D435BDD224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1A205B2-ECC4-48F0-86C8-27F1FB8E02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73B6F72-D798-4394-B306-38A950490F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0FF47-8632-4111-8C64-282B99EE7103}" type="datetimeFigureOut">
              <a:rPr lang="ru-RU" smtClean="0"/>
              <a:t>29.04.2025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08980F7-7F51-4468-B35E-08E73CBCE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A2355AB-4BDA-4BF0-A745-FF3E3C405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FCEEE3-204F-46D5-B99B-9C20A7A55F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171225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45C9345-094B-45EE-8312-85439BA71F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6D043D0-3B5C-46BF-8C51-B07C1DBFA9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AF31BCD-4C5C-4BF4-8EE0-1524638BA8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0FF47-8632-4111-8C64-282B99EE7103}" type="datetimeFigureOut">
              <a:rPr lang="ru-RU" smtClean="0"/>
              <a:t>29.04.2025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05F72D3-5B15-4BC2-8AD5-41B1A1059A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2EB37B7-8B57-483D-8787-2893BF327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FCEEE3-204F-46D5-B99B-9C20A7A55F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231047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39C927C3-35C1-4556-9010-3001D508D9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5C7D20E-1BBB-4E29-AD66-FA7ADB55B9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BB268F9-170C-49C7-AA7F-8F288E3BB9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0FF47-8632-4111-8C64-282B99EE7103}" type="datetimeFigureOut">
              <a:rPr lang="ru-RU" smtClean="0"/>
              <a:t>29.04.2025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4AE5DC8-C26E-4A07-B626-B0CC85150F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B3CC181-D4FF-4C48-ABD7-A065EA25D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FCEEE3-204F-46D5-B99B-9C20A7A55F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072862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E776E69-9836-4343-BEB1-86B12ADDCB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FE48E94-9488-4067-B76E-9C9EF563AA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603232A-C1BA-4F30-B4E9-517500E0C6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70FF47-8632-4111-8C64-282B99EE7103}" type="datetimeFigureOut">
              <a:rPr lang="ru-RU" smtClean="0"/>
              <a:t>29.04.2025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0A0C8A3-E951-4DC0-89D7-E58198E957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9176D7B-8886-4C33-BCC8-CEA0281F84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FCEEE3-204F-46D5-B99B-9C20A7A55F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982051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CE2004F-E8B3-4333-B7C6-FFE05E39665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ГЕМБА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A0A581C-AFBD-492C-9FD3-8F5F947F87D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Кириллов Дмитрий и Потанин Илья 14.6-112</a:t>
            </a:r>
          </a:p>
        </p:txBody>
      </p:sp>
    </p:spTree>
    <p:extLst>
      <p:ext uri="{BB962C8B-B14F-4D97-AF65-F5344CB8AC3E}">
        <p14:creationId xmlns:p14="http://schemas.microsoft.com/office/powerpoint/2010/main" val="42031942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19791B-BE1E-4B0C-84B2-5901DBF34C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398016"/>
            <a:ext cx="10353761" cy="668784"/>
          </a:xfrm>
        </p:spPr>
        <p:txBody>
          <a:bodyPr>
            <a:normAutofit/>
          </a:bodyPr>
          <a:lstStyle/>
          <a:p>
            <a:pPr algn="ctr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Геологический музей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8DA3B583-E524-44AE-B251-2707608EEA8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349406" y="1104530"/>
            <a:ext cx="4048217" cy="2697757"/>
          </a:xfrm>
          <a:prstGeom prst="rect">
            <a:avLst/>
          </a:prstGeom>
        </p:spPr>
      </p:pic>
      <p:sp>
        <p:nvSpPr>
          <p:cNvPr id="4" name="Объект 3">
            <a:extLst>
              <a:ext uri="{FF2B5EF4-FFF2-40B4-BE49-F238E27FC236}">
                <a16:creationId xmlns:a16="http://schemas.microsoft.com/office/drawing/2014/main" id="{C43C20FF-630C-49CD-83C1-D8C1366E5A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5999" y="1860163"/>
            <a:ext cx="5094154" cy="3884247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Геологический музей им.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Штукенберга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осуществляет деятельность по сбору, изучению и сохранению горных пород, минералов и гербариев местной природы. В музее мы наблюдали работу одного из ключевых сотрудников музея - Н.И. Афанасьевой, она организует деятельность музея, осуществляет административное управление, ведет научно-просветительскую деятельность, а так же ведет отчетность. 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Основную деятельность Н.И. Афанасьева осуществляет в системе КАМИС.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317CAD1-7CB2-4C67-A836-4FE4F02E84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9406" y="3840017"/>
            <a:ext cx="4048217" cy="2697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75805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F58DF7-3D1D-46C5-8EE3-811FD85CEC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98657"/>
          </a:xfrm>
        </p:spPr>
        <p:txBody>
          <a:bodyPr>
            <a:normAutofit/>
          </a:bodyPr>
          <a:lstStyle/>
          <a:p>
            <a:pPr algn="ctr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Паспорт проекта по улучшению процесса «Регистрация и описание музейных экспонатов в систему КАМИС»</a:t>
            </a:r>
          </a:p>
        </p:txBody>
      </p:sp>
      <p:graphicFrame>
        <p:nvGraphicFramePr>
          <p:cNvPr id="4" name="Таблица 4">
            <a:extLst>
              <a:ext uri="{FF2B5EF4-FFF2-40B4-BE49-F238E27FC236}">
                <a16:creationId xmlns:a16="http://schemas.microsoft.com/office/drawing/2014/main" id="{614309C8-DAF9-4BAA-9BE4-68730C28BA0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54396126"/>
              </p:ext>
            </p:extLst>
          </p:nvPr>
        </p:nvGraphicFramePr>
        <p:xfrm>
          <a:off x="838200" y="1163782"/>
          <a:ext cx="10515600" cy="545530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25436">
                  <a:extLst>
                    <a:ext uri="{9D8B030D-6E8A-4147-A177-3AD203B41FA5}">
                      <a16:colId xmlns:a16="http://schemas.microsoft.com/office/drawing/2014/main" val="1715884046"/>
                    </a:ext>
                  </a:extLst>
                </a:gridCol>
                <a:gridCol w="7890164">
                  <a:extLst>
                    <a:ext uri="{9D8B030D-6E8A-4147-A177-3AD203B41FA5}">
                      <a16:colId xmlns:a16="http://schemas.microsoft.com/office/drawing/2014/main" val="1279001276"/>
                    </a:ext>
                  </a:extLst>
                </a:gridCol>
              </a:tblGrid>
              <a:tr h="557261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Подразделение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Геологический музей им. </a:t>
                      </a:r>
                      <a:r>
                        <a:rPr lang="ru-RU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Штукенберга</a:t>
                      </a:r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0192900"/>
                  </a:ext>
                </a:extLst>
              </a:tr>
              <a:tr h="557261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Результаты проекта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 Улучшение условий работы сотрудника</a:t>
                      </a:r>
                    </a:p>
                    <a:p>
                      <a:pPr algn="just"/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 Повышение работоспособности в 3.3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7389364"/>
                  </a:ext>
                </a:extLst>
              </a:tr>
              <a:tr h="557261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Сроки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24.03.2025 – 05.05.2025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7481650"/>
                  </a:ext>
                </a:extLst>
              </a:tr>
              <a:tr h="557261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Риски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 algn="just">
                        <a:buAutoNum type="arabicPeriod"/>
                      </a:pPr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Низкое финансирование</a:t>
                      </a:r>
                    </a:p>
                    <a:p>
                      <a:pPr marL="342900" indent="-342900" algn="just">
                        <a:buAutoNum type="arabicPeriod"/>
                      </a:pPr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Ограниченные возможности автоматизации работы</a:t>
                      </a:r>
                    </a:p>
                    <a:p>
                      <a:pPr marL="342900" indent="-342900" algn="just">
                        <a:buAutoNum type="arabicPeriod"/>
                      </a:pPr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Недостаточное количество сотрудников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4268386"/>
                  </a:ext>
                </a:extLst>
              </a:tr>
              <a:tr h="557261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Заказчик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Администрация КФУ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7198714"/>
                  </a:ext>
                </a:extLst>
              </a:tr>
              <a:tr h="557261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Куратор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Лукишина</a:t>
                      </a:r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Л.В., Якупов А.Г., </a:t>
                      </a:r>
                      <a:r>
                        <a:rPr lang="ru-RU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Садриев</a:t>
                      </a:r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А.Р.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909555"/>
                  </a:ext>
                </a:extLst>
              </a:tr>
              <a:tr h="557261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Руководитель проекта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Кириллов Д.А.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8356647"/>
                  </a:ext>
                </a:extLst>
              </a:tr>
              <a:tr h="557261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Участник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Потанин И.А.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0104462"/>
                  </a:ext>
                </a:extLst>
              </a:tr>
              <a:tr h="557261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Администратор проекта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Кириллов Д.А., Потанин И.А.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84015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091815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Таблица 7">
            <a:extLst>
              <a:ext uri="{FF2B5EF4-FFF2-40B4-BE49-F238E27FC236}">
                <a16:creationId xmlns:a16="http://schemas.microsoft.com/office/drawing/2014/main" id="{BE550C33-FE6A-4A52-A196-EBCFDBCD50D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35750177"/>
              </p:ext>
            </p:extLst>
          </p:nvPr>
        </p:nvGraphicFramePr>
        <p:xfrm>
          <a:off x="838200" y="571651"/>
          <a:ext cx="10515600" cy="5714698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2306782">
                  <a:extLst>
                    <a:ext uri="{9D8B030D-6E8A-4147-A177-3AD203B41FA5}">
                      <a16:colId xmlns:a16="http://schemas.microsoft.com/office/drawing/2014/main" val="4150896696"/>
                    </a:ext>
                  </a:extLst>
                </a:gridCol>
                <a:gridCol w="8208818">
                  <a:extLst>
                    <a:ext uri="{9D8B030D-6E8A-4147-A177-3AD203B41FA5}">
                      <a16:colId xmlns:a16="http://schemas.microsoft.com/office/drawing/2014/main" val="3158781140"/>
                    </a:ext>
                  </a:extLst>
                </a:gridCol>
              </a:tblGrid>
              <a:tr h="1418368">
                <a:tc>
                  <a:txBody>
                    <a:bodyPr/>
                    <a:lstStyle/>
                    <a:p>
                      <a:pPr algn="ctr"/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Цель проекта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just"/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Оптимизация процесса  «Регистрация и описание музейных экспонатов в систему КАМИС»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2829017"/>
                  </a:ext>
                </a:extLst>
              </a:tr>
              <a:tr h="1418368">
                <a:tc>
                  <a:txBody>
                    <a:bodyPr/>
                    <a:lstStyle/>
                    <a:p>
                      <a:pPr algn="ctr"/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Описание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just"/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Мы будем использовать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следующие инструменты, для достижения цели проекта:  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DMAIC, SIPOC, IDEF0, BPMN, 5 </a:t>
                      </a:r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Почему и 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MUDA.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5673963"/>
                  </a:ext>
                </a:extLst>
              </a:tr>
              <a:tr h="2877962">
                <a:tc>
                  <a:txBody>
                    <a:bodyPr/>
                    <a:lstStyle/>
                    <a:p>
                      <a:pPr algn="ctr"/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Обоснование проекта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На данный момент в Геологическом музее им. </a:t>
                      </a:r>
                      <a:r>
                        <a:rPr lang="ru-RU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Штукенберга</a:t>
                      </a:r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наблюдается неэффективное использование рабочего времени сотрудника, проблемы с эффективным использованием рабочего пространства, недостаток современного оборудования для осуществления успешной и максимально эффективной деятельности.  Заведующая Геологическим музеем, имеющая профильное образование, а так же научную степень в своей сфере, 90% времени выполняет одну функцию, а именно опись коллекций музея и внесение данных экспонатов в систему КАМИС (чем может заниматься лаборант, которого нет), это затрудняет выполнение других задач и функций заведующего музеем.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51445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480359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2D8F3D-DF7F-458E-BF6C-7F8C323485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3130"/>
          </a:xfrm>
        </p:spPr>
        <p:txBody>
          <a:bodyPr>
            <a:normAutofit/>
          </a:bodyPr>
          <a:lstStyle/>
          <a:p>
            <a:pPr algn="ctr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Этапы проекта</a:t>
            </a:r>
          </a:p>
        </p:txBody>
      </p:sp>
      <p:graphicFrame>
        <p:nvGraphicFramePr>
          <p:cNvPr id="12" name="Таблица 12">
            <a:extLst>
              <a:ext uri="{FF2B5EF4-FFF2-40B4-BE49-F238E27FC236}">
                <a16:creationId xmlns:a16="http://schemas.microsoft.com/office/drawing/2014/main" id="{FCAF3F4E-B6ED-4A70-9E98-B671D1C2041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29040355"/>
              </p:ext>
            </p:extLst>
          </p:nvPr>
        </p:nvGraphicFramePr>
        <p:xfrm>
          <a:off x="838200" y="1222075"/>
          <a:ext cx="10515600" cy="498894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27364">
                  <a:extLst>
                    <a:ext uri="{9D8B030D-6E8A-4147-A177-3AD203B41FA5}">
                      <a16:colId xmlns:a16="http://schemas.microsoft.com/office/drawing/2014/main" val="2170466845"/>
                    </a:ext>
                  </a:extLst>
                </a:gridCol>
                <a:gridCol w="9788236">
                  <a:extLst>
                    <a:ext uri="{9D8B030D-6E8A-4147-A177-3AD203B41FA5}">
                      <a16:colId xmlns:a16="http://schemas.microsoft.com/office/drawing/2014/main" val="3903419505"/>
                    </a:ext>
                  </a:extLst>
                </a:gridCol>
              </a:tblGrid>
              <a:tr h="997789">
                <a:tc>
                  <a:txBody>
                    <a:bodyPr/>
                    <a:lstStyle/>
                    <a:p>
                      <a:pPr algn="ctr"/>
                      <a:endParaRPr lang="ru-RU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Изучение должностных инструкций и положения о подразделении, описание деятельности подразделения в табличном виде.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4915607"/>
                  </a:ext>
                </a:extLst>
              </a:tr>
              <a:tr h="997789">
                <a:tc>
                  <a:txBody>
                    <a:bodyPr/>
                    <a:lstStyle/>
                    <a:p>
                      <a:pPr algn="ctr"/>
                      <a:endParaRPr lang="ru-RU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Поход на </a:t>
                      </a:r>
                      <a:r>
                        <a:rPr lang="ru-RU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гемба</a:t>
                      </a:r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наблюдение за процессами, хронометраж времени выполнения операций.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2311530"/>
                  </a:ext>
                </a:extLst>
              </a:tr>
              <a:tr h="997789">
                <a:tc>
                  <a:txBody>
                    <a:bodyPr/>
                    <a:lstStyle/>
                    <a:p>
                      <a:pPr algn="ctr"/>
                      <a:endParaRPr lang="ru-RU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Выбор наиболее проблемных процессов и реализация полного цикла DMAIC (до этапа внедрения).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4826945"/>
                  </a:ext>
                </a:extLst>
              </a:tr>
              <a:tr h="997789">
                <a:tc>
                  <a:txBody>
                    <a:bodyPr/>
                    <a:lstStyle/>
                    <a:p>
                      <a:pPr algn="ctr"/>
                      <a:endParaRPr lang="ru-RU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Подробное моделирование процессов в разных нотациях.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1609990"/>
                  </a:ext>
                </a:extLst>
              </a:tr>
              <a:tr h="997789">
                <a:tc>
                  <a:txBody>
                    <a:bodyPr/>
                    <a:lstStyle/>
                    <a:p>
                      <a:pPr algn="ctr"/>
                      <a:endParaRPr lang="ru-RU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Расчёт экономического эффекта.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8077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67590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E801512-500B-4D93-8EC7-4B691F7DEA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458681"/>
            <a:ext cx="10353761" cy="457200"/>
          </a:xfrm>
        </p:spPr>
        <p:txBody>
          <a:bodyPr>
            <a:normAutofit/>
          </a:bodyPr>
          <a:lstStyle/>
          <a:p>
            <a:pPr algn="ctr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Должностные инструкции</a:t>
            </a:r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AB63A6B5-E40F-49B2-9E0F-8AD3D3BD92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" y="1802167"/>
            <a:ext cx="12192000" cy="2991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30122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5F10FC-3D00-45F5-8DA2-8BC6DC8162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Хоронометраж</a:t>
            </a:r>
            <a:r>
              <a:rPr lang="ru-RU" dirty="0"/>
              <a:t> </a:t>
            </a:r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488541B6-0CCF-4425-B6D3-2EA90E6F0A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09603" y="1690688"/>
            <a:ext cx="9572793" cy="4516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8835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905C23-7F6B-4677-A3E7-C5CD89C15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76984"/>
          </a:xfrm>
        </p:spPr>
        <p:txBody>
          <a:bodyPr>
            <a:normAutofit/>
          </a:bodyPr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DMAIC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Таблица 4">
            <a:extLst>
              <a:ext uri="{FF2B5EF4-FFF2-40B4-BE49-F238E27FC236}">
                <a16:creationId xmlns:a16="http://schemas.microsoft.com/office/drawing/2014/main" id="{7D615F8D-BE08-4C91-B50D-58E82190A8E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76802878"/>
              </p:ext>
            </p:extLst>
          </p:nvPr>
        </p:nvGraphicFramePr>
        <p:xfrm>
          <a:off x="599209" y="1454727"/>
          <a:ext cx="10993582" cy="431430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68236">
                  <a:extLst>
                    <a:ext uri="{9D8B030D-6E8A-4147-A177-3AD203B41FA5}">
                      <a16:colId xmlns:a16="http://schemas.microsoft.com/office/drawing/2014/main" val="2874757952"/>
                    </a:ext>
                  </a:extLst>
                </a:gridCol>
                <a:gridCol w="8825346">
                  <a:extLst>
                    <a:ext uri="{9D8B030D-6E8A-4147-A177-3AD203B41FA5}">
                      <a16:colId xmlns:a16="http://schemas.microsoft.com/office/drawing/2014/main" val="2599174326"/>
                    </a:ext>
                  </a:extLst>
                </a:gridCol>
              </a:tblGrid>
              <a:tr h="883920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Define (</a:t>
                      </a:r>
                      <a:r>
                        <a:rPr lang="ru-RU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определить)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Проблема: процесс учета данных об экспонатах в КАМИС занимает много времени, при этом работник вынужден исправлять чужие ошибки.</a:t>
                      </a:r>
                    </a:p>
                    <a:p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Цель: снижение </a:t>
                      </a:r>
                      <a:r>
                        <a:rPr lang="ru-RU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трудозатратности</a:t>
                      </a:r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повышение удобства и качества учета.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5534048"/>
                  </a:ext>
                </a:extLst>
              </a:tr>
              <a:tr h="748145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Measure</a:t>
                      </a:r>
                      <a:r>
                        <a:rPr lang="ru-RU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(измерить)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Среднее время записи одного экспоната в КАМИС - 45 минут.</a:t>
                      </a:r>
                    </a:p>
                    <a:p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Количество регистрируемых экспонатов за 1 рабочий день (9 часов) – 9.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5370819"/>
                  </a:ext>
                </a:extLst>
              </a:tr>
              <a:tr h="883920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Analyze</a:t>
                      </a:r>
                      <a:r>
                        <a:rPr lang="ru-RU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(анализировать)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Причины проблем: нехватка персонала, отсутствие финансирования (нехватка требуемого оборудования).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2311651"/>
                  </a:ext>
                </a:extLst>
              </a:tr>
              <a:tr h="883920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</a:t>
                      </a:r>
                      <a:r>
                        <a:rPr lang="ru-RU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(улучшить)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Решение: повышение финансирования, улучшение рабочих условий, привлечение активных и компетентных сотрудников.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4999151"/>
                  </a:ext>
                </a:extLst>
              </a:tr>
              <a:tr h="883920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Control</a:t>
                      </a:r>
                      <a:r>
                        <a:rPr lang="ru-RU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(контролировать)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Контроль и ведение отчетность по проделанной работе, эквивалентной затраченному бюджету. 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KPI </a:t>
                      </a:r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сотрудников музея после внедрения изменений.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3698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559229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4715DFC-10C4-44F6-A139-F6ADCA627C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6"/>
            <a:ext cx="10522527" cy="535420"/>
          </a:xfrm>
        </p:spPr>
        <p:txBody>
          <a:bodyPr>
            <a:normAutofit/>
          </a:bodyPr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SIPOC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F3BA537C-B496-410B-A6A7-FE3055BC96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38338" y="1108364"/>
            <a:ext cx="8915324" cy="5276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59879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C6E481-4779-4B03-9BF0-1B47DADBA8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38916"/>
          </a:xfrm>
        </p:spPr>
        <p:txBody>
          <a:bodyPr>
            <a:normAutofit/>
          </a:bodyPr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IDEF0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0353E432-A1AD-438D-A9C1-9E818F88FE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79107" y="954195"/>
            <a:ext cx="9033785" cy="5373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29318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C8B2B0-264B-4E20-9D31-405F85218E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31520"/>
          </a:xfrm>
        </p:spPr>
        <p:txBody>
          <a:bodyPr>
            <a:normAutofit/>
          </a:bodyPr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BPMN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6745E4DD-D707-4D0B-B17B-0755CDB69B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249115"/>
            <a:ext cx="10515600" cy="5019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96210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46E640-7E34-4C61-9C30-5678FFC77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78254"/>
          </a:xfrm>
        </p:spPr>
        <p:txBody>
          <a:bodyPr>
            <a:normAutofit/>
          </a:bodyPr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Почему</a:t>
            </a:r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0A9A62DC-5DBC-4DFF-87D1-EC21846364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12952" y="1030288"/>
            <a:ext cx="6882009" cy="5146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83966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641B0E-9F28-4645-A065-DC967F5E96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33509"/>
          </a:xfrm>
        </p:spPr>
        <p:txBody>
          <a:bodyPr>
            <a:normAutofit/>
          </a:bodyPr>
          <a:lstStyle/>
          <a:p>
            <a:pPr algn="ctr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Выявление потерь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MUDA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Объект 9">
            <a:extLst>
              <a:ext uri="{FF2B5EF4-FFF2-40B4-BE49-F238E27FC236}">
                <a16:creationId xmlns:a16="http://schemas.microsoft.com/office/drawing/2014/main" id="{5E737F7F-2479-40B4-9AFA-646AC93654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85246" y="2302994"/>
            <a:ext cx="1820616" cy="1857273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01B2A2B2-7C6D-4CFE-BBBD-DE3700AE8A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3749" y="2315184"/>
            <a:ext cx="1833308" cy="1857273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DE7E5C95-813D-4F6B-A9F5-A8AE6B3393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4944" y="2315184"/>
            <a:ext cx="2003914" cy="1845083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93A0281B-6931-4531-8761-908FD640BF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6837" y="2301288"/>
            <a:ext cx="2176963" cy="1858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95754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397042-B5C5-42AE-8324-200992AF6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16024"/>
          </a:xfrm>
        </p:spPr>
        <p:txBody>
          <a:bodyPr>
            <a:normAutofit/>
          </a:bodyPr>
          <a:lstStyle/>
          <a:p>
            <a:pPr algn="ctr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Расчеты экономической эффективности с учетом предложенных улучшений</a:t>
            </a:r>
          </a:p>
        </p:txBody>
      </p:sp>
      <p:graphicFrame>
        <p:nvGraphicFramePr>
          <p:cNvPr id="8" name="Таблица 8">
            <a:extLst>
              <a:ext uri="{FF2B5EF4-FFF2-40B4-BE49-F238E27FC236}">
                <a16:creationId xmlns:a16="http://schemas.microsoft.com/office/drawing/2014/main" id="{0483F0BD-B300-495F-92BC-44BD6EBD16F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21152848"/>
              </p:ext>
            </p:extLst>
          </p:nvPr>
        </p:nvGraphicFramePr>
        <p:xfrm>
          <a:off x="838200" y="881150"/>
          <a:ext cx="10515600" cy="588023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53887">
                  <a:extLst>
                    <a:ext uri="{9D8B030D-6E8A-4147-A177-3AD203B41FA5}">
                      <a16:colId xmlns:a16="http://schemas.microsoft.com/office/drawing/2014/main" val="4147399024"/>
                    </a:ext>
                  </a:extLst>
                </a:gridCol>
                <a:gridCol w="2903913">
                  <a:extLst>
                    <a:ext uri="{9D8B030D-6E8A-4147-A177-3AD203B41FA5}">
                      <a16:colId xmlns:a16="http://schemas.microsoft.com/office/drawing/2014/main" val="3106082490"/>
                    </a:ext>
                  </a:extLst>
                </a:gridCol>
                <a:gridCol w="2869096">
                  <a:extLst>
                    <a:ext uri="{9D8B030D-6E8A-4147-A177-3AD203B41FA5}">
                      <a16:colId xmlns:a16="http://schemas.microsoft.com/office/drawing/2014/main" val="2954546340"/>
                    </a:ext>
                  </a:extLst>
                </a:gridCol>
                <a:gridCol w="2388704">
                  <a:extLst>
                    <a:ext uri="{9D8B030D-6E8A-4147-A177-3AD203B41FA5}">
                      <a16:colId xmlns:a16="http://schemas.microsoft.com/office/drawing/2014/main" val="3563567911"/>
                    </a:ext>
                  </a:extLst>
                </a:gridCol>
              </a:tblGrid>
              <a:tr h="517445">
                <a:tc>
                  <a:txBody>
                    <a:bodyPr/>
                    <a:lstStyle/>
                    <a:p>
                      <a:pPr algn="ctr"/>
                      <a:r>
                        <a:rPr lang="ru-RU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Показатели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До улучшений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После улучшений (лаборант + оборудование)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Разница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4944601"/>
                  </a:ext>
                </a:extLst>
              </a:tr>
              <a:tr h="804508">
                <a:tc>
                  <a:txBody>
                    <a:bodyPr/>
                    <a:lstStyle/>
                    <a:p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Реальный объем работы (рабочий день)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9 экспонатов (1242 руб.)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 экспонатов (1650 руб.)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 экспонат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027265"/>
                  </a:ext>
                </a:extLst>
              </a:tr>
              <a:tr h="804508">
                <a:tc>
                  <a:txBody>
                    <a:bodyPr/>
                    <a:lstStyle/>
                    <a:p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Требуемый объем работы (рабочий день)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 экспонатов  (1660 руб.)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 экспонатов  (1660 руб.)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экспонатов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0476802"/>
                  </a:ext>
                </a:extLst>
              </a:tr>
              <a:tr h="563156">
                <a:tc>
                  <a:txBody>
                    <a:bodyPr/>
                    <a:lstStyle/>
                    <a:p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Среднее время на 1 экспонат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45 минут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 минут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27 минут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3052403"/>
                  </a:ext>
                </a:extLst>
              </a:tr>
              <a:tr h="804508">
                <a:tc>
                  <a:txBody>
                    <a:bodyPr/>
                    <a:lstStyle/>
                    <a:p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Среднее время требуемое на 1 экспонат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27 минут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27 минут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минут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4969137"/>
                  </a:ext>
                </a:extLst>
              </a:tr>
              <a:tr h="393834">
                <a:tc gridSpan="4">
                  <a:txBody>
                    <a:bodyPr/>
                    <a:lstStyle/>
                    <a:p>
                      <a:pPr algn="ctr"/>
                      <a:r>
                        <a:rPr lang="ru-RU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Пояснение 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1869945"/>
                  </a:ext>
                </a:extLst>
              </a:tr>
              <a:tr h="1034890">
                <a:tc gridSpan="4">
                  <a:txBody>
                    <a:bodyPr/>
                    <a:lstStyle/>
                    <a:p>
                      <a:pPr algn="just"/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образец - 138р (рабочий час - 185р, 1 образец - 45мин)</a:t>
                      </a:r>
                    </a:p>
                    <a:p>
                      <a:pPr algn="just"/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При требуемом объеме работы (20 образцов за 1 рабочий день) - 1 образец = 83р</a:t>
                      </a:r>
                    </a:p>
                    <a:p>
                      <a:pPr algn="just"/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 учетом предложенных изменений работоспособность повышается до 30 образцов за 1 рабочий день (18 минут на 1 образец - 55р)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46649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71931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BA62E2-260C-470C-BF8D-D5FB8BCDBC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18286"/>
          </a:xfrm>
        </p:spPr>
        <p:txBody>
          <a:bodyPr>
            <a:normAutofit/>
          </a:bodyPr>
          <a:lstStyle/>
          <a:p>
            <a:pPr algn="ctr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Рабочее место по 5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99386614-C259-40EC-9184-19F412C425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2310" y="1368845"/>
            <a:ext cx="3137442" cy="4183257"/>
          </a:xfrm>
          <a:prstGeom prst="rect">
            <a:avLst/>
          </a:prstGeom>
        </p:spPr>
      </p:pic>
      <p:sp>
        <p:nvSpPr>
          <p:cNvPr id="12" name="Стрелка: вправо 11">
            <a:extLst>
              <a:ext uri="{FF2B5EF4-FFF2-40B4-BE49-F238E27FC236}">
                <a16:creationId xmlns:a16="http://schemas.microsoft.com/office/drawing/2014/main" id="{CF7079FB-553F-432C-8472-B2A80C5A874D}"/>
              </a:ext>
            </a:extLst>
          </p:cNvPr>
          <p:cNvSpPr/>
          <p:nvPr/>
        </p:nvSpPr>
        <p:spPr>
          <a:xfrm>
            <a:off x="3541903" y="3267254"/>
            <a:ext cx="1017917" cy="323491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7E745D8E-4D83-4BF6-A731-956EA52D96C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7351" t="24655" r="25961" b="25786"/>
          <a:stretch/>
        </p:blipFill>
        <p:spPr>
          <a:xfrm>
            <a:off x="4601971" y="1368845"/>
            <a:ext cx="3137443" cy="4183257"/>
          </a:xfrm>
          <a:prstGeom prst="rect">
            <a:avLst/>
          </a:prstGeom>
        </p:spPr>
      </p:pic>
      <p:sp>
        <p:nvSpPr>
          <p:cNvPr id="15" name="Стрелка: вправо 14">
            <a:extLst>
              <a:ext uri="{FF2B5EF4-FFF2-40B4-BE49-F238E27FC236}">
                <a16:creationId xmlns:a16="http://schemas.microsoft.com/office/drawing/2014/main" id="{F1A8C586-0410-4E5A-9081-46D9DEF3BA31}"/>
              </a:ext>
            </a:extLst>
          </p:cNvPr>
          <p:cNvSpPr/>
          <p:nvPr/>
        </p:nvSpPr>
        <p:spPr>
          <a:xfrm>
            <a:off x="7781565" y="3267254"/>
            <a:ext cx="971304" cy="323490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6A5465D9-FD88-47AD-8DEC-3043F100E8F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0369" t="25578" r="12440" b="29394"/>
          <a:stretch/>
        </p:blipFill>
        <p:spPr>
          <a:xfrm>
            <a:off x="8841633" y="1371000"/>
            <a:ext cx="3137443" cy="4181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46484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A0945B-6A73-490C-A1DB-D9EE57243E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97516"/>
          </a:xfrm>
        </p:spPr>
        <p:txBody>
          <a:bodyPr>
            <a:normAutofit/>
          </a:bodyPr>
          <a:lstStyle/>
          <a:p>
            <a:pPr algn="ctr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Выводы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67449D2-3A2E-45C5-A8C7-2D20F269E9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498107"/>
            <a:ext cx="5257800" cy="386178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Были выявлены неточности в данных, в следствии чего появляется необходимость в уточнении их достоверности. </a:t>
            </a:r>
          </a:p>
          <a:p>
            <a:pPr marL="0" indent="0">
              <a:buNone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Физически тяжелая работа (сотрудник вынужден таскать тяжелый рабочий материал с учетом преклонного возраста).</a:t>
            </a:r>
          </a:p>
          <a:p>
            <a:pPr marL="0" indent="0">
              <a:buNone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Жесткие дедлайны (без предложенных нами улучшений не получится их соблюдать).</a:t>
            </a:r>
          </a:p>
          <a:p>
            <a:pPr marL="0" indent="0">
              <a:buNone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Отсутствие научных сотрудников (лаборантов-помощников) по причине низкой заработной платы и отсутствия карьерной лестницы.</a:t>
            </a:r>
          </a:p>
          <a:p>
            <a:pPr marL="0" indent="0">
              <a:buNone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Отсутствие нужного оборудование и условий его использования на рабочем месте.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6A4323B2-DA02-47D7-858A-1A15D729535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2"/>
          <a:srcRect l="23611" t="19897" r="20880" b="28558"/>
          <a:stretch/>
        </p:blipFill>
        <p:spPr>
          <a:xfrm>
            <a:off x="7255498" y="1197800"/>
            <a:ext cx="3847382" cy="4763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94187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A6E25E-3D3A-4BD2-9354-833794B105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96009"/>
          </a:xfrm>
        </p:spPr>
        <p:txBody>
          <a:bodyPr>
            <a:normAutofit/>
          </a:bodyPr>
          <a:lstStyle/>
          <a:p>
            <a:pPr algn="ctr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Предложения по улучшению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3F7EEE-33F3-4C55-8DDB-211C27C2FB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0528"/>
            <a:ext cx="10515600" cy="4836435"/>
          </a:xfrm>
        </p:spPr>
        <p:txBody>
          <a:bodyPr>
            <a:normAutofit/>
          </a:bodyPr>
          <a:lstStyle/>
          <a:p>
            <a:pPr marL="342900" indent="-342900">
              <a:buAutoNum type="arabicPeriod"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Увеличение финансирования.</a:t>
            </a:r>
          </a:p>
          <a:p>
            <a:pPr marL="342900" indent="-342900">
              <a:buAutoNum type="arabicPeriod"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Привлечение студентов профильных направлений для выполнения низкоквалифицированных задач.</a:t>
            </a:r>
          </a:p>
          <a:p>
            <a:pPr marL="342900" indent="-342900">
              <a:buAutoNum type="arabicPeriod"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Улучшение рабочих условий, путем перестановки рабочего места и покупки нужного оборудования.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46DC07C-2DBB-4B4D-96DE-8D9CE3A3D5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151572"/>
            <a:ext cx="12191999" cy="2152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628134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325</TotalTime>
  <Words>755</Words>
  <Application>Microsoft Office PowerPoint</Application>
  <PresentationFormat>Широкоэкранный</PresentationFormat>
  <Paragraphs>110</Paragraphs>
  <Slides>17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2" baseType="lpstr">
      <vt:lpstr>Arial</vt:lpstr>
      <vt:lpstr>Calibri</vt:lpstr>
      <vt:lpstr>Calibri Light</vt:lpstr>
      <vt:lpstr>Times New Roman</vt:lpstr>
      <vt:lpstr>Тема Office</vt:lpstr>
      <vt:lpstr>ГЕМБА</vt:lpstr>
      <vt:lpstr>Геологический музей</vt:lpstr>
      <vt:lpstr>Паспорт проекта по улучшению процесса «Регистрация и описание музейных экспонатов в систему КАМИС»</vt:lpstr>
      <vt:lpstr>Презентация PowerPoint</vt:lpstr>
      <vt:lpstr>Этапы проекта</vt:lpstr>
      <vt:lpstr>Должностные инструкции</vt:lpstr>
      <vt:lpstr>Хоронометраж </vt:lpstr>
      <vt:lpstr>DMAIC</vt:lpstr>
      <vt:lpstr>SIPOC</vt:lpstr>
      <vt:lpstr>IDEF0</vt:lpstr>
      <vt:lpstr>BPMN</vt:lpstr>
      <vt:lpstr>5 Почему</vt:lpstr>
      <vt:lpstr>Выявление потерь MUDA</vt:lpstr>
      <vt:lpstr>Расчеты экономической эффективности с учетом предложенных улучшений</vt:lpstr>
      <vt:lpstr>Рабочее место по 5S</vt:lpstr>
      <vt:lpstr>Выводы</vt:lpstr>
      <vt:lpstr>Предложения по улучшению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ГЕМБА</dc:title>
  <dc:creator>Дмитрий Кириллов</dc:creator>
  <cp:lastModifiedBy>Дмитрий Кириллов</cp:lastModifiedBy>
  <cp:revision>5</cp:revision>
  <dcterms:created xsi:type="dcterms:W3CDTF">2025-04-28T17:16:44Z</dcterms:created>
  <dcterms:modified xsi:type="dcterms:W3CDTF">2025-04-29T15:10:45Z</dcterms:modified>
</cp:coreProperties>
</file>