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1" r:id="rId6"/>
    <p:sldId id="27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72" r:id="rId15"/>
    <p:sldId id="280" r:id="rId16"/>
    <p:sldId id="281" r:id="rId17"/>
    <p:sldId id="282" r:id="rId18"/>
    <p:sldId id="286" r:id="rId19"/>
    <p:sldId id="283" r:id="rId20"/>
    <p:sldId id="285" r:id="rId21"/>
    <p:sldId id="287" r:id="rId22"/>
    <p:sldId id="288" r:id="rId23"/>
    <p:sldId id="289" r:id="rId24"/>
    <p:sldId id="290" r:id="rId25"/>
    <p:sldId id="270" r:id="rId26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429" autoAdjust="0"/>
  </p:normalViewPr>
  <p:slideViewPr>
    <p:cSldViewPr showGuides="1">
      <p:cViewPr varScale="1">
        <p:scale>
          <a:sx n="119" d="100"/>
          <a:sy n="119" d="100"/>
        </p:scale>
        <p:origin x="1374" y="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1BDCD-EBE6-4678-8413-13BFAA387E1D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Добрый день, уважаемый Дмитри</a:t>
            </a:r>
            <a:r>
              <a:rPr lang="ru-RU" baseline="0" dirty="0"/>
              <a:t>й Альбертович</a:t>
            </a:r>
            <a:r>
              <a:rPr lang="ru-RU" dirty="0"/>
              <a:t>! Добрый день, коллеги.</a:t>
            </a:r>
            <a:endParaRPr lang="ru-RU" dirty="0"/>
          </a:p>
          <a:p>
            <a:r>
              <a:rPr lang="ru-RU" dirty="0"/>
              <a:t>Согласно поручению</a:t>
            </a:r>
            <a:r>
              <a:rPr lang="ru-RU" baseline="0" dirty="0"/>
              <a:t> ректора по рекомендациям по использованию фирменного стиля, мы разослали всем руководителям подразделений письмо с просьбой предоставить нам обратную связь в виде предложений по изменению и корректировкам связанными с использованием фирменного стиля в презентациях.</a:t>
            </a:r>
            <a:endParaRPr lang="ru-RU" baseline="0" dirty="0"/>
          </a:p>
          <a:p>
            <a:r>
              <a:rPr lang="ru-RU" baseline="0" dirty="0"/>
              <a:t>Все полученные рекомендации мы разбили на три категории:</a:t>
            </a:r>
            <a:endParaRPr lang="ru-RU" baseline="0" dirty="0"/>
          </a:p>
          <a:p>
            <a:pPr marL="228600" indent="-228600">
              <a:buAutoNum type="arabicParenR"/>
            </a:pPr>
            <a:r>
              <a:rPr lang="ru-RU" baseline="0" dirty="0"/>
              <a:t>Предложения по оформлению презентации;</a:t>
            </a:r>
            <a:endParaRPr lang="ru-RU" baseline="0" dirty="0"/>
          </a:p>
          <a:p>
            <a:pPr marL="228600" indent="-228600">
              <a:buAutoNum type="arabicParenR"/>
            </a:pPr>
            <a:r>
              <a:rPr lang="ru-RU" baseline="0" dirty="0"/>
              <a:t>Предложения по внедрению новых единых стилеобразующих элементов;</a:t>
            </a:r>
            <a:endParaRPr lang="ru-RU" baseline="0" dirty="0"/>
          </a:p>
          <a:p>
            <a:pPr marL="228600" indent="-228600">
              <a:buAutoNum type="arabicParenR"/>
            </a:pPr>
            <a:r>
              <a:rPr lang="ru-RU" baseline="0" dirty="0"/>
              <a:t>Предложения по структуре презентаций.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Основной просьбой со стороны подразделений было увеличить пространство презентации. Нам тоже показалось логичным и правильным, за счет уменьшения ширины корешка увеличить пространство для контента.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>
            <a:fillRect/>
          </a:stretch>
        </p:blipFill>
        <p:spPr bwMode="auto">
          <a:xfrm>
            <a:off x="0" y="1786"/>
            <a:ext cx="9144000" cy="514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476038" y="3796336"/>
            <a:ext cx="633670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rgbClr val="000000"/>
              </a:buClr>
              <a:buSzPts val="1100"/>
            </a:pPr>
            <a:r>
              <a:rPr lang="en-US" altLang="en-US" b="1">
                <a:solidFill>
                  <a:schemeClr val="bg1"/>
                </a:solidFill>
                <a:sym typeface="+mn-ea"/>
              </a:rPr>
              <a:t>Музей</a:t>
            </a:r>
            <a:r>
              <a:rPr lang="en-US" altLang="ru-RU" b="1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истории</a:t>
            </a:r>
            <a:r>
              <a:rPr lang="en-US" altLang="ru-RU" b="1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Казанского</a:t>
            </a:r>
            <a:r>
              <a:rPr lang="en-US" altLang="ru-RU" b="1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Федерального</a:t>
            </a:r>
            <a:r>
              <a:rPr lang="en-US" altLang="ru-RU" b="1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Университета</a:t>
            </a:r>
            <a:endParaRPr lang="en-US" altLang="en-US" b="1">
              <a:solidFill>
                <a:schemeClr val="bg1"/>
              </a:solidFill>
              <a:sym typeface="+mn-ea"/>
            </a:endParaRPr>
          </a:p>
          <a:p>
            <a:pPr lvl="0" algn="ctr">
              <a:buClr>
                <a:srgbClr val="000000"/>
              </a:buClr>
              <a:buSzPts val="1100"/>
            </a:pPr>
            <a:endParaRPr lang="en-US" altLang="en-US" b="1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H="1">
            <a:off x="2339753" y="2058086"/>
            <a:ext cx="446449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390" y="483518"/>
            <a:ext cx="2749221" cy="1124935"/>
          </a:xfrm>
          <a:prstGeom prst="rect">
            <a:avLst/>
          </a:prstGeom>
        </p:spPr>
      </p:pic>
      <p:sp>
        <p:nvSpPr>
          <p:cNvPr id="2" name="TextBox 5"/>
          <p:cNvSpPr txBox="1"/>
          <p:nvPr/>
        </p:nvSpPr>
        <p:spPr>
          <a:xfrm>
            <a:off x="1403648" y="2443786"/>
            <a:ext cx="6336704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>
                <a:srgbClr val="000000"/>
              </a:buClr>
              <a:buSzPts val="1100"/>
            </a:pPr>
            <a:r>
              <a:rPr lang="en-US" altLang="en-US" sz="32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Дисциплина</a:t>
            </a:r>
            <a:r>
              <a:rPr lang="en-US" altLang="ru-RU" sz="32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: </a:t>
            </a:r>
            <a:r>
              <a:rPr lang="en-US" altLang="en-US" sz="32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«</a:t>
            </a:r>
            <a:r>
              <a:rPr lang="en-US" altLang="en-US" sz="32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Анализ</a:t>
            </a:r>
            <a:r>
              <a:rPr lang="en-US" altLang="ru-RU" sz="32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32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32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32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моделирование</a:t>
            </a:r>
            <a:r>
              <a:rPr lang="en-US" altLang="ru-RU" sz="32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32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процессов</a:t>
            </a:r>
            <a:r>
              <a:rPr lang="en-US" altLang="en-US" sz="32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»</a:t>
            </a:r>
            <a:endParaRPr lang="en-US" altLang="en-US" sz="3200" b="1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" y="824927"/>
            <a:ext cx="3347865" cy="76925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491722" y="843623"/>
            <a:ext cx="5256584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>
                <a:sym typeface="+mn-ea"/>
              </a:rPr>
              <a:t>«Оптимизация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процессов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оцифровки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проведения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экскурсий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в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музее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университета»</a:t>
            </a:r>
            <a:endParaRPr lang="ru-RU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91723" y="4084072"/>
            <a:ext cx="533446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1400">
                <a:sym typeface="+mn-ea"/>
              </a:rPr>
              <a:t>Подготовила Янакогло Валерия </a:t>
            </a:r>
            <a:endParaRPr lang="ru-RU" altLang="en-US" sz="1400"/>
          </a:p>
          <a:p>
            <a:r>
              <a:rPr lang="ru-RU" altLang="en-US" sz="1400">
                <a:sym typeface="+mn-ea"/>
              </a:rPr>
              <a:t>группа 14.6-112</a:t>
            </a:r>
            <a:endParaRPr lang="ru-RU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endParaRPr lang="ru-RU" sz="1200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059582"/>
            <a:ext cx="1728192" cy="3304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Общее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описание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подразделения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выбранного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процесса</a:t>
            </a:r>
            <a:endParaRPr lang="en-US" altLang="en-US" sz="1400" b="1" dirty="0">
              <a:solidFill>
                <a:schemeClr val="tx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115874" y="843796"/>
            <a:ext cx="8316416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0" algn="l">
              <a:buNone/>
              <a:defRPr/>
            </a:pPr>
            <a:r>
              <a:rPr lang="en-US" altLang="en-US" sz="1600" b="1" dirty="0">
                <a:latin typeface="Calibri" panose="020F0502020204030204" charset="0"/>
                <a:cs typeface="Calibri" panose="020F0502020204030204" charset="0"/>
              </a:rPr>
              <a:t>Подразделение</a:t>
            </a:r>
            <a:r>
              <a:rPr lang="en-US" altLang="ru-RU" sz="1600" b="1" dirty="0">
                <a:latin typeface="Calibri" panose="020F0502020204030204" charset="0"/>
                <a:cs typeface="Calibri" panose="020F0502020204030204" charset="0"/>
              </a:rPr>
              <a:t>: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Музей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истории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университета</a:t>
            </a:r>
            <a:endParaRPr lang="en-US" altLang="en-US" sz="1600" dirty="0">
              <a:latin typeface="Calibri" panose="020F0502020204030204" charset="0"/>
              <a:cs typeface="Calibri" panose="020F0502020204030204" charset="0"/>
            </a:endParaRPr>
          </a:p>
          <a:p>
            <a:pPr marL="228600" lvl="0" indent="-228600" algn="l">
              <a:buAutoNum type="arabicPeriod"/>
              <a:defRPr/>
            </a:pPr>
            <a:endParaRPr lang="en-US" altLang="ru-RU" sz="1600" dirty="0">
              <a:latin typeface="Calibri" panose="020F0502020204030204" charset="0"/>
              <a:cs typeface="Calibri" panose="020F0502020204030204" charset="0"/>
            </a:endParaRPr>
          </a:p>
          <a:p>
            <a:pPr lvl="0" indent="0" algn="l">
              <a:buNone/>
              <a:defRPr/>
            </a:pPr>
            <a:r>
              <a:rPr lang="en-US" altLang="en-US" sz="1600" b="1" dirty="0">
                <a:latin typeface="Calibri" panose="020F0502020204030204" charset="0"/>
                <a:cs typeface="Calibri" panose="020F0502020204030204" charset="0"/>
              </a:rPr>
              <a:t>Штат</a:t>
            </a:r>
            <a:r>
              <a:rPr lang="en-US" altLang="ru-RU" sz="1600" b="1" dirty="0">
                <a:latin typeface="Calibri" panose="020F0502020204030204" charset="0"/>
                <a:cs typeface="Calibri" panose="020F0502020204030204" charset="0"/>
              </a:rPr>
              <a:t>: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лаборант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-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экскурсовод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(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работает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на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0.5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ставки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— 6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часов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/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день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).</a:t>
            </a:r>
            <a:endParaRPr lang="en-US" altLang="ru-RU" sz="1600" dirty="0">
              <a:latin typeface="Calibri" panose="020F0502020204030204" charset="0"/>
              <a:cs typeface="Calibri" panose="020F0502020204030204" charset="0"/>
            </a:endParaRPr>
          </a:p>
          <a:p>
            <a:pPr marL="228600" lvl="0" indent="-228600" algn="l">
              <a:buAutoNum type="arabicPeriod"/>
              <a:defRPr/>
            </a:pPr>
            <a:endParaRPr lang="en-US" altLang="ru-RU" sz="1600" dirty="0">
              <a:latin typeface="Calibri" panose="020F0502020204030204" charset="0"/>
              <a:cs typeface="Calibri" panose="020F0502020204030204" charset="0"/>
            </a:endParaRPr>
          </a:p>
          <a:p>
            <a:pPr lvl="0" indent="0" algn="l">
              <a:buNone/>
              <a:defRPr/>
            </a:pPr>
            <a:r>
              <a:rPr lang="en-US" altLang="en-US" sz="1600" b="1" dirty="0">
                <a:latin typeface="Calibri" panose="020F0502020204030204" charset="0"/>
                <a:cs typeface="Calibri" panose="020F0502020204030204" charset="0"/>
              </a:rPr>
              <a:t>Проблемы</a:t>
            </a:r>
            <a:r>
              <a:rPr lang="en-US" altLang="ru-RU" sz="1600" b="1" dirty="0">
                <a:latin typeface="Calibri" panose="020F0502020204030204" charset="0"/>
                <a:cs typeface="Calibri" panose="020F0502020204030204" charset="0"/>
              </a:rPr>
              <a:t>:</a:t>
            </a:r>
            <a:endParaRPr lang="en-US" altLang="ru-RU" sz="1600" dirty="0">
              <a:latin typeface="Calibri" panose="020F0502020204030204" charset="0"/>
              <a:cs typeface="Calibri" panose="020F0502020204030204" charset="0"/>
            </a:endParaRPr>
          </a:p>
          <a:p>
            <a:pPr marL="228600" lvl="0" indent="-228600" algn="l">
              <a:buAutoNum type="arabicPeriod"/>
              <a:defRPr/>
            </a:pPr>
            <a:endParaRPr lang="en-US" altLang="ru-RU" sz="1600" dirty="0">
              <a:latin typeface="Calibri" panose="020F0502020204030204" charset="0"/>
              <a:cs typeface="Calibri" panose="020F0502020204030204" charset="0"/>
            </a:endParaRPr>
          </a:p>
          <a:p>
            <a:pPr lvl="0" indent="0" algn="l">
              <a:buNone/>
              <a:defRPr/>
            </a:pP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30%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карточек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заполняются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с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ошибками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→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переделки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(+10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мин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/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шт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.).</a:t>
            </a:r>
            <a:endParaRPr lang="en-US" altLang="ru-RU" sz="1600" dirty="0">
              <a:latin typeface="Calibri" panose="020F0502020204030204" charset="0"/>
              <a:cs typeface="Calibri" panose="020F0502020204030204" charset="0"/>
            </a:endParaRPr>
          </a:p>
          <a:p>
            <a:pPr marL="228600" lvl="0" indent="-228600" algn="l">
              <a:buAutoNum type="arabicPeriod"/>
              <a:defRPr/>
            </a:pPr>
            <a:endParaRPr lang="en-US" altLang="ru-RU" sz="1600" dirty="0">
              <a:latin typeface="Calibri" panose="020F0502020204030204" charset="0"/>
              <a:cs typeface="Calibri" panose="020F0502020204030204" charset="0"/>
            </a:endParaRPr>
          </a:p>
          <a:p>
            <a:pPr lvl="0" indent="0" algn="l">
              <a:buNone/>
              <a:defRPr/>
            </a:pPr>
            <a:r>
              <a:rPr lang="en-US" altLang="en-US" sz="1600" b="1" dirty="0">
                <a:latin typeface="Calibri" panose="020F0502020204030204" charset="0"/>
                <a:cs typeface="Calibri" panose="020F0502020204030204" charset="0"/>
              </a:rPr>
              <a:t>Цель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: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Снизить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потери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времени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dirty="0">
                <a:latin typeface="Calibri" panose="020F0502020204030204" charset="0"/>
                <a:cs typeface="Calibri" panose="020F0502020204030204" charset="0"/>
              </a:rPr>
              <a:t>на</a:t>
            </a:r>
            <a:r>
              <a:rPr lang="en-US" altLang="ru-RU" sz="1600" dirty="0">
                <a:latin typeface="Calibri" panose="020F0502020204030204" charset="0"/>
                <a:cs typeface="Calibri" panose="020F0502020204030204" charset="0"/>
              </a:rPr>
              <a:t> 50% </a:t>
            </a:r>
            <a:endParaRPr lang="en-US" altLang="ru-RU" sz="16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Должностная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инструкция</a:t>
            </a:r>
            <a:endParaRPr lang="en-US" altLang="en-US" sz="1400" b="1" dirty="0">
              <a:solidFill>
                <a:schemeClr val="tx2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400" b="1" dirty="0">
              <a:solidFill>
                <a:schemeClr val="tx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1317625"/>
            <a:ext cx="8298180" cy="2526030"/>
          </a:xfrm>
          <a:prstGeom prst="rect">
            <a:avLst/>
          </a:prstGeom>
        </p:spPr>
      </p:pic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1090295"/>
            <a:ext cx="8294370" cy="2457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828343" y="39"/>
            <a:ext cx="734481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solidFill>
                  <a:schemeClr val="tx2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+mn-ea"/>
              </a:rPr>
              <a:t>Деятельность </a:t>
            </a:r>
            <a:r>
              <a:rPr lang="ru-RU" sz="1400" b="1">
                <a:solidFill>
                  <a:schemeClr val="tx2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+mn-ea"/>
              </a:rPr>
              <a:t>лаборанта</a:t>
            </a:r>
            <a:endParaRPr lang="ru-RU" altLang="ru-RU" sz="1400" b="1" dirty="0">
              <a:solidFill>
                <a:schemeClr val="tx2"/>
              </a:solidFill>
              <a:latin typeface="Calibri" panose="020F0502020204030204" charset="0"/>
              <a:ea typeface="Montserrat"/>
              <a:cs typeface="Calibri" panose="020F0502020204030204" charset="0"/>
              <a:sym typeface="+mn-ea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12" name="Таблица 11"/>
          <p:cNvGraphicFramePr/>
          <p:nvPr>
            <p:custDataLst>
              <p:tags r:id="rId5"/>
            </p:custDataLst>
          </p:nvPr>
        </p:nvGraphicFramePr>
        <p:xfrm>
          <a:off x="1115695" y="339090"/>
          <a:ext cx="7560945" cy="4676140"/>
        </p:xfrm>
        <a:graphic>
          <a:graphicData uri="http://schemas.openxmlformats.org/drawingml/2006/table">
            <a:tbl>
              <a:tblPr/>
              <a:tblGrid>
                <a:gridCol w="2520315"/>
                <a:gridCol w="2520315"/>
                <a:gridCol w="2520315"/>
              </a:tblGrid>
              <a:tr h="268605"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Время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Деятельность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Описание проблемы / комментарии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8:50:-9:00</a:t>
                      </a:r>
                      <a:endParaRPr lang="ru-RU" altLang="en-US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встреча посетителей на экскурсию, снятие верхней одежды, проводит в зал</a:t>
                      </a:r>
                      <a:endParaRPr lang="ru-RU" altLang="en-US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ожидание</a:t>
                      </a:r>
                      <a:endParaRPr lang="ru-RU" altLang="en-US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9:00-10:00</a:t>
                      </a:r>
                      <a:endParaRPr lang="ru-RU" altLang="en-US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ведет экскурссию</a:t>
                      </a:r>
                      <a:endParaRPr lang="ru-RU" altLang="en-US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Оперативная работа</a:t>
                      </a:r>
                      <a:endParaRPr lang="ru-RU" altLang="en-US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:0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–1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02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altLang="en-US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возвращается на рабочее место, берет папку</a:t>
                      </a:r>
                      <a:endParaRPr lang="ru-RU" altLang="en-US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Оперативная работа</a:t>
                      </a:r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02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–1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03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поиск</a:t>
                      </a:r>
                      <a:r>
                        <a:rPr lang="en-US" altLang="ru-RU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карточки</a:t>
                      </a:r>
                      <a:r>
                        <a:rPr lang="en-US" altLang="ru-RU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по</a:t>
                      </a:r>
                      <a:r>
                        <a:rPr lang="en-US" altLang="ru-RU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названию</a:t>
                      </a:r>
                      <a:r>
                        <a:rPr lang="en-US" altLang="ru-RU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в</a:t>
                      </a:r>
                      <a:r>
                        <a:rPr lang="en-US" altLang="ru-RU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баз</a:t>
                      </a:r>
                      <a:r>
                        <a:rPr lang="ru-RU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е Камис</a:t>
                      </a:r>
                      <a:endParaRPr lang="ru-RU" altLang="en-US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Оперативная работа</a:t>
                      </a:r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03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–1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05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сканирует</a:t>
                      </a:r>
                      <a:r>
                        <a:rPr lang="en-US" altLang="ru-RU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документ</a:t>
                      </a:r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Оперативная работа</a:t>
                      </a:r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7970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05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–1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07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вырезает</a:t>
                      </a:r>
                      <a:r>
                        <a:rPr lang="en-US" altLang="ru-RU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и</a:t>
                      </a:r>
                      <a:r>
                        <a:rPr lang="en-US" altLang="ru-RU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редактирует</a:t>
                      </a:r>
                      <a:r>
                        <a:rPr lang="ru-RU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скан</a:t>
                      </a:r>
                      <a:endParaRPr lang="ru-RU" altLang="en-US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Оперативная работа</a:t>
                      </a:r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07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–1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08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добавляет</a:t>
                      </a:r>
                      <a:r>
                        <a:rPr lang="en-US" altLang="ru-RU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в</a:t>
                      </a:r>
                      <a:r>
                        <a:rPr lang="en-US" altLang="ru-RU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lang="en-US" altLang="en-US"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карточкку</a:t>
                      </a:r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Оперативная работа</a:t>
                      </a:r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08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–1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проверяет карточку на наличие ошибок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Оперативная работа</a:t>
                      </a:r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7970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–1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добавляет недостающую информацию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Оперативная работа</a:t>
                      </a:r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–1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исправляет неправильную информацию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Переделывание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7970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–1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снова проверяет всю карточку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Пере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делывание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–1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:</a:t>
                      </a: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сохраняет карточку</a:t>
                      </a:r>
                      <a:endParaRPr lang="ru-RU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Оперативная работа</a:t>
                      </a:r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909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10:16–10:17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берет следующую папку и находит документ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10:17–10:19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поиск карточки по названию в базе Камис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10:19–10:21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сканирует документ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10:21–10:23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вырезает и редактирует скан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solidFill>
                  <a:schemeClr val="tx2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+mn-ea"/>
              </a:rPr>
              <a:t>Деятельность </a:t>
            </a:r>
            <a:r>
              <a:rPr lang="ru-RU" sz="1400" b="1">
                <a:solidFill>
                  <a:schemeClr val="tx2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+mn-ea"/>
              </a:rPr>
              <a:t>лаборанта</a:t>
            </a:r>
            <a:endParaRPr lang="ru-RU" altLang="ru-RU" sz="1400" b="1" dirty="0">
              <a:solidFill>
                <a:schemeClr val="tx2"/>
              </a:solidFill>
              <a:latin typeface="Calibri" panose="020F0502020204030204" charset="0"/>
              <a:ea typeface="Montserrat"/>
              <a:cs typeface="Calibri" panose="020F0502020204030204" charset="0"/>
              <a:sym typeface="+mn-ea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12" name="Таблица 11"/>
          <p:cNvGraphicFramePr/>
          <p:nvPr>
            <p:custDataLst>
              <p:tags r:id="rId5"/>
            </p:custDataLst>
          </p:nvPr>
        </p:nvGraphicFramePr>
        <p:xfrm>
          <a:off x="1181735" y="471805"/>
          <a:ext cx="7574280" cy="4227830"/>
        </p:xfrm>
        <a:graphic>
          <a:graphicData uri="http://schemas.openxmlformats.org/drawingml/2006/table">
            <a:tbl>
              <a:tblPr/>
              <a:tblGrid>
                <a:gridCol w="2524760"/>
                <a:gridCol w="2524760"/>
                <a:gridCol w="2524760"/>
              </a:tblGrid>
              <a:tr h="269875"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Время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Деятельность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Описание проблемы / комментарии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87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10:23–10:24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добавляет в карточку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87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10:24–10:26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проверяет карточку на наличие ошибок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10:26–10:28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добавляет недостающую информацию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87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10:28–10:30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исправляет неправильную информацию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Переделывание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87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10:30–10:31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снова проверяет всю карточку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Переделывание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87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10:31–10:32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сохраняет карточку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036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10:32–10:33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берет следующую папку и находит документ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87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10:33–10:35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поиск карточки в базе Камис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10:35–10:37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сканирует документ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87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10:37–10:39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редактирует скан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10:39–10:40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добавляет данные в карточку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87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10:40–10:42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проверяет на ошибки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Обнаружена опечатка в дате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87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10:42–10:44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исправляет ошибку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Переделывание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87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10:44–10:45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повторная проверка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Переделывание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solidFill>
                  <a:schemeClr val="tx2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+mn-ea"/>
              </a:rPr>
              <a:t>Деятельность </a:t>
            </a:r>
            <a:r>
              <a:rPr lang="ru-RU" sz="1400" b="1">
                <a:solidFill>
                  <a:schemeClr val="tx2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+mn-ea"/>
              </a:rPr>
              <a:t>лаборанта</a:t>
            </a:r>
            <a:endParaRPr lang="ru-RU" altLang="ru-RU" sz="1400" b="1" dirty="0">
              <a:solidFill>
                <a:schemeClr val="tx2"/>
              </a:solidFill>
              <a:latin typeface="Calibri" panose="020F0502020204030204" charset="0"/>
              <a:ea typeface="Montserrat"/>
              <a:cs typeface="Calibri" panose="020F0502020204030204" charset="0"/>
              <a:sym typeface="+mn-ea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12" name="Таблица 11"/>
          <p:cNvGraphicFramePr/>
          <p:nvPr>
            <p:custDataLst>
              <p:tags r:id="rId5"/>
            </p:custDataLst>
          </p:nvPr>
        </p:nvGraphicFramePr>
        <p:xfrm>
          <a:off x="1124585" y="560705"/>
          <a:ext cx="7618095" cy="3983990"/>
        </p:xfrm>
        <a:graphic>
          <a:graphicData uri="http://schemas.openxmlformats.org/drawingml/2006/table">
            <a:tbl>
              <a:tblPr/>
              <a:tblGrid>
                <a:gridCol w="2539365"/>
                <a:gridCol w="2539365"/>
                <a:gridCol w="2539365"/>
              </a:tblGrid>
              <a:tr h="260985"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Время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Деятельность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Описание проблемы / комментарии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098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10:45–10:46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сохраняет карточку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162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10:46–10:47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делает перерыв (кофе)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--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035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10:47–10:50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возвращается к работе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--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098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10:50–10:51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берет новую папку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098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10:51–10:53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поиск в Камис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Система немного подвисла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162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10:53–10:55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ожидание загрузки системы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Простой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098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10:55–10:57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сканирование документа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098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10:57–10:59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обработка изображения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035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10:59–11:00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внесение данных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162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11:00–11:02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проверка карточки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Все данные корректны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93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11:02–11:03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сохранение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162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11:03–11:04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берет следующий документ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098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11:04–11:06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поиск карточки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098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11:06–11:08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сканирование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solidFill>
                  <a:schemeClr val="tx2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+mn-ea"/>
              </a:rPr>
              <a:t>Деятельность </a:t>
            </a:r>
            <a:r>
              <a:rPr lang="ru-RU" sz="1400" b="1">
                <a:solidFill>
                  <a:schemeClr val="tx2"/>
                </a:solidFill>
                <a:latin typeface="Calibri" panose="020F0502020204030204" charset="0"/>
                <a:ea typeface="Montserrat"/>
                <a:cs typeface="Calibri" panose="020F0502020204030204" charset="0"/>
                <a:sym typeface="+mn-ea"/>
              </a:rPr>
              <a:t>лаборанта</a:t>
            </a:r>
            <a:endParaRPr lang="ru-RU" altLang="ru-RU" sz="1400" b="1" dirty="0">
              <a:solidFill>
                <a:schemeClr val="tx2"/>
              </a:solidFill>
              <a:latin typeface="Calibri" panose="020F0502020204030204" charset="0"/>
              <a:ea typeface="Montserrat"/>
              <a:cs typeface="Calibri" panose="020F0502020204030204" charset="0"/>
              <a:sym typeface="+mn-ea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12" name="Таблица 11"/>
          <p:cNvGraphicFramePr/>
          <p:nvPr>
            <p:custDataLst>
              <p:tags r:id="rId5"/>
            </p:custDataLst>
          </p:nvPr>
        </p:nvGraphicFramePr>
        <p:xfrm>
          <a:off x="1130300" y="549910"/>
          <a:ext cx="7490460" cy="4135755"/>
        </p:xfrm>
        <a:graphic>
          <a:graphicData uri="http://schemas.openxmlformats.org/drawingml/2006/table">
            <a:tbl>
              <a:tblPr/>
              <a:tblGrid>
                <a:gridCol w="2496820"/>
                <a:gridCol w="2496820"/>
                <a:gridCol w="2496820"/>
              </a:tblGrid>
              <a:tr h="271145"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Время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Деятельность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Описание проблемы / комментарии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51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11:08–11:10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редактирование скана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17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11:10–11:11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добавление в карточку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51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11:11–11:13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проверка данных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Отсутствует поле "Источник"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114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11:13–11:15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поиск недостающей информации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Переделывание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51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11:15–11:16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внесение данных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Переделывание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114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11:16–11:17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повторная проверка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Переделывание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114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11:17–11:18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сохранение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114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11:18–11:20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обсуждение с коллегой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Консультация по сложному экспонату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51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11:20–11:22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продолжение работы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114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11:22–11:24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сканирование документа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63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11:24–11:26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обработка изображения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17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11:26–11:27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внесение данных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51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11:27–11:29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проверка карточки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Все данные корректны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1145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11:29–11:30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сохранение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12" name="Таблица 11"/>
          <p:cNvGraphicFramePr/>
          <p:nvPr>
            <p:custDataLst>
              <p:tags r:id="rId5"/>
            </p:custDataLst>
          </p:nvPr>
        </p:nvGraphicFramePr>
        <p:xfrm>
          <a:off x="1189355" y="123190"/>
          <a:ext cx="7402830" cy="4922520"/>
        </p:xfrm>
        <a:graphic>
          <a:graphicData uri="http://schemas.openxmlformats.org/drawingml/2006/table">
            <a:tbl>
              <a:tblPr/>
              <a:tblGrid>
                <a:gridCol w="2467610"/>
                <a:gridCol w="2467610"/>
                <a:gridCol w="2467610"/>
              </a:tblGrid>
              <a:tr h="259080"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Время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Деятельность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Описание проблемы / комментарии</a:t>
                      </a:r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517" marR="76517" marT="76517" marB="76517" anchor="t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11:36–11:37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берет документ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11:37–11:39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поиск в Камис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11:39–11:41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сканирование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11:41–11:43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редактирование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11:43–11:44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добавление данных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11:44–11:46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проверка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Обнаружена ошибка в названии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11:46–11:48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исправление ошибки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Переделывание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11:48–11:49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повторная проверка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Переделывание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11:49–11:50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сохранение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11:50–12:00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подготовка рабочего места к следующей задаче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Завершение процесса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11:36–11:37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берет документ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11:37–11:39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поиск в Камис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11:39–11:41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сканирование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11:41–11:43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редактирование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11:43–11:44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добавление данных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11:44–11:46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проверка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Обнаружена ошибка в названии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11:46–11:48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исправление ошибки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Переделывание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11:48–1</a:t>
                      </a:r>
                      <a:r>
                        <a:rPr lang="ru-RU"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2:00</a:t>
                      </a:r>
                      <a:endParaRPr lang="ru-RU"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ru-RU" sz="7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сохранение карточки</a:t>
                      </a:r>
                      <a:endParaRPr lang="ru-RU"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70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  <a:sym typeface="+mn-ea"/>
                        </a:rPr>
                        <a:t>Оперативная работа</a:t>
                      </a:r>
                      <a:endParaRPr sz="7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9E9E9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1115695" y="8429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ts val="1200"/>
              </a:spcBef>
              <a:spcAft>
                <a:spcPts val="1200"/>
              </a:spcAft>
            </a:pPr>
            <a:r>
              <a:rPr sz="16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На основе хронометража </a:t>
            </a:r>
            <a:r>
              <a:rPr lang="ru-RU" sz="16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выявили</a:t>
            </a:r>
            <a:r>
              <a:rPr sz="16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:</a:t>
            </a:r>
            <a:endParaRPr sz="1600" b="0" i="0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1188085" y="1635125"/>
            <a:ext cx="7036435" cy="15938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ts val="200"/>
              </a:spcAft>
              <a:buNone/>
            </a:pPr>
            <a:r>
              <a:rPr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Потери:</a:t>
            </a:r>
            <a:endParaRPr sz="1600" b="1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6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Переделки: 22 минуты (18.3%)</a:t>
            </a:r>
            <a:endParaRPr sz="16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6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Простои: 2 минуты (ожидание системы)</a:t>
            </a:r>
            <a:endParaRPr sz="16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sz="16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sz="16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Среднее время на 1 карточку: ~12 минут</a:t>
            </a:r>
            <a:endParaRPr sz="16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sz="16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Обработано карточек: 8 (из них 3 требовали переделки)</a:t>
            </a:r>
            <a:endParaRPr sz="16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2628265" y="12287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ts val="1200"/>
              </a:spcBef>
              <a:spcAft>
                <a:spcPts val="1200"/>
              </a:spcAft>
            </a:pPr>
            <a:r>
              <a:rPr lang="en-US" altLang="ru-RU" sz="1600" b="1" i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Business Process Model and Notation</a:t>
            </a:r>
            <a:endParaRPr lang="en-US" altLang="ru-RU" sz="1600" b="1" i="0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</p:txBody>
      </p:sp>
      <p:pic>
        <p:nvPicPr>
          <p:cNvPr id="5" name="Изображение 4" descr="image 1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830" y="551180"/>
            <a:ext cx="4919345" cy="2216785"/>
          </a:xfrm>
          <a:prstGeom prst="rect">
            <a:avLst/>
          </a:prstGeom>
        </p:spPr>
      </p:pic>
      <p:pic>
        <p:nvPicPr>
          <p:cNvPr id="6" name="Изображение 5" descr="image 18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9160" y="2858770"/>
            <a:ext cx="4946015" cy="20548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SIPOC</a:t>
            </a:r>
            <a:endParaRPr lang="en-US" altLang="en-US" sz="1400" b="1" dirty="0">
              <a:solidFill>
                <a:schemeClr val="tx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5" name="Таблица 4"/>
          <p:cNvGraphicFramePr/>
          <p:nvPr>
            <p:custDataLst>
              <p:tags r:id="rId5"/>
            </p:custDataLst>
          </p:nvPr>
        </p:nvGraphicFramePr>
        <p:xfrm>
          <a:off x="1282700" y="886460"/>
          <a:ext cx="7385050" cy="2753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010"/>
                <a:gridCol w="1477010"/>
                <a:gridCol w="1477010"/>
                <a:gridCol w="1477010"/>
                <a:gridCol w="1477010"/>
              </a:tblGrid>
              <a:tr h="40703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600"/>
                        <a:t>Поставщик</a:t>
                      </a:r>
                      <a:endParaRPr lang="ru-RU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600"/>
                        <a:t>Входы</a:t>
                      </a:r>
                      <a:endParaRPr lang="ru-RU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600"/>
                        <a:t>Процесс</a:t>
                      </a:r>
                      <a:endParaRPr lang="ru-RU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600"/>
                        <a:t>Выходы</a:t>
                      </a:r>
                      <a:endParaRPr lang="ru-RU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600"/>
                        <a:t>Потребители</a:t>
                      </a:r>
                      <a:endParaRPr lang="ru-RU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/>
                        <a:t>Музейные</a:t>
                      </a:r>
                      <a:r>
                        <a:rPr lang="en-US" altLang="ru-RU" sz="1200"/>
                        <a:t> </a:t>
                      </a:r>
                      <a:r>
                        <a:rPr lang="en-US" altLang="en-US" sz="1200"/>
                        <a:t>фонды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/>
                        <a:t>Документы</a:t>
                      </a:r>
                      <a:r>
                        <a:rPr lang="en-US" altLang="ru-RU" sz="1200"/>
                        <a:t> </a:t>
                      </a:r>
                      <a:r>
                        <a:rPr lang="en-US" altLang="en-US" sz="1200"/>
                        <a:t>экспонатов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200"/>
                        <a:t>1. </a:t>
                      </a:r>
                      <a:r>
                        <a:rPr lang="ru-RU" altLang="en-US" sz="1200"/>
                        <a:t>Открыть папку с документом</a:t>
                      </a:r>
                      <a:endParaRPr lang="en-US" altLang="ru-RU" sz="1200"/>
                    </a:p>
                    <a:p>
                      <a:pPr>
                        <a:buNone/>
                      </a:pPr>
                      <a:r>
                        <a:rPr lang="ru-RU" altLang="en-US" sz="1200"/>
                        <a:t>2. </a:t>
                      </a:r>
                      <a:r>
                        <a:rPr lang="en-US" altLang="en-US" sz="1200"/>
                        <a:t>Поиск</a:t>
                      </a:r>
                      <a:r>
                        <a:rPr lang="en-US" altLang="ru-RU" sz="1200"/>
                        <a:t> </a:t>
                      </a:r>
                      <a:r>
                        <a:rPr lang="en-US" altLang="en-US" sz="1200"/>
                        <a:t>карточки</a:t>
                      </a:r>
                      <a:r>
                        <a:rPr lang="en-US" altLang="ru-RU" sz="1200"/>
                        <a:t> </a:t>
                      </a:r>
                      <a:r>
                        <a:rPr lang="en-US" altLang="en-US" sz="1200"/>
                        <a:t>в</a:t>
                      </a:r>
                      <a:r>
                        <a:rPr lang="en-US" altLang="ru-RU" sz="1200"/>
                        <a:t> </a:t>
                      </a:r>
                      <a:r>
                        <a:rPr lang="en-US" altLang="en-US" sz="1200"/>
                        <a:t>КАМИС</a:t>
                      </a:r>
                      <a:r>
                        <a:rPr lang="ru-RU" altLang="en-US" sz="1200"/>
                        <a:t> по документу</a:t>
                      </a:r>
                      <a:endParaRPr lang="en-US" altLang="en-US" sz="1200"/>
                    </a:p>
                    <a:p>
                      <a:pPr>
                        <a:buNone/>
                      </a:pPr>
                      <a:r>
                        <a:rPr lang="ru-RU" altLang="en-US" sz="1200"/>
                        <a:t>3</a:t>
                      </a:r>
                      <a:r>
                        <a:rPr lang="en-US" altLang="ru-RU" sz="1200"/>
                        <a:t>. </a:t>
                      </a:r>
                      <a:r>
                        <a:rPr lang="en-US" altLang="en-US" sz="1200"/>
                        <a:t>Сканирование</a:t>
                      </a:r>
                      <a:r>
                        <a:rPr lang="en-US" altLang="ru-RU" sz="1200"/>
                        <a:t> </a:t>
                      </a:r>
                      <a:r>
                        <a:rPr lang="en-US" altLang="en-US" sz="1200"/>
                        <a:t>документа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/>
                        <a:t>Оцифрованные</a:t>
                      </a:r>
                      <a:r>
                        <a:rPr lang="en-US" altLang="ru-RU" sz="1200"/>
                        <a:t> </a:t>
                      </a:r>
                      <a:r>
                        <a:rPr lang="en-US" altLang="en-US" sz="1200"/>
                        <a:t>данные</a:t>
                      </a:r>
                      <a:r>
                        <a:rPr lang="en-US" altLang="ru-RU" sz="1200"/>
                        <a:t> </a:t>
                      </a:r>
                      <a:r>
                        <a:rPr lang="en-US" altLang="en-US" sz="1200"/>
                        <a:t>экспонатов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/>
                        <a:t>Исследователи</a:t>
                      </a:r>
                      <a:r>
                        <a:rPr lang="en-US" altLang="ru-RU" sz="1200"/>
                        <a:t>, </a:t>
                      </a:r>
                      <a:r>
                        <a:rPr lang="en-US" altLang="en-US" sz="1200"/>
                        <a:t>архив</a:t>
                      </a:r>
                      <a:r>
                        <a:rPr lang="en-US" altLang="ru-RU" sz="1200"/>
                        <a:t> </a:t>
                      </a:r>
                      <a:r>
                        <a:rPr lang="en-US" altLang="en-US" sz="1200"/>
                        <a:t>музея</a:t>
                      </a:r>
                      <a:endParaRPr lang="en-US" altLang="en-US" sz="12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/>
                        <a:t>Научные</a:t>
                      </a:r>
                      <a:r>
                        <a:rPr lang="en-US" altLang="ru-RU" sz="1200"/>
                        <a:t> </a:t>
                      </a:r>
                      <a:r>
                        <a:rPr lang="en-US" altLang="en-US" sz="1200"/>
                        <a:t>сотрудники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/>
                        <a:t>Фотографии</a:t>
                      </a:r>
                      <a:r>
                        <a:rPr lang="en-US" altLang="ru-RU" sz="1200"/>
                        <a:t> </a:t>
                      </a:r>
                      <a:r>
                        <a:rPr lang="en-US" altLang="en-US" sz="1200"/>
                        <a:t>экспонатов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>
                          <a:sym typeface="+mn-ea"/>
                        </a:rPr>
                        <a:t>4</a:t>
                      </a:r>
                      <a:r>
                        <a:rPr lang="en-US" altLang="ru-RU" sz="1200">
                          <a:sym typeface="+mn-ea"/>
                        </a:rPr>
                        <a:t>. </a:t>
                      </a:r>
                      <a:r>
                        <a:rPr lang="ru-RU" altLang="en-US" sz="1200">
                          <a:sym typeface="+mn-ea"/>
                        </a:rPr>
                        <a:t>Добавление скана в карточку</a:t>
                      </a:r>
                      <a:endParaRPr lang="en-US" altLang="ru-RU" sz="12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ru-RU" altLang="en-US" sz="1200">
                          <a:sym typeface="+mn-ea"/>
                        </a:rPr>
                        <a:t>5. </a:t>
                      </a:r>
                      <a:r>
                        <a:rPr lang="en-US" altLang="en-US" sz="1200">
                          <a:sym typeface="+mn-ea"/>
                        </a:rPr>
                        <a:t>Редактирование</a:t>
                      </a:r>
                      <a:r>
                        <a:rPr lang="en-US" altLang="ru-RU" sz="1200">
                          <a:sym typeface="+mn-ea"/>
                        </a:rPr>
                        <a:t> </a:t>
                      </a:r>
                      <a:r>
                        <a:rPr lang="en-US" altLang="en-US" sz="1200">
                          <a:sym typeface="+mn-ea"/>
                        </a:rPr>
                        <a:t>данных</a:t>
                      </a:r>
                      <a:endParaRPr lang="en-US" altLang="en-US" sz="1200"/>
                    </a:p>
                    <a:p>
                      <a:pPr>
                        <a:buNone/>
                      </a:pPr>
                      <a:r>
                        <a:rPr lang="ru-RU" altLang="en-US" sz="1200">
                          <a:sym typeface="+mn-ea"/>
                        </a:rPr>
                        <a:t>6</a:t>
                      </a:r>
                      <a:r>
                        <a:rPr lang="en-US" altLang="ru-RU" sz="1200">
                          <a:sym typeface="+mn-ea"/>
                        </a:rPr>
                        <a:t>. </a:t>
                      </a:r>
                      <a:r>
                        <a:rPr lang="en-US" altLang="en-US" sz="1200">
                          <a:sym typeface="+mn-ea"/>
                        </a:rPr>
                        <a:t>Проверка</a:t>
                      </a:r>
                      <a:r>
                        <a:rPr lang="ru-RU" altLang="en-US" sz="1200">
                          <a:sym typeface="+mn-ea"/>
                        </a:rPr>
                        <a:t> карточки</a:t>
                      </a:r>
                      <a:endParaRPr lang="ru-RU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 sz="12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/>
                        <a:t>Технический</a:t>
                      </a:r>
                      <a:r>
                        <a:rPr lang="en-US" altLang="ru-RU" sz="1200"/>
                        <a:t> </a:t>
                      </a:r>
                      <a:r>
                        <a:rPr lang="en-US" altLang="en-US" sz="1200"/>
                        <a:t>отдел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200" b="0" i="0">
                          <a:solidFill>
                            <a:srgbClr val="404040"/>
                          </a:solidFill>
                          <a:latin typeface="Calibri" panose="020F0502020204030204" charset="0"/>
                          <a:ea typeface="DeepSeek-CJK-patch"/>
                          <a:cs typeface="Calibri" panose="020F0502020204030204" charset="0"/>
                        </a:rPr>
                        <a:t>Доступ к системе КАМИС</a:t>
                      </a:r>
                      <a:endParaRPr sz="1200" b="0" i="0">
                        <a:solidFill>
                          <a:srgbClr val="404040"/>
                        </a:solidFill>
                        <a:latin typeface="Calibri" panose="020F0502020204030204" charset="0"/>
                        <a:ea typeface="DeepSeek-CJK-patch"/>
                        <a:cs typeface="Calibri" panose="020F0502020204030204" charset="0"/>
                      </a:endParaRPr>
                    </a:p>
                  </a:txBody>
                  <a:tcPr marL="76517" marR="76517" marT="76517" marB="76517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>
                          <a:sym typeface="+mn-ea"/>
                        </a:rPr>
                        <a:t>7</a:t>
                      </a:r>
                      <a:r>
                        <a:rPr lang="en-US" altLang="ru-RU" sz="1200">
                          <a:sym typeface="+mn-ea"/>
                        </a:rPr>
                        <a:t>. </a:t>
                      </a:r>
                      <a:r>
                        <a:rPr lang="ru-RU" altLang="en-US" sz="1200">
                          <a:sym typeface="+mn-ea"/>
                        </a:rPr>
                        <a:t>С</a:t>
                      </a:r>
                      <a:r>
                        <a:rPr lang="en-US" altLang="en-US" sz="1200">
                          <a:sym typeface="+mn-ea"/>
                        </a:rPr>
                        <a:t>охранение</a:t>
                      </a:r>
                      <a:r>
                        <a:rPr lang="ru-RU" altLang="en-US" sz="1200">
                          <a:sym typeface="+mn-ea"/>
                        </a:rPr>
                        <a:t> карточки.</a:t>
                      </a:r>
                      <a:endParaRPr lang="en-US" altLang="en-US" sz="1200"/>
                    </a:p>
                    <a:p>
                      <a:pPr>
                        <a:buNone/>
                      </a:pP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 sz="12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Сквозной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процесс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: IDEF0</a:t>
            </a:r>
            <a:endParaRPr lang="en-US" altLang="ru-RU" sz="1400" b="1" dirty="0">
              <a:solidFill>
                <a:schemeClr val="tx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12" name="Изображение 11" descr="Frame 1171280986"/>
          <p:cNvPicPr>
            <a:picLocks noChangeAspect="1"/>
          </p:cNvPicPr>
          <p:nvPr/>
        </p:nvPicPr>
        <p:blipFill>
          <a:blip r:embed="rId5"/>
          <a:srcRect l="1553" r="7366"/>
          <a:stretch>
            <a:fillRect/>
          </a:stretch>
        </p:blipFill>
        <p:spPr>
          <a:xfrm>
            <a:off x="971550" y="627380"/>
            <a:ext cx="8019415" cy="39604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971853" y="95924"/>
            <a:ext cx="734481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Диаграмма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Спагетти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для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процесса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оцифровки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экспонатов</a:t>
            </a:r>
            <a:endParaRPr lang="en-US" altLang="en-US" sz="1400" b="1" dirty="0">
              <a:solidFill>
                <a:schemeClr val="tx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971550" y="483235"/>
            <a:ext cx="475488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20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Цель:</a:t>
            </a:r>
            <a:endParaRPr sz="120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/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Визуализировать перемещения документов и сотрудника между рабочими зонами для выявления избыточных движений.</a:t>
            </a:r>
            <a:endParaRPr sz="12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971550" y="1851660"/>
            <a:ext cx="5080000" cy="143510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0"/>
              </a:spcAft>
            </a:pPr>
            <a:r>
              <a:rPr sz="12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Исходные данные:</a:t>
            </a:r>
            <a:endParaRPr sz="1200" b="1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200"/>
              </a:spcAft>
              <a:buNone/>
            </a:pPr>
            <a:endParaRPr sz="12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Рабоч</a:t>
            </a:r>
            <a:r>
              <a:rPr lang="ru-RU"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ая</a:t>
            </a: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зон</a:t>
            </a:r>
            <a:r>
              <a:rPr lang="ru-RU"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а</a:t>
            </a: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:</a:t>
            </a:r>
            <a:endParaRPr sz="12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📁 </a:t>
            </a:r>
            <a:r>
              <a:rPr lang="ru-RU"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 </a:t>
            </a: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Полка с документами (</a:t>
            </a:r>
            <a:r>
              <a:rPr lang="ru-RU"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1</a:t>
            </a: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м от рабочего стола)</a:t>
            </a:r>
            <a:endParaRPr sz="12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💻 </a:t>
            </a:r>
            <a:r>
              <a:rPr lang="ru-RU"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 </a:t>
            </a: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Компьютер с КАМИС (рабочий стол)</a:t>
            </a:r>
            <a:endParaRPr sz="12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🖨</a:t>
            </a:r>
            <a:r>
              <a:rPr lang="ru-RU"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  </a:t>
            </a: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Сканер (</a:t>
            </a:r>
            <a:r>
              <a:rPr lang="ru-RU"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рядом на столе с</a:t>
            </a: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компьютер</a:t>
            </a:r>
            <a:r>
              <a:rPr lang="ru-RU"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ом</a:t>
            </a: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)</a:t>
            </a:r>
            <a:endParaRPr sz="12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sz="12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905" y="2433320"/>
            <a:ext cx="1630680" cy="2176145"/>
          </a:xfrm>
          <a:prstGeom prst="rect">
            <a:avLst/>
          </a:prstGeom>
        </p:spPr>
      </p:pic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6235" y="1340485"/>
            <a:ext cx="1750060" cy="2334260"/>
          </a:xfrm>
          <a:prstGeom prst="rect">
            <a:avLst/>
          </a:prstGeom>
        </p:spPr>
      </p:pic>
      <p:pic>
        <p:nvPicPr>
          <p:cNvPr id="14" name="Изображение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5190" y="194945"/>
            <a:ext cx="1637665" cy="2184400"/>
          </a:xfrm>
          <a:prstGeom prst="rect">
            <a:avLst/>
          </a:prstGeom>
        </p:spPr>
      </p:pic>
      <p:sp>
        <p:nvSpPr>
          <p:cNvPr id="15" name="Текстовое поле 14"/>
          <p:cNvSpPr txBox="1"/>
          <p:nvPr/>
        </p:nvSpPr>
        <p:spPr>
          <a:xfrm>
            <a:off x="933450" y="4083685"/>
            <a:ext cx="6252845" cy="4864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Процесс (на 1 карточку):</a:t>
            </a:r>
            <a:endParaRPr sz="12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Взять документ с полки → Сканирование → Работа за ПК → Проверка → Архивация.</a:t>
            </a:r>
            <a:endParaRPr sz="12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Диаграмма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Ишикавы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(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причины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ошибок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в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карточках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  <a:endParaRPr lang="en-US" altLang="ru-RU" sz="1400" b="1" dirty="0">
              <a:solidFill>
                <a:schemeClr val="tx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11" name="Изображение 10" descr="Frame 1171280987УКПАП"/>
          <p:cNvPicPr>
            <a:picLocks noChangeAspect="1"/>
          </p:cNvPicPr>
          <p:nvPr/>
        </p:nvPicPr>
        <p:blipFill>
          <a:blip r:embed="rId5"/>
          <a:srcRect l="1764" r="1328"/>
          <a:stretch>
            <a:fillRect/>
          </a:stretch>
        </p:blipFill>
        <p:spPr>
          <a:xfrm>
            <a:off x="828040" y="1007110"/>
            <a:ext cx="8184515" cy="32334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Диаграмма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Ишикавы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(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причины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ошибок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в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карточках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  <a:endParaRPr lang="en-US" altLang="ru-RU" sz="1400" b="1" dirty="0">
              <a:solidFill>
                <a:schemeClr val="tx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95" y="869950"/>
            <a:ext cx="7804785" cy="32912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Анализ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методом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«</a:t>
            </a:r>
            <a:r>
              <a:rPr lang="en-US" altLang="ru-RU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5 </a:t>
            </a:r>
            <a:r>
              <a:rPr lang="en-US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Почему</a:t>
            </a:r>
            <a:r>
              <a:rPr lang="" altLang="en-US" sz="1400" b="1" dirty="0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»</a:t>
            </a:r>
            <a:endParaRPr lang="" altLang="en-US" sz="1400" b="1" dirty="0">
              <a:solidFill>
                <a:schemeClr val="tx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2" name="Таблица 1"/>
          <p:cNvGraphicFramePr/>
          <p:nvPr>
            <p:custDataLst>
              <p:tags r:id="rId5"/>
            </p:custDataLst>
          </p:nvPr>
        </p:nvGraphicFramePr>
        <p:xfrm>
          <a:off x="1371600" y="699135"/>
          <a:ext cx="7025640" cy="3326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1880"/>
                <a:gridCol w="2341880"/>
                <a:gridCol w="2341880"/>
              </a:tblGrid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400"/>
                        <a:t>Вопрос</a:t>
                      </a:r>
                      <a:endParaRPr lang="ru-RU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400"/>
                        <a:t>Ответ</a:t>
                      </a:r>
                      <a:endParaRPr lang="ru-RU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400"/>
                        <a:t>Уровень причины</a:t>
                      </a:r>
                      <a:endParaRPr lang="ru-RU" altLang="en-US" sz="1400"/>
                    </a:p>
                  </a:txBody>
                  <a:tcPr/>
                </a:tc>
              </a:tr>
              <a:tr h="55372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1. Почему в карточках ошибки в датах?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Лаборант вводит дату вручную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Поверхностная</a:t>
                      </a:r>
                      <a:endParaRPr lang="ru-RU" altLang="en-US" sz="1200"/>
                    </a:p>
                  </a:txBody>
                  <a:tcPr/>
                </a:tc>
              </a:tr>
              <a:tr h="72644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2. Почему нет автоматической проверки?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В КАМИС не настроены обязательные поля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Организационная</a:t>
                      </a:r>
                      <a:endParaRPr lang="ru-RU" altLang="en-US" sz="1200"/>
                    </a:p>
                  </a:txBody>
                  <a:tcPr/>
                </a:tc>
              </a:tr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3. Почему не настроены поля?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Нет технического регламента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Управленческая</a:t>
                      </a:r>
                      <a:endParaRPr lang="ru-RU" altLang="en-US" sz="1200"/>
                    </a:p>
                  </a:txBody>
                  <a:tcPr/>
                </a:tc>
              </a:tr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4. Почему нет регламента?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Процесс не формализован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Системная</a:t>
                      </a:r>
                      <a:endParaRPr lang="ru-RU" altLang="en-US" sz="1200"/>
                    </a:p>
                  </a:txBody>
                  <a:tcPr/>
                </a:tc>
              </a:tr>
              <a:tr h="72580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5. Почему не формализован?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Музей не выделял ресурсы на оптимизацию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200"/>
                        <a:t>Корневая (бюджет/приоритеты)</a:t>
                      </a:r>
                      <a:endParaRPr lang="ru-RU" altLang="en-US" sz="1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Текстовое поле 4"/>
          <p:cNvSpPr txBox="1"/>
          <p:nvPr/>
        </p:nvSpPr>
        <p:spPr>
          <a:xfrm>
            <a:off x="1403350" y="4156075"/>
            <a:ext cx="694055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20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Вывод:</a:t>
            </a:r>
            <a:endParaRPr sz="120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/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Основная причина — отсутствие стандартизации из-за недостаточного внимания к процессу.</a:t>
            </a:r>
            <a:endParaRPr sz="12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2" name="Таблица 1"/>
          <p:cNvGraphicFramePr/>
          <p:nvPr/>
        </p:nvGraphicFramePr>
        <p:xfrm>
          <a:off x="1187450" y="1059815"/>
          <a:ext cx="64001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Проблема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Корневая причина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Метод выявления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Переделки карточек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Нет валидации данных в КАМИС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5 Почему + Ишикава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Простои системы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Устаревшее ПО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Наблюдение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Неразборчивые документы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Отсутствие стандартов оцифровки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Интервью с сотрудником</a:t>
                      </a:r>
                      <a:endParaRPr lang="ru-RU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Текстовое поле 4"/>
          <p:cNvSpPr txBox="1"/>
          <p:nvPr/>
        </p:nvSpPr>
        <p:spPr>
          <a:xfrm>
            <a:off x="1043305" y="1952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0"/>
              </a:spcAft>
            </a:pPr>
            <a:r>
              <a:rPr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Сводная таблица корневых причин</a:t>
            </a:r>
            <a:endParaRPr sz="1600" b="1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1043305" y="195580"/>
            <a:ext cx="663638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0"/>
              </a:spcAft>
            </a:pP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Оптимизированный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процесс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оцифровки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в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системе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КАМИС</a:t>
            </a:r>
            <a:endParaRPr lang="en-US" altLang="en-US" sz="1600" b="1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115695" y="62769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sz="12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Основные изменения:</a:t>
            </a:r>
            <a:endParaRPr sz="1200" b="1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Полная стандартизация операций</a:t>
            </a:r>
            <a:r>
              <a:rPr lang="ru-RU"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; </a:t>
            </a:r>
            <a:r>
              <a:rPr sz="12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Минимизация ручного ввода</a:t>
            </a:r>
            <a:endParaRPr sz="12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1187450" y="1131888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0"/>
              </a:spcAft>
            </a:pPr>
            <a:r>
              <a:rPr sz="12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Предложения по улучшению</a:t>
            </a:r>
            <a:endParaRPr sz="1200" b="1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187450" y="1492250"/>
            <a:ext cx="7607935" cy="9785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4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Технические:</a:t>
            </a:r>
            <a:endParaRPr sz="1400" b="1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200"/>
              </a:spcAft>
              <a:buAutoNum type="arabicPeriod"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Модернизация КАМИС: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Внедрение модуля валидации данных (доработка ПО).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Настройка автоматического именования файлов (шаблон: «Название_Дата_Автор»).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1187450" y="2499995"/>
            <a:ext cx="7502525" cy="25126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4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Организационные:</a:t>
            </a:r>
            <a:endParaRPr sz="1400" b="1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/>
            <a:r>
              <a:rPr 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2.</a:t>
            </a: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 Стандарты работы: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200"/>
              </a:spcAft>
              <a:buFont typeface="Arial" panose="020B0604020202020204"/>
              <a:buNone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Чек-лист на </a:t>
            </a:r>
            <a:r>
              <a:rPr 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2</a:t>
            </a: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пункта перед сканированием: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Читаемость текста.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Наличие всех страниц.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200"/>
              </a:spcAft>
              <a:buNone/>
            </a:pPr>
            <a:r>
              <a:rPr 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3. </a:t>
            </a: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Обучение персонала: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1-часовой тренинг: «Работа с шаблонами в КАМИС».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en-US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Управленческие</a:t>
            </a:r>
            <a:r>
              <a:rPr lang="en-US" alt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:</a:t>
            </a:r>
            <a:endParaRPr lang="en-US" altLang="ru-RU"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5. KPI </a:t>
            </a:r>
            <a:r>
              <a:rPr lang="en-US" altLang="en-US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для</a:t>
            </a:r>
            <a:r>
              <a:rPr lang="en-US" alt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контроля</a:t>
            </a:r>
            <a:r>
              <a:rPr lang="en-US" alt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:</a:t>
            </a:r>
            <a:endParaRPr lang="en-US" altLang="ru-RU"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en-US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Время</a:t>
            </a:r>
            <a:r>
              <a:rPr lang="en-US" alt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на</a:t>
            </a:r>
            <a:r>
              <a:rPr lang="en-US" alt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1 </a:t>
            </a:r>
            <a:r>
              <a:rPr lang="en-US" altLang="en-US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карточку</a:t>
            </a:r>
            <a:r>
              <a:rPr lang="en-US" alt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≤ 7 </a:t>
            </a:r>
            <a:r>
              <a:rPr lang="en-US" altLang="en-US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мин</a:t>
            </a:r>
            <a:r>
              <a:rPr lang="en-US" alt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.</a:t>
            </a:r>
            <a:endParaRPr lang="en-US" altLang="ru-RU"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% </a:t>
            </a:r>
            <a:r>
              <a:rPr lang="en-US" altLang="en-US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ошибок</a:t>
            </a:r>
            <a:r>
              <a:rPr lang="en-US" alt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≤ 5.</a:t>
            </a:r>
            <a:endParaRPr lang="en-US" altLang="ru-RU"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2" name="Таблица 1"/>
          <p:cNvGraphicFramePr/>
          <p:nvPr/>
        </p:nvGraphicFramePr>
        <p:xfrm>
          <a:off x="1187450" y="1059815"/>
          <a:ext cx="64001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Параметр</a:t>
                      </a:r>
                      <a:endParaRPr sz="11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/>
                </a:tc>
                <a:tc>
                  <a:txBody>
                    <a:bodyPr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AS-IS</a:t>
                      </a:r>
                      <a:endParaRPr sz="11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/>
                </a:tc>
                <a:tc>
                  <a:txBody>
                    <a:bodyPr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TO BE</a:t>
                      </a:r>
                      <a:endParaRPr sz="11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11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Время обработки</a:t>
                      </a:r>
                      <a:endParaRPr sz="11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/>
                </a:tc>
                <a:tc>
                  <a:txBody>
                    <a:bodyPr/>
                    <a:p>
                      <a:r>
                        <a:rPr sz="11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12 мин</a:t>
                      </a:r>
                      <a:endParaRPr sz="11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/>
                </a:tc>
                <a:tc>
                  <a:txBody>
                    <a:bodyPr/>
                    <a:p>
                      <a:r>
                        <a:rPr sz="11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7 мин</a:t>
                      </a:r>
                      <a:endParaRPr sz="11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11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Ошибки данных</a:t>
                      </a:r>
                      <a:endParaRPr sz="11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0" marR="76517" marT="76517" marB="76517" anchor="ctr" anchorCtr="0"/>
                </a:tc>
                <a:tc>
                  <a:txBody>
                    <a:bodyPr/>
                    <a:p>
                      <a:r>
                        <a:rPr sz="11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30%</a:t>
                      </a:r>
                      <a:endParaRPr sz="11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/>
                </a:tc>
                <a:tc>
                  <a:txBody>
                    <a:bodyPr/>
                    <a:p>
                      <a:r>
                        <a:rPr sz="1100" b="0" i="0">
                          <a:solidFill>
                            <a:srgbClr val="404040"/>
                          </a:solidFill>
                          <a:latin typeface="Arial" panose="020B0604020202020204" pitchFamily="34" charset="0"/>
                          <a:ea typeface="DeepSeek-CJK-patch"/>
                          <a:cs typeface="Arial" panose="020B0604020202020204" pitchFamily="34" charset="0"/>
                        </a:rPr>
                        <a:t>5%</a:t>
                      </a:r>
                      <a:endParaRPr sz="1100" b="0" i="0">
                        <a:solidFill>
                          <a:srgbClr val="404040"/>
                        </a:solidFill>
                        <a:latin typeface="Arial" panose="020B0604020202020204" pitchFamily="34" charset="0"/>
                        <a:ea typeface="DeepSeek-CJK-patch"/>
                        <a:cs typeface="Arial" panose="020B0604020202020204" pitchFamily="34" charset="0"/>
                      </a:endParaRPr>
                    </a:p>
                  </a:txBody>
                  <a:tcPr marL="76517" marR="76517" marT="76517" marB="76517" anchor="ctr" anchorCtr="0"/>
                </a:tc>
              </a:tr>
            </a:tbl>
          </a:graphicData>
        </a:graphic>
      </p:graphicFrame>
      <p:sp>
        <p:nvSpPr>
          <p:cNvPr id="5" name="Текстовое поле 4"/>
          <p:cNvSpPr txBox="1"/>
          <p:nvPr/>
        </p:nvSpPr>
        <p:spPr>
          <a:xfrm>
            <a:off x="1043305" y="1952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0"/>
              </a:spcAft>
            </a:pP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Ожидаемые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результаты</a:t>
            </a:r>
            <a:endParaRPr lang="en-US" altLang="en-US" sz="1600" b="1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1043305" y="19526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0"/>
              </a:spcAft>
            </a:pP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Выводы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и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рекомендации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по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проекту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оптимизации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процесса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оцифровки</a:t>
            </a:r>
            <a:endParaRPr lang="en-US" altLang="en-US" sz="1600" b="1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115695" y="988060"/>
            <a:ext cx="7109460" cy="2538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ts val="200"/>
              </a:spcAft>
              <a:buAutoNum type="arabicPeriod"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Значительные потери времени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- </a:t>
            </a: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30% карточек требуют переделки из-за ошибок, что увеличивает время обработки на 42%.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200"/>
              </a:spcAft>
              <a:buAutoNum type="arabicPeriod"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Корневые причины проблем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- </a:t>
            </a: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Отсутствие стандартов проверки данных и шаблонов ввода.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- </a:t>
            </a: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Устаревшие функциональные возможности системы КАМИС.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200"/>
              </a:spcAft>
              <a:buAutoNum type="arabicPeriod"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Потенциал оптимизации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Внедрение даже базовых улучшений (чек-листы, валидация полей) сократит время обработки на 42% и ошибки на 83%.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1043305" y="19526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0"/>
              </a:spcAft>
            </a:pP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Выводы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и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рекомендации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по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проекту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оптимизации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процесса</a:t>
            </a:r>
            <a:r>
              <a:rPr lang="en-US" altLang="ru-RU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 </a:t>
            </a:r>
            <a:r>
              <a:rPr lang="en-US" altLang="en-US" sz="1600" b="1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оцифровки</a:t>
            </a:r>
            <a:endParaRPr lang="en-US" altLang="en-US" sz="1600" b="1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115695" y="988060"/>
            <a:ext cx="7109460" cy="2538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ts val="200"/>
              </a:spcAft>
              <a:buAutoNum type="arabicPeriod"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Значительные потери времени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- </a:t>
            </a: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30% карточек требуют переделки из-за ошибок, что увеличивает время обработки на 42%.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200"/>
              </a:spcAft>
              <a:buAutoNum type="arabicPeriod"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Корневые причины проблем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- </a:t>
            </a: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Отсутствие стандартов проверки данных и шаблонов ввода.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ru-RU"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- </a:t>
            </a: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Устаревшие функциональные возможности системы КАМИС.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200"/>
              </a:spcAft>
              <a:buAutoNum type="arabicPeriod"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Потенциал оптимизации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sz="1400" b="0" i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  <a:cs typeface="Arial" panose="020B0604020202020204" pitchFamily="34" charset="0"/>
              </a:rPr>
              <a:t>Внедрение даже базовых улучшений (чек-листы, валидация полей) сократит время обработки на 42% и ошибки на 83%.</a:t>
            </a:r>
            <a:endParaRPr sz="1400" b="0" i="0">
              <a:solidFill>
                <a:srgbClr val="404040"/>
              </a:solidFill>
              <a:latin typeface="Arial" panose="020B0604020202020204" pitchFamily="34" charset="0"/>
              <a:ea typeface="DeepSeek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>
            <a:fillRect/>
          </a:stretch>
        </p:blipFill>
        <p:spPr bwMode="auto">
          <a:xfrm>
            <a:off x="0" y="1786"/>
            <a:ext cx="9144000" cy="514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2267744" y="2355726"/>
            <a:ext cx="5904656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 panose="020B0604020202020204"/>
              <a:buNone/>
            </a:pPr>
            <a:r>
              <a:rPr lang="en-US" sz="3600" b="1" i="0" u="none" strike="noStrike" cap="none" dirty="0" err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Спасибо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за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внимание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!</a:t>
            </a:r>
            <a:endParaRPr sz="3600" b="1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67744" y="3363838"/>
            <a:ext cx="6552728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Янакогло Валерия</a:t>
            </a:r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1" y="656018"/>
            <a:ext cx="1554123" cy="63592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95*325"/>
  <p:tag name="TABLE_ENDDRAG_RECT" val="87*42*595*325"/>
</p:tagLst>
</file>

<file path=ppt/tags/tag2.xml><?xml version="1.0" encoding="utf-8"?>
<p:tagLst xmlns:p="http://schemas.openxmlformats.org/presentationml/2006/main">
  <p:tag name="TABLE_ENDDRAG_ORIGIN_RECT" val="596*332"/>
  <p:tag name="TABLE_ENDDRAG_RECT" val="93*37*596*332"/>
</p:tagLst>
</file>

<file path=ppt/tags/tag3.xml><?xml version="1.0" encoding="utf-8"?>
<p:tagLst xmlns:p="http://schemas.openxmlformats.org/presentationml/2006/main">
  <p:tag name="TABLE_ENDDRAG_ORIGIN_RECT" val="599*313"/>
  <p:tag name="TABLE_ENDDRAG_RECT" val="88*44*599*313"/>
</p:tagLst>
</file>

<file path=ppt/tags/tag4.xml><?xml version="1.0" encoding="utf-8"?>
<p:tagLst xmlns:p="http://schemas.openxmlformats.org/presentationml/2006/main">
  <p:tag name="TABLE_ENDDRAG_ORIGIN_RECT" val="589*325"/>
  <p:tag name="TABLE_ENDDRAG_RECT" val="89*43*589*325"/>
</p:tagLst>
</file>

<file path=ppt/tags/tag5.xml><?xml version="1.0" encoding="utf-8"?>
<p:tagLst xmlns:p="http://schemas.openxmlformats.org/presentationml/2006/main">
  <p:tag name="TABLE_ENDDRAG_ORIGIN_RECT" val="582*279"/>
  <p:tag name="TABLE_ENDDRAG_RECT" val="93*46*582*279"/>
</p:tagLst>
</file>

<file path=ppt/tags/tag6.xml><?xml version="1.0" encoding="utf-8"?>
<p:tagLst xmlns:p="http://schemas.openxmlformats.org/presentationml/2006/main">
  <p:tag name="TABLE_ENDDRAG_ORIGIN_RECT" val="581*110"/>
  <p:tag name="TABLE_ENDDRAG_RECT" val="105*100*581*110"/>
</p:tagLst>
</file>

<file path=ppt/tags/tag7.xml><?xml version="1.0" encoding="utf-8"?>
<p:tagLst xmlns:p="http://schemas.openxmlformats.org/presentationml/2006/main">
  <p:tag name="TABLE_ENDDRAG_ORIGIN_RECT" val="553*260"/>
  <p:tag name="TABLE_ENDDRAG_RECT" val="108*55*553*260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8479</Words>
  <Application>WPS Presentation</Application>
  <PresentationFormat>Экран (16:9)</PresentationFormat>
  <Paragraphs>852</Paragraphs>
  <Slides>23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PT Sans</vt:lpstr>
      <vt:lpstr>Protoculture [RUS by Daymarius]</vt:lpstr>
      <vt:lpstr>Montserrat</vt:lpstr>
      <vt:lpstr>Airfool</vt:lpstr>
      <vt:lpstr>Arial</vt:lpstr>
      <vt:lpstr>DeepSeek-CJK-patch</vt:lpstr>
      <vt:lpstr>Microsoft YaHei</vt:lpstr>
      <vt:lpstr>Arial Unicode MS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Шафигуллин Марат Шарифуллович</dc:creator>
  <cp:lastModifiedBy>Валерия Янакогл�</cp:lastModifiedBy>
  <cp:revision>75</cp:revision>
  <dcterms:created xsi:type="dcterms:W3CDTF">2020-07-15T10:53:00Z</dcterms:created>
  <dcterms:modified xsi:type="dcterms:W3CDTF">2025-04-29T21:39:13Z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6A35CCD033FB46DCAACA8AD00A3A65F3_13</vt:lpwstr>
  </property>
  <property fmtid="{D5CDD505-2E9C-101B-9397-08002B2CF9AE}" pid="3" name="KSOProductBuildVer">
    <vt:lpwstr>1049-12.2.0.20795</vt:lpwstr>
  </property>
</Properties>
</file>