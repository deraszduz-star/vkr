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4" r:id="rId2"/>
    <p:sldId id="290" r:id="rId3"/>
    <p:sldId id="281" r:id="rId4"/>
    <p:sldId id="282" r:id="rId5"/>
    <p:sldId id="277" r:id="rId6"/>
    <p:sldId id="278" r:id="rId7"/>
    <p:sldId id="287" r:id="rId8"/>
    <p:sldId id="283" r:id="rId9"/>
    <p:sldId id="284" r:id="rId10"/>
    <p:sldId id="285" r:id="rId11"/>
    <p:sldId id="275" r:id="rId12"/>
    <p:sldId id="276" r:id="rId13"/>
    <p:sldId id="286" r:id="rId14"/>
    <p:sldId id="288" r:id="rId15"/>
    <p:sldId id="289" r:id="rId16"/>
    <p:sldId id="291" r:id="rId17"/>
    <p:sldId id="257" r:id="rId18"/>
    <p:sldId id="295" r:id="rId19"/>
    <p:sldId id="261" r:id="rId20"/>
    <p:sldId id="265" r:id="rId21"/>
    <p:sldId id="258" r:id="rId22"/>
    <p:sldId id="263" r:id="rId23"/>
    <p:sldId id="262" r:id="rId24"/>
    <p:sldId id="292" r:id="rId25"/>
    <p:sldId id="270" r:id="rId26"/>
    <p:sldId id="294" r:id="rId27"/>
    <p:sldId id="293" r:id="rId28"/>
    <p:sldId id="271" r:id="rId29"/>
    <p:sldId id="260" r:id="rId30"/>
    <p:sldId id="280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 smtClean="0"/>
              <a:t>Работа</a:t>
            </a:r>
            <a:r>
              <a:rPr lang="ru-RU" baseline="0" dirty="0" smtClean="0"/>
              <a:t> с документами</a:t>
            </a:r>
            <a:endParaRPr lang="ru-RU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C4-4DC8-9CE7-B6B3838D80D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Лист1!$C$2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C4-4DC8-9CE7-B6B3838D80D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Лист1!$D$2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C4-4DC8-9CE7-B6B3838D80D5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Лист1!$E$2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C4-4DC8-9CE7-B6B3838D80D5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FEC4-4DC8-9CE7-B6B3838D80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Лист1!$F$2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C4-4DC8-9CE7-B6B3838D80D5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Лист1!$G$2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EC4-4DC8-9CE7-B6B3838D80D5}"/>
            </c:ext>
          </c:extLst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Лист1!$H$2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EC4-4DC8-9CE7-B6B3838D80D5}"/>
            </c:ext>
          </c:extLst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8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Лист1!$I$2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EC4-4DC8-9CE7-B6B3838D80D5}"/>
            </c:ext>
          </c:extLst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9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Лист1!$J$2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EC4-4DC8-9CE7-B6B3838D80D5}"/>
            </c:ext>
          </c:extLst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10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Лист1!$K$2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EC4-4DC8-9CE7-B6B3838D80D5}"/>
            </c:ext>
          </c:extLst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11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Лист1!$L$2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EC4-4DC8-9CE7-B6B3838D80D5}"/>
            </c:ext>
          </c:extLst>
        </c:ser>
        <c:ser>
          <c:idx val="11"/>
          <c:order val="11"/>
          <c:tx>
            <c:strRef>
              <c:f>Лист1!$M$1</c:f>
              <c:strCache>
                <c:ptCount val="1"/>
                <c:pt idx="0">
                  <c:v>12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Лист1!$M$2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FEC4-4DC8-9CE7-B6B3838D80D5}"/>
            </c:ext>
          </c:extLst>
        </c:ser>
        <c:ser>
          <c:idx val="12"/>
          <c:order val="12"/>
          <c:tx>
            <c:strRef>
              <c:f>Лист1!$N$1</c:f>
              <c:strCache>
                <c:ptCount val="1"/>
                <c:pt idx="0">
                  <c:v>13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Лист1!$N$2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EC4-4DC8-9CE7-B6B3838D80D5}"/>
            </c:ext>
          </c:extLst>
        </c:ser>
        <c:ser>
          <c:idx val="13"/>
          <c:order val="13"/>
          <c:tx>
            <c:strRef>
              <c:f>Лист1!$O$1</c:f>
              <c:strCache>
                <c:ptCount val="1"/>
                <c:pt idx="0">
                  <c:v>14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Лист1!$O$2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EC4-4DC8-9CE7-B6B3838D80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5459456"/>
        <c:axId val="475462784"/>
      </c:barChart>
      <c:catAx>
        <c:axId val="475459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5462784"/>
        <c:crosses val="autoZero"/>
        <c:auto val="1"/>
        <c:lblAlgn val="ctr"/>
        <c:lblOffset val="100"/>
        <c:noMultiLvlLbl val="0"/>
      </c:catAx>
      <c:valAx>
        <c:axId val="47546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5459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 smtClean="0"/>
              <a:t>Время работы по этапам, сек</a:t>
            </a:r>
            <a:endParaRPr lang="ru-RU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Измерени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Лист1!$A$2:$A$8</c:f>
              <c:strCache>
                <c:ptCount val="7"/>
                <c:pt idx="0">
                  <c:v>П.1</c:v>
                </c:pt>
                <c:pt idx="1">
                  <c:v>П.2</c:v>
                </c:pt>
                <c:pt idx="2">
                  <c:v>П.3</c:v>
                </c:pt>
                <c:pt idx="3">
                  <c:v>П.4</c:v>
                </c:pt>
                <c:pt idx="4">
                  <c:v>П.5</c:v>
                </c:pt>
                <c:pt idx="5">
                  <c:v>П.6</c:v>
                </c:pt>
                <c:pt idx="6">
                  <c:v>П.8</c:v>
                </c:pt>
              </c:strCache>
            </c:strRef>
          </c:cat>
          <c:val>
            <c:numRef>
              <c:f>Лист1!$B$2:$B$8</c:f>
              <c:numCache>
                <c:formatCode>General</c:formatCode>
                <c:ptCount val="7"/>
                <c:pt idx="0">
                  <c:v>30</c:v>
                </c:pt>
                <c:pt idx="1">
                  <c:v>20</c:v>
                </c:pt>
                <c:pt idx="2">
                  <c:v>15</c:v>
                </c:pt>
                <c:pt idx="3">
                  <c:v>65</c:v>
                </c:pt>
                <c:pt idx="4">
                  <c:v>95</c:v>
                </c:pt>
                <c:pt idx="5">
                  <c:v>10</c:v>
                </c:pt>
                <c:pt idx="6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C6-4999-9BB6-3FF68F2266D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Измерение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Лист1!$A$2:$A$8</c:f>
              <c:strCache>
                <c:ptCount val="7"/>
                <c:pt idx="0">
                  <c:v>П.1</c:v>
                </c:pt>
                <c:pt idx="1">
                  <c:v>П.2</c:v>
                </c:pt>
                <c:pt idx="2">
                  <c:v>П.3</c:v>
                </c:pt>
                <c:pt idx="3">
                  <c:v>П.4</c:v>
                </c:pt>
                <c:pt idx="4">
                  <c:v>П.5</c:v>
                </c:pt>
                <c:pt idx="5">
                  <c:v>П.6</c:v>
                </c:pt>
                <c:pt idx="6">
                  <c:v>П.8</c:v>
                </c:pt>
              </c:strCache>
            </c:strRef>
          </c:cat>
          <c:val>
            <c:numRef>
              <c:f>Лист1!$C$2:$C$8</c:f>
              <c:numCache>
                <c:formatCode>General</c:formatCode>
                <c:ptCount val="7"/>
                <c:pt idx="2">
                  <c:v>12</c:v>
                </c:pt>
                <c:pt idx="3">
                  <c:v>55</c:v>
                </c:pt>
                <c:pt idx="4">
                  <c:v>77</c:v>
                </c:pt>
                <c:pt idx="5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C6-4999-9BB6-3FF68F2266D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Измерение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Лист1!$A$2:$A$8</c:f>
              <c:strCache>
                <c:ptCount val="7"/>
                <c:pt idx="0">
                  <c:v>П.1</c:v>
                </c:pt>
                <c:pt idx="1">
                  <c:v>П.2</c:v>
                </c:pt>
                <c:pt idx="2">
                  <c:v>П.3</c:v>
                </c:pt>
                <c:pt idx="3">
                  <c:v>П.4</c:v>
                </c:pt>
                <c:pt idx="4">
                  <c:v>П.5</c:v>
                </c:pt>
                <c:pt idx="5">
                  <c:v>П.6</c:v>
                </c:pt>
                <c:pt idx="6">
                  <c:v>П.8</c:v>
                </c:pt>
              </c:strCache>
            </c:strRef>
          </c:cat>
          <c:val>
            <c:numRef>
              <c:f>Лист1!$D$2:$D$8</c:f>
              <c:numCache>
                <c:formatCode>General</c:formatCode>
                <c:ptCount val="7"/>
                <c:pt idx="2">
                  <c:v>15</c:v>
                </c:pt>
                <c:pt idx="3">
                  <c:v>95</c:v>
                </c:pt>
                <c:pt idx="4">
                  <c:v>83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C6-4999-9BB6-3FF68F2266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384957520"/>
        <c:axId val="384955224"/>
      </c:barChart>
      <c:catAx>
        <c:axId val="384957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4955224"/>
        <c:crosses val="autoZero"/>
        <c:auto val="1"/>
        <c:lblAlgn val="ctr"/>
        <c:lblOffset val="100"/>
        <c:noMultiLvlLbl val="0"/>
      </c:catAx>
      <c:valAx>
        <c:axId val="384955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4957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215BF-2D2E-4996-B3BC-053BBF7F4E5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12462-DFFB-4C06-8D6A-37E580E5A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671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512462-DFFB-4C06-8D6A-37E580E5A39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051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512462-DFFB-4C06-8D6A-37E580E5A39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38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512462-DFFB-4C06-8D6A-37E580E5A391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299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512462-DFFB-4C06-8D6A-37E580E5A39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146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9F33-0E29-4CDD-9DF9-5A5DC414D19B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D721-33F8-416F-B91C-3121A8008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93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9F33-0E29-4CDD-9DF9-5A5DC414D19B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D721-33F8-416F-B91C-3121A8008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027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9F33-0E29-4CDD-9DF9-5A5DC414D19B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D721-33F8-416F-B91C-3121A8008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476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9F33-0E29-4CDD-9DF9-5A5DC414D19B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D721-33F8-416F-B91C-3121A8008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34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9F33-0E29-4CDD-9DF9-5A5DC414D19B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D721-33F8-416F-B91C-3121A8008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68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9F33-0E29-4CDD-9DF9-5A5DC414D19B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D721-33F8-416F-B91C-3121A8008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060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9F33-0E29-4CDD-9DF9-5A5DC414D19B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D721-33F8-416F-B91C-3121A8008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37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9F33-0E29-4CDD-9DF9-5A5DC414D19B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D721-33F8-416F-B91C-3121A8008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97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9F33-0E29-4CDD-9DF9-5A5DC414D19B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D721-33F8-416F-B91C-3121A8008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124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9F33-0E29-4CDD-9DF9-5A5DC414D19B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D721-33F8-416F-B91C-3121A8008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769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9F33-0E29-4CDD-9DF9-5A5DC414D19B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D721-33F8-416F-B91C-3121A8008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46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79F33-0E29-4CDD-9DF9-5A5DC414D19B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BD721-33F8-416F-B91C-3121A8008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75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31900" y="965199"/>
            <a:ext cx="9550400" cy="337820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Проектная работа </a:t>
            </a:r>
            <a:br>
              <a:rPr lang="ru-RU" dirty="0" smtClean="0"/>
            </a:br>
            <a:r>
              <a:rPr lang="ru-RU" dirty="0" smtClean="0"/>
              <a:t>«Анализ и оптимизация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бизнес-процессов </a:t>
            </a:r>
            <a:r>
              <a:rPr lang="ru-RU" dirty="0" smtClean="0"/>
              <a:t>отдела УДК КФУ»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09700" y="4783138"/>
            <a:ext cx="9144000" cy="1655762"/>
          </a:xfrm>
        </p:spPr>
        <p:txBody>
          <a:bodyPr/>
          <a:lstStyle/>
          <a:p>
            <a:r>
              <a:rPr lang="ru-RU" dirty="0" smtClean="0"/>
              <a:t>Динмухаметова Лейсан</a:t>
            </a:r>
            <a:br>
              <a:rPr lang="ru-RU" dirty="0" smtClean="0"/>
            </a:br>
            <a:r>
              <a:rPr lang="ru-RU" dirty="0" err="1" smtClean="0"/>
              <a:t>Телицына</a:t>
            </a:r>
            <a:r>
              <a:rPr lang="ru-RU" dirty="0" smtClean="0"/>
              <a:t> Екатерина</a:t>
            </a:r>
            <a:br>
              <a:rPr lang="ru-RU" dirty="0" smtClean="0"/>
            </a:br>
            <a:r>
              <a:rPr lang="ru-RU" dirty="0" smtClean="0"/>
              <a:t>14.6-114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174750" y="965200"/>
            <a:ext cx="9690100" cy="3378201"/>
          </a:xfrm>
          <a:prstGeom prst="round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45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04849" y="236481"/>
            <a:ext cx="10692493" cy="2852737"/>
          </a:xfrm>
        </p:spPr>
        <p:txBody>
          <a:bodyPr/>
          <a:lstStyle/>
          <a:p>
            <a:pPr algn="ctr"/>
            <a:r>
              <a:rPr lang="en-US" dirty="0" smtClean="0"/>
              <a:t>I </a:t>
            </a:r>
            <a:r>
              <a:rPr lang="ru-RU" dirty="0" smtClean="0"/>
              <a:t>процесс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704850" y="3543809"/>
            <a:ext cx="10515600" cy="967809"/>
          </a:xfrm>
          <a:noFill/>
          <a:ln>
            <a:noFill/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Организация документооборота (входящего, исходящего, внутреннего) </a:t>
            </a:r>
            <a:r>
              <a:rPr lang="ru-RU" sz="3200" dirty="0" smtClean="0">
                <a:solidFill>
                  <a:schemeClr val="tx1"/>
                </a:solidFill>
              </a:rPr>
              <a:t>с </a:t>
            </a:r>
            <a:r>
              <a:rPr lang="ru-RU" sz="3200" dirty="0">
                <a:solidFill>
                  <a:schemeClr val="tx1"/>
                </a:solidFill>
              </a:rPr>
              <a:t>использованием электронных </a:t>
            </a:r>
            <a:r>
              <a:rPr lang="ru-RU" sz="3200" dirty="0" smtClean="0">
                <a:solidFill>
                  <a:schemeClr val="tx1"/>
                </a:solidFill>
              </a:rPr>
              <a:t>систем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04850" y="3316514"/>
            <a:ext cx="10692493" cy="1422400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25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Должность: </a:t>
            </a:r>
            <a:r>
              <a:rPr lang="ru-RU" dirty="0" err="1" smtClean="0"/>
              <a:t>документовед</a:t>
            </a:r>
            <a:r>
              <a:rPr lang="ru-RU" dirty="0" smtClean="0"/>
              <a:t> сектора</a:t>
            </a:r>
            <a:endParaRPr lang="ru-RU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510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i="1" dirty="0" smtClean="0"/>
              <a:t>Функции: </a:t>
            </a:r>
          </a:p>
          <a:p>
            <a:r>
              <a:rPr lang="ru-RU" dirty="0" smtClean="0"/>
              <a:t> </a:t>
            </a:r>
            <a:r>
              <a:rPr lang="ru-RU" dirty="0"/>
              <a:t>Обеспечение оперативно-организационного обслуживания работы </a:t>
            </a:r>
            <a:r>
              <a:rPr lang="ru-RU" dirty="0" smtClean="0"/>
              <a:t>ректора/президента/проректора</a:t>
            </a:r>
          </a:p>
          <a:p>
            <a:r>
              <a:rPr lang="ru-RU" b="1" dirty="0" smtClean="0"/>
              <a:t>Организация документооборота (входящего, исходящего, внутреннего) с использованием электронных систем</a:t>
            </a:r>
          </a:p>
          <a:p>
            <a:r>
              <a:rPr lang="ru-RU" dirty="0" smtClean="0"/>
              <a:t>Контроль </a:t>
            </a:r>
            <a:r>
              <a:rPr lang="ru-RU" dirty="0"/>
              <a:t>сроков исполнения </a:t>
            </a:r>
            <a:r>
              <a:rPr lang="ru-RU" dirty="0" smtClean="0"/>
              <a:t>документов</a:t>
            </a:r>
          </a:p>
          <a:p>
            <a:r>
              <a:rPr lang="ru-RU" dirty="0"/>
              <a:t>Подготовка и оформление организационно-распорядительных </a:t>
            </a:r>
            <a:r>
              <a:rPr lang="ru-RU" dirty="0" smtClean="0"/>
              <a:t>документов</a:t>
            </a:r>
          </a:p>
          <a:p>
            <a:r>
              <a:rPr lang="ru-RU" dirty="0"/>
              <a:t>Работа с обращениями граждан и организация приёма </a:t>
            </a:r>
            <a:r>
              <a:rPr lang="ru-RU" dirty="0" smtClean="0"/>
              <a:t>посетителей</a:t>
            </a:r>
          </a:p>
          <a:p>
            <a:r>
              <a:rPr lang="ru-RU" dirty="0"/>
              <a:t>Обеспечение сохранности служебной документации. 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92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Хронометраж</a:t>
            </a:r>
            <a:endParaRPr lang="ru-RU" dirty="0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2681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4" name="Прямая соединительная линия 3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99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30698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/>
              <a:t>SIPOC</a:t>
            </a:r>
            <a:endParaRPr lang="ru-RU" sz="36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546626"/>
              </p:ext>
            </p:extLst>
          </p:nvPr>
        </p:nvGraphicFramePr>
        <p:xfrm>
          <a:off x="2032000" y="2595364"/>
          <a:ext cx="8128000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5100687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070324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93090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199220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36040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Поставщики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Входы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Процесс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Выходы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Клиенты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820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Исполнители</a:t>
                      </a:r>
                    </a:p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Внешние</a:t>
                      </a:r>
                      <a:r>
                        <a:rPr lang="ru-RU" baseline="0" dirty="0" smtClean="0"/>
                        <a:t> организации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Документы в СЭД</a:t>
                      </a:r>
                    </a:p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Регламенты</a:t>
                      </a:r>
                      <a:r>
                        <a:rPr lang="ru-RU" baseline="0" dirty="0" smtClean="0"/>
                        <a:t> КФУ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Получение </a:t>
                      </a:r>
                      <a:r>
                        <a:rPr lang="ru-RU" baseline="0" dirty="0" smtClean="0"/>
                        <a:t>→ </a:t>
                      </a:r>
                      <a:r>
                        <a:rPr lang="ru-RU" dirty="0" smtClean="0"/>
                        <a:t>проверка</a:t>
                      </a:r>
                      <a:r>
                        <a:rPr lang="ru-RU" baseline="0" dirty="0" smtClean="0"/>
                        <a:t> → ответ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Согласованные</a:t>
                      </a:r>
                      <a:r>
                        <a:rPr lang="ru-RU" baseline="0" dirty="0" smtClean="0"/>
                        <a:t> документы</a:t>
                      </a:r>
                    </a:p>
                    <a:p>
                      <a:endParaRPr lang="ru-RU" baseline="0" dirty="0" smtClean="0"/>
                    </a:p>
                    <a:p>
                      <a:r>
                        <a:rPr lang="ru-RU" baseline="0" dirty="0" smtClean="0"/>
                        <a:t>Несогласованные документы</a:t>
                      </a:r>
                    </a:p>
                    <a:p>
                      <a:r>
                        <a:rPr lang="ru-RU" baseline="0" dirty="0" smtClean="0"/>
                        <a:t/>
                      </a:r>
                      <a:br>
                        <a:rPr lang="ru-RU" baseline="0" dirty="0" smtClean="0"/>
                      </a:br>
                      <a:r>
                        <a:rPr lang="ru-RU" baseline="0" dirty="0" smtClean="0"/>
                        <a:t>Статистика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Исполнители</a:t>
                      </a:r>
                    </a:p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Руководство КФУ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97008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4700" y="605249"/>
            <a:ext cx="12192000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 IS</a:t>
            </a:r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774700" y="1206500"/>
            <a:ext cx="84074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51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3807" y="334567"/>
            <a:ext cx="11029893" cy="7575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Диаграмма </a:t>
            </a:r>
            <a:r>
              <a:rPr lang="ru-RU" dirty="0" err="1"/>
              <a:t>Исикавы</a:t>
            </a:r>
            <a:endParaRPr lang="ru-RU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 flipV="1">
            <a:off x="604299" y="3745064"/>
            <a:ext cx="8706678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вал 4"/>
          <p:cNvSpPr/>
          <p:nvPr/>
        </p:nvSpPr>
        <p:spPr>
          <a:xfrm>
            <a:off x="9406393" y="2878372"/>
            <a:ext cx="1789044" cy="17174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9696615" y="2859950"/>
            <a:ext cx="12324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Ручной/долгий процесс проверки документов</a:t>
            </a:r>
            <a:endParaRPr lang="ru-RU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224501" y="1986356"/>
            <a:ext cx="1590261" cy="1766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H="1">
            <a:off x="1637969" y="3753016"/>
            <a:ext cx="1192695" cy="18208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5899869" y="1664621"/>
            <a:ext cx="1820849" cy="2046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H="1">
            <a:off x="6543925" y="3778312"/>
            <a:ext cx="1176793" cy="2062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5617" y="1415332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процессы</a:t>
            </a:r>
            <a:endParaRPr lang="ru-RU" b="1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1637969" y="2416446"/>
            <a:ext cx="1796995" cy="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49287" y="1795367"/>
            <a:ext cx="1932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Нет сортировки документов по объему/сложности</a:t>
            </a:r>
            <a:endParaRPr lang="ru-RU" sz="12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 flipH="1" flipV="1">
            <a:off x="604299" y="2790908"/>
            <a:ext cx="1232452" cy="7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0689" y="2144577"/>
            <a:ext cx="1208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Недостаточное количество шаблонов</a:t>
            </a:r>
            <a:endParaRPr lang="ru-RU" sz="1200" dirty="0"/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2361537" y="3258381"/>
            <a:ext cx="1530626" cy="67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234316" y="2808427"/>
            <a:ext cx="1657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Нет стандартов по времени на проверку </a:t>
            </a:r>
            <a:endParaRPr lang="ru-RU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422791" y="1248923"/>
            <a:ext cx="1606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Инструменты</a:t>
            </a:r>
          </a:p>
        </p:txBody>
      </p:sp>
      <p:cxnSp>
        <p:nvCxnSpPr>
          <p:cNvPr id="39" name="Прямая соединительная линия 38"/>
          <p:cNvCxnSpPr/>
          <p:nvPr/>
        </p:nvCxnSpPr>
        <p:spPr>
          <a:xfrm>
            <a:off x="6504168" y="2263909"/>
            <a:ext cx="1800971" cy="15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42492" y="1659575"/>
            <a:ext cx="230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СЭД не поддерживает автоматическую проверку на соответствие стандартам</a:t>
            </a:r>
            <a:endParaRPr lang="ru-RU" sz="1200" dirty="0"/>
          </a:p>
        </p:txBody>
      </p:sp>
      <p:cxnSp>
        <p:nvCxnSpPr>
          <p:cNvPr id="42" name="Прямая соединительная линия 41"/>
          <p:cNvCxnSpPr/>
          <p:nvPr/>
        </p:nvCxnSpPr>
        <p:spPr>
          <a:xfrm flipH="1" flipV="1">
            <a:off x="5339302" y="2764841"/>
            <a:ext cx="1550505" cy="17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255812" y="1798074"/>
            <a:ext cx="1359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Нет интеграции</a:t>
            </a:r>
            <a:br>
              <a:rPr lang="ru-RU" sz="1200" dirty="0" smtClean="0"/>
            </a:br>
            <a:r>
              <a:rPr lang="ru-RU" sz="1200" dirty="0" smtClean="0"/>
              <a:t>с системами проверки грамматики/</a:t>
            </a:r>
            <a:br>
              <a:rPr lang="ru-RU" sz="1200" dirty="0" smtClean="0"/>
            </a:br>
            <a:r>
              <a:rPr lang="ru-RU" sz="1200" dirty="0" smtClean="0"/>
              <a:t>оформления </a:t>
            </a:r>
            <a:endParaRPr lang="ru-RU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5968781" y="5939016"/>
            <a:ext cx="1566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человек</a:t>
            </a:r>
            <a:endParaRPr lang="ru-RU" b="1" dirty="0"/>
          </a:p>
        </p:txBody>
      </p:sp>
      <p:cxnSp>
        <p:nvCxnSpPr>
          <p:cNvPr id="48" name="Прямая соединительная линия 47"/>
          <p:cNvCxnSpPr/>
          <p:nvPr/>
        </p:nvCxnSpPr>
        <p:spPr>
          <a:xfrm>
            <a:off x="5521520" y="4633053"/>
            <a:ext cx="1722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542061" y="4137090"/>
            <a:ext cx="1725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Человек устает от монотонной работы</a:t>
            </a:r>
            <a:endParaRPr lang="ru-RU" sz="1200" dirty="0"/>
          </a:p>
        </p:txBody>
      </p:sp>
      <p:cxnSp>
        <p:nvCxnSpPr>
          <p:cNvPr id="51" name="Прямая соединительная линия 50"/>
          <p:cNvCxnSpPr/>
          <p:nvPr/>
        </p:nvCxnSpPr>
        <p:spPr>
          <a:xfrm flipH="1">
            <a:off x="715617" y="4483728"/>
            <a:ext cx="1645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15617" y="3839040"/>
            <a:ext cx="179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Объемные документы требуют детального анализа</a:t>
            </a:r>
            <a:endParaRPr lang="ru-RU" sz="1200" dirty="0"/>
          </a:p>
        </p:txBody>
      </p:sp>
      <p:cxnSp>
        <p:nvCxnSpPr>
          <p:cNvPr id="54" name="Прямая соединительная линия 53"/>
          <p:cNvCxnSpPr/>
          <p:nvPr/>
        </p:nvCxnSpPr>
        <p:spPr>
          <a:xfrm flipV="1">
            <a:off x="1963972" y="5168348"/>
            <a:ext cx="1562430" cy="7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178657" y="4720257"/>
            <a:ext cx="1347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Частые ошибки от отправителей </a:t>
            </a:r>
            <a:endParaRPr lang="ru-RU" sz="1200" dirty="0"/>
          </a:p>
        </p:txBody>
      </p:sp>
      <p:sp>
        <p:nvSpPr>
          <p:cNvPr id="56" name="TextBox 55"/>
          <p:cNvSpPr txBox="1"/>
          <p:nvPr/>
        </p:nvSpPr>
        <p:spPr>
          <a:xfrm>
            <a:off x="731519" y="5652623"/>
            <a:ext cx="2099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документы</a:t>
            </a:r>
            <a:endParaRPr lang="ru-RU" b="1" dirty="0"/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793807" y="998189"/>
            <a:ext cx="84074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20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3900" y="369660"/>
            <a:ext cx="121920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Проблема и улучшения 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156854"/>
              </p:ext>
            </p:extLst>
          </p:nvPr>
        </p:nvGraphicFramePr>
        <p:xfrm>
          <a:off x="838200" y="2258333"/>
          <a:ext cx="10515600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3021016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09271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Проблема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Улучшения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384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Долгий/ручной процесс</a:t>
                      </a:r>
                      <a:r>
                        <a:rPr lang="ru-RU" baseline="0" dirty="0" smtClean="0"/>
                        <a:t> проверки документов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dirty="0" smtClean="0"/>
                        <a:t>Стандартизация требований для исполнителей;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dirty="0" smtClean="0"/>
                        <a:t>Интеграция ИИ;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dirty="0" smtClean="0"/>
                        <a:t>Система </a:t>
                      </a:r>
                      <a:r>
                        <a:rPr lang="en-US" dirty="0" smtClean="0"/>
                        <a:t>KPI </a:t>
                      </a:r>
                      <a:r>
                        <a:rPr lang="ru-RU" dirty="0" smtClean="0"/>
                        <a:t>для сотрудника.</a:t>
                      </a:r>
                    </a:p>
                    <a:p>
                      <a:pPr algn="l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73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Мешают</a:t>
                      </a:r>
                      <a:r>
                        <a:rPr lang="ru-RU" baseline="0" dirty="0" smtClean="0"/>
                        <a:t> телефонные разговоры (могут разговаривать одновременно и громко)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dirty="0" smtClean="0"/>
                        <a:t>Смена</a:t>
                      </a:r>
                      <a:r>
                        <a:rPr lang="ru-RU" baseline="0" dirty="0" smtClean="0"/>
                        <a:t> помещения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972864"/>
                  </a:ext>
                </a:extLst>
              </a:tr>
            </a:tbl>
          </a:graphicData>
        </a:graphic>
      </p:graphicFrame>
      <p:cxnSp>
        <p:nvCxnSpPr>
          <p:cNvPr id="6" name="Прямая соединительная линия 5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97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77825"/>
            <a:ext cx="121920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Паспорт проекта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2494076"/>
              </p:ext>
            </p:extLst>
          </p:nvPr>
        </p:nvGraphicFramePr>
        <p:xfrm>
          <a:off x="838200" y="1825625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799220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6719227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665144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4881781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0972645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02036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Начало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Окончание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Руководитель проекта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Команда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Цель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Бюджет в год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991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01.09.2025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01.11.2025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Начальник УДК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 smtClean="0"/>
                        <a:t>Документовед</a:t>
                      </a:r>
                      <a:r>
                        <a:rPr lang="ru-RU" dirty="0" smtClean="0"/>
                        <a:t> сектора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Сократить время проверки документов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180000 р (полная окупаемость 15 месяцев)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513200"/>
                  </a:ext>
                </a:extLst>
              </a:tr>
            </a:tbl>
          </a:graphicData>
        </a:graphic>
      </p:graphicFrame>
      <p:cxnSp>
        <p:nvCxnSpPr>
          <p:cNvPr id="5" name="Прямая соединительная линия 4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22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9300" y="365125"/>
            <a:ext cx="121920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План внедрения улучшений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0013568"/>
              </p:ext>
            </p:extLst>
          </p:nvPr>
        </p:nvGraphicFramePr>
        <p:xfrm>
          <a:off x="838200" y="1825625"/>
          <a:ext cx="1051560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729513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43876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Затратные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Не затратные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45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dirty="0" smtClean="0"/>
                        <a:t>Интеграция</a:t>
                      </a:r>
                      <a:r>
                        <a:rPr lang="ru-RU" baseline="0" dirty="0" smtClean="0"/>
                        <a:t> ИИ (автоматическая проверка документов: соответствие шаблонам, проверка формальных критериев (ошибки грамматические, орфографические, пунктуационные и т.д.), анализ ошибок и формирование комментариев). </a:t>
                      </a:r>
                      <a:endParaRPr lang="ru-RU" baseline="0" dirty="0" smtClean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ru-RU" baseline="0" dirty="0" smtClean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dirty="0" smtClean="0"/>
                        <a:t>Система </a:t>
                      </a:r>
                      <a:r>
                        <a:rPr lang="en-US" dirty="0" smtClean="0"/>
                        <a:t>KPI </a:t>
                      </a:r>
                      <a:r>
                        <a:rPr lang="ru-RU" dirty="0" smtClean="0"/>
                        <a:t>для</a:t>
                      </a:r>
                      <a:r>
                        <a:rPr lang="ru-RU" baseline="0" dirty="0" smtClean="0"/>
                        <a:t> сотрудника (5% за скорость (без ущерба качеству), 5% за снижение возвратов)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dirty="0" smtClean="0"/>
                        <a:t>Стандартизация требований</a:t>
                      </a:r>
                      <a:r>
                        <a:rPr lang="ru-RU" baseline="0" dirty="0" smtClean="0"/>
                        <a:t> к исполнителю (чек-лист с шаблонами документов, с наиболее часто возникающими ошибками, с требованиями к обязательному наличию каких-то пунктов (нумерация/даты/реквизиты и т.д</a:t>
                      </a:r>
                      <a:r>
                        <a:rPr lang="ru-RU" baseline="0" dirty="0" smtClean="0"/>
                        <a:t>.)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ru-RU" baseline="0" dirty="0" smtClean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baseline="0" dirty="0" smtClean="0"/>
                        <a:t>Смена помещения (пересадить сотрудника в помещение, где никто не ведет телефонные разговоры одновременно и громко/ в большое помещение).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375406"/>
                  </a:ext>
                </a:extLst>
              </a:tr>
            </a:tbl>
          </a:graphicData>
        </a:graphic>
      </p:graphicFrame>
      <p:cxnSp>
        <p:nvCxnSpPr>
          <p:cNvPr id="5" name="Прямая соединительная линия 4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82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600" y="365125"/>
            <a:ext cx="121920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Время такта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58423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70548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106029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До улучшений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После улучшений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336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180/14=12,9</a:t>
                      </a:r>
                      <a:r>
                        <a:rPr lang="ru-RU" baseline="0" dirty="0" smtClean="0"/>
                        <a:t> мин/док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072123"/>
                  </a:ext>
                </a:extLst>
              </a:tr>
            </a:tbl>
          </a:graphicData>
        </a:graphic>
      </p:graphicFrame>
      <p:cxnSp>
        <p:nvCxnSpPr>
          <p:cNvPr id="5" name="Прямая соединительная линия 4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68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9" y="406242"/>
            <a:ext cx="10873447" cy="66295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17793" y="695779"/>
            <a:ext cx="1575707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/>
              <a:t>IDEF0</a:t>
            </a:r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5981700" y="1282499"/>
            <a:ext cx="55118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39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BPMN</a:t>
            </a:r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935512"/>
            <a:ext cx="11377074" cy="347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2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87193"/>
            <a:ext cx="12192000" cy="104729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Затраты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110456"/>
              </p:ext>
            </p:extLst>
          </p:nvPr>
        </p:nvGraphicFramePr>
        <p:xfrm>
          <a:off x="838200" y="1735477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2248104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1285735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Внедрение </a:t>
                      </a:r>
                      <a:r>
                        <a:rPr lang="en-US" dirty="0" smtClean="0"/>
                        <a:t>KPI 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56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 месяц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36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</a:t>
                      </a:r>
                      <a:r>
                        <a:rPr lang="ru-RU" baseline="0" dirty="0" smtClean="0"/>
                        <a:t> год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60000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358258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015847"/>
              </p:ext>
            </p:extLst>
          </p:nvPr>
        </p:nvGraphicFramePr>
        <p:xfrm>
          <a:off x="838200" y="3445328"/>
          <a:ext cx="10515600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3453626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4837969"/>
                    </a:ext>
                  </a:extLst>
                </a:gridCol>
              </a:tblGrid>
              <a:tr h="360818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Интеграция ИИ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876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Проверка</a:t>
                      </a:r>
                      <a:r>
                        <a:rPr lang="ru-RU" baseline="0" dirty="0" smtClean="0"/>
                        <a:t> шаблонов (</a:t>
                      </a:r>
                      <a:r>
                        <a:rPr lang="ru-RU" baseline="0" dirty="0" err="1" smtClean="0"/>
                        <a:t>единоразово</a:t>
                      </a:r>
                      <a:r>
                        <a:rPr lang="ru-RU" baseline="0" dirty="0" smtClean="0"/>
                        <a:t>)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30000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562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Проверка</a:t>
                      </a:r>
                      <a:r>
                        <a:rPr lang="ru-RU" baseline="0" dirty="0" smtClean="0"/>
                        <a:t> грамматики «</a:t>
                      </a:r>
                      <a:r>
                        <a:rPr lang="ru-RU" baseline="0" dirty="0" err="1" smtClean="0"/>
                        <a:t>Орфограммка</a:t>
                      </a:r>
                      <a:r>
                        <a:rPr lang="ru-RU" baseline="0" dirty="0" smtClean="0"/>
                        <a:t>» (подписка)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r>
                        <a:rPr lang="ru-RU" dirty="0" smtClean="0"/>
                        <a:t>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06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Итого в месяц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</a:t>
                      </a:r>
                      <a:r>
                        <a:rPr lang="ru-RU" dirty="0" smtClean="0"/>
                        <a:t>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453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Итого в год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120</a:t>
                      </a:r>
                      <a:r>
                        <a:rPr lang="ru-RU" dirty="0" smtClean="0"/>
                        <a:t>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754959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089028"/>
              </p:ext>
            </p:extLst>
          </p:nvPr>
        </p:nvGraphicFramePr>
        <p:xfrm>
          <a:off x="2032000" y="6161019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2073645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92622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Итого в год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180000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13269"/>
                  </a:ext>
                </a:extLst>
              </a:tr>
            </a:tbl>
          </a:graphicData>
        </a:graphic>
      </p:graphicFrame>
      <p:cxnSp>
        <p:nvCxnSpPr>
          <p:cNvPr id="6" name="Прямая соединительная линия 5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3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838200" y="606380"/>
            <a:ext cx="12192000" cy="947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Экономия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952152"/>
              </p:ext>
            </p:extLst>
          </p:nvPr>
        </p:nvGraphicFramePr>
        <p:xfrm>
          <a:off x="838200" y="4223656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33780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3798570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Интеграция</a:t>
                      </a:r>
                      <a:r>
                        <a:rPr lang="ru-RU" baseline="0" dirty="0" smtClean="0"/>
                        <a:t> ИИ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166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Сокращение времени на проверку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12000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432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Уменьшение</a:t>
                      </a:r>
                      <a:r>
                        <a:rPr lang="ru-RU" baseline="0" dirty="0" smtClean="0"/>
                        <a:t> количества возвратов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6000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21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Итого в месяц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18000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2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Итого в год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216000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543605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0238072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6940583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Внедрение </a:t>
                      </a:r>
                      <a:r>
                        <a:rPr lang="en-US" dirty="0" smtClean="0"/>
                        <a:t>KPI 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587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Сокращение времени на проверку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824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Уменьшение</a:t>
                      </a:r>
                      <a:r>
                        <a:rPr lang="ru-RU" baseline="0" dirty="0" smtClean="0"/>
                        <a:t> количества возвратов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301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Итого в месяц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6000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269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Итого в год (р)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72000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57717"/>
                  </a:ext>
                </a:extLst>
              </a:tr>
            </a:tbl>
          </a:graphicData>
        </a:graphic>
      </p:graphicFrame>
      <p:cxnSp>
        <p:nvCxnSpPr>
          <p:cNvPr id="7" name="Прямая соединительная линия 6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52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905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Показатели для оценки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275862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24902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728418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03074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Показатель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После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083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Время</a:t>
                      </a:r>
                      <a:r>
                        <a:rPr lang="ru-RU" baseline="0" dirty="0" smtClean="0"/>
                        <a:t> проверки документа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12,9 мин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7 мин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895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% возвратов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80%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40%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17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Документов/месяц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280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839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Время согласования в общем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5 дней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 дня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627394"/>
                  </a:ext>
                </a:extLst>
              </a:tr>
            </a:tbl>
          </a:graphicData>
        </a:graphic>
      </p:graphicFrame>
      <p:cxnSp>
        <p:nvCxnSpPr>
          <p:cNvPr id="5" name="Прямая соединительная линия 4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70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3"/>
          <p:cNvSpPr>
            <a:spLocks noGrp="1"/>
          </p:cNvSpPr>
          <p:nvPr>
            <p:ph type="title"/>
          </p:nvPr>
        </p:nvSpPr>
        <p:spPr>
          <a:xfrm>
            <a:off x="819150" y="274638"/>
            <a:ext cx="10515600" cy="2852737"/>
          </a:xfrm>
        </p:spPr>
        <p:txBody>
          <a:bodyPr/>
          <a:lstStyle/>
          <a:p>
            <a:pPr algn="ctr"/>
            <a:r>
              <a:rPr lang="en-US" dirty="0" smtClean="0"/>
              <a:t>II </a:t>
            </a:r>
            <a:r>
              <a:rPr lang="ru-RU" dirty="0" smtClean="0"/>
              <a:t>процесс</a:t>
            </a:r>
            <a:endParaRPr lang="ru-RU" dirty="0"/>
          </a:p>
        </p:txBody>
      </p:sp>
      <p:sp>
        <p:nvSpPr>
          <p:cNvPr id="10" name="Текст 4"/>
          <p:cNvSpPr txBox="1">
            <a:spLocks/>
          </p:cNvSpPr>
          <p:nvPr/>
        </p:nvSpPr>
        <p:spPr>
          <a:xfrm>
            <a:off x="819150" y="3821905"/>
            <a:ext cx="10515600" cy="967809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dirty="0" smtClean="0">
                <a:solidFill>
                  <a:schemeClr val="tx1"/>
                </a:solidFill>
              </a:rPr>
              <a:t>Составление </a:t>
            </a:r>
            <a:r>
              <a:rPr lang="ru-RU" sz="3200" dirty="0">
                <a:solidFill>
                  <a:schemeClr val="tx1"/>
                </a:solidFill>
              </a:rPr>
              <a:t>плана </a:t>
            </a:r>
            <a:r>
              <a:rPr lang="ru-RU" sz="3200" dirty="0" smtClean="0">
                <a:solidFill>
                  <a:schemeClr val="tx1"/>
                </a:solidFill>
              </a:rPr>
              <a:t>мероприятий ВУЗа на </a:t>
            </a:r>
            <a:r>
              <a:rPr lang="ru-RU" sz="3200" dirty="0">
                <a:solidFill>
                  <a:schemeClr val="tx1"/>
                </a:solidFill>
              </a:rPr>
              <a:t>неделю</a:t>
            </a: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819150" y="3367314"/>
            <a:ext cx="10692493" cy="14224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2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793749" y="1694414"/>
            <a:ext cx="5060949" cy="123880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ru-RU" sz="2000" dirty="0" smtClean="0"/>
              <a:t>Задача: участие </a:t>
            </a:r>
            <a:r>
              <a:rPr lang="ru-RU" sz="2000" dirty="0"/>
              <a:t>в планировании и координации мероприятий с участием ректора, включая выбор места, времени и формата проведения</a:t>
            </a:r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714085" y="120191"/>
            <a:ext cx="11476950" cy="13025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Должность: специалист организационно-протокольного отдела</a:t>
            </a:r>
            <a:endParaRPr lang="ru-RU" dirty="0"/>
          </a:p>
        </p:txBody>
      </p:sp>
      <p:sp>
        <p:nvSpPr>
          <p:cNvPr id="7" name="Объект 7"/>
          <p:cNvSpPr txBox="1">
            <a:spLocks/>
          </p:cNvSpPr>
          <p:nvPr/>
        </p:nvSpPr>
        <p:spPr>
          <a:xfrm>
            <a:off x="6452560" y="1999926"/>
            <a:ext cx="4887575" cy="1073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2000" dirty="0" smtClean="0"/>
              <a:t>Функция: составление плана мероприятий на следующую неделю</a:t>
            </a:r>
            <a:endParaRPr lang="ru-RU" sz="2000" dirty="0"/>
          </a:p>
        </p:txBody>
      </p:sp>
      <p:sp>
        <p:nvSpPr>
          <p:cNvPr id="10" name="Объект 7"/>
          <p:cNvSpPr txBox="1">
            <a:spLocks/>
          </p:cNvSpPr>
          <p:nvPr/>
        </p:nvSpPr>
        <p:spPr>
          <a:xfrm>
            <a:off x="461050" y="3330530"/>
            <a:ext cx="10626050" cy="34394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Создание </a:t>
            </a:r>
            <a:r>
              <a:rPr lang="ru-RU" sz="2000" dirty="0"/>
              <a:t>копии документа плана мероприятий с предыдущей недели (копирование файла, сохранение под новым </a:t>
            </a:r>
            <a:r>
              <a:rPr lang="ru-RU" sz="2000" dirty="0" smtClean="0"/>
              <a:t>именем)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Р</a:t>
            </a:r>
            <a:r>
              <a:rPr lang="ru-RU" sz="2000" dirty="0" smtClean="0"/>
              <a:t>едактирование </a:t>
            </a:r>
            <a:r>
              <a:rPr lang="ru-RU" sz="2000" dirty="0"/>
              <a:t>названия (дат) (изменение дат в шапке </a:t>
            </a:r>
            <a:r>
              <a:rPr lang="ru-RU" sz="2000" dirty="0" smtClean="0"/>
              <a:t>документа)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О</a:t>
            </a:r>
            <a:r>
              <a:rPr lang="ru-RU" sz="2000" dirty="0" smtClean="0"/>
              <a:t>ткрытие </a:t>
            </a:r>
            <a:r>
              <a:rPr lang="ru-RU" sz="2000" dirty="0"/>
              <a:t>входящего письма в системе "практика" (поиск письма, открытие)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Изучение </a:t>
            </a:r>
            <a:r>
              <a:rPr lang="ru-RU" sz="2000" dirty="0"/>
              <a:t>информации из содержания, вложений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Внесение </a:t>
            </a:r>
            <a:r>
              <a:rPr lang="ru-RU" sz="2000" dirty="0"/>
              <a:t>информации на нужную дату в документ (Удаление старой информации, добавление новой, форматирование)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Проставление </a:t>
            </a:r>
            <a:r>
              <a:rPr lang="ru-RU" sz="2000" dirty="0"/>
              <a:t>ответственного (выбор из письма, аналогичного мероприятия и </a:t>
            </a:r>
            <a:r>
              <a:rPr lang="ru-RU" sz="2000" dirty="0" err="1"/>
              <a:t>тд</a:t>
            </a:r>
            <a:r>
              <a:rPr lang="ru-RU" sz="2000" dirty="0" smtClean="0"/>
              <a:t>)__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Повтор </a:t>
            </a:r>
            <a:r>
              <a:rPr lang="ru-RU" sz="2000" dirty="0"/>
              <a:t>пунктов </a:t>
            </a:r>
            <a:r>
              <a:rPr lang="ru-RU" sz="2000" dirty="0" smtClean="0"/>
              <a:t>3-6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В </a:t>
            </a:r>
            <a:r>
              <a:rPr lang="ru-RU" sz="2000" dirty="0"/>
              <a:t>понедельник рассылка плана мероприятий по заинтересованным подразделениям </a:t>
            </a:r>
            <a:r>
              <a:rPr lang="ru-RU" sz="2000" dirty="0" smtClean="0"/>
              <a:t>(СМИ, </a:t>
            </a:r>
            <a:r>
              <a:rPr lang="ru-RU" sz="2000" dirty="0"/>
              <a:t>проректор и </a:t>
            </a:r>
            <a:r>
              <a:rPr lang="ru-RU" sz="2000" dirty="0" err="1"/>
              <a:t>тд</a:t>
            </a:r>
            <a:r>
              <a:rPr lang="ru-RU" sz="2000" dirty="0"/>
              <a:t>) (подготовка письма, добавление вложений, </a:t>
            </a:r>
            <a:r>
              <a:rPr lang="ru-RU" sz="2000" dirty="0" smtClean="0"/>
              <a:t>отправка)</a:t>
            </a:r>
          </a:p>
          <a:p>
            <a:pPr marL="0" indent="0">
              <a:buNone/>
            </a:pPr>
            <a:r>
              <a:rPr lang="ru-RU" sz="2000" dirty="0"/>
              <a:t>З</a:t>
            </a:r>
            <a:r>
              <a:rPr lang="ru-RU" sz="2000" dirty="0" smtClean="0"/>
              <a:t>а </a:t>
            </a:r>
            <a:r>
              <a:rPr lang="ru-RU" sz="2000" dirty="0"/>
              <a:t>17 минут обработано 6 писем, может быть в неделю около 15-20 таких писем, со </a:t>
            </a:r>
            <a:r>
              <a:rPr lang="ru-RU" sz="2000" dirty="0" smtClean="0"/>
              <a:t>слов сотрудника </a:t>
            </a:r>
            <a:r>
              <a:rPr lang="ru-RU" sz="2000" dirty="0"/>
              <a:t>"уходит по 1,5 часа в неделю</a:t>
            </a:r>
            <a:r>
              <a:rPr lang="ru-RU" sz="2000" dirty="0" smtClean="0"/>
              <a:t>"</a:t>
            </a:r>
            <a:endParaRPr lang="ru-RU" sz="2000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93750" y="1602618"/>
            <a:ext cx="5060949" cy="1422400"/>
          </a:xfrm>
          <a:prstGeom prst="round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365874" y="1602618"/>
            <a:ext cx="5060949" cy="1422400"/>
          </a:xfrm>
          <a:prstGeom prst="round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право 11"/>
          <p:cNvSpPr/>
          <p:nvPr/>
        </p:nvSpPr>
        <p:spPr>
          <a:xfrm>
            <a:off x="5900254" y="2202452"/>
            <a:ext cx="420059" cy="16827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714085" y="1333500"/>
            <a:ext cx="8531515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93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714085" y="350141"/>
            <a:ext cx="11476950" cy="13025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Место процесса по </a:t>
            </a:r>
            <a:r>
              <a:rPr lang="en-US" dirty="0" smtClean="0"/>
              <a:t>IDEF0</a:t>
            </a:r>
            <a:endParaRPr lang="ru-RU" dirty="0"/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714085" y="1333500"/>
            <a:ext cx="8531515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84" y="1530065"/>
            <a:ext cx="10073773" cy="520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5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9" y="927100"/>
            <a:ext cx="11861801" cy="593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9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838199" y="131513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Описание процесса в нотации </a:t>
            </a:r>
            <a:r>
              <a:rPr lang="en-US" dirty="0"/>
              <a:t>BPMN</a:t>
            </a:r>
            <a:r>
              <a:rPr lang="ru-RU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AS IS</a:t>
            </a:r>
            <a:r>
              <a:rPr lang="ru-RU" dirty="0"/>
              <a:t>: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952376"/>
            <a:ext cx="12192001" cy="3318123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28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74964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Хронометраж</a:t>
            </a:r>
            <a:endParaRPr lang="ru-RU" dirty="0"/>
          </a:p>
        </p:txBody>
      </p:sp>
      <p:graphicFrame>
        <p:nvGraphicFramePr>
          <p:cNvPr id="8" name="Диаграмма 7"/>
          <p:cNvGraphicFramePr/>
          <p:nvPr>
            <p:extLst>
              <p:ext uri="{D42A27DB-BD31-4B8C-83A1-F6EECF244321}">
                <p14:modId xmlns:p14="http://schemas.microsoft.com/office/powerpoint/2010/main" val="1343088752"/>
              </p:ext>
            </p:extLst>
          </p:nvPr>
        </p:nvGraphicFramePr>
        <p:xfrm>
          <a:off x="5029200" y="1881503"/>
          <a:ext cx="7061200" cy="3859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Объект 7"/>
          <p:cNvSpPr txBox="1">
            <a:spLocks/>
          </p:cNvSpPr>
          <p:nvPr/>
        </p:nvSpPr>
        <p:spPr>
          <a:xfrm>
            <a:off x="410250" y="1519552"/>
            <a:ext cx="4618950" cy="458343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Создание </a:t>
            </a:r>
            <a:r>
              <a:rPr lang="ru-RU" sz="2000" dirty="0"/>
              <a:t>копии документа плана мероприятий с предыдущей недели (копирование файла, сохранение под новым </a:t>
            </a:r>
            <a:r>
              <a:rPr lang="ru-RU" sz="2000" dirty="0" smtClean="0"/>
              <a:t>именем)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Р</a:t>
            </a:r>
            <a:r>
              <a:rPr lang="ru-RU" sz="2000" dirty="0" smtClean="0"/>
              <a:t>едактирование </a:t>
            </a:r>
            <a:r>
              <a:rPr lang="ru-RU" sz="2000" dirty="0"/>
              <a:t>названия (дат) (изменение дат в шапке </a:t>
            </a:r>
            <a:r>
              <a:rPr lang="ru-RU" sz="2000" dirty="0" smtClean="0"/>
              <a:t>документа)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О</a:t>
            </a:r>
            <a:r>
              <a:rPr lang="ru-RU" sz="2000" dirty="0" smtClean="0"/>
              <a:t>ткрытие </a:t>
            </a:r>
            <a:r>
              <a:rPr lang="ru-RU" sz="2000" dirty="0"/>
              <a:t>входящего письма в системе "практика" (поиск письма, открытие)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Изучение </a:t>
            </a:r>
            <a:r>
              <a:rPr lang="ru-RU" sz="2000" dirty="0"/>
              <a:t>информации из содержания, вложений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Внесение </a:t>
            </a:r>
            <a:r>
              <a:rPr lang="ru-RU" sz="2000" dirty="0"/>
              <a:t>информации на нужную дату в документ (Удаление старой информации, добавление новой, форматирование)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Проставление </a:t>
            </a:r>
            <a:r>
              <a:rPr lang="ru-RU" sz="2000" dirty="0"/>
              <a:t>ответственного (выбор из письма, аналогичного мероприятия и </a:t>
            </a:r>
            <a:r>
              <a:rPr lang="ru-RU" sz="2000" dirty="0" err="1"/>
              <a:t>тд</a:t>
            </a:r>
            <a:r>
              <a:rPr lang="ru-RU" sz="2000" dirty="0" smtClean="0"/>
              <a:t>)__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Повтор </a:t>
            </a:r>
            <a:r>
              <a:rPr lang="ru-RU" sz="2000" dirty="0"/>
              <a:t>пунктов </a:t>
            </a:r>
            <a:r>
              <a:rPr lang="ru-RU" sz="2000" dirty="0" smtClean="0"/>
              <a:t>3-6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В </a:t>
            </a:r>
            <a:r>
              <a:rPr lang="ru-RU" sz="2000" dirty="0"/>
              <a:t>понедельник рассылка плана мероприятий по заинтересованным подразделениям </a:t>
            </a:r>
            <a:r>
              <a:rPr lang="ru-RU" sz="2000" dirty="0" smtClean="0"/>
              <a:t>(СМИ, </a:t>
            </a:r>
            <a:r>
              <a:rPr lang="ru-RU" sz="2000" dirty="0"/>
              <a:t>проректор и </a:t>
            </a:r>
            <a:r>
              <a:rPr lang="ru-RU" sz="2000" dirty="0" err="1"/>
              <a:t>тд</a:t>
            </a:r>
            <a:r>
              <a:rPr lang="ru-RU" sz="2000" dirty="0"/>
              <a:t>) (подготовка письма, добавление вложений, </a:t>
            </a:r>
            <a:r>
              <a:rPr lang="ru-RU" sz="2000" dirty="0" smtClean="0"/>
              <a:t>отправка)</a:t>
            </a:r>
          </a:p>
          <a:p>
            <a:pPr marL="0" indent="0">
              <a:buNone/>
            </a:pPr>
            <a:r>
              <a:rPr lang="ru-RU" sz="2000" dirty="0"/>
              <a:t>З</a:t>
            </a:r>
            <a:r>
              <a:rPr lang="ru-RU" sz="2000" dirty="0" smtClean="0"/>
              <a:t>а </a:t>
            </a:r>
            <a:r>
              <a:rPr lang="ru-RU" sz="2000" dirty="0"/>
              <a:t>17 минут обработано 6 писем, может быть в неделю около 15-20 таких писем, со </a:t>
            </a:r>
            <a:r>
              <a:rPr lang="ru-RU" sz="2000" dirty="0" smtClean="0"/>
              <a:t>слов сотрудника </a:t>
            </a:r>
            <a:r>
              <a:rPr lang="ru-RU" sz="2000" dirty="0"/>
              <a:t>"уходит по 1,5 часа в неделю</a:t>
            </a:r>
            <a:r>
              <a:rPr lang="ru-RU" sz="2000" dirty="0" smtClean="0"/>
              <a:t>"</a:t>
            </a:r>
            <a:endParaRPr lang="ru-RU" sz="2000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4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4528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Расчет времени такта БП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1820276"/>
              </p:ext>
            </p:extLst>
          </p:nvPr>
        </p:nvGraphicFramePr>
        <p:xfrm>
          <a:off x="838200" y="1439545"/>
          <a:ext cx="10515600" cy="2595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2292444329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2030374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18875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Шаг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Время на 1 письмо, сек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Время на 20</a:t>
                      </a:r>
                      <a:r>
                        <a:rPr lang="ru-RU" baseline="0" dirty="0" smtClean="0"/>
                        <a:t> писем, мин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550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dirty="0" smtClean="0"/>
                        <a:t>Копия файла и переименование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0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dirty="0" smtClean="0"/>
                        <a:t>Открытие письма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818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dirty="0" smtClean="0"/>
                        <a:t>Изучение информации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60-120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20-40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130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dirty="0" smtClean="0"/>
                        <a:t>Внесение информации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36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dirty="0" smtClean="0"/>
                        <a:t>Проставление ответственного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565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dirty="0" smtClean="0"/>
                        <a:t>Итого на обработку писем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81-101 минута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354389"/>
                  </a:ext>
                </a:extLst>
              </a:tr>
            </a:tbl>
          </a:graphicData>
        </a:graphic>
      </p:graphicFrame>
      <p:sp>
        <p:nvSpPr>
          <p:cNvPr id="8" name="Объект 2"/>
          <p:cNvSpPr txBox="1">
            <a:spLocks/>
          </p:cNvSpPr>
          <p:nvPr/>
        </p:nvSpPr>
        <p:spPr>
          <a:xfrm>
            <a:off x="838200" y="4466907"/>
            <a:ext cx="10515600" cy="194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 smtClean="0"/>
              <a:t>Время такта = 90 минут / 1 план = 90 минут на план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Минимальное время (81 мин) – укладывается с минимальным запасом </a:t>
            </a:r>
            <a:br>
              <a:rPr lang="ru-RU" sz="2000" dirty="0" smtClean="0"/>
            </a:br>
            <a:r>
              <a:rPr lang="ru-RU" sz="2000" dirty="0" smtClean="0"/>
              <a:t>Максимальное время (101 мин) – выходит за рамки выделенного времени</a:t>
            </a:r>
            <a:endParaRPr lang="ru-RU" sz="2000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26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Поиск проблемных мест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200" y="1690688"/>
            <a:ext cx="9042400" cy="4352586"/>
          </a:xfrm>
          <a:prstGeom prst="rect">
            <a:avLst/>
          </a:prstGeom>
        </p:spPr>
      </p:pic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609600" y="2371725"/>
            <a:ext cx="28194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smtClean="0"/>
              <a:t>Простоев и задержек нет, со слов сотрудника процесс проблем не доставляет. Однако </a:t>
            </a:r>
            <a:r>
              <a:rPr lang="ru-RU" sz="2000" b="1" dirty="0"/>
              <a:t>м</a:t>
            </a:r>
            <a:r>
              <a:rPr lang="ru-RU" sz="2000" b="1" dirty="0" smtClean="0"/>
              <a:t>ного </a:t>
            </a:r>
            <a:r>
              <a:rPr lang="ru-RU" sz="2000" b="1" dirty="0" smtClean="0"/>
              <a:t>ручных операций</a:t>
            </a:r>
            <a:r>
              <a:rPr lang="ru-RU" sz="2000" dirty="0" smtClean="0"/>
              <a:t> в процессе, имеет смысл предложить автоматизацию процесса. 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11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3250" y="517525"/>
            <a:ext cx="27178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Проблема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1000" y="2546350"/>
            <a:ext cx="5099050" cy="993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Ручное копирование </a:t>
            </a:r>
            <a:r>
              <a:rPr lang="ru-RU" dirty="0" smtClean="0"/>
              <a:t>файла </a:t>
            </a:r>
          </a:p>
          <a:p>
            <a:pPr marL="0" indent="0">
              <a:buNone/>
            </a:pPr>
            <a:r>
              <a:rPr lang="ru-RU" dirty="0" smtClean="0"/>
              <a:t>и </a:t>
            </a:r>
            <a:r>
              <a:rPr lang="ru-RU" dirty="0"/>
              <a:t>изменение </a:t>
            </a:r>
            <a:r>
              <a:rPr lang="ru-RU" dirty="0" smtClean="0"/>
              <a:t>дат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8496300" y="535781"/>
            <a:ext cx="271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dirty="0" smtClean="0"/>
              <a:t>Решение</a:t>
            </a:r>
            <a:endParaRPr lang="ru-RU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6921500" y="2549525"/>
            <a:ext cx="4940300" cy="8159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Автоматическое копирование и переименование документа</a:t>
            </a:r>
            <a:endParaRPr lang="ru-RU" dirty="0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381000" y="3630612"/>
            <a:ext cx="5099050" cy="993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Ручной разбор писем, поиск дат, ответственных и внесение в документ</a:t>
            </a: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6921500" y="4714875"/>
            <a:ext cx="4940300" cy="993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Автоматическая рассылка плана</a:t>
            </a:r>
            <a:endParaRPr lang="ru-RU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381000" y="4714875"/>
            <a:ext cx="5099050" cy="993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Ручная отправка </a:t>
            </a:r>
            <a:r>
              <a:rPr lang="en-US" dirty="0"/>
              <a:t>email</a:t>
            </a:r>
            <a:endParaRPr lang="ru-RU" dirty="0"/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6921500" y="3543300"/>
            <a:ext cx="4940300" cy="993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err="1"/>
              <a:t>Парсинг</a:t>
            </a:r>
            <a:r>
              <a:rPr lang="ru-RU" dirty="0"/>
              <a:t> писем из системы «Практика»</a:t>
            </a:r>
            <a:endParaRPr lang="ru-RU" dirty="0"/>
          </a:p>
        </p:txBody>
      </p:sp>
      <p:sp>
        <p:nvSpPr>
          <p:cNvPr id="12" name="Стрелка вправо 11"/>
          <p:cNvSpPr/>
          <p:nvPr/>
        </p:nvSpPr>
        <p:spPr>
          <a:xfrm>
            <a:off x="5502275" y="983457"/>
            <a:ext cx="812800" cy="39370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 вправо 14"/>
          <p:cNvSpPr/>
          <p:nvPr/>
        </p:nvSpPr>
        <p:spPr>
          <a:xfrm>
            <a:off x="5622925" y="2663824"/>
            <a:ext cx="577850" cy="25082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право 15"/>
          <p:cNvSpPr/>
          <p:nvPr/>
        </p:nvSpPr>
        <p:spPr>
          <a:xfrm>
            <a:off x="5622925" y="3654424"/>
            <a:ext cx="577850" cy="25082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 вправо 16"/>
          <p:cNvSpPr/>
          <p:nvPr/>
        </p:nvSpPr>
        <p:spPr>
          <a:xfrm>
            <a:off x="5622925" y="4829174"/>
            <a:ext cx="577850" cy="25082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647700" y="1422400"/>
            <a:ext cx="105664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18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5770827"/>
              </p:ext>
            </p:extLst>
          </p:nvPr>
        </p:nvGraphicFramePr>
        <p:xfrm>
          <a:off x="101600" y="88901"/>
          <a:ext cx="12001500" cy="667892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000375">
                  <a:extLst>
                    <a:ext uri="{9D8B030D-6E8A-4147-A177-3AD203B41FA5}">
                      <a16:colId xmlns:a16="http://schemas.microsoft.com/office/drawing/2014/main" val="580630422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631265419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773236137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1533785891"/>
                    </a:ext>
                  </a:extLst>
                </a:gridCol>
              </a:tblGrid>
              <a:tr h="876314"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Автоматическое копирование и переименование документа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err="1" smtClean="0"/>
                        <a:t>Парсинг</a:t>
                      </a:r>
                      <a:r>
                        <a:rPr lang="ru-RU" sz="1600" dirty="0" smtClean="0"/>
                        <a:t> писем из системы «Практика»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Автоматическая рассылка плана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046512"/>
                  </a:ext>
                </a:extLst>
              </a:tr>
              <a:tr h="1183102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Проблема: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Ручное копирование файла и изменение дат занимает около 50 сек. на операцию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Ручной разбор писем, поиск дат, ответственных и внесение в документ занимает 3-6 минут на письмо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Ручная отправка </a:t>
                      </a:r>
                      <a:r>
                        <a:rPr lang="en-US" sz="1600" dirty="0" smtClean="0"/>
                        <a:t>email</a:t>
                      </a:r>
                      <a:r>
                        <a:rPr lang="ru-RU" sz="1600" dirty="0" smtClean="0"/>
                        <a:t> занимает около 2 минут (предположительно) </a:t>
                      </a:r>
                    </a:p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192049"/>
                  </a:ext>
                </a:extLst>
              </a:tr>
              <a:tr h="225171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Решение: 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Скрипт, который: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 smtClean="0"/>
                        <a:t>автоматически находит последний файл плана создает копию с новой датой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 smtClean="0"/>
                        <a:t>обновляет даты внутри документа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1600" dirty="0" smtClean="0"/>
                        <a:t>Если «Практика» имеет </a:t>
                      </a:r>
                      <a:r>
                        <a:rPr lang="en-US" sz="1600" dirty="0" smtClean="0"/>
                        <a:t>API</a:t>
                      </a:r>
                      <a:r>
                        <a:rPr lang="ru-RU" sz="1600" dirty="0" smtClean="0"/>
                        <a:t> или поддерживает </a:t>
                      </a:r>
                      <a:r>
                        <a:rPr lang="en-US" sz="1600" dirty="0" smtClean="0"/>
                        <a:t>IMAP</a:t>
                      </a:r>
                      <a:r>
                        <a:rPr lang="ru-RU" sz="1600" dirty="0" smtClean="0"/>
                        <a:t>/</a:t>
                      </a:r>
                      <a:r>
                        <a:rPr lang="en-US" sz="1600" dirty="0" smtClean="0"/>
                        <a:t>POP3</a:t>
                      </a:r>
                      <a:r>
                        <a:rPr lang="ru-RU" sz="1600" dirty="0" smtClean="0"/>
                        <a:t>, можно автоматически: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 smtClean="0"/>
                        <a:t>Скачивать письма по фильтру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 smtClean="0"/>
                        <a:t>Извлекать данные (дата, место, ответственный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 smtClean="0"/>
                        <a:t>Вставлять их в документ плана </a:t>
                      </a:r>
                    </a:p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Скрипт рассылки через </a:t>
                      </a:r>
                      <a:r>
                        <a:rPr lang="en-US" sz="1600" dirty="0" smtClean="0"/>
                        <a:t>SMTP</a:t>
                      </a:r>
                      <a:endParaRPr lang="ru-RU" sz="1600" dirty="0" smtClean="0"/>
                    </a:p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918048"/>
                  </a:ext>
                </a:extLst>
              </a:tr>
              <a:tr h="2089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/>
                        <a:t>Эффект: </a:t>
                      </a:r>
                      <a:endParaRPr lang="ru-RU" sz="1800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 smtClean="0"/>
                        <a:t>Экономия времени: с 50 сек до 2 сек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 smtClean="0"/>
                        <a:t>Минимизация ошибок: исключаются опечатки в датах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 smtClean="0"/>
                        <a:t>Гибкость: можно адаптировать под другие форматы дат или документы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Время обработки 1 письма сокращается с 3-6 мин до 10-30 сек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Рассылка занимает 5 сек вместо 2 мин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147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44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819241" y="118813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Описание процесса в нотации </a:t>
            </a:r>
            <a:r>
              <a:rPr lang="en-US" dirty="0"/>
              <a:t>BPMN</a:t>
            </a:r>
            <a:r>
              <a:rPr lang="ru-RU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TO BE</a:t>
            </a:r>
            <a:r>
              <a:rPr lang="ru-RU" dirty="0"/>
              <a:t>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06" y="1987052"/>
            <a:ext cx="11755671" cy="3813424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39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89731"/>
            <a:ext cx="121920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Паспорт проекта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4602811"/>
              </p:ext>
            </p:extLst>
          </p:nvPr>
        </p:nvGraphicFramePr>
        <p:xfrm>
          <a:off x="273050" y="2097088"/>
          <a:ext cx="11645900" cy="21031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551887">
                  <a:extLst>
                    <a:ext uri="{9D8B030D-6E8A-4147-A177-3AD203B41FA5}">
                      <a16:colId xmlns:a16="http://schemas.microsoft.com/office/drawing/2014/main" val="379922089"/>
                    </a:ext>
                  </a:extLst>
                </a:gridCol>
                <a:gridCol w="1916244">
                  <a:extLst>
                    <a:ext uri="{9D8B030D-6E8A-4147-A177-3AD203B41FA5}">
                      <a16:colId xmlns:a16="http://schemas.microsoft.com/office/drawing/2014/main" val="2267192272"/>
                    </a:ext>
                  </a:extLst>
                </a:gridCol>
                <a:gridCol w="1983717">
                  <a:extLst>
                    <a:ext uri="{9D8B030D-6E8A-4147-A177-3AD203B41FA5}">
                      <a16:colId xmlns:a16="http://schemas.microsoft.com/office/drawing/2014/main" val="2866514476"/>
                    </a:ext>
                  </a:extLst>
                </a:gridCol>
                <a:gridCol w="2172642">
                  <a:extLst>
                    <a:ext uri="{9D8B030D-6E8A-4147-A177-3AD203B41FA5}">
                      <a16:colId xmlns:a16="http://schemas.microsoft.com/office/drawing/2014/main" val="748817813"/>
                    </a:ext>
                  </a:extLst>
                </a:gridCol>
                <a:gridCol w="2071960">
                  <a:extLst>
                    <a:ext uri="{9D8B030D-6E8A-4147-A177-3AD203B41FA5}">
                      <a16:colId xmlns:a16="http://schemas.microsoft.com/office/drawing/2014/main" val="1709726454"/>
                    </a:ext>
                  </a:extLst>
                </a:gridCol>
                <a:gridCol w="1949450">
                  <a:extLst>
                    <a:ext uri="{9D8B030D-6E8A-4147-A177-3AD203B41FA5}">
                      <a16:colId xmlns:a16="http://schemas.microsoft.com/office/drawing/2014/main" val="2202036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Начало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Окончание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Руководитель проекта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Команда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Цель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Бюджет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991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01.09.2025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01.10.2025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Менеджер</a:t>
                      </a:r>
                      <a:r>
                        <a:rPr lang="ru-RU" baseline="0" dirty="0" smtClean="0"/>
                        <a:t> </a:t>
                      </a:r>
                      <a:r>
                        <a:rPr lang="en-US" baseline="0" dirty="0" smtClean="0"/>
                        <a:t>IT</a:t>
                      </a:r>
                      <a:r>
                        <a:rPr lang="ru-RU" baseline="0" dirty="0" smtClean="0"/>
                        <a:t> проектов КФУ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Менеджер</a:t>
                      </a:r>
                      <a:r>
                        <a:rPr lang="ru-RU" baseline="0" dirty="0" smtClean="0"/>
                        <a:t> проекта, </a:t>
                      </a:r>
                      <a:r>
                        <a:rPr lang="en-US" baseline="0" dirty="0" smtClean="0"/>
                        <a:t>IT</a:t>
                      </a:r>
                      <a:r>
                        <a:rPr lang="ru-RU" baseline="0" dirty="0" smtClean="0"/>
                        <a:t>-специалист, специалист ОПО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Автоматизировать процесс формирования плана мероприятий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70 000**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513200"/>
                  </a:ext>
                </a:extLst>
              </a:tr>
            </a:tbl>
          </a:graphicData>
        </a:graphic>
      </p:graphicFrame>
      <p:sp>
        <p:nvSpPr>
          <p:cNvPr id="6" name="Объект 2"/>
          <p:cNvSpPr txBox="1">
            <a:spLocks/>
          </p:cNvSpPr>
          <p:nvPr/>
        </p:nvSpPr>
        <p:spPr>
          <a:xfrm>
            <a:off x="273050" y="4697096"/>
            <a:ext cx="11645900" cy="993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 smtClean="0"/>
              <a:t>* Минимальная длительность 21 день, срок указан с учетом задержек и дополнительных проверок</a:t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**</a:t>
            </a:r>
            <a:r>
              <a:rPr lang="en-US" sz="1600" dirty="0" smtClean="0"/>
              <a:t> </a:t>
            </a:r>
            <a:r>
              <a:rPr lang="ru-RU" sz="1600" dirty="0"/>
              <a:t>При средней </a:t>
            </a:r>
            <a:r>
              <a:rPr lang="ru-RU" sz="1600" dirty="0" smtClean="0"/>
              <a:t>З/П</a:t>
            </a:r>
            <a:r>
              <a:rPr lang="en-US" sz="1600" dirty="0" smtClean="0"/>
              <a:t> </a:t>
            </a:r>
            <a:r>
              <a:rPr lang="ru-RU" sz="1600" dirty="0" smtClean="0"/>
              <a:t>участников, </a:t>
            </a:r>
            <a:r>
              <a:rPr lang="ru-RU" sz="1600" dirty="0"/>
              <a:t>равной 90 000 </a:t>
            </a:r>
            <a:r>
              <a:rPr lang="ru-RU" sz="1600" dirty="0" err="1" smtClean="0"/>
              <a:t>руб</a:t>
            </a:r>
            <a:r>
              <a:rPr lang="ru-RU" sz="1600" dirty="0" smtClean="0"/>
              <a:t>/</a:t>
            </a:r>
            <a:r>
              <a:rPr lang="ru-RU" sz="1600" dirty="0" err="1" smtClean="0"/>
              <a:t>мес</a:t>
            </a:r>
            <a:r>
              <a:rPr lang="en-US" sz="1600" dirty="0" smtClean="0"/>
              <a:t> </a:t>
            </a:r>
            <a:endParaRPr lang="ru-RU" sz="1600" dirty="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33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Итоговый эффект «время – деньги»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5104901"/>
              </p:ext>
            </p:extLst>
          </p:nvPr>
        </p:nvGraphicFramePr>
        <p:xfrm>
          <a:off x="546100" y="1690688"/>
          <a:ext cx="7526020" cy="437398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59378">
                  <a:extLst>
                    <a:ext uri="{9D8B030D-6E8A-4147-A177-3AD203B41FA5}">
                      <a16:colId xmlns:a16="http://schemas.microsoft.com/office/drawing/2014/main" val="4201824606"/>
                    </a:ext>
                  </a:extLst>
                </a:gridCol>
                <a:gridCol w="1459378">
                  <a:extLst>
                    <a:ext uri="{9D8B030D-6E8A-4147-A177-3AD203B41FA5}">
                      <a16:colId xmlns:a16="http://schemas.microsoft.com/office/drawing/2014/main" val="360076738"/>
                    </a:ext>
                  </a:extLst>
                </a:gridCol>
                <a:gridCol w="2303632">
                  <a:extLst>
                    <a:ext uri="{9D8B030D-6E8A-4147-A177-3AD203B41FA5}">
                      <a16:colId xmlns:a16="http://schemas.microsoft.com/office/drawing/2014/main" val="3149151536"/>
                    </a:ext>
                  </a:extLst>
                </a:gridCol>
                <a:gridCol w="2303632">
                  <a:extLst>
                    <a:ext uri="{9D8B030D-6E8A-4147-A177-3AD203B41FA5}">
                      <a16:colId xmlns:a16="http://schemas.microsoft.com/office/drawing/2014/main" val="945854202"/>
                    </a:ext>
                  </a:extLst>
                </a:gridCol>
              </a:tblGrid>
              <a:tr h="624946">
                <a:tc>
                  <a:txBody>
                    <a:bodyPr/>
                    <a:lstStyle/>
                    <a:p>
                      <a:r>
                        <a:rPr lang="ru-RU" dirty="0" smtClean="0"/>
                        <a:t>Этап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Ручная работа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 автоматизацией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Период</a:t>
                      </a:r>
                      <a:r>
                        <a:rPr lang="ru-RU" baseline="0" dirty="0" smtClean="0"/>
                        <a:t> окупаемости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513144"/>
                  </a:ext>
                </a:extLst>
              </a:tr>
              <a:tr h="624946">
                <a:tc>
                  <a:txBody>
                    <a:bodyPr/>
                    <a:lstStyle/>
                    <a:p>
                      <a:r>
                        <a:rPr lang="ru-RU" dirty="0" smtClean="0"/>
                        <a:t>Копирование документа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 сек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 сек</a:t>
                      </a:r>
                      <a:endParaRPr lang="ru-RU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3, 7 года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666752"/>
                  </a:ext>
                </a:extLst>
              </a:tr>
              <a:tr h="624946">
                <a:tc>
                  <a:txBody>
                    <a:bodyPr/>
                    <a:lstStyle/>
                    <a:p>
                      <a:r>
                        <a:rPr lang="ru-RU" dirty="0" smtClean="0"/>
                        <a:t>Обработка 20 писем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75 мин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 мин</a:t>
                      </a:r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641917"/>
                  </a:ext>
                </a:extLst>
              </a:tr>
              <a:tr h="624946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Рассылка плана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 мин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 сек</a:t>
                      </a:r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351046"/>
                  </a:ext>
                </a:extLst>
              </a:tr>
              <a:tr h="624946">
                <a:tc>
                  <a:txBody>
                    <a:bodyPr/>
                    <a:lstStyle/>
                    <a:p>
                      <a:r>
                        <a:rPr lang="ru-RU" dirty="0" smtClean="0"/>
                        <a:t>Итого: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4670 сек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427 сек</a:t>
                      </a:r>
                      <a:endParaRPr lang="ru-RU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260345"/>
                  </a:ext>
                </a:extLst>
              </a:tr>
              <a:tr h="624946">
                <a:tc>
                  <a:txBody>
                    <a:bodyPr/>
                    <a:lstStyle/>
                    <a:p>
                      <a:r>
                        <a:rPr lang="ru-RU" dirty="0" smtClean="0"/>
                        <a:t>Эффект: </a:t>
                      </a:r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ru-RU" b="1" dirty="0" smtClean="0"/>
                        <a:t>Ускорение процесса в +-</a:t>
                      </a:r>
                      <a:r>
                        <a:rPr lang="ru-RU" b="1" baseline="0" dirty="0" smtClean="0"/>
                        <a:t> 10 </a:t>
                      </a:r>
                      <a:r>
                        <a:rPr lang="ru-RU" b="1" baseline="0" dirty="0" smtClean="0"/>
                        <a:t>раз </a:t>
                      </a:r>
                      <a:r>
                        <a:rPr lang="en-US" b="1" baseline="0" dirty="0" smtClean="0"/>
                        <a:t>=&gt;</a:t>
                      </a:r>
                      <a:r>
                        <a:rPr lang="ru-RU" b="1" baseline="0" dirty="0" smtClean="0"/>
                        <a:t> экономия 1 584 </a:t>
                      </a:r>
                      <a:r>
                        <a:rPr lang="ru-RU" b="1" baseline="0" dirty="0" err="1" smtClean="0"/>
                        <a:t>руб</a:t>
                      </a:r>
                      <a:r>
                        <a:rPr lang="ru-RU" b="1" baseline="0" dirty="0" smtClean="0"/>
                        <a:t>/</a:t>
                      </a:r>
                      <a:r>
                        <a:rPr lang="ru-RU" b="1" baseline="0" dirty="0" err="1" smtClean="0"/>
                        <a:t>мес</a:t>
                      </a:r>
                      <a:r>
                        <a:rPr lang="ru-RU" b="1" baseline="0" dirty="0" smtClean="0"/>
                        <a:t> </a:t>
                      </a:r>
                      <a:r>
                        <a:rPr lang="en-US" b="0" baseline="0" dirty="0" smtClean="0"/>
                        <a:t>(</a:t>
                      </a:r>
                      <a:r>
                        <a:rPr lang="ru-RU" b="0" baseline="0" dirty="0" smtClean="0"/>
                        <a:t>при средней З/П специалиста 55000 </a:t>
                      </a:r>
                      <a:r>
                        <a:rPr lang="ru-RU" b="0" baseline="0" dirty="0" err="1" smtClean="0"/>
                        <a:t>руб</a:t>
                      </a:r>
                      <a:r>
                        <a:rPr lang="ru-RU" b="0" baseline="0" dirty="0" smtClean="0"/>
                        <a:t>/</a:t>
                      </a:r>
                      <a:r>
                        <a:rPr lang="ru-RU" b="0" baseline="0" dirty="0" err="1" smtClean="0"/>
                        <a:t>мес</a:t>
                      </a:r>
                      <a:r>
                        <a:rPr lang="ru-RU" b="0" baseline="0" dirty="0" smtClean="0"/>
                        <a:t>)</a:t>
                      </a:r>
                      <a:endParaRPr lang="ru-RU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858135"/>
                  </a:ext>
                </a:extLst>
              </a:tr>
            </a:tbl>
          </a:graphicData>
        </a:graphic>
      </p:graphicFrame>
      <p:sp>
        <p:nvSpPr>
          <p:cNvPr id="6" name="Объект 2"/>
          <p:cNvSpPr txBox="1">
            <a:spLocks/>
          </p:cNvSpPr>
          <p:nvPr/>
        </p:nvSpPr>
        <p:spPr>
          <a:xfrm>
            <a:off x="8364220" y="1690688"/>
            <a:ext cx="2819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/>
              <a:t>Если автоматизация критически важна — проект целесообразен, но для быстрой окупаемости </a:t>
            </a:r>
            <a:r>
              <a:rPr lang="ru-RU" sz="2000" dirty="0" smtClean="0"/>
              <a:t>можно: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Снижать затраты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Масштабировать </a:t>
            </a:r>
            <a:r>
              <a:rPr lang="ru-RU" sz="2000" dirty="0"/>
              <a:t>на другие процессы.</a:t>
            </a:r>
            <a:endParaRPr lang="ru-RU" sz="2000" dirty="0" smtClean="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73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Проблемные места, дополнительно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56044"/>
            <a:ext cx="54864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Со слов сотрудника, принтер в офисе печатает «через раз», срабатывает не с первого раза, оставляет при печати </a:t>
            </a:r>
            <a:r>
              <a:rPr lang="ru-RU" dirty="0"/>
              <a:t>ц</a:t>
            </a:r>
            <a:r>
              <a:rPr lang="ru-RU" dirty="0" smtClean="0"/>
              <a:t>ветные полосы. (Из наблюдений: для печати документа потребовалось сделать 2 неудачные попытки с местным принтером, к-е заняли 8 минут, в итоге сотрудник ушел печатать в другой отдел) 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Принтер располагается в неудобном месте: на полу в углу кабинета, для получения доступа приходится обходить одну из сотрудниц.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12154" r="2578" b="8446"/>
          <a:stretch/>
        </p:blipFill>
        <p:spPr>
          <a:xfrm>
            <a:off x="6948538" y="1486464"/>
            <a:ext cx="4316361" cy="4690499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838200" y="1333500"/>
            <a:ext cx="84074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82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внимание!</a:t>
            </a:r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2409825" y="2590798"/>
            <a:ext cx="7372350" cy="1676401"/>
          </a:xfrm>
          <a:prstGeom prst="round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03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1282</Words>
  <Application>Microsoft Office PowerPoint</Application>
  <PresentationFormat>Широкоэкранный</PresentationFormat>
  <Paragraphs>267</Paragraphs>
  <Slides>30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Тема Office</vt:lpstr>
      <vt:lpstr>Проектная работа  «Анализ и оптимизация  бизнес-процессов отдела УДК КФУ»</vt:lpstr>
      <vt:lpstr>I процесс</vt:lpstr>
      <vt:lpstr>Должность: документовед сектора</vt:lpstr>
      <vt:lpstr>Хронометраж</vt:lpstr>
      <vt:lpstr>SIPOC</vt:lpstr>
      <vt:lpstr>Диаграмма Исикавы</vt:lpstr>
      <vt:lpstr>Проблема и улучшения </vt:lpstr>
      <vt:lpstr>Паспорт проекта</vt:lpstr>
      <vt:lpstr>План внедрения улучшений</vt:lpstr>
      <vt:lpstr>Время такта</vt:lpstr>
      <vt:lpstr>Презентация PowerPoint</vt:lpstr>
      <vt:lpstr>Презентация PowerPoint</vt:lpstr>
      <vt:lpstr>Затраты</vt:lpstr>
      <vt:lpstr>Презентация PowerPoint</vt:lpstr>
      <vt:lpstr>Показатели для оценки</vt:lpstr>
      <vt:lpstr>II процесс</vt:lpstr>
      <vt:lpstr>Должность: специалист организационно-протокольного отдела</vt:lpstr>
      <vt:lpstr>Место процесса по IDEF0</vt:lpstr>
      <vt:lpstr>Презентация PowerPoint</vt:lpstr>
      <vt:lpstr>Описание процесса в нотации BPMN  AS IS:</vt:lpstr>
      <vt:lpstr>Хронометраж</vt:lpstr>
      <vt:lpstr>Расчет времени такта БП</vt:lpstr>
      <vt:lpstr>Поиск проблемных мест</vt:lpstr>
      <vt:lpstr>Проблема</vt:lpstr>
      <vt:lpstr>Презентация PowerPoint</vt:lpstr>
      <vt:lpstr>Описание процесса в нотации BPMN  TO BE:</vt:lpstr>
      <vt:lpstr>Паспорт проекта</vt:lpstr>
      <vt:lpstr>Итоговый эффект «время – деньги»</vt:lpstr>
      <vt:lpstr>Проблемные места, дополнительно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Екатерина</dc:creator>
  <cp:lastModifiedBy>Екатерина</cp:lastModifiedBy>
  <cp:revision>79</cp:revision>
  <dcterms:created xsi:type="dcterms:W3CDTF">2025-04-28T04:45:50Z</dcterms:created>
  <dcterms:modified xsi:type="dcterms:W3CDTF">2025-05-05T10:51:12Z</dcterms:modified>
</cp:coreProperties>
</file>