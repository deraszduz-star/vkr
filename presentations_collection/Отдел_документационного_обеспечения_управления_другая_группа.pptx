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3"/>
  </p:notesMasterIdLst>
  <p:sldIdLst>
    <p:sldId id="256" r:id="rId2"/>
    <p:sldId id="257" r:id="rId3"/>
    <p:sldId id="271" r:id="rId4"/>
    <p:sldId id="259" r:id="rId5"/>
    <p:sldId id="260" r:id="rId6"/>
    <p:sldId id="261" r:id="rId7"/>
    <p:sldId id="262" r:id="rId8"/>
    <p:sldId id="263" r:id="rId9"/>
    <p:sldId id="270" r:id="rId10"/>
    <p:sldId id="264" r:id="rId11"/>
    <p:sldId id="265" r:id="rId12"/>
    <p:sldId id="266" r:id="rId13"/>
    <p:sldId id="267" r:id="rId14"/>
    <p:sldId id="269" r:id="rId15"/>
    <p:sldId id="272" r:id="rId16"/>
    <p:sldId id="273" r:id="rId17"/>
    <p:sldId id="274" r:id="rId18"/>
    <p:sldId id="275" r:id="rId19"/>
    <p:sldId id="276" r:id="rId20"/>
    <p:sldId id="277" r:id="rId21"/>
    <p:sldId id="279" r:id="rId22"/>
    <p:sldId id="278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6" r:id="rId37"/>
    <p:sldId id="298" r:id="rId38"/>
    <p:sldId id="297" r:id="rId39"/>
    <p:sldId id="295" r:id="rId40"/>
    <p:sldId id="294" r:id="rId41"/>
    <p:sldId id="293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Александр Борисов" initials="АБ" lastIdx="1" clrIdx="0">
    <p:extLst>
      <p:ext uri="{19B8F6BF-5375-455C-9EA6-DF929625EA0E}">
        <p15:presenceInfo xmlns:p15="http://schemas.microsoft.com/office/powerpoint/2012/main" userId="8ca3c600956f58c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9A78"/>
    <a:srgbClr val="FD8582"/>
    <a:srgbClr val="456A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50" autoAdjust="0"/>
    <p:restoredTop sz="94660"/>
  </p:normalViewPr>
  <p:slideViewPr>
    <p:cSldViewPr snapToGrid="0">
      <p:cViewPr varScale="1">
        <p:scale>
          <a:sx n="98" d="100"/>
          <a:sy n="98" d="100"/>
        </p:scale>
        <p:origin x="28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04T00:51:43.256" idx="1">
    <p:pos x="7680" y="0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23B1AA6D-BB9C-4C9E-B663-E66195E109F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C0C3725-B8FC-4F53-B3E3-16CF66669CC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AA790A-4118-4C0E-AA61-A80EA7CF2C35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4" name="Образ слайда 3">
            <a:extLst>
              <a:ext uri="{FF2B5EF4-FFF2-40B4-BE49-F238E27FC236}">
                <a16:creationId xmlns:a16="http://schemas.microsoft.com/office/drawing/2014/main" id="{60893057-3396-4B50-9EF3-F1EB137EFB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>
            <a:extLst>
              <a:ext uri="{FF2B5EF4-FFF2-40B4-BE49-F238E27FC236}">
                <a16:creationId xmlns:a16="http://schemas.microsoft.com/office/drawing/2014/main" id="{4ACED0AC-FF31-4B99-9C90-99709BD911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52B4F86-EC92-40CF-8261-487C71F0A9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D00D092-FEE5-4AAD-9C98-962DBE139D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411B48-CC92-4FF8-98D0-2AC82C38A658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13303-622E-48A8-8076-D9C0B20BF10A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1221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13303-622E-48A8-8076-D9C0B20BF10A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0278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F98E6-FFD9-E5C0-28DB-544F25284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A007420-4996-BE2C-923A-ADDFD06EDB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AE35EE0-512D-A7D9-F097-A3830FE5FB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33F964A-E6FB-2E4F-8BE1-2D142417B4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13303-622E-48A8-8076-D9C0B20BF10A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04799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D4530-76B4-E801-E900-39AB8C59E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9F4F0D9-AB87-0845-7D05-DC01D28005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CB4AA1E-F117-1B5D-BE96-3EC47AE81A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0ECE0AB-F332-A5BF-2DB3-20DC363A99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13303-622E-48A8-8076-D9C0B20BF10A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9490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E8BA7-BD2E-496C-B4CC-EBF091B5EEA6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0A2A2-657E-4BCE-8746-AC4D385F16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9545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E8BA7-BD2E-496C-B4CC-EBF091B5EEA6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0A2A2-657E-4BCE-8746-AC4D385F16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3498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E8BA7-BD2E-496C-B4CC-EBF091B5EEA6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0A2A2-657E-4BCE-8746-AC4D385F16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1995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E8BA7-BD2E-496C-B4CC-EBF091B5EEA6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0A2A2-657E-4BCE-8746-AC4D385F16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4469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E8BA7-BD2E-496C-B4CC-EBF091B5EEA6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0A2A2-657E-4BCE-8746-AC4D385F16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2679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E8BA7-BD2E-496C-B4CC-EBF091B5EEA6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0A2A2-657E-4BCE-8746-AC4D385F16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2970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E8BA7-BD2E-496C-B4CC-EBF091B5EEA6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0A2A2-657E-4BCE-8746-AC4D385F16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0033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E8BA7-BD2E-496C-B4CC-EBF091B5EEA6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0A2A2-657E-4BCE-8746-AC4D385F16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0748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E8BA7-BD2E-496C-B4CC-EBF091B5EEA6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0A2A2-657E-4BCE-8746-AC4D385F16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3438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E8BA7-BD2E-496C-B4CC-EBF091B5EEA6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0A2A2-657E-4BCE-8746-AC4D385F16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9907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E8BA7-BD2E-496C-B4CC-EBF091B5EEA6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0A2A2-657E-4BCE-8746-AC4D385F16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9691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9E8BA7-BD2E-496C-B4CC-EBF091B5EEA6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F0A2A2-657E-4BCE-8746-AC4D385F16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702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comments" Target="../comments/commen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071C76-CD18-4BA8-BB3D-0B74F8985E2A}"/>
              </a:ext>
            </a:extLst>
          </p:cNvPr>
          <p:cNvSpPr/>
          <p:nvPr/>
        </p:nvSpPr>
        <p:spPr>
          <a:xfrm>
            <a:off x="1" y="4607511"/>
            <a:ext cx="12192000" cy="2250489"/>
          </a:xfrm>
          <a:prstGeom prst="rect">
            <a:avLst/>
          </a:prstGeom>
          <a:solidFill>
            <a:srgbClr val="456A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24A2BC-41F0-4C3B-95A0-990DC47AB9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2978" y="3140893"/>
            <a:ext cx="9144000" cy="2387600"/>
          </a:xfrm>
        </p:spPr>
        <p:txBody>
          <a:bodyPr/>
          <a:lstStyle/>
          <a:p>
            <a:r>
              <a:rPr lang="ru-RU" dirty="0" err="1">
                <a:solidFill>
                  <a:schemeClr val="bg1"/>
                </a:solidFill>
              </a:rPr>
              <a:t>Гемба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326B723-C35F-4937-A027-A1013734B5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28493"/>
            <a:ext cx="9144000" cy="1655762"/>
          </a:xfrm>
        </p:spPr>
        <p:txBody>
          <a:bodyPr/>
          <a:lstStyle/>
          <a:p>
            <a:r>
              <a:rPr lang="ru-RU" b="1" dirty="0" err="1">
                <a:solidFill>
                  <a:srgbClr val="FD8582"/>
                </a:solidFill>
              </a:rPr>
              <a:t>Галимуллин</a:t>
            </a:r>
            <a:r>
              <a:rPr lang="ru-RU" b="1" dirty="0">
                <a:solidFill>
                  <a:srgbClr val="FD8582"/>
                </a:solidFill>
              </a:rPr>
              <a:t>, Варина, Борисова, </a:t>
            </a:r>
            <a:r>
              <a:rPr lang="ru-RU" b="1" dirty="0" err="1">
                <a:solidFill>
                  <a:srgbClr val="FD8582"/>
                </a:solidFill>
              </a:rPr>
              <a:t>Жмыхова</a:t>
            </a:r>
            <a:endParaRPr lang="ru-RU" b="1" dirty="0">
              <a:solidFill>
                <a:srgbClr val="FD8582"/>
              </a:solidFill>
            </a:endParaRPr>
          </a:p>
        </p:txBody>
      </p:sp>
      <p:pic>
        <p:nvPicPr>
          <p:cNvPr id="1030" name="Picture 6" descr="Как сделать красивую презентацию, если вы не дизайнер">
            <a:extLst>
              <a:ext uri="{FF2B5EF4-FFF2-40B4-BE49-F238E27FC236}">
                <a16:creationId xmlns:a16="http://schemas.microsoft.com/office/drawing/2014/main" id="{49C0C373-1F17-42A1-BFBA-6BCF0CA13D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4662" y="308499"/>
            <a:ext cx="6382675" cy="4156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5109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03CFA14-4DEF-4C5F-A931-43E74FDDF9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782" t="14757" r="11966" b="11845"/>
          <a:stretch/>
        </p:blipFill>
        <p:spPr>
          <a:xfrm>
            <a:off x="0" y="-1"/>
            <a:ext cx="12192000" cy="687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889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071C76-CD18-4BA8-BB3D-0B74F8985E2A}"/>
              </a:ext>
            </a:extLst>
          </p:cNvPr>
          <p:cNvSpPr/>
          <p:nvPr/>
        </p:nvSpPr>
        <p:spPr>
          <a:xfrm>
            <a:off x="1" y="0"/>
            <a:ext cx="12192000" cy="1329507"/>
          </a:xfrm>
          <a:prstGeom prst="rect">
            <a:avLst/>
          </a:prstGeom>
          <a:solidFill>
            <a:srgbClr val="456A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24A2BC-41F0-4C3B-95A0-990DC47AB9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4202" y="217578"/>
            <a:ext cx="9144000" cy="894349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</a:rPr>
              <a:t>Замеры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6BB989EB-E8E4-4753-95CB-167CB2774C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2426218"/>
              </p:ext>
            </p:extLst>
          </p:nvPr>
        </p:nvGraphicFramePr>
        <p:xfrm>
          <a:off x="838200" y="1803602"/>
          <a:ext cx="10515600" cy="4731824"/>
        </p:xfrm>
        <a:graphic>
          <a:graphicData uri="http://schemas.openxmlformats.org/drawingml/2006/table">
            <a:tbl>
              <a:tblPr/>
              <a:tblGrid>
                <a:gridCol w="7559257">
                  <a:extLst>
                    <a:ext uri="{9D8B030D-6E8A-4147-A177-3AD203B41FA5}">
                      <a16:colId xmlns:a16="http://schemas.microsoft.com/office/drawing/2014/main" val="3971438099"/>
                    </a:ext>
                  </a:extLst>
                </a:gridCol>
                <a:gridCol w="2956343">
                  <a:extLst>
                    <a:ext uri="{9D8B030D-6E8A-4147-A177-3AD203B41FA5}">
                      <a16:colId xmlns:a16="http://schemas.microsoft.com/office/drawing/2014/main" val="2175274888"/>
                    </a:ext>
                  </a:extLst>
                </a:gridCol>
              </a:tblGrid>
              <a:tr h="396628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400" b="1" dirty="0">
                          <a:effectLst/>
                        </a:rPr>
                        <a:t>Открытие программ: </a:t>
                      </a:r>
                      <a:r>
                        <a:rPr lang="ru-RU" sz="1400" b="1" dirty="0" err="1">
                          <a:effectLst/>
                        </a:rPr>
                        <a:t>межвед.системы</a:t>
                      </a:r>
                      <a:r>
                        <a:rPr lang="ru-RU" sz="1400" b="1" dirty="0">
                          <a:effectLst/>
                        </a:rPr>
                        <a:t> </a:t>
                      </a:r>
                      <a:r>
                        <a:rPr lang="ru-RU" sz="1400" b="1" dirty="0" err="1">
                          <a:effectLst/>
                        </a:rPr>
                        <a:t>эл.документооборота</a:t>
                      </a:r>
                      <a:r>
                        <a:rPr lang="ru-RU" sz="1400" b="1" dirty="0">
                          <a:effectLst/>
                        </a:rPr>
                        <a:t> </a:t>
                      </a:r>
                      <a:r>
                        <a:rPr lang="ru-RU" sz="1400" b="1" dirty="0" err="1">
                          <a:effectLst/>
                        </a:rPr>
                        <a:t>мин.науки</a:t>
                      </a:r>
                      <a:r>
                        <a:rPr lang="ru-RU" sz="1400" b="1" dirty="0">
                          <a:effectLst/>
                        </a:rPr>
                        <a:t> и </a:t>
                      </a:r>
                      <a:r>
                        <a:rPr lang="ru-RU" sz="1400" b="1" dirty="0" err="1">
                          <a:effectLst/>
                        </a:rPr>
                        <a:t>высш.обр.рф</a:t>
                      </a:r>
                      <a:r>
                        <a:rPr lang="ru-RU" sz="1400" b="1" dirty="0">
                          <a:effectLst/>
                        </a:rPr>
                        <a:t>; система электронного документооборота</a:t>
                      </a:r>
                    </a:p>
                  </a:txBody>
                  <a:tcPr marL="28067" marR="28067" marT="18711" marB="1871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800" b="1">
                          <a:effectLst/>
                        </a:rPr>
                        <a:t>40</a:t>
                      </a:r>
                    </a:p>
                  </a:txBody>
                  <a:tcPr marL="28067" marR="28067" marT="18711" marB="1871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545622"/>
                  </a:ext>
                </a:extLst>
              </a:tr>
              <a:tr h="396628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800" b="1">
                          <a:effectLst/>
                        </a:rPr>
                        <a:t>Скачивает документы из межвед.системы эл.документооборота</a:t>
                      </a:r>
                    </a:p>
                  </a:txBody>
                  <a:tcPr marL="28067" marR="28067" marT="18711" marB="1871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800" b="1">
                          <a:effectLst/>
                        </a:rPr>
                        <a:t>5</a:t>
                      </a:r>
                    </a:p>
                  </a:txBody>
                  <a:tcPr marL="28067" marR="28067" marT="18711" marB="1871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1204979"/>
                  </a:ext>
                </a:extLst>
              </a:tr>
              <a:tr h="396628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800" b="1">
                          <a:effectLst/>
                        </a:rPr>
                        <a:t>Закачивает в систему эл.документооборота</a:t>
                      </a:r>
                    </a:p>
                  </a:txBody>
                  <a:tcPr marL="28067" marR="28067" marT="18711" marB="1871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800" b="1">
                          <a:effectLst/>
                        </a:rPr>
                        <a:t>25</a:t>
                      </a:r>
                    </a:p>
                  </a:txBody>
                  <a:tcPr marL="28067" marR="28067" marT="18711" marB="1871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348375"/>
                  </a:ext>
                </a:extLst>
              </a:tr>
              <a:tr h="396628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800" b="1" dirty="0">
                          <a:effectLst/>
                        </a:rPr>
                        <a:t>Присваивает номер(регистрирует)</a:t>
                      </a:r>
                    </a:p>
                  </a:txBody>
                  <a:tcPr marL="28067" marR="28067" marT="18711" marB="1871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800" b="1">
                          <a:effectLst/>
                        </a:rPr>
                        <a:t>98</a:t>
                      </a:r>
                    </a:p>
                  </a:txBody>
                  <a:tcPr marL="28067" marR="28067" marT="18711" marB="1871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0178368"/>
                  </a:ext>
                </a:extLst>
              </a:tr>
              <a:tr h="396628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800" b="1">
                          <a:effectLst/>
                        </a:rPr>
                        <a:t>Вставляет номер в межвед.систему эл.документооборота</a:t>
                      </a:r>
                    </a:p>
                  </a:txBody>
                  <a:tcPr marL="28067" marR="28067" marT="18711" marB="1871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800" b="1">
                          <a:effectLst/>
                        </a:rPr>
                        <a:t>26</a:t>
                      </a:r>
                    </a:p>
                  </a:txBody>
                  <a:tcPr marL="28067" marR="28067" marT="18711" marB="1871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9298031"/>
                  </a:ext>
                </a:extLst>
              </a:tr>
              <a:tr h="396628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800" b="1" dirty="0">
                          <a:effectLst/>
                        </a:rPr>
                        <a:t>Изучение документа</a:t>
                      </a:r>
                    </a:p>
                  </a:txBody>
                  <a:tcPr marL="28067" marR="28067" marT="18711" marB="1871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800" b="1">
                          <a:effectLst/>
                        </a:rPr>
                        <a:t>189</a:t>
                      </a:r>
                    </a:p>
                  </a:txBody>
                  <a:tcPr marL="28067" marR="28067" marT="18711" marB="1871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3105631"/>
                  </a:ext>
                </a:extLst>
              </a:tr>
              <a:tr h="396628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800" b="1">
                          <a:effectLst/>
                        </a:rPr>
                        <a:t>Проект резолюция/направление</a:t>
                      </a:r>
                    </a:p>
                  </a:txBody>
                  <a:tcPr marL="28067" marR="28067" marT="18711" marB="1871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800" b="1">
                          <a:effectLst/>
                        </a:rPr>
                        <a:t>50</a:t>
                      </a:r>
                    </a:p>
                  </a:txBody>
                  <a:tcPr marL="28067" marR="28067" marT="18711" marB="1871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6681984"/>
                  </a:ext>
                </a:extLst>
              </a:tr>
              <a:tr h="745643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800" b="1">
                          <a:effectLst/>
                        </a:rPr>
                        <a:t>Поиск новых документов на направление (в системе эл.документооборота или подходят и просят направить другие сотрудники)</a:t>
                      </a:r>
                    </a:p>
                  </a:txBody>
                  <a:tcPr marL="28067" marR="28067" marT="18711" marB="1871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800" b="1">
                          <a:effectLst/>
                        </a:rPr>
                        <a:t>79</a:t>
                      </a:r>
                    </a:p>
                  </a:txBody>
                  <a:tcPr marL="28067" marR="28067" marT="18711" marB="1871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681926"/>
                  </a:ext>
                </a:extLst>
              </a:tr>
              <a:tr h="745643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800" b="1">
                          <a:effectLst/>
                        </a:rPr>
                        <a:t>Изучение документа/ждали пока другой сотрудник ответит, чтобы разобраться в документе</a:t>
                      </a:r>
                    </a:p>
                  </a:txBody>
                  <a:tcPr marL="28067" marR="28067" marT="18711" marB="1871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800" b="1">
                          <a:effectLst/>
                        </a:rPr>
                        <a:t>1216</a:t>
                      </a:r>
                    </a:p>
                  </a:txBody>
                  <a:tcPr marL="28067" marR="28067" marT="18711" marB="1871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4578632"/>
                  </a:ext>
                </a:extLst>
              </a:tr>
              <a:tr h="396628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800" b="1">
                          <a:effectLst/>
                        </a:rPr>
                        <a:t>Проект резолюция/направление</a:t>
                      </a:r>
                    </a:p>
                  </a:txBody>
                  <a:tcPr marL="28067" marR="28067" marT="18711" marB="1871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800" b="1" dirty="0">
                          <a:effectLst/>
                        </a:rPr>
                        <a:t>61</a:t>
                      </a:r>
                    </a:p>
                  </a:txBody>
                  <a:tcPr marL="28067" marR="28067" marT="18711" marB="1871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07125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1107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071C76-CD18-4BA8-BB3D-0B74F8985E2A}"/>
              </a:ext>
            </a:extLst>
          </p:cNvPr>
          <p:cNvSpPr/>
          <p:nvPr/>
        </p:nvSpPr>
        <p:spPr>
          <a:xfrm>
            <a:off x="1" y="0"/>
            <a:ext cx="12192000" cy="1329507"/>
          </a:xfrm>
          <a:prstGeom prst="rect">
            <a:avLst/>
          </a:prstGeom>
          <a:solidFill>
            <a:srgbClr val="456A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24A2BC-41F0-4C3B-95A0-990DC47AB9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4202" y="217578"/>
            <a:ext cx="9144000" cy="89434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  <a:latin typeface="Bernard MT Condensed" panose="02050806060905020404" pitchFamily="18" charset="0"/>
              </a:rPr>
              <a:t> Value Stream Map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3806354-1486-422B-8F15-2693C29D247B}"/>
              </a:ext>
            </a:extLst>
          </p:cNvPr>
          <p:cNvSpPr/>
          <p:nvPr/>
        </p:nvSpPr>
        <p:spPr>
          <a:xfrm>
            <a:off x="0" y="2949840"/>
            <a:ext cx="1004561" cy="85401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 234с (3.9м)</a:t>
            </a:r>
            <a:endParaRPr lang="ru-RU" sz="1600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BEA1743-8B00-49DF-9FF0-2D547FF4B657}"/>
              </a:ext>
            </a:extLst>
          </p:cNvPr>
          <p:cNvSpPr/>
          <p:nvPr/>
        </p:nvSpPr>
        <p:spPr>
          <a:xfrm>
            <a:off x="2749401" y="2949840"/>
            <a:ext cx="1004553" cy="87358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700" dirty="0"/>
              <a:t>149с (2.48м)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B76221D-8107-4CBF-90D2-7CF08D008BC0}"/>
              </a:ext>
            </a:extLst>
          </p:cNvPr>
          <p:cNvSpPr/>
          <p:nvPr/>
        </p:nvSpPr>
        <p:spPr>
          <a:xfrm>
            <a:off x="4361604" y="1341938"/>
            <a:ext cx="28296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latin typeface="Bernard MT Condensed" panose="02050806060905020404" pitchFamily="18" charset="0"/>
              </a:rPr>
              <a:t>Проект резолюция</a:t>
            </a:r>
            <a:endParaRPr lang="ru-RU" sz="2400" dirty="0"/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4076DC7B-DD4E-4D21-8A54-36139BC084E3}"/>
              </a:ext>
            </a:extLst>
          </p:cNvPr>
          <p:cNvCxnSpPr>
            <a:cxnSpLocks/>
          </p:cNvCxnSpPr>
          <p:nvPr/>
        </p:nvCxnSpPr>
        <p:spPr>
          <a:xfrm>
            <a:off x="-20016" y="3803853"/>
            <a:ext cx="1564438" cy="0"/>
          </a:xfrm>
          <a:prstGeom prst="line">
            <a:avLst/>
          </a:prstGeom>
          <a:ln w="57150">
            <a:solidFill>
              <a:srgbClr val="1D9A78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BDBF4D3-64AA-4A50-8E5D-EAD3210C4FAA}"/>
              </a:ext>
            </a:extLst>
          </p:cNvPr>
          <p:cNvSpPr/>
          <p:nvPr/>
        </p:nvSpPr>
        <p:spPr>
          <a:xfrm>
            <a:off x="-220310" y="2179978"/>
            <a:ext cx="144518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b="1" dirty="0"/>
              <a:t>Первичная обработка и регистрация</a:t>
            </a:r>
            <a:endParaRPr lang="ru-RU" sz="1400" dirty="0"/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C4BA839E-2A21-4ECD-AEE1-83DB3638011C}"/>
              </a:ext>
            </a:extLst>
          </p:cNvPr>
          <p:cNvCxnSpPr>
            <a:cxnSpLocks/>
          </p:cNvCxnSpPr>
          <p:nvPr/>
        </p:nvCxnSpPr>
        <p:spPr>
          <a:xfrm>
            <a:off x="1544422" y="3803853"/>
            <a:ext cx="0" cy="72574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0DC2DE80-5203-41D8-B82F-3C81EF0332F3}"/>
              </a:ext>
            </a:extLst>
          </p:cNvPr>
          <p:cNvCxnSpPr>
            <a:cxnSpLocks/>
          </p:cNvCxnSpPr>
          <p:nvPr/>
        </p:nvCxnSpPr>
        <p:spPr>
          <a:xfrm>
            <a:off x="1544422" y="4538119"/>
            <a:ext cx="619034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DE13B0A2-7F0D-401E-B487-786BFAF26665}"/>
              </a:ext>
            </a:extLst>
          </p:cNvPr>
          <p:cNvCxnSpPr>
            <a:cxnSpLocks/>
          </p:cNvCxnSpPr>
          <p:nvPr/>
        </p:nvCxnSpPr>
        <p:spPr>
          <a:xfrm>
            <a:off x="2141750" y="3803852"/>
            <a:ext cx="0" cy="72574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5859ABD2-1AB3-40BF-A33A-D4FC16B444D5}"/>
              </a:ext>
            </a:extLst>
          </p:cNvPr>
          <p:cNvSpPr/>
          <p:nvPr/>
        </p:nvSpPr>
        <p:spPr>
          <a:xfrm>
            <a:off x="1611741" y="3967034"/>
            <a:ext cx="4523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dirty="0"/>
              <a:t> 0с</a:t>
            </a:r>
            <a:endParaRPr lang="ru-RU" sz="1600" dirty="0"/>
          </a:p>
        </p:txBody>
      </p: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49423FCF-A254-4481-B91F-D647E3DECA5F}"/>
              </a:ext>
            </a:extLst>
          </p:cNvPr>
          <p:cNvCxnSpPr>
            <a:cxnSpLocks/>
          </p:cNvCxnSpPr>
          <p:nvPr/>
        </p:nvCxnSpPr>
        <p:spPr>
          <a:xfrm flipH="1">
            <a:off x="2141750" y="3823420"/>
            <a:ext cx="6096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F2B8CAD4-B438-437F-94D8-D21720F66864}"/>
              </a:ext>
            </a:extLst>
          </p:cNvPr>
          <p:cNvCxnSpPr>
            <a:cxnSpLocks/>
          </p:cNvCxnSpPr>
          <p:nvPr/>
        </p:nvCxnSpPr>
        <p:spPr>
          <a:xfrm flipH="1">
            <a:off x="3753954" y="3823420"/>
            <a:ext cx="60765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C3FB3026-697C-4BB1-B7A5-EF9A8E596A77}"/>
              </a:ext>
            </a:extLst>
          </p:cNvPr>
          <p:cNvCxnSpPr>
            <a:cxnSpLocks/>
          </p:cNvCxnSpPr>
          <p:nvPr/>
        </p:nvCxnSpPr>
        <p:spPr>
          <a:xfrm>
            <a:off x="4361604" y="3812370"/>
            <a:ext cx="0" cy="72574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единительная линия 42">
            <a:extLst>
              <a:ext uri="{FF2B5EF4-FFF2-40B4-BE49-F238E27FC236}">
                <a16:creationId xmlns:a16="http://schemas.microsoft.com/office/drawing/2014/main" id="{D0063EE5-A768-4020-AB48-BCAF1206B1CC}"/>
              </a:ext>
            </a:extLst>
          </p:cNvPr>
          <p:cNvCxnSpPr>
            <a:cxnSpLocks/>
          </p:cNvCxnSpPr>
          <p:nvPr/>
        </p:nvCxnSpPr>
        <p:spPr>
          <a:xfrm>
            <a:off x="4361604" y="4507777"/>
            <a:ext cx="67541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id="{2C8E308E-2A15-4DBB-B40F-885F77FA0B11}"/>
              </a:ext>
            </a:extLst>
          </p:cNvPr>
          <p:cNvCxnSpPr>
            <a:cxnSpLocks/>
          </p:cNvCxnSpPr>
          <p:nvPr/>
        </p:nvCxnSpPr>
        <p:spPr>
          <a:xfrm>
            <a:off x="7783929" y="3831558"/>
            <a:ext cx="0" cy="72574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единительная линия 45">
            <a:extLst>
              <a:ext uri="{FF2B5EF4-FFF2-40B4-BE49-F238E27FC236}">
                <a16:creationId xmlns:a16="http://schemas.microsoft.com/office/drawing/2014/main" id="{4358D60F-8D29-46C8-8BB6-EAEEE3421F37}"/>
              </a:ext>
            </a:extLst>
          </p:cNvPr>
          <p:cNvCxnSpPr>
            <a:cxnSpLocks/>
          </p:cNvCxnSpPr>
          <p:nvPr/>
        </p:nvCxnSpPr>
        <p:spPr>
          <a:xfrm>
            <a:off x="7246387" y="3831558"/>
            <a:ext cx="0" cy="72574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>
            <a:extLst>
              <a:ext uri="{FF2B5EF4-FFF2-40B4-BE49-F238E27FC236}">
                <a16:creationId xmlns:a16="http://schemas.microsoft.com/office/drawing/2014/main" id="{0DDD0A01-1CB4-4F94-8225-D88A38A9C6FD}"/>
              </a:ext>
            </a:extLst>
          </p:cNvPr>
          <p:cNvCxnSpPr>
            <a:cxnSpLocks/>
          </p:cNvCxnSpPr>
          <p:nvPr/>
        </p:nvCxnSpPr>
        <p:spPr>
          <a:xfrm>
            <a:off x="5037014" y="3803852"/>
            <a:ext cx="0" cy="72574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62B691DF-C44E-4C98-B27C-F70D344391DF}"/>
              </a:ext>
            </a:extLst>
          </p:cNvPr>
          <p:cNvSpPr/>
          <p:nvPr/>
        </p:nvSpPr>
        <p:spPr>
          <a:xfrm>
            <a:off x="5643052" y="2949840"/>
            <a:ext cx="1004539" cy="88171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30с</a:t>
            </a:r>
            <a:r>
              <a:rPr lang="ru-RU" sz="1700" dirty="0"/>
              <a:t> </a:t>
            </a:r>
          </a:p>
        </p:txBody>
      </p:sp>
      <p:cxnSp>
        <p:nvCxnSpPr>
          <p:cNvPr id="58" name="Прямая соединительная линия 57">
            <a:extLst>
              <a:ext uri="{FF2B5EF4-FFF2-40B4-BE49-F238E27FC236}">
                <a16:creationId xmlns:a16="http://schemas.microsoft.com/office/drawing/2014/main" id="{4BE5D391-ACDF-48D0-A59A-B4E3BAECFCFD}"/>
              </a:ext>
            </a:extLst>
          </p:cNvPr>
          <p:cNvCxnSpPr>
            <a:cxnSpLocks/>
          </p:cNvCxnSpPr>
          <p:nvPr/>
        </p:nvCxnSpPr>
        <p:spPr>
          <a:xfrm flipH="1">
            <a:off x="5037014" y="3823420"/>
            <a:ext cx="60765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E4CE5C9C-1594-4B5E-9030-9F44962936EA}"/>
              </a:ext>
            </a:extLst>
          </p:cNvPr>
          <p:cNvSpPr/>
          <p:nvPr/>
        </p:nvSpPr>
        <p:spPr>
          <a:xfrm>
            <a:off x="4470329" y="3967034"/>
            <a:ext cx="4523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dirty="0"/>
              <a:t> 0с</a:t>
            </a:r>
            <a:endParaRPr lang="ru-RU" sz="1600" dirty="0"/>
          </a:p>
        </p:txBody>
      </p: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E7099FB9-062F-436A-87E5-7D6F70E2E305}"/>
              </a:ext>
            </a:extLst>
          </p:cNvPr>
          <p:cNvSpPr/>
          <p:nvPr/>
        </p:nvSpPr>
        <p:spPr>
          <a:xfrm>
            <a:off x="8278568" y="2984070"/>
            <a:ext cx="1004553" cy="87358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79с</a:t>
            </a:r>
            <a:r>
              <a:rPr lang="ru-RU" sz="1700" dirty="0"/>
              <a:t> (1.31м)</a:t>
            </a:r>
          </a:p>
        </p:txBody>
      </p:sp>
      <p:cxnSp>
        <p:nvCxnSpPr>
          <p:cNvPr id="61" name="Прямая соединительная линия 60">
            <a:extLst>
              <a:ext uri="{FF2B5EF4-FFF2-40B4-BE49-F238E27FC236}">
                <a16:creationId xmlns:a16="http://schemas.microsoft.com/office/drawing/2014/main" id="{0B4109EB-5296-4CB0-91DD-44C60F43C5FC}"/>
              </a:ext>
            </a:extLst>
          </p:cNvPr>
          <p:cNvCxnSpPr>
            <a:cxnSpLocks/>
          </p:cNvCxnSpPr>
          <p:nvPr/>
        </p:nvCxnSpPr>
        <p:spPr>
          <a:xfrm flipH="1">
            <a:off x="9213012" y="3863176"/>
            <a:ext cx="60765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>
            <a:extLst>
              <a:ext uri="{FF2B5EF4-FFF2-40B4-BE49-F238E27FC236}">
                <a16:creationId xmlns:a16="http://schemas.microsoft.com/office/drawing/2014/main" id="{272386DE-7199-4513-8D08-9020FA1FA930}"/>
              </a:ext>
            </a:extLst>
          </p:cNvPr>
          <p:cNvCxnSpPr>
            <a:cxnSpLocks/>
          </p:cNvCxnSpPr>
          <p:nvPr/>
        </p:nvCxnSpPr>
        <p:spPr>
          <a:xfrm>
            <a:off x="9820662" y="3852126"/>
            <a:ext cx="0" cy="72574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>
            <a:extLst>
              <a:ext uri="{FF2B5EF4-FFF2-40B4-BE49-F238E27FC236}">
                <a16:creationId xmlns:a16="http://schemas.microsoft.com/office/drawing/2014/main" id="{F753BD63-AAAB-4804-A563-A127F608E0C8}"/>
              </a:ext>
            </a:extLst>
          </p:cNvPr>
          <p:cNvCxnSpPr>
            <a:cxnSpLocks/>
          </p:cNvCxnSpPr>
          <p:nvPr/>
        </p:nvCxnSpPr>
        <p:spPr>
          <a:xfrm>
            <a:off x="9820662" y="4547533"/>
            <a:ext cx="67541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>
            <a:extLst>
              <a:ext uri="{FF2B5EF4-FFF2-40B4-BE49-F238E27FC236}">
                <a16:creationId xmlns:a16="http://schemas.microsoft.com/office/drawing/2014/main" id="{D561A867-0377-49AE-A86B-48E0FEBC90C0}"/>
              </a:ext>
            </a:extLst>
          </p:cNvPr>
          <p:cNvCxnSpPr>
            <a:cxnSpLocks/>
          </p:cNvCxnSpPr>
          <p:nvPr/>
        </p:nvCxnSpPr>
        <p:spPr>
          <a:xfrm>
            <a:off x="10496072" y="3843608"/>
            <a:ext cx="0" cy="72574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Прямоугольник 64">
            <a:extLst>
              <a:ext uri="{FF2B5EF4-FFF2-40B4-BE49-F238E27FC236}">
                <a16:creationId xmlns:a16="http://schemas.microsoft.com/office/drawing/2014/main" id="{73F5DB17-F8AB-4B2F-911D-BC5BF8B2BB00}"/>
              </a:ext>
            </a:extLst>
          </p:cNvPr>
          <p:cNvSpPr/>
          <p:nvPr/>
        </p:nvSpPr>
        <p:spPr>
          <a:xfrm>
            <a:off x="11076088" y="2988141"/>
            <a:ext cx="1004539" cy="88171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61с</a:t>
            </a:r>
            <a:r>
              <a:rPr lang="ru-RU" sz="1700" dirty="0"/>
              <a:t> </a:t>
            </a:r>
          </a:p>
        </p:txBody>
      </p:sp>
      <p:cxnSp>
        <p:nvCxnSpPr>
          <p:cNvPr id="66" name="Прямая соединительная линия 65">
            <a:extLst>
              <a:ext uri="{FF2B5EF4-FFF2-40B4-BE49-F238E27FC236}">
                <a16:creationId xmlns:a16="http://schemas.microsoft.com/office/drawing/2014/main" id="{807B8CE7-A90A-4E07-A647-C5935446E681}"/>
              </a:ext>
            </a:extLst>
          </p:cNvPr>
          <p:cNvCxnSpPr>
            <a:cxnSpLocks/>
          </p:cNvCxnSpPr>
          <p:nvPr/>
        </p:nvCxnSpPr>
        <p:spPr>
          <a:xfrm flipH="1">
            <a:off x="10496072" y="3863176"/>
            <a:ext cx="60765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id="{C53573C2-AD23-4107-9093-3A467515ABC3}"/>
              </a:ext>
            </a:extLst>
          </p:cNvPr>
          <p:cNvSpPr/>
          <p:nvPr/>
        </p:nvSpPr>
        <p:spPr>
          <a:xfrm>
            <a:off x="9717763" y="3869859"/>
            <a:ext cx="883317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/>
              <a:t> </a:t>
            </a:r>
            <a:r>
              <a:rPr lang="ru-RU" sz="1600" dirty="0"/>
              <a:t>1216с</a:t>
            </a:r>
          </a:p>
          <a:p>
            <a:pPr algn="ctr"/>
            <a:r>
              <a:rPr lang="ru-RU" sz="1600" dirty="0"/>
              <a:t>(20.2м)</a:t>
            </a:r>
          </a:p>
        </p:txBody>
      </p:sp>
      <p:cxnSp>
        <p:nvCxnSpPr>
          <p:cNvPr id="68" name="Прямая соединительная линия 67">
            <a:extLst>
              <a:ext uri="{FF2B5EF4-FFF2-40B4-BE49-F238E27FC236}">
                <a16:creationId xmlns:a16="http://schemas.microsoft.com/office/drawing/2014/main" id="{D38D383E-C181-4250-AEAE-EA400DC461A1}"/>
              </a:ext>
            </a:extLst>
          </p:cNvPr>
          <p:cNvCxnSpPr>
            <a:cxnSpLocks/>
          </p:cNvCxnSpPr>
          <p:nvPr/>
        </p:nvCxnSpPr>
        <p:spPr>
          <a:xfrm flipH="1">
            <a:off x="6638737" y="3831819"/>
            <a:ext cx="60765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Прямая соединительная линия 68">
            <a:extLst>
              <a:ext uri="{FF2B5EF4-FFF2-40B4-BE49-F238E27FC236}">
                <a16:creationId xmlns:a16="http://schemas.microsoft.com/office/drawing/2014/main" id="{D77BFFA6-93BC-4CF3-B3CA-2D8F0F61169D}"/>
              </a:ext>
            </a:extLst>
          </p:cNvPr>
          <p:cNvCxnSpPr>
            <a:cxnSpLocks/>
          </p:cNvCxnSpPr>
          <p:nvPr/>
        </p:nvCxnSpPr>
        <p:spPr>
          <a:xfrm>
            <a:off x="7246387" y="4557307"/>
            <a:ext cx="53754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Прямая соединительная линия 71">
            <a:extLst>
              <a:ext uri="{FF2B5EF4-FFF2-40B4-BE49-F238E27FC236}">
                <a16:creationId xmlns:a16="http://schemas.microsoft.com/office/drawing/2014/main" id="{57E54B87-0178-4E99-8E19-CD806993ECF0}"/>
              </a:ext>
            </a:extLst>
          </p:cNvPr>
          <p:cNvCxnSpPr>
            <a:cxnSpLocks/>
          </p:cNvCxnSpPr>
          <p:nvPr/>
        </p:nvCxnSpPr>
        <p:spPr>
          <a:xfrm flipH="1">
            <a:off x="7783929" y="3852126"/>
            <a:ext cx="552876" cy="26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Прямоугольник 74">
            <a:extLst>
              <a:ext uri="{FF2B5EF4-FFF2-40B4-BE49-F238E27FC236}">
                <a16:creationId xmlns:a16="http://schemas.microsoft.com/office/drawing/2014/main" id="{80F43A1D-6CE0-427E-8AAA-EA7DCD14490B}"/>
              </a:ext>
            </a:extLst>
          </p:cNvPr>
          <p:cNvSpPr/>
          <p:nvPr/>
        </p:nvSpPr>
        <p:spPr>
          <a:xfrm>
            <a:off x="7253920" y="4006790"/>
            <a:ext cx="4523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dirty="0"/>
              <a:t> 0с</a:t>
            </a:r>
            <a:endParaRPr lang="ru-RU" sz="1600" dirty="0"/>
          </a:p>
        </p:txBody>
      </p:sp>
      <p:sp>
        <p:nvSpPr>
          <p:cNvPr id="73" name="Прямоугольник 72">
            <a:extLst>
              <a:ext uri="{FF2B5EF4-FFF2-40B4-BE49-F238E27FC236}">
                <a16:creationId xmlns:a16="http://schemas.microsoft.com/office/drawing/2014/main" id="{4A806313-8261-40DA-8F20-794F48410A14}"/>
              </a:ext>
            </a:extLst>
          </p:cNvPr>
          <p:cNvSpPr/>
          <p:nvPr/>
        </p:nvSpPr>
        <p:spPr>
          <a:xfrm>
            <a:off x="4974065" y="2386272"/>
            <a:ext cx="22798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Проект Резолюции 1</a:t>
            </a:r>
            <a:endParaRPr lang="ru-RU" dirty="0"/>
          </a:p>
        </p:txBody>
      </p:sp>
      <p:sp>
        <p:nvSpPr>
          <p:cNvPr id="76" name="Прямоугольник 75">
            <a:extLst>
              <a:ext uri="{FF2B5EF4-FFF2-40B4-BE49-F238E27FC236}">
                <a16:creationId xmlns:a16="http://schemas.microsoft.com/office/drawing/2014/main" id="{BD90E40D-7624-4AFF-83D6-620D48BAD74A}"/>
              </a:ext>
            </a:extLst>
          </p:cNvPr>
          <p:cNvSpPr/>
          <p:nvPr/>
        </p:nvSpPr>
        <p:spPr>
          <a:xfrm>
            <a:off x="2039974" y="2362928"/>
            <a:ext cx="22798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Google Sans Text"/>
              </a:rPr>
              <a:t>Изучение документа</a:t>
            </a:r>
            <a:endParaRPr lang="ru-RU" dirty="0"/>
          </a:p>
        </p:txBody>
      </p:sp>
      <p:sp>
        <p:nvSpPr>
          <p:cNvPr id="77" name="Прямоугольник 76">
            <a:extLst>
              <a:ext uri="{FF2B5EF4-FFF2-40B4-BE49-F238E27FC236}">
                <a16:creationId xmlns:a16="http://schemas.microsoft.com/office/drawing/2014/main" id="{0B7728BC-7A7A-41FE-AAFD-C1A8FC39DF38}"/>
              </a:ext>
            </a:extLst>
          </p:cNvPr>
          <p:cNvSpPr/>
          <p:nvPr/>
        </p:nvSpPr>
        <p:spPr>
          <a:xfrm>
            <a:off x="7595826" y="2254191"/>
            <a:ext cx="27011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latin typeface="Google Sans Text"/>
              </a:rPr>
              <a:t>Поиск/получение нового документа</a:t>
            </a:r>
            <a:endParaRPr lang="ru-RU" dirty="0"/>
          </a:p>
        </p:txBody>
      </p:sp>
      <p:sp>
        <p:nvSpPr>
          <p:cNvPr id="78" name="Прямоугольник 77">
            <a:extLst>
              <a:ext uri="{FF2B5EF4-FFF2-40B4-BE49-F238E27FC236}">
                <a16:creationId xmlns:a16="http://schemas.microsoft.com/office/drawing/2014/main" id="{0B456980-BBF3-458A-B047-59A622F41D1E}"/>
              </a:ext>
            </a:extLst>
          </p:cNvPr>
          <p:cNvSpPr/>
          <p:nvPr/>
        </p:nvSpPr>
        <p:spPr>
          <a:xfrm>
            <a:off x="10799897" y="2347721"/>
            <a:ext cx="16715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latin typeface="Google Sans Text"/>
              </a:rPr>
              <a:t>Проект Резолюции 2</a:t>
            </a:r>
            <a:endParaRPr lang="ru-RU" dirty="0"/>
          </a:p>
        </p:txBody>
      </p:sp>
      <p:sp>
        <p:nvSpPr>
          <p:cNvPr id="79" name="Прямоугольник 78">
            <a:extLst>
              <a:ext uri="{FF2B5EF4-FFF2-40B4-BE49-F238E27FC236}">
                <a16:creationId xmlns:a16="http://schemas.microsoft.com/office/drawing/2014/main" id="{D26F25E9-F44B-4BFB-A172-4706C7A1FBF9}"/>
              </a:ext>
            </a:extLst>
          </p:cNvPr>
          <p:cNvSpPr/>
          <p:nvPr/>
        </p:nvSpPr>
        <p:spPr>
          <a:xfrm>
            <a:off x="8442811" y="4738983"/>
            <a:ext cx="35414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Google Sans Text"/>
              </a:rPr>
              <a:t>ОЖИДАНИЕ ответа от сотрудника</a:t>
            </a:r>
            <a:endParaRPr lang="ru-RU" dirty="0"/>
          </a:p>
        </p:txBody>
      </p:sp>
      <p:sp>
        <p:nvSpPr>
          <p:cNvPr id="80" name="Прямоугольник 79">
            <a:extLst>
              <a:ext uri="{FF2B5EF4-FFF2-40B4-BE49-F238E27FC236}">
                <a16:creationId xmlns:a16="http://schemas.microsoft.com/office/drawing/2014/main" id="{93E3A3BA-CF4B-40B3-A3F8-78AB4FA0C066}"/>
              </a:ext>
            </a:extLst>
          </p:cNvPr>
          <p:cNvSpPr/>
          <p:nvPr/>
        </p:nvSpPr>
        <p:spPr>
          <a:xfrm>
            <a:off x="2318993" y="5802186"/>
            <a:ext cx="23007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E2E2E5"/>
                </a:solidFill>
                <a:latin typeface="Google Sans Text"/>
              </a:rPr>
              <a:t> </a:t>
            </a:r>
            <a:r>
              <a:rPr lang="ru-RU" b="1" dirty="0">
                <a:latin typeface="Google Sans Text"/>
              </a:rPr>
              <a:t>1789 сек - 29.8 мин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526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071C76-CD18-4BA8-BB3D-0B74F8985E2A}"/>
              </a:ext>
            </a:extLst>
          </p:cNvPr>
          <p:cNvSpPr/>
          <p:nvPr/>
        </p:nvSpPr>
        <p:spPr>
          <a:xfrm>
            <a:off x="0" y="0"/>
            <a:ext cx="12192000" cy="1297577"/>
          </a:xfrm>
          <a:prstGeom prst="rect">
            <a:avLst/>
          </a:prstGeom>
          <a:solidFill>
            <a:srgbClr val="456A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24A2BC-41F0-4C3B-95A0-990DC47AB9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8673"/>
            <a:ext cx="9144000" cy="881017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  <a:latin typeface="Bernard MT Condensed" panose="02050806060905020404" pitchFamily="18" charset="0"/>
              </a:rPr>
              <a:t>DMAIC - </a:t>
            </a:r>
            <a:r>
              <a:rPr lang="ru-RU" dirty="0">
                <a:solidFill>
                  <a:schemeClr val="bg1"/>
                </a:solidFill>
              </a:rPr>
              <a:t>Резолюция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435D4BB-929A-4775-B406-7F3EBD2696E1}"/>
              </a:ext>
            </a:extLst>
          </p:cNvPr>
          <p:cNvSpPr/>
          <p:nvPr/>
        </p:nvSpPr>
        <p:spPr>
          <a:xfrm>
            <a:off x="322218" y="1576250"/>
            <a:ext cx="3483429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/>
              <a:t>Define</a:t>
            </a:r>
            <a:r>
              <a:rPr lang="ru-RU" b="1" dirty="0"/>
              <a:t> (Определение)</a:t>
            </a:r>
            <a:endParaRPr lang="en-US" b="1" dirty="0"/>
          </a:p>
          <a:p>
            <a:endParaRPr lang="ru-RU" dirty="0"/>
          </a:p>
          <a:p>
            <a:r>
              <a:rPr lang="ru-RU" b="1" dirty="0"/>
              <a:t>Проблема: Длительное время выполнения процесса проведения резолюции входящих документов, вызванное значительными задержками на этапе изучения документа и получения необходимой информации/разъяснений.</a:t>
            </a:r>
            <a:endParaRPr lang="en-US" b="1" dirty="0"/>
          </a:p>
          <a:p>
            <a:endParaRPr lang="ru-RU" dirty="0"/>
          </a:p>
          <a:p>
            <a:r>
              <a:rPr lang="ru-RU" b="1" dirty="0"/>
              <a:t>Цель: Сократить общее время выполнения процесса проведения резолюции одного документа за счет уменьшения времени на изучение и ожидание информации</a:t>
            </a:r>
            <a:r>
              <a:rPr lang="ru-RU" dirty="0"/>
              <a:t>.</a:t>
            </a:r>
          </a:p>
        </p:txBody>
      </p:sp>
      <p:pic>
        <p:nvPicPr>
          <p:cNvPr id="2052" name="Picture 4" descr="Навыки презентации | CBSD">
            <a:extLst>
              <a:ext uri="{FF2B5EF4-FFF2-40B4-BE49-F238E27FC236}">
                <a16:creationId xmlns:a16="http://schemas.microsoft.com/office/drawing/2014/main" id="{08FF3F7F-43AB-46AE-AB22-CF3759FBE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2393" y="2307772"/>
            <a:ext cx="5918100" cy="3629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BCBF16D-9A9B-4029-BC86-FDA7B17D4B9B}"/>
              </a:ext>
            </a:extLst>
          </p:cNvPr>
          <p:cNvSpPr/>
          <p:nvPr/>
        </p:nvSpPr>
        <p:spPr>
          <a:xfrm>
            <a:off x="7550330" y="1576250"/>
            <a:ext cx="4249783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>
                <a:latin typeface="Google Sans Text"/>
              </a:rPr>
              <a:t>Measure</a:t>
            </a:r>
            <a:r>
              <a:rPr lang="en-US" b="1" dirty="0">
                <a:latin typeface="Google Sans Text"/>
              </a:rPr>
              <a:t>(</a:t>
            </a:r>
            <a:r>
              <a:rPr lang="ru-RU" b="1" dirty="0">
                <a:latin typeface="Google Sans Text"/>
              </a:rPr>
              <a:t>Измерение):</a:t>
            </a:r>
            <a:endParaRPr lang="en-US" b="1" dirty="0">
              <a:latin typeface="Google Sans Text"/>
            </a:endParaRPr>
          </a:p>
          <a:p>
            <a:endParaRPr lang="ru-RU" dirty="0">
              <a:latin typeface="Google Sans Text"/>
            </a:endParaRPr>
          </a:p>
          <a:p>
            <a:pPr lvl="1"/>
            <a:r>
              <a:rPr lang="ru-RU" b="1" dirty="0">
                <a:latin typeface="Google Sans Text"/>
              </a:rPr>
              <a:t>Текущее время работы: 1789 сек на документ.</a:t>
            </a:r>
          </a:p>
          <a:p>
            <a:pPr lvl="1"/>
            <a:r>
              <a:rPr lang="ru-RU" b="1" dirty="0">
                <a:latin typeface="Google Sans Text"/>
              </a:rPr>
              <a:t>Основное проблемное место: Изучение документа / ожидание ответа (1216 сек).</a:t>
            </a:r>
            <a:endParaRPr lang="en-US" b="1" dirty="0">
              <a:latin typeface="Google Sans Text"/>
            </a:endParaRPr>
          </a:p>
          <a:p>
            <a:pPr lvl="1"/>
            <a:endParaRPr lang="en-US" b="1" dirty="0">
              <a:latin typeface="Google Sans Text"/>
            </a:endParaRPr>
          </a:p>
          <a:p>
            <a:pPr lvl="1"/>
            <a:endParaRPr lang="en-US" b="1" dirty="0">
              <a:latin typeface="Google Sans Text"/>
            </a:endParaRPr>
          </a:p>
          <a:p>
            <a:pPr lvl="1"/>
            <a:endParaRPr lang="en-US" b="1" dirty="0">
              <a:latin typeface="Google Sans Text"/>
            </a:endParaRPr>
          </a:p>
          <a:p>
            <a:pPr lvl="1"/>
            <a:endParaRPr lang="en-US" b="1" dirty="0">
              <a:latin typeface="Google Sans Text"/>
            </a:endParaRPr>
          </a:p>
          <a:p>
            <a:pPr lvl="1"/>
            <a:endParaRPr lang="ru-RU" b="1" dirty="0">
              <a:latin typeface="Google Sans Text"/>
            </a:endParaRPr>
          </a:p>
          <a:p>
            <a:pPr lvl="1"/>
            <a:r>
              <a:rPr lang="ru-RU" b="1" dirty="0">
                <a:latin typeface="Google Sans Text"/>
              </a:rPr>
              <a:t>Потери (MUDA): Ожидание (1216 сек).</a:t>
            </a:r>
            <a:endParaRPr lang="ru-RU" b="1" i="0" dirty="0">
              <a:effectLst/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2132645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071C76-CD18-4BA8-BB3D-0B74F8985E2A}"/>
              </a:ext>
            </a:extLst>
          </p:cNvPr>
          <p:cNvSpPr/>
          <p:nvPr/>
        </p:nvSpPr>
        <p:spPr>
          <a:xfrm>
            <a:off x="0" y="0"/>
            <a:ext cx="12192000" cy="1297577"/>
          </a:xfrm>
          <a:prstGeom prst="rect">
            <a:avLst/>
          </a:prstGeom>
          <a:solidFill>
            <a:srgbClr val="456A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24A2BC-41F0-4C3B-95A0-990DC47AB9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8279"/>
            <a:ext cx="9144000" cy="881017"/>
          </a:xfrm>
        </p:spPr>
        <p:txBody>
          <a:bodyPr>
            <a:normAutofit/>
          </a:bodyPr>
          <a:lstStyle/>
          <a:p>
            <a:r>
              <a:rPr lang="ru-RU" sz="4400" b="1" dirty="0">
                <a:solidFill>
                  <a:schemeClr val="bg1"/>
                </a:solidFill>
              </a:rPr>
              <a:t>Диаграмма </a:t>
            </a:r>
            <a:r>
              <a:rPr lang="ru-RU" sz="4400" b="1" dirty="0" err="1">
                <a:solidFill>
                  <a:schemeClr val="bg1"/>
                </a:solidFill>
              </a:rPr>
              <a:t>Ишикавы</a:t>
            </a:r>
            <a:r>
              <a:rPr lang="ru-RU" sz="4400" b="1" dirty="0">
                <a:solidFill>
                  <a:schemeClr val="bg1"/>
                </a:solidFill>
              </a:rPr>
              <a:t> (Резолюция)</a:t>
            </a:r>
            <a:endParaRPr lang="ru-RU" sz="4400" dirty="0">
              <a:solidFill>
                <a:schemeClr val="bg1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4D12852-4C8D-487D-82A1-B81F1A801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7575"/>
            <a:ext cx="12192000" cy="595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300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Искусство создания презентации - МГПУ">
            <a:extLst>
              <a:ext uri="{FF2B5EF4-FFF2-40B4-BE49-F238E27FC236}">
                <a16:creationId xmlns:a16="http://schemas.microsoft.com/office/drawing/2014/main" id="{942C558C-261D-486E-A1CD-F55097C0C4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827" y="2111285"/>
            <a:ext cx="5980612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071C76-CD18-4BA8-BB3D-0B74F8985E2A}"/>
              </a:ext>
            </a:extLst>
          </p:cNvPr>
          <p:cNvSpPr/>
          <p:nvPr/>
        </p:nvSpPr>
        <p:spPr>
          <a:xfrm>
            <a:off x="0" y="-2"/>
            <a:ext cx="12192000" cy="1297577"/>
          </a:xfrm>
          <a:prstGeom prst="rect">
            <a:avLst/>
          </a:prstGeom>
          <a:solidFill>
            <a:srgbClr val="456A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24A2BC-41F0-4C3B-95A0-990DC47AB9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8279"/>
            <a:ext cx="9144000" cy="881017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Bernard MT Condensed" panose="02050806060905020404" pitchFamily="18" charset="0"/>
              </a:rPr>
              <a:t>Improve | TO BE</a:t>
            </a:r>
            <a:endParaRPr lang="ru-RU" sz="4400" dirty="0">
              <a:solidFill>
                <a:schemeClr val="bg1"/>
              </a:solidFill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178E26B-EA4F-4FD0-9F3B-3D3408D5B0CE}"/>
              </a:ext>
            </a:extLst>
          </p:cNvPr>
          <p:cNvSpPr/>
          <p:nvPr/>
        </p:nvSpPr>
        <p:spPr>
          <a:xfrm>
            <a:off x="0" y="1894572"/>
            <a:ext cx="4659085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arenR"/>
            </a:pPr>
            <a:r>
              <a:rPr lang="ru-RU" sz="1400" dirty="0"/>
              <a:t>Разработать регламент маршрутизации документов.</a:t>
            </a:r>
          </a:p>
          <a:p>
            <a:r>
              <a:rPr lang="ru-RU" sz="1400" dirty="0"/>
              <a:t>Создать четкие правила и типовые схемы, куда должны направляться документы разных</a:t>
            </a:r>
            <a:r>
              <a:rPr lang="en-US" sz="1400" dirty="0"/>
              <a:t> </a:t>
            </a:r>
            <a:r>
              <a:rPr lang="ru-RU" sz="1400" dirty="0"/>
              <a:t>тематик. Этот регламент должен быть легкодоступен (например, в СЭД или корпоративной базе знаний).</a:t>
            </a:r>
          </a:p>
          <a:p>
            <a:r>
              <a:rPr lang="ru-RU" sz="1400" dirty="0"/>
              <a:t>(Цель: Уменьшить зависимость, дать четкую основу для принятия решения о маршруте)</a:t>
            </a:r>
            <a:endParaRPr lang="en-US" sz="1400" dirty="0"/>
          </a:p>
          <a:p>
            <a:endParaRPr lang="ru-RU" sz="1400" dirty="0"/>
          </a:p>
          <a:p>
            <a:r>
              <a:rPr lang="en-US" sz="1400" dirty="0"/>
              <a:t>2)</a:t>
            </a:r>
            <a:r>
              <a:rPr lang="ru-RU" sz="1400" dirty="0"/>
              <a:t>Создать и наполнять базу знаний (FAQ) по типовым документам и сложным случаям маршрутизации.</a:t>
            </a:r>
          </a:p>
          <a:p>
            <a:r>
              <a:rPr lang="ru-RU" sz="1400" dirty="0"/>
              <a:t>Собрать информацию о часто встречающихся типах документов, особенностях их обработки, прецедентах маршрутизации, а также контакты экспертов по узким вопросам.</a:t>
            </a:r>
          </a:p>
          <a:p>
            <a:r>
              <a:rPr lang="ru-RU" sz="1400" dirty="0"/>
              <a:t>(Цель: Сократить время на изучение типовых документов, предоставить быстрый источник информации для сложных случаев без необходимости ждать ответа от конкретного сотрудника)</a:t>
            </a:r>
            <a:endParaRPr lang="en-US" sz="1400" dirty="0"/>
          </a:p>
          <a:p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242771A-D59B-44C7-8C6F-D1E3254EAEBB}"/>
              </a:ext>
            </a:extLst>
          </p:cNvPr>
          <p:cNvSpPr/>
          <p:nvPr/>
        </p:nvSpPr>
        <p:spPr>
          <a:xfrm>
            <a:off x="7271660" y="1894572"/>
            <a:ext cx="5033552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3)Внедрить стандарты полноты информации для внутренних документов. </a:t>
            </a:r>
          </a:p>
          <a:p>
            <a:r>
              <a:rPr lang="ru-RU" sz="1400" dirty="0"/>
              <a:t>Установить требования к инициаторам внутренних документов по обязательному указанию краткой сути, цели, необходимого действия и, возможно, предлагаемого маршрута с обоснованием.</a:t>
            </a:r>
          </a:p>
          <a:p>
            <a:r>
              <a:rPr lang="ru-RU" sz="1400" dirty="0"/>
              <a:t>(Цель: Уменьшить время на первичное изучение документа, предоставить контекст для принятия решения)</a:t>
            </a:r>
            <a:endParaRPr lang="en-US" sz="1400" dirty="0"/>
          </a:p>
          <a:p>
            <a:endParaRPr lang="ru-RU" sz="1400" dirty="0"/>
          </a:p>
          <a:p>
            <a:endParaRPr lang="ru-RU" sz="1400" dirty="0"/>
          </a:p>
          <a:p>
            <a:r>
              <a:rPr lang="ru-RU" sz="1400" dirty="0"/>
              <a:t>4) Внедрить соглашение об уровне обслуживания  для внутренних консультаций, связанных с резолюцией документов, установив максимальное время ожидания ответа (например, 1-4 часа в зависимости от сложности).</a:t>
            </a:r>
          </a:p>
          <a:p>
            <a:r>
              <a:rPr lang="ru-RU" sz="1400" dirty="0"/>
              <a:t>(Цель: Прямо атаковать время ожидания)</a:t>
            </a:r>
          </a:p>
        </p:txBody>
      </p:sp>
    </p:spTree>
    <p:extLst>
      <p:ext uri="{BB962C8B-B14F-4D97-AF65-F5344CB8AC3E}">
        <p14:creationId xmlns:p14="http://schemas.microsoft.com/office/powerpoint/2010/main" val="3284779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071C76-CD18-4BA8-BB3D-0B74F8985E2A}"/>
              </a:ext>
            </a:extLst>
          </p:cNvPr>
          <p:cNvSpPr/>
          <p:nvPr/>
        </p:nvSpPr>
        <p:spPr>
          <a:xfrm>
            <a:off x="0" y="-2"/>
            <a:ext cx="12192000" cy="1297577"/>
          </a:xfrm>
          <a:prstGeom prst="rect">
            <a:avLst/>
          </a:prstGeom>
          <a:solidFill>
            <a:srgbClr val="456A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24A2BC-41F0-4C3B-95A0-990DC47AB9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5364"/>
            <a:ext cx="9144000" cy="881017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Оценка предполагаемого экономического эффекта</a:t>
            </a:r>
            <a:endParaRPr lang="ru-RU" sz="3600" dirty="0">
              <a:solidFill>
                <a:schemeClr val="bg1"/>
              </a:solidFill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8F6BD430-3945-4942-871D-44BF94672C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093350"/>
              </p:ext>
            </p:extLst>
          </p:nvPr>
        </p:nvGraphicFramePr>
        <p:xfrm>
          <a:off x="343948" y="1400961"/>
          <a:ext cx="11610366" cy="4957894"/>
        </p:xfrm>
        <a:graphic>
          <a:graphicData uri="http://schemas.openxmlformats.org/drawingml/2006/table">
            <a:tbl>
              <a:tblPr/>
              <a:tblGrid>
                <a:gridCol w="1935061">
                  <a:extLst>
                    <a:ext uri="{9D8B030D-6E8A-4147-A177-3AD203B41FA5}">
                      <a16:colId xmlns:a16="http://schemas.microsoft.com/office/drawing/2014/main" val="2604422396"/>
                    </a:ext>
                  </a:extLst>
                </a:gridCol>
                <a:gridCol w="1935061">
                  <a:extLst>
                    <a:ext uri="{9D8B030D-6E8A-4147-A177-3AD203B41FA5}">
                      <a16:colId xmlns:a16="http://schemas.microsoft.com/office/drawing/2014/main" val="1382035803"/>
                    </a:ext>
                  </a:extLst>
                </a:gridCol>
                <a:gridCol w="1935061">
                  <a:extLst>
                    <a:ext uri="{9D8B030D-6E8A-4147-A177-3AD203B41FA5}">
                      <a16:colId xmlns:a16="http://schemas.microsoft.com/office/drawing/2014/main" val="3701092716"/>
                    </a:ext>
                  </a:extLst>
                </a:gridCol>
                <a:gridCol w="1935061">
                  <a:extLst>
                    <a:ext uri="{9D8B030D-6E8A-4147-A177-3AD203B41FA5}">
                      <a16:colId xmlns:a16="http://schemas.microsoft.com/office/drawing/2014/main" val="419765365"/>
                    </a:ext>
                  </a:extLst>
                </a:gridCol>
                <a:gridCol w="1935061">
                  <a:extLst>
                    <a:ext uri="{9D8B030D-6E8A-4147-A177-3AD203B41FA5}">
                      <a16:colId xmlns:a16="http://schemas.microsoft.com/office/drawing/2014/main" val="2486033169"/>
                    </a:ext>
                  </a:extLst>
                </a:gridCol>
                <a:gridCol w="1935061">
                  <a:extLst>
                    <a:ext uri="{9D8B030D-6E8A-4147-A177-3AD203B41FA5}">
                      <a16:colId xmlns:a16="http://schemas.microsoft.com/office/drawing/2014/main" val="307720661"/>
                    </a:ext>
                  </a:extLst>
                </a:gridCol>
              </a:tblGrid>
              <a:tr h="361253"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Google Sans Text"/>
                        </a:rPr>
                        <a:t>Показатель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Google Sans Text"/>
                        </a:rPr>
                        <a:t>Единица измерения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Google Sans Text"/>
                        </a:rPr>
                        <a:t>ДО (</a:t>
                      </a:r>
                      <a:r>
                        <a:rPr lang="en-US" sz="900" b="1">
                          <a:effectLst/>
                          <a:latin typeface="Google Sans Text"/>
                        </a:rPr>
                        <a:t>AS IS)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 dirty="0">
                          <a:effectLst/>
                          <a:latin typeface="Google Sans Text"/>
                        </a:rPr>
                        <a:t>ПОСЛЕ (</a:t>
                      </a:r>
                      <a:r>
                        <a:rPr lang="en-US" sz="900" b="1" dirty="0">
                          <a:effectLst/>
                          <a:latin typeface="Google Sans Text"/>
                        </a:rPr>
                        <a:t>TO BE) </a:t>
                      </a:r>
                      <a:r>
                        <a:rPr lang="ru-RU" sz="900" b="1" dirty="0">
                          <a:effectLst/>
                          <a:latin typeface="Google Sans Text"/>
                        </a:rPr>
                        <a:t>Прогноз 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Google Sans Text"/>
                        </a:rPr>
                        <a:t>Экономия/Улучшение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Google Sans Text"/>
                        </a:rPr>
                        <a:t>Результат (за период)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1487033"/>
                  </a:ext>
                </a:extLst>
              </a:tr>
              <a:tr h="660222"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Время на проблемный шаг (Изучение + Ожидание)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Секунды / Минуты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1216 сек (~20.27 мин)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~608 сек (~10.13 мин)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608 сек (~10.13 мин)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-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103573"/>
                  </a:ext>
                </a:extLst>
              </a:tr>
              <a:tr h="510738"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Общее время процесса на 1 документ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Google Sans Text"/>
                        </a:rPr>
                        <a:t>Секунды / Минуты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1789 сек (~29.82 мин)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~1181 сек (~19.68 мин)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608 сек (~10.13 мин)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-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065720"/>
                  </a:ext>
                </a:extLst>
              </a:tr>
              <a:tr h="510738"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Экономия времени на 1 документ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Google Sans Text"/>
                        </a:rPr>
                        <a:t>Секунды / Минуты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-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-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608 сек (~10.13 мин)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-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626447"/>
                  </a:ext>
                </a:extLst>
              </a:tr>
              <a:tr h="510738"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Стоимость минуты работы сотрудника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Руб/минута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~8.05 руб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~8.05 руб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-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(Расчет: 85000 / (176*60))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5428523"/>
                  </a:ext>
                </a:extLst>
              </a:tr>
              <a:tr h="510738"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Экономия затрат на 1 документ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Рубли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-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-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Google Sans Text"/>
                        </a:rPr>
                        <a:t>~81.55 руб</a:t>
                      </a:r>
                      <a:endParaRPr lang="ru-RU" sz="900" b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Google Sans Text"/>
                        </a:rPr>
                        <a:t>10.13 мин/док * 8.05 </a:t>
                      </a:r>
                      <a:r>
                        <a:rPr lang="ru-RU" sz="900" b="0" dirty="0" err="1">
                          <a:effectLst/>
                          <a:latin typeface="Google Sans Text"/>
                        </a:rPr>
                        <a:t>руб</a:t>
                      </a:r>
                      <a:r>
                        <a:rPr lang="ru-RU" sz="900" b="0" dirty="0">
                          <a:effectLst/>
                          <a:latin typeface="Google Sans Text"/>
                        </a:rPr>
                        <a:t>/мин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1921917"/>
                  </a:ext>
                </a:extLst>
              </a:tr>
              <a:tr h="361253"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Объем документов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Док/день (Док/мес)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40 док/день (800 док/мес)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40 док/день (800 док/мес)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-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(Используется для расчета)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4338877"/>
                  </a:ext>
                </a:extLst>
              </a:tr>
              <a:tr h="510738"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Google Sans Text"/>
                        </a:rPr>
                        <a:t>Ежедневная экономия затрат</a:t>
                      </a:r>
                      <a:endParaRPr lang="ru-RU" sz="900" b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Google Sans Text"/>
                        </a:rPr>
                        <a:t>Рубли/день</a:t>
                      </a:r>
                      <a:endParaRPr lang="ru-RU" sz="900" b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Google Sans Text"/>
                        </a:rPr>
                        <a:t>-</a:t>
                      </a:r>
                      <a:endParaRPr lang="ru-RU" sz="900" b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Google Sans Text"/>
                        </a:rPr>
                        <a:t>-</a:t>
                      </a:r>
                      <a:endParaRPr lang="ru-RU" sz="900" b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Google Sans Text"/>
                        </a:rPr>
                        <a:t>~3262 руб</a:t>
                      </a:r>
                      <a:endParaRPr lang="ru-RU" sz="900" b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Google Sans Text"/>
                        </a:rPr>
                        <a:t>81.55 руб/док * 40 док/день</a:t>
                      </a:r>
                      <a:endParaRPr lang="ru-RU" sz="900" b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616583"/>
                  </a:ext>
                </a:extLst>
              </a:tr>
              <a:tr h="510738"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Google Sans Text"/>
                        </a:rPr>
                        <a:t>Ежемесячная экономия затрат</a:t>
                      </a:r>
                      <a:endParaRPr lang="ru-RU" sz="900" b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Google Sans Text"/>
                        </a:rPr>
                        <a:t>Рубли/месяц</a:t>
                      </a:r>
                      <a:endParaRPr lang="ru-RU" sz="900" b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Google Sans Text"/>
                        </a:rPr>
                        <a:t>-</a:t>
                      </a:r>
                      <a:endParaRPr lang="ru-RU" sz="900" b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Google Sans Text"/>
                        </a:rPr>
                        <a:t>-</a:t>
                      </a:r>
                      <a:endParaRPr lang="ru-RU" sz="900" b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Google Sans Text"/>
                        </a:rPr>
                        <a:t>~65 240 руб</a:t>
                      </a:r>
                      <a:endParaRPr lang="ru-RU" sz="900" b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 dirty="0">
                          <a:effectLst/>
                          <a:latin typeface="Google Sans Text"/>
                        </a:rPr>
                        <a:t>81.55 </a:t>
                      </a:r>
                      <a:r>
                        <a:rPr lang="ru-RU" sz="900" b="1" dirty="0" err="1">
                          <a:effectLst/>
                          <a:latin typeface="Google Sans Text"/>
                        </a:rPr>
                        <a:t>руб</a:t>
                      </a:r>
                      <a:r>
                        <a:rPr lang="ru-RU" sz="900" b="1" dirty="0">
                          <a:effectLst/>
                          <a:latin typeface="Google Sans Text"/>
                        </a:rPr>
                        <a:t>/док * 800 док/</a:t>
                      </a:r>
                      <a:r>
                        <a:rPr lang="ru-RU" sz="900" b="1" dirty="0" err="1">
                          <a:effectLst/>
                          <a:latin typeface="Google Sans Text"/>
                        </a:rPr>
                        <a:t>мес</a:t>
                      </a:r>
                      <a:endParaRPr lang="ru-RU" sz="900" b="0" dirty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561360"/>
                  </a:ext>
                </a:extLst>
              </a:tr>
              <a:tr h="510738"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Google Sans Text"/>
                        </a:rPr>
                        <a:t>Годовая экономия затрат</a:t>
                      </a:r>
                      <a:endParaRPr lang="ru-RU" sz="900" b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Google Sans Text"/>
                        </a:rPr>
                        <a:t>Рубли/год</a:t>
                      </a:r>
                      <a:endParaRPr lang="ru-RU" sz="900" b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Google Sans Text"/>
                        </a:rPr>
                        <a:t>-</a:t>
                      </a:r>
                      <a:endParaRPr lang="ru-RU" sz="900" b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 dirty="0">
                          <a:effectLst/>
                          <a:latin typeface="Google Sans Text"/>
                        </a:rPr>
                        <a:t>-</a:t>
                      </a:r>
                      <a:endParaRPr lang="ru-RU" sz="900" b="0" dirty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Google Sans Text"/>
                        </a:rPr>
                        <a:t>~782 880 руб</a:t>
                      </a:r>
                      <a:endParaRPr lang="ru-RU" sz="900" b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 dirty="0">
                          <a:effectLst/>
                          <a:latin typeface="Google Sans Text"/>
                        </a:rPr>
                        <a:t>65240 </a:t>
                      </a:r>
                      <a:r>
                        <a:rPr lang="ru-RU" sz="900" b="1" dirty="0" err="1">
                          <a:effectLst/>
                          <a:latin typeface="Google Sans Text"/>
                        </a:rPr>
                        <a:t>руб</a:t>
                      </a:r>
                      <a:r>
                        <a:rPr lang="ru-RU" sz="900" b="1" dirty="0">
                          <a:effectLst/>
                          <a:latin typeface="Google Sans Text"/>
                        </a:rPr>
                        <a:t>/</a:t>
                      </a:r>
                      <a:r>
                        <a:rPr lang="ru-RU" sz="900" b="1" dirty="0" err="1">
                          <a:effectLst/>
                          <a:latin typeface="Google Sans Text"/>
                        </a:rPr>
                        <a:t>мес</a:t>
                      </a:r>
                      <a:r>
                        <a:rPr lang="ru-RU" sz="900" b="1" dirty="0">
                          <a:effectLst/>
                          <a:latin typeface="Google Sans Text"/>
                        </a:rPr>
                        <a:t> * 12 </a:t>
                      </a:r>
                      <a:r>
                        <a:rPr lang="ru-RU" sz="900" b="1" dirty="0" err="1">
                          <a:effectLst/>
                          <a:latin typeface="Google Sans Text"/>
                        </a:rPr>
                        <a:t>мес</a:t>
                      </a:r>
                      <a:r>
                        <a:rPr lang="ru-RU" sz="900" b="1" dirty="0">
                          <a:effectLst/>
                          <a:latin typeface="Google Sans Text"/>
                        </a:rPr>
                        <a:t>/год</a:t>
                      </a:r>
                      <a:endParaRPr lang="ru-RU" sz="900" b="0" dirty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8761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9005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071C76-CD18-4BA8-BB3D-0B74F8985E2A}"/>
              </a:ext>
            </a:extLst>
          </p:cNvPr>
          <p:cNvSpPr/>
          <p:nvPr/>
        </p:nvSpPr>
        <p:spPr>
          <a:xfrm>
            <a:off x="0" y="-2"/>
            <a:ext cx="12192000" cy="1107349"/>
          </a:xfrm>
          <a:prstGeom prst="rect">
            <a:avLst/>
          </a:prstGeom>
          <a:solidFill>
            <a:srgbClr val="456A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24A2BC-41F0-4C3B-95A0-990DC47AB9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881017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Расчет времени такта</a:t>
            </a:r>
            <a:endParaRPr lang="ru-RU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2251AF3-33C2-4B26-8D1B-AB29E48B316D}"/>
              </a:ext>
            </a:extLst>
          </p:cNvPr>
          <p:cNvSpPr/>
          <p:nvPr/>
        </p:nvSpPr>
        <p:spPr>
          <a:xfrm>
            <a:off x="447412" y="1356000"/>
            <a:ext cx="3906473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Courier New" panose="02070309020205020404" pitchFamily="49" charset="0"/>
              </a:rPr>
              <a:t>Отдел работает с 9:00 до 18:00. Время работы сотрудника: 9 часов. У него 1 час обеденного перерыва и, предположим, два 15-минутных перерыва. В рабочее время сотрудник выполняет различные задачи, включая проведение резолюции документов. Доступное время смены за вычетом стандартных перерывов составляет: 9 часов - 1 час - 0.5 часа = 7.5 часов или 27 000 секунд. В день требуется обрабатывается 40 документов.</a:t>
            </a:r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512F463-5EBD-4315-9FE0-773F131F69B6}"/>
              </a:ext>
            </a:extLst>
          </p:cNvPr>
          <p:cNvSpPr/>
          <p:nvPr/>
        </p:nvSpPr>
        <p:spPr>
          <a:xfrm>
            <a:off x="5749168" y="3895156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latin typeface="Courier New" panose="02070309020205020404" pitchFamily="49" charset="0"/>
              </a:rPr>
              <a:t>Время такта      Доступное время смены (</a:t>
            </a:r>
            <a:r>
              <a:rPr lang="ru-RU" dirty="0" err="1">
                <a:latin typeface="Courier New" panose="02070309020205020404" pitchFamily="49" charset="0"/>
              </a:rPr>
              <a:t>Takt</a:t>
            </a:r>
            <a:r>
              <a:rPr lang="ru-RU" dirty="0">
                <a:latin typeface="Courier New" panose="02070309020205020404" pitchFamily="49" charset="0"/>
              </a:rPr>
              <a:t> </a:t>
            </a:r>
            <a:r>
              <a:rPr lang="ru-RU" dirty="0" err="1">
                <a:latin typeface="Courier New" panose="02070309020205020404" pitchFamily="49" charset="0"/>
              </a:rPr>
              <a:t>time</a:t>
            </a:r>
            <a:r>
              <a:rPr lang="ru-RU" dirty="0">
                <a:latin typeface="Courier New" panose="02070309020205020404" pitchFamily="49" charset="0"/>
              </a:rPr>
              <a:t>) =   -----------------------         	          Количество документов (спрос)</a:t>
            </a:r>
          </a:p>
          <a:p>
            <a:endParaRPr lang="ru-RU" dirty="0">
              <a:latin typeface="Courier New" panose="02070309020205020404" pitchFamily="49" charset="0"/>
            </a:endParaRPr>
          </a:p>
          <a:p>
            <a:r>
              <a:rPr lang="ru-RU" dirty="0">
                <a:latin typeface="Courier New" panose="02070309020205020404" pitchFamily="49" charset="0"/>
              </a:rPr>
              <a:t>Время такта =            27 000 секунд (</a:t>
            </a:r>
            <a:r>
              <a:rPr lang="ru-RU" dirty="0" err="1">
                <a:latin typeface="Courier New" panose="02070309020205020404" pitchFamily="49" charset="0"/>
              </a:rPr>
              <a:t>Takt</a:t>
            </a:r>
            <a:r>
              <a:rPr lang="ru-RU" dirty="0">
                <a:latin typeface="Courier New" panose="02070309020205020404" pitchFamily="49" charset="0"/>
              </a:rPr>
              <a:t> </a:t>
            </a:r>
            <a:r>
              <a:rPr lang="ru-RU" dirty="0" err="1">
                <a:latin typeface="Courier New" panose="02070309020205020404" pitchFamily="49" charset="0"/>
              </a:rPr>
              <a:t>time</a:t>
            </a:r>
            <a:r>
              <a:rPr lang="ru-RU" dirty="0">
                <a:latin typeface="Courier New" panose="02070309020205020404" pitchFamily="49" charset="0"/>
              </a:rPr>
              <a:t>)              -------------         	                     40 документов</a:t>
            </a:r>
          </a:p>
          <a:p>
            <a:endParaRPr lang="ru-RU" dirty="0">
              <a:latin typeface="Courier New" panose="02070309020205020404" pitchFamily="49" charset="0"/>
            </a:endParaRPr>
          </a:p>
          <a:p>
            <a:r>
              <a:rPr lang="ru-RU" dirty="0">
                <a:latin typeface="Courier New" panose="02070309020205020404" pitchFamily="49" charset="0"/>
              </a:rPr>
              <a:t>Время такта = 675 секунд/документ </a:t>
            </a:r>
          </a:p>
          <a:p>
            <a:r>
              <a:rPr lang="ru-RU" dirty="0">
                <a:latin typeface="Courier New" panose="02070309020205020404" pitchFamily="49" charset="0"/>
              </a:rPr>
              <a:t>             (~11.25 минут/документ)</a:t>
            </a:r>
            <a:endParaRPr lang="ru-RU" dirty="0"/>
          </a:p>
        </p:txBody>
      </p:sp>
      <p:pic>
        <p:nvPicPr>
          <p:cNvPr id="1028" name="Picture 4" descr="презентация PNG рисунок, картинки и пнг прозрачный для бесплатной загрузки  | Pngtree">
            <a:extLst>
              <a:ext uri="{FF2B5EF4-FFF2-40B4-BE49-F238E27FC236}">
                <a16:creationId xmlns:a16="http://schemas.microsoft.com/office/drawing/2014/main" id="{35064661-A642-4254-9E8B-2B0E037F52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9174" y="1356000"/>
            <a:ext cx="2362201" cy="2362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1080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071C76-CD18-4BA8-BB3D-0B74F8985E2A}"/>
              </a:ext>
            </a:extLst>
          </p:cNvPr>
          <p:cNvSpPr/>
          <p:nvPr/>
        </p:nvSpPr>
        <p:spPr>
          <a:xfrm>
            <a:off x="0" y="-2"/>
            <a:ext cx="12192000" cy="1297577"/>
          </a:xfrm>
          <a:prstGeom prst="rect">
            <a:avLst/>
          </a:prstGeom>
          <a:solidFill>
            <a:srgbClr val="456A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24A2BC-41F0-4C3B-95A0-990DC47AB9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5364"/>
            <a:ext cx="9144000" cy="881017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Паспорт проекта (</a:t>
            </a:r>
            <a:r>
              <a:rPr lang="ru-RU" sz="3600" b="1" dirty="0" err="1">
                <a:solidFill>
                  <a:schemeClr val="bg1"/>
                </a:solidFill>
              </a:rPr>
              <a:t>Резолююция</a:t>
            </a:r>
            <a:r>
              <a:rPr lang="ru-RU" sz="3600" b="1" dirty="0">
                <a:solidFill>
                  <a:schemeClr val="bg1"/>
                </a:solidFill>
              </a:rPr>
              <a:t>)</a:t>
            </a:r>
            <a:endParaRPr lang="ru-RU" sz="3600" dirty="0">
              <a:solidFill>
                <a:schemeClr val="bg1"/>
              </a:solidFill>
            </a:endParaRP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75783A5-4F95-4C27-99D2-0EF77AAA53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7964989"/>
              </p:ext>
            </p:extLst>
          </p:nvPr>
        </p:nvGraphicFramePr>
        <p:xfrm>
          <a:off x="250970" y="1471747"/>
          <a:ext cx="11451672" cy="5004554"/>
        </p:xfrm>
        <a:graphic>
          <a:graphicData uri="http://schemas.openxmlformats.org/drawingml/2006/table">
            <a:tbl>
              <a:tblPr/>
              <a:tblGrid>
                <a:gridCol w="1908612">
                  <a:extLst>
                    <a:ext uri="{9D8B030D-6E8A-4147-A177-3AD203B41FA5}">
                      <a16:colId xmlns:a16="http://schemas.microsoft.com/office/drawing/2014/main" val="322945137"/>
                    </a:ext>
                  </a:extLst>
                </a:gridCol>
                <a:gridCol w="1908612">
                  <a:extLst>
                    <a:ext uri="{9D8B030D-6E8A-4147-A177-3AD203B41FA5}">
                      <a16:colId xmlns:a16="http://schemas.microsoft.com/office/drawing/2014/main" val="1336014053"/>
                    </a:ext>
                  </a:extLst>
                </a:gridCol>
                <a:gridCol w="1908612">
                  <a:extLst>
                    <a:ext uri="{9D8B030D-6E8A-4147-A177-3AD203B41FA5}">
                      <a16:colId xmlns:a16="http://schemas.microsoft.com/office/drawing/2014/main" val="4258419958"/>
                    </a:ext>
                  </a:extLst>
                </a:gridCol>
                <a:gridCol w="1908612">
                  <a:extLst>
                    <a:ext uri="{9D8B030D-6E8A-4147-A177-3AD203B41FA5}">
                      <a16:colId xmlns:a16="http://schemas.microsoft.com/office/drawing/2014/main" val="1334701864"/>
                    </a:ext>
                  </a:extLst>
                </a:gridCol>
                <a:gridCol w="1908612">
                  <a:extLst>
                    <a:ext uri="{9D8B030D-6E8A-4147-A177-3AD203B41FA5}">
                      <a16:colId xmlns:a16="http://schemas.microsoft.com/office/drawing/2014/main" val="3744917779"/>
                    </a:ext>
                  </a:extLst>
                </a:gridCol>
                <a:gridCol w="1908612">
                  <a:extLst>
                    <a:ext uri="{9D8B030D-6E8A-4147-A177-3AD203B41FA5}">
                      <a16:colId xmlns:a16="http://schemas.microsoft.com/office/drawing/2014/main" val="1996713636"/>
                    </a:ext>
                  </a:extLst>
                </a:gridCol>
              </a:tblGrid>
              <a:tr h="763853"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Google Sans Text"/>
                        </a:rPr>
                        <a:t>Начало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Google Sans Text"/>
                        </a:rPr>
                        <a:t>Окончание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Google Sans Text"/>
                        </a:rPr>
                        <a:t>Руководитель проекта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Google Sans Text"/>
                        </a:rPr>
                        <a:t>Команда проекта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Google Sans Text"/>
                        </a:rPr>
                        <a:t>Бюджет проекта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effectLst/>
                          <a:latin typeface="Google Sans Text"/>
                        </a:rPr>
                        <a:t>Цель проекта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487422"/>
                  </a:ext>
                </a:extLst>
              </a:tr>
              <a:tr h="4240701"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Google Sans Text"/>
                        </a:rPr>
                        <a:t>24.06.2025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Google Sans Text"/>
                        </a:rPr>
                        <a:t>24.09.2025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Google Sans Text"/>
                        </a:rPr>
                        <a:t>Руководитель Управления документооборотом КФУ (условное назначение)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Google Sans Text"/>
                        </a:rPr>
                        <a:t>Рабочая группа (Члены вашей команды), Сотрудник, проводящий резолюции, Специалист по регламентам УДД (условные роли)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Google Sans Text"/>
                        </a:rPr>
                        <a:t>Минимальный (в рамках фонда оплаты труда), может потребоваться небольшой бюджет на разработку инфо-материалов (~10-20 тыс. руб.)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Google Sans Text"/>
                        </a:rPr>
                        <a:t>Сократить время проведения резолюции входящих документов (Прогноз: на ~10 минут на документ), Снизить потери (Ожидание и лишнее изучение).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531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2473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071C76-CD18-4BA8-BB3D-0B74F8985E2A}"/>
              </a:ext>
            </a:extLst>
          </p:cNvPr>
          <p:cNvSpPr/>
          <p:nvPr/>
        </p:nvSpPr>
        <p:spPr>
          <a:xfrm>
            <a:off x="0" y="-2"/>
            <a:ext cx="12192000" cy="1297577"/>
          </a:xfrm>
          <a:prstGeom prst="rect">
            <a:avLst/>
          </a:prstGeom>
          <a:solidFill>
            <a:srgbClr val="456A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24A2BC-41F0-4C3B-95A0-990DC47AB9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4609" y="124387"/>
            <a:ext cx="9144000" cy="881017"/>
          </a:xfrm>
        </p:spPr>
        <p:txBody>
          <a:bodyPr>
            <a:no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Arial Black" panose="020B0A04020102020204" pitchFamily="34" charset="0"/>
              </a:rPr>
              <a:t>Внедрение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F411AE1-FD86-4989-9DCD-F1DA978A91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213653"/>
              </p:ext>
            </p:extLst>
          </p:nvPr>
        </p:nvGraphicFramePr>
        <p:xfrm>
          <a:off x="0" y="1297575"/>
          <a:ext cx="12192000" cy="5645488"/>
        </p:xfrm>
        <a:graphic>
          <a:graphicData uri="http://schemas.openxmlformats.org/drawingml/2006/table">
            <a:tbl>
              <a:tblPr/>
              <a:tblGrid>
                <a:gridCol w="1568741">
                  <a:extLst>
                    <a:ext uri="{9D8B030D-6E8A-4147-A177-3AD203B41FA5}">
                      <a16:colId xmlns:a16="http://schemas.microsoft.com/office/drawing/2014/main" val="3597525703"/>
                    </a:ext>
                  </a:extLst>
                </a:gridCol>
                <a:gridCol w="3308059">
                  <a:extLst>
                    <a:ext uri="{9D8B030D-6E8A-4147-A177-3AD203B41FA5}">
                      <a16:colId xmlns:a16="http://schemas.microsoft.com/office/drawing/2014/main" val="333872334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457879235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94069147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809430689"/>
                    </a:ext>
                  </a:extLst>
                </a:gridCol>
              </a:tblGrid>
              <a:tr h="148162">
                <a:tc>
                  <a:txBody>
                    <a:bodyPr/>
                    <a:lstStyle/>
                    <a:p>
                      <a:r>
                        <a:rPr lang="ru-RU" sz="1200" b="1">
                          <a:effectLst/>
                          <a:latin typeface="Google Sans Text"/>
                        </a:rPr>
                        <a:t>№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>
                          <a:effectLst/>
                          <a:latin typeface="Google Sans Text"/>
                        </a:rPr>
                        <a:t>Мероприятие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>
                          <a:effectLst/>
                          <a:latin typeface="Google Sans Text"/>
                        </a:rPr>
                        <a:t>Ответственный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>
                          <a:effectLst/>
                          <a:latin typeface="Google Sans Text"/>
                        </a:rPr>
                        <a:t>Дата начала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effectLst/>
                          <a:latin typeface="Google Sans Text"/>
                        </a:rPr>
                        <a:t>Комментарий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112267"/>
                  </a:ext>
                </a:extLst>
              </a:tr>
              <a:tr h="566501"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Google Sans Text"/>
                        </a:rPr>
                        <a:t>1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 err="1">
                          <a:effectLst/>
                          <a:latin typeface="Google Sans Text"/>
                        </a:rPr>
                        <a:t>Финализация</a:t>
                      </a:r>
                      <a:r>
                        <a:rPr lang="ru-RU" sz="1200" b="0" dirty="0">
                          <a:effectLst/>
                          <a:latin typeface="Google Sans Text"/>
                        </a:rPr>
                        <a:t> предложений по улучшению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Google Sans Text"/>
                        </a:rPr>
                        <a:t>Рабочая группа (Ваша команда)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Google Sans Text"/>
                        </a:rPr>
                        <a:t>24.06.2025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Google Sans Text"/>
                        </a:rPr>
                        <a:t>Доработка регламента, структуры БЗ, стандартов документов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6212384"/>
                  </a:ext>
                </a:extLst>
              </a:tr>
              <a:tr h="566501"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Google Sans Text"/>
                        </a:rPr>
                        <a:t>2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Google Sans Text"/>
                        </a:rPr>
                        <a:t>Согласование и утверждение предложений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Google Sans Text"/>
                        </a:rPr>
                        <a:t>Руководитель Управления документооборотом, Рабочая группа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Google Sans Text"/>
                        </a:rPr>
                        <a:t>30.06.2025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Google Sans Text"/>
                        </a:rPr>
                        <a:t>Получение официального одобрения на изменение процесса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559500"/>
                  </a:ext>
                </a:extLst>
              </a:tr>
              <a:tr h="671086"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Google Sans Text"/>
                        </a:rPr>
                        <a:t>3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Google Sans Text"/>
                        </a:rPr>
                        <a:t>Создание/Наполнение Базы знаний (FAQ)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Google Sans Text"/>
                        </a:rPr>
                        <a:t>Рабочая группа, Сотрудник, проводящий резолюции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Google Sans Text"/>
                        </a:rPr>
                        <a:t>05.07.2025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Google Sans Text"/>
                        </a:rPr>
                        <a:t>Сбор и структурирование информации по типовым кейсам и контактам экспертов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375302"/>
                  </a:ext>
                </a:extLst>
              </a:tr>
              <a:tr h="566501"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Google Sans Text"/>
                        </a:rPr>
                        <a:t>4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Google Sans Text"/>
                        </a:rPr>
                        <a:t>Разработка и формализация регламента/матрицы маршрутизации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Google Sans Text"/>
                        </a:rPr>
                        <a:t>Рабочая группа, Специалист по регламентам УДД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Google Sans Text"/>
                        </a:rPr>
                        <a:t>10.07.2025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Google Sans Text"/>
                        </a:rPr>
                        <a:t>Описание четких правил и схем направления документов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05230"/>
                  </a:ext>
                </a:extLst>
              </a:tr>
              <a:tr h="671086"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Google Sans Text"/>
                        </a:rPr>
                        <a:t>5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Google Sans Text"/>
                        </a:rPr>
                        <a:t>Обучение сотрудника новым правилам и инструментам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Google Sans Text"/>
                        </a:rPr>
                        <a:t>Рабочая группа, Руководитель Управления документооборотом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Google Sans Text"/>
                        </a:rPr>
                        <a:t>13.08.2025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Google Sans Text"/>
                        </a:rPr>
                        <a:t>Тренинг по использованию матрицы, БЗ, эффективному изучению документов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427000"/>
                  </a:ext>
                </a:extLst>
              </a:tr>
              <a:tr h="671086"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Google Sans Text"/>
                        </a:rPr>
                        <a:t>6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Google Sans Text"/>
                        </a:rPr>
                        <a:t>Пилотное использование нового процесса и сбор обратной связи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Google Sans Text"/>
                        </a:rPr>
                        <a:t>Сотрудник, проводящий резолюции, Рабочая группа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Google Sans Text"/>
                        </a:rPr>
                        <a:t>26.08.2025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Google Sans Text"/>
                        </a:rPr>
                        <a:t>Применение изменений на практике, фиксация сложностей и предложений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936400"/>
                  </a:ext>
                </a:extLst>
              </a:tr>
              <a:tr h="566501"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Google Sans Text"/>
                        </a:rPr>
                        <a:t>7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Google Sans Text"/>
                        </a:rPr>
                        <a:t>Анализ результатов пилота и корректировка предложений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Google Sans Text"/>
                        </a:rPr>
                        <a:t>Рабочая группа, Руководитель Управления документооборотом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Google Sans Text"/>
                        </a:rPr>
                        <a:t>02.09.2025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Google Sans Text"/>
                        </a:rPr>
                        <a:t>Оценка эффективности, внесение изменений в регламенты/БЗ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6064312"/>
                  </a:ext>
                </a:extLst>
              </a:tr>
              <a:tr h="461917"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Google Sans Text"/>
                        </a:rPr>
                        <a:t>8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Google Sans Text"/>
                        </a:rPr>
                        <a:t>Документация нового процесса и регламентов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Google Sans Text"/>
                        </a:rPr>
                        <a:t>Рабочая группа, Специалист по регламентам УДД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Google Sans Text"/>
                        </a:rPr>
                        <a:t>14.09.2025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Google Sans Text"/>
                        </a:rPr>
                        <a:t>Оформление финальной версии инструкций и регламентов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246412"/>
                  </a:ext>
                </a:extLst>
              </a:tr>
              <a:tr h="671086"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Google Sans Text"/>
                        </a:rPr>
                        <a:t>9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Google Sans Text"/>
                        </a:rPr>
                        <a:t>Мониторинг показателей процесса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Google Sans Text"/>
                        </a:rPr>
                        <a:t>Руководитель Управления документооборотом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Google Sans Text"/>
                        </a:rPr>
                        <a:t>24.09.2025 (Постоянно)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Google Sans Text"/>
                        </a:rPr>
                        <a:t>Отслеживание времени выполнения, количества обращений к коллегам, ошибок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656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5048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2761F4E-83DA-419E-AC28-C6D4E225BE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000" t="23873" r="10856" b="8952"/>
          <a:stretch/>
        </p:blipFill>
        <p:spPr>
          <a:xfrm>
            <a:off x="2740564" y="1421964"/>
            <a:ext cx="9265920" cy="5166071"/>
          </a:xfrm>
          <a:prstGeom prst="rect">
            <a:avLst/>
          </a:prstGeom>
        </p:spPr>
      </p:pic>
      <p:pic>
        <p:nvPicPr>
          <p:cNvPr id="4100" name="Picture 4" descr="Дизайн презентации: коротко о самом главном | Блог 4brain">
            <a:extLst>
              <a:ext uri="{FF2B5EF4-FFF2-40B4-BE49-F238E27FC236}">
                <a16:creationId xmlns:a16="http://schemas.microsoft.com/office/drawing/2014/main" id="{ED2BEDAE-1717-4A1E-BC5E-AB8DD07926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66" r="7573"/>
          <a:stretch/>
        </p:blipFill>
        <p:spPr bwMode="auto">
          <a:xfrm>
            <a:off x="348343" y="3486942"/>
            <a:ext cx="4032069" cy="3101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071C76-CD18-4BA8-BB3D-0B74F8985E2A}"/>
              </a:ext>
            </a:extLst>
          </p:cNvPr>
          <p:cNvSpPr/>
          <p:nvPr/>
        </p:nvSpPr>
        <p:spPr>
          <a:xfrm>
            <a:off x="0" y="-2"/>
            <a:ext cx="12192000" cy="1297577"/>
          </a:xfrm>
          <a:prstGeom prst="rect">
            <a:avLst/>
          </a:prstGeom>
          <a:solidFill>
            <a:srgbClr val="456A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24A2BC-41F0-4C3B-95A0-990DC47AB9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4609" y="124387"/>
            <a:ext cx="9144000" cy="881017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Bernard MT Condensed" panose="02050806060905020404" pitchFamily="18" charset="0"/>
              </a:rPr>
              <a:t>IDEF0</a:t>
            </a:r>
            <a:r>
              <a:rPr lang="ru-RU" sz="3600" dirty="0">
                <a:solidFill>
                  <a:schemeClr val="bg1"/>
                </a:solidFill>
                <a:latin typeface="Arial Black" panose="020B0A04020102020204" pitchFamily="34" charset="0"/>
              </a:rPr>
              <a:t> (Резолюция)</a:t>
            </a:r>
          </a:p>
        </p:txBody>
      </p:sp>
    </p:spTree>
    <p:extLst>
      <p:ext uri="{BB962C8B-B14F-4D97-AF65-F5344CB8AC3E}">
        <p14:creationId xmlns:p14="http://schemas.microsoft.com/office/powerpoint/2010/main" val="3838305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071C76-CD18-4BA8-BB3D-0B74F8985E2A}"/>
              </a:ext>
            </a:extLst>
          </p:cNvPr>
          <p:cNvSpPr/>
          <p:nvPr/>
        </p:nvSpPr>
        <p:spPr>
          <a:xfrm>
            <a:off x="0" y="-2"/>
            <a:ext cx="12192000" cy="1297577"/>
          </a:xfrm>
          <a:prstGeom prst="rect">
            <a:avLst/>
          </a:prstGeom>
          <a:solidFill>
            <a:srgbClr val="456A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24A2BC-41F0-4C3B-95A0-990DC47AB9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4609" y="124387"/>
            <a:ext cx="9144000" cy="881017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Bernard MT Condensed" panose="02050806060905020404" pitchFamily="18" charset="0"/>
              </a:rPr>
              <a:t>BPMN</a:t>
            </a:r>
            <a:r>
              <a:rPr lang="ru-RU" sz="3600" dirty="0">
                <a:solidFill>
                  <a:schemeClr val="bg1"/>
                </a:solidFill>
                <a:latin typeface="Arial Black" panose="020B0A04020102020204" pitchFamily="34" charset="0"/>
              </a:rPr>
              <a:t> (Резолюция)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C7AAC4A-D16E-413F-9297-76940CB2F2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286" t="30095" r="1714" b="10857"/>
          <a:stretch/>
        </p:blipFill>
        <p:spPr>
          <a:xfrm>
            <a:off x="357052" y="1654626"/>
            <a:ext cx="11155680" cy="4574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9739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071C76-CD18-4BA8-BB3D-0B74F8985E2A}"/>
              </a:ext>
            </a:extLst>
          </p:cNvPr>
          <p:cNvSpPr/>
          <p:nvPr/>
        </p:nvSpPr>
        <p:spPr>
          <a:xfrm>
            <a:off x="0" y="-2"/>
            <a:ext cx="12192000" cy="1297577"/>
          </a:xfrm>
          <a:prstGeom prst="rect">
            <a:avLst/>
          </a:prstGeom>
          <a:solidFill>
            <a:srgbClr val="456A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24A2BC-41F0-4C3B-95A0-990DC47AB9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4609" y="124387"/>
            <a:ext cx="9144000" cy="881017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Berlin Sans FB Demi" panose="020E0802020502020306" pitchFamily="34" charset="0"/>
              </a:rPr>
              <a:t>Basic Flowchart (</a:t>
            </a:r>
            <a:r>
              <a:rPr lang="ru-RU" sz="3600" dirty="0">
                <a:solidFill>
                  <a:schemeClr val="bg1"/>
                </a:solidFill>
                <a:latin typeface="Bernard MT Condensed" panose="02050806060905020404" pitchFamily="18" charset="0"/>
              </a:rPr>
              <a:t>Резолюция)</a:t>
            </a:r>
            <a:endParaRPr lang="ru-RU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1026" name="Picture 2" descr="Стикеры Презентация — бесплатные стикеры бизнес">
            <a:extLst>
              <a:ext uri="{FF2B5EF4-FFF2-40B4-BE49-F238E27FC236}">
                <a16:creationId xmlns:a16="http://schemas.microsoft.com/office/drawing/2014/main" id="{03C6DF26-0CAA-4D0C-8B1D-C5977A742D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900" y="1421964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3CC1A91-D0A7-4673-A3DC-2F568C976B7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7265" t="23056" r="30000" b="12639"/>
          <a:stretch/>
        </p:blipFill>
        <p:spPr>
          <a:xfrm>
            <a:off x="1364609" y="1297575"/>
            <a:ext cx="3505201" cy="557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220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D408C-85B5-55BF-3140-2AEBB82F1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495E831-D110-2CAA-6E09-3EFEDB746C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69" t="18921" r="24240" b="13606"/>
          <a:stretch/>
        </p:blipFill>
        <p:spPr>
          <a:xfrm>
            <a:off x="0" y="0"/>
            <a:ext cx="12198531" cy="6866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3883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595A7-96D7-89EC-2E85-C0F4113A3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7C4C0AB-CA95-BE96-D568-D4D2CDCD7073}"/>
              </a:ext>
            </a:extLst>
          </p:cNvPr>
          <p:cNvSpPr/>
          <p:nvPr/>
        </p:nvSpPr>
        <p:spPr>
          <a:xfrm>
            <a:off x="1" y="0"/>
            <a:ext cx="12192000" cy="1329507"/>
          </a:xfrm>
          <a:prstGeom prst="rect">
            <a:avLst/>
          </a:prstGeom>
          <a:solidFill>
            <a:srgbClr val="456A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24AD91-CEE9-98DF-45FE-E6DF8074F9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4202" y="217578"/>
            <a:ext cx="9144000" cy="894349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</a:rPr>
              <a:t>Замеры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86BCC094-598C-80B1-F237-B35C4D3F00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755111"/>
              </p:ext>
            </p:extLst>
          </p:nvPr>
        </p:nvGraphicFramePr>
        <p:xfrm>
          <a:off x="838200" y="1803602"/>
          <a:ext cx="10515600" cy="3161604"/>
        </p:xfrm>
        <a:graphic>
          <a:graphicData uri="http://schemas.openxmlformats.org/drawingml/2006/table">
            <a:tbl>
              <a:tblPr/>
              <a:tblGrid>
                <a:gridCol w="7559257">
                  <a:extLst>
                    <a:ext uri="{9D8B030D-6E8A-4147-A177-3AD203B41FA5}">
                      <a16:colId xmlns:a16="http://schemas.microsoft.com/office/drawing/2014/main" val="3971438099"/>
                    </a:ext>
                  </a:extLst>
                </a:gridCol>
                <a:gridCol w="2956343">
                  <a:extLst>
                    <a:ext uri="{9D8B030D-6E8A-4147-A177-3AD203B41FA5}">
                      <a16:colId xmlns:a16="http://schemas.microsoft.com/office/drawing/2014/main" val="2175274888"/>
                    </a:ext>
                  </a:extLst>
                </a:gridCol>
              </a:tblGrid>
              <a:tr h="396628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800" b="1" dirty="0">
                          <a:effectLst/>
                        </a:rPr>
                        <a:t>Открытие </a:t>
                      </a:r>
                      <a:r>
                        <a:rPr lang="en-US" sz="1800" b="1" dirty="0">
                          <a:effectLst/>
                        </a:rPr>
                        <a:t>WORD </a:t>
                      </a:r>
                      <a:endParaRPr lang="ru-RU" sz="1800" b="1" dirty="0">
                        <a:effectLst/>
                      </a:endParaRPr>
                    </a:p>
                  </a:txBody>
                  <a:tcPr marL="28067" marR="28067" marT="18711" marB="1871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800" b="1" dirty="0">
                          <a:effectLst/>
                        </a:rPr>
                        <a:t>6</a:t>
                      </a:r>
                    </a:p>
                  </a:txBody>
                  <a:tcPr marL="28067" marR="28067" marT="18711" marB="1871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348375"/>
                  </a:ext>
                </a:extLst>
              </a:tr>
              <a:tr h="396628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800" b="1" dirty="0">
                          <a:effectLst/>
                        </a:rPr>
                        <a:t>Формирование и печать титульного листа</a:t>
                      </a:r>
                    </a:p>
                  </a:txBody>
                  <a:tcPr marL="28067" marR="28067" marT="18711" marB="1871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800" b="1" dirty="0">
                          <a:effectLst/>
                        </a:rPr>
                        <a:t>60</a:t>
                      </a:r>
                    </a:p>
                  </a:txBody>
                  <a:tcPr marL="28067" marR="28067" marT="18711" marB="1871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0178368"/>
                  </a:ext>
                </a:extLst>
              </a:tr>
              <a:tr h="396628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800" b="1" dirty="0">
                          <a:effectLst/>
                        </a:rPr>
                        <a:t>Складывание документов в хронологическом порядке</a:t>
                      </a:r>
                    </a:p>
                  </a:txBody>
                  <a:tcPr marL="28067" marR="28067" marT="18711" marB="1871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800" b="1" dirty="0">
                          <a:effectLst/>
                        </a:rPr>
                        <a:t>1140</a:t>
                      </a:r>
                    </a:p>
                  </a:txBody>
                  <a:tcPr marL="28067" marR="28067" marT="18711" marB="1871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9298031"/>
                  </a:ext>
                </a:extLst>
              </a:tr>
              <a:tr h="396628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800" b="1" dirty="0">
                          <a:effectLst/>
                        </a:rPr>
                        <a:t>Снятие скрепок с документов</a:t>
                      </a:r>
                    </a:p>
                  </a:txBody>
                  <a:tcPr marL="28067" marR="28067" marT="18711" marB="1871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800" b="1" dirty="0">
                          <a:effectLst/>
                        </a:rPr>
                        <a:t>270</a:t>
                      </a:r>
                    </a:p>
                  </a:txBody>
                  <a:tcPr marL="28067" marR="28067" marT="18711" marB="1871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3105631"/>
                  </a:ext>
                </a:extLst>
              </a:tr>
              <a:tr h="381786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800" b="1" dirty="0">
                          <a:effectLst/>
                        </a:rPr>
                        <a:t>Сбор папки для тома</a:t>
                      </a:r>
                    </a:p>
                  </a:txBody>
                  <a:tcPr marL="28067" marR="28067" marT="18711" marB="1871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800" b="1" dirty="0">
                          <a:effectLst/>
                        </a:rPr>
                        <a:t>300</a:t>
                      </a:r>
                    </a:p>
                  </a:txBody>
                  <a:tcPr marL="28067" marR="28067" marT="18711" marB="1871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68192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800" b="1" dirty="0">
                          <a:effectLst/>
                        </a:rPr>
                        <a:t>Формирование тома документами и титульным листом</a:t>
                      </a:r>
                    </a:p>
                  </a:txBody>
                  <a:tcPr marL="28067" marR="28067" marT="18711" marB="1871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800" b="1" dirty="0">
                          <a:effectLst/>
                        </a:rPr>
                        <a:t>30</a:t>
                      </a:r>
                    </a:p>
                  </a:txBody>
                  <a:tcPr marL="28067" marR="28067" marT="18711" marB="1871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4578632"/>
                  </a:ext>
                </a:extLst>
              </a:tr>
              <a:tr h="396628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800" b="1" dirty="0">
                          <a:effectLst/>
                        </a:rPr>
                        <a:t>Формирование и печать марок в </a:t>
                      </a:r>
                      <a:r>
                        <a:rPr lang="en-US" sz="1800" b="1" dirty="0">
                          <a:effectLst/>
                        </a:rPr>
                        <a:t>WORD</a:t>
                      </a:r>
                      <a:endParaRPr lang="ru-RU" sz="1800" b="1" dirty="0">
                        <a:effectLst/>
                      </a:endParaRPr>
                    </a:p>
                  </a:txBody>
                  <a:tcPr marL="28067" marR="28067" marT="18711" marB="1871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800" b="1" dirty="0">
                          <a:effectLst/>
                        </a:rPr>
                        <a:t>60</a:t>
                      </a:r>
                    </a:p>
                  </a:txBody>
                  <a:tcPr marL="28067" marR="28067" marT="18711" marB="1871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0712581"/>
                  </a:ext>
                </a:extLst>
              </a:tr>
              <a:tr h="396628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800" b="1" dirty="0">
                          <a:effectLst/>
                        </a:rPr>
                        <a:t>Клейка марок на том</a:t>
                      </a:r>
                    </a:p>
                  </a:txBody>
                  <a:tcPr marL="28067" marR="28067" marT="18711" marB="1871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800" b="1" dirty="0">
                          <a:effectLst/>
                        </a:rPr>
                        <a:t>204</a:t>
                      </a:r>
                    </a:p>
                  </a:txBody>
                  <a:tcPr marL="28067" marR="28067" marT="18711" marB="1871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334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10412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11C0C-7969-0B29-10BA-436D0BC95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4709557-2B3A-E063-68C1-243E707E2BC9}"/>
              </a:ext>
            </a:extLst>
          </p:cNvPr>
          <p:cNvSpPr/>
          <p:nvPr/>
        </p:nvSpPr>
        <p:spPr>
          <a:xfrm>
            <a:off x="1" y="0"/>
            <a:ext cx="12192000" cy="1329507"/>
          </a:xfrm>
          <a:prstGeom prst="rect">
            <a:avLst/>
          </a:prstGeom>
          <a:solidFill>
            <a:srgbClr val="456A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00ABA4-8245-D4F6-4B62-D6FA3AD66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4202" y="217578"/>
            <a:ext cx="9144000" cy="89434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  <a:latin typeface="Bernard MT Condensed" panose="02050806060905020404" pitchFamily="18" charset="0"/>
              </a:rPr>
              <a:t> Value Stream Map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00CBAA4-8EF8-8437-2659-E2284F447479}"/>
              </a:ext>
            </a:extLst>
          </p:cNvPr>
          <p:cNvSpPr/>
          <p:nvPr/>
        </p:nvSpPr>
        <p:spPr>
          <a:xfrm>
            <a:off x="274680" y="2540679"/>
            <a:ext cx="1024577" cy="903059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6 с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504E33F-3E3F-C981-1C14-2B71303ADE90}"/>
              </a:ext>
            </a:extLst>
          </p:cNvPr>
          <p:cNvSpPr/>
          <p:nvPr/>
        </p:nvSpPr>
        <p:spPr>
          <a:xfrm>
            <a:off x="3310917" y="2555419"/>
            <a:ext cx="1004553" cy="873581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700" dirty="0"/>
              <a:t>1140 с</a:t>
            </a:r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EA9DED84-E03F-ED68-2887-E30C367EBED3}"/>
              </a:ext>
            </a:extLst>
          </p:cNvPr>
          <p:cNvCxnSpPr>
            <a:cxnSpLocks/>
          </p:cNvCxnSpPr>
          <p:nvPr/>
        </p:nvCxnSpPr>
        <p:spPr>
          <a:xfrm>
            <a:off x="274680" y="3803852"/>
            <a:ext cx="1048075" cy="0"/>
          </a:xfrm>
          <a:prstGeom prst="line">
            <a:avLst/>
          </a:prstGeom>
          <a:ln w="57150">
            <a:solidFill>
              <a:srgbClr val="1D9A78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FDBA2ECD-8F6D-AFB6-CEA1-2C3B438E5E32}"/>
              </a:ext>
            </a:extLst>
          </p:cNvPr>
          <p:cNvCxnSpPr>
            <a:cxnSpLocks/>
          </p:cNvCxnSpPr>
          <p:nvPr/>
        </p:nvCxnSpPr>
        <p:spPr>
          <a:xfrm>
            <a:off x="1322755" y="3803852"/>
            <a:ext cx="0" cy="72574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E2D36FCC-0672-2EFD-D690-8B8317FF5A94}"/>
              </a:ext>
            </a:extLst>
          </p:cNvPr>
          <p:cNvCxnSpPr>
            <a:cxnSpLocks/>
          </p:cNvCxnSpPr>
          <p:nvPr/>
        </p:nvCxnSpPr>
        <p:spPr>
          <a:xfrm>
            <a:off x="1299257" y="4524749"/>
            <a:ext cx="529706" cy="4852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1F017384-B303-BC93-F849-3CCF11EF9FDD}"/>
              </a:ext>
            </a:extLst>
          </p:cNvPr>
          <p:cNvCxnSpPr>
            <a:cxnSpLocks/>
          </p:cNvCxnSpPr>
          <p:nvPr/>
        </p:nvCxnSpPr>
        <p:spPr>
          <a:xfrm>
            <a:off x="1828963" y="3803852"/>
            <a:ext cx="0" cy="72574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DF0F4056-4C19-9965-5826-A3265FE7F08F}"/>
              </a:ext>
            </a:extLst>
          </p:cNvPr>
          <p:cNvCxnSpPr>
            <a:cxnSpLocks/>
          </p:cNvCxnSpPr>
          <p:nvPr/>
        </p:nvCxnSpPr>
        <p:spPr>
          <a:xfrm flipH="1">
            <a:off x="1828963" y="3803852"/>
            <a:ext cx="100453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181E891E-2427-9380-B32F-11EE2740EF89}"/>
              </a:ext>
            </a:extLst>
          </p:cNvPr>
          <p:cNvCxnSpPr>
            <a:cxnSpLocks/>
          </p:cNvCxnSpPr>
          <p:nvPr/>
        </p:nvCxnSpPr>
        <p:spPr>
          <a:xfrm flipH="1">
            <a:off x="3310917" y="3803852"/>
            <a:ext cx="1004535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4593B439-D68D-DF9A-CA17-DAEF7BE7FB65}"/>
              </a:ext>
            </a:extLst>
          </p:cNvPr>
          <p:cNvCxnSpPr>
            <a:cxnSpLocks/>
          </p:cNvCxnSpPr>
          <p:nvPr/>
        </p:nvCxnSpPr>
        <p:spPr>
          <a:xfrm>
            <a:off x="2833499" y="3782028"/>
            <a:ext cx="0" cy="72574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единительная линия 42">
            <a:extLst>
              <a:ext uri="{FF2B5EF4-FFF2-40B4-BE49-F238E27FC236}">
                <a16:creationId xmlns:a16="http://schemas.microsoft.com/office/drawing/2014/main" id="{A9F4E099-E80C-7E7D-7813-2CE7928AA7D4}"/>
              </a:ext>
            </a:extLst>
          </p:cNvPr>
          <p:cNvCxnSpPr>
            <a:cxnSpLocks/>
          </p:cNvCxnSpPr>
          <p:nvPr/>
        </p:nvCxnSpPr>
        <p:spPr>
          <a:xfrm>
            <a:off x="2833499" y="4501611"/>
            <a:ext cx="477418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id="{0BBA230B-6007-CA87-E653-622755050637}"/>
              </a:ext>
            </a:extLst>
          </p:cNvPr>
          <p:cNvCxnSpPr>
            <a:cxnSpLocks/>
          </p:cNvCxnSpPr>
          <p:nvPr/>
        </p:nvCxnSpPr>
        <p:spPr>
          <a:xfrm>
            <a:off x="4718095" y="3821784"/>
            <a:ext cx="0" cy="72574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единительная линия 45">
            <a:extLst>
              <a:ext uri="{FF2B5EF4-FFF2-40B4-BE49-F238E27FC236}">
                <a16:creationId xmlns:a16="http://schemas.microsoft.com/office/drawing/2014/main" id="{2DF9E98E-B39D-72B2-8D11-52A163BA14F3}"/>
              </a:ext>
            </a:extLst>
          </p:cNvPr>
          <p:cNvCxnSpPr>
            <a:cxnSpLocks/>
          </p:cNvCxnSpPr>
          <p:nvPr/>
        </p:nvCxnSpPr>
        <p:spPr>
          <a:xfrm>
            <a:off x="4319210" y="3831558"/>
            <a:ext cx="0" cy="72574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>
            <a:extLst>
              <a:ext uri="{FF2B5EF4-FFF2-40B4-BE49-F238E27FC236}">
                <a16:creationId xmlns:a16="http://schemas.microsoft.com/office/drawing/2014/main" id="{6BD369ED-8248-4B7D-34E9-6C458F959023}"/>
              </a:ext>
            </a:extLst>
          </p:cNvPr>
          <p:cNvCxnSpPr>
            <a:cxnSpLocks/>
          </p:cNvCxnSpPr>
          <p:nvPr/>
        </p:nvCxnSpPr>
        <p:spPr>
          <a:xfrm>
            <a:off x="3310917" y="3803852"/>
            <a:ext cx="0" cy="72574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96372BDE-C6FE-481A-CE2F-6B9E353E64B8}"/>
              </a:ext>
            </a:extLst>
          </p:cNvPr>
          <p:cNvSpPr/>
          <p:nvPr/>
        </p:nvSpPr>
        <p:spPr>
          <a:xfrm>
            <a:off x="6141517" y="2547282"/>
            <a:ext cx="1004539" cy="881718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300 с</a:t>
            </a:r>
            <a:r>
              <a:rPr lang="ru-RU" sz="1700" dirty="0"/>
              <a:t> </a:t>
            </a:r>
          </a:p>
        </p:txBody>
      </p:sp>
      <p:cxnSp>
        <p:nvCxnSpPr>
          <p:cNvPr id="58" name="Прямая соединительная линия 57">
            <a:extLst>
              <a:ext uri="{FF2B5EF4-FFF2-40B4-BE49-F238E27FC236}">
                <a16:creationId xmlns:a16="http://schemas.microsoft.com/office/drawing/2014/main" id="{D81ED59E-D3CC-4817-605A-948067EC3DAA}"/>
              </a:ext>
            </a:extLst>
          </p:cNvPr>
          <p:cNvCxnSpPr>
            <a:cxnSpLocks/>
          </p:cNvCxnSpPr>
          <p:nvPr/>
        </p:nvCxnSpPr>
        <p:spPr>
          <a:xfrm flipH="1" flipV="1">
            <a:off x="4718095" y="3821784"/>
            <a:ext cx="926569" cy="163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9E0C2F5A-D14C-2AC1-BE77-E227F0AD7E6E}"/>
              </a:ext>
            </a:extLst>
          </p:cNvPr>
          <p:cNvSpPr/>
          <p:nvPr/>
        </p:nvSpPr>
        <p:spPr>
          <a:xfrm>
            <a:off x="7636823" y="2537694"/>
            <a:ext cx="1004504" cy="881442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700" dirty="0"/>
              <a:t>30 с</a:t>
            </a:r>
          </a:p>
        </p:txBody>
      </p:sp>
      <p:cxnSp>
        <p:nvCxnSpPr>
          <p:cNvPr id="61" name="Прямая соединительная линия 60">
            <a:extLst>
              <a:ext uri="{FF2B5EF4-FFF2-40B4-BE49-F238E27FC236}">
                <a16:creationId xmlns:a16="http://schemas.microsoft.com/office/drawing/2014/main" id="{546BB127-358A-86D1-4065-E4A193AFDB0F}"/>
              </a:ext>
            </a:extLst>
          </p:cNvPr>
          <p:cNvCxnSpPr>
            <a:cxnSpLocks/>
            <a:endCxn id="36" idx="0"/>
          </p:cNvCxnSpPr>
          <p:nvPr/>
        </p:nvCxnSpPr>
        <p:spPr>
          <a:xfrm flipH="1" flipV="1">
            <a:off x="9132094" y="3815809"/>
            <a:ext cx="1026273" cy="1574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Прямоугольник 64">
            <a:extLst>
              <a:ext uri="{FF2B5EF4-FFF2-40B4-BE49-F238E27FC236}">
                <a16:creationId xmlns:a16="http://schemas.microsoft.com/office/drawing/2014/main" id="{0D953E5D-52BC-9348-4C25-1D94DAC74528}"/>
              </a:ext>
            </a:extLst>
          </p:cNvPr>
          <p:cNvSpPr/>
          <p:nvPr/>
        </p:nvSpPr>
        <p:spPr>
          <a:xfrm>
            <a:off x="10602164" y="2553965"/>
            <a:ext cx="1004539" cy="881718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700" dirty="0"/>
              <a:t>204 с</a:t>
            </a:r>
          </a:p>
        </p:txBody>
      </p:sp>
      <p:cxnSp>
        <p:nvCxnSpPr>
          <p:cNvPr id="66" name="Прямая соединительная линия 65">
            <a:extLst>
              <a:ext uri="{FF2B5EF4-FFF2-40B4-BE49-F238E27FC236}">
                <a16:creationId xmlns:a16="http://schemas.microsoft.com/office/drawing/2014/main" id="{564972D1-E1B1-2740-9D3C-A756B7DBC115}"/>
              </a:ext>
            </a:extLst>
          </p:cNvPr>
          <p:cNvCxnSpPr>
            <a:cxnSpLocks/>
          </p:cNvCxnSpPr>
          <p:nvPr/>
        </p:nvCxnSpPr>
        <p:spPr>
          <a:xfrm flipH="1">
            <a:off x="10602164" y="3831558"/>
            <a:ext cx="1004539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Прямая соединительная линия 67">
            <a:extLst>
              <a:ext uri="{FF2B5EF4-FFF2-40B4-BE49-F238E27FC236}">
                <a16:creationId xmlns:a16="http://schemas.microsoft.com/office/drawing/2014/main" id="{F3ACEE14-9902-C304-3D8F-BBE3BA14D8A4}"/>
              </a:ext>
            </a:extLst>
          </p:cNvPr>
          <p:cNvCxnSpPr>
            <a:cxnSpLocks/>
          </p:cNvCxnSpPr>
          <p:nvPr/>
        </p:nvCxnSpPr>
        <p:spPr>
          <a:xfrm flipH="1">
            <a:off x="6141517" y="3821784"/>
            <a:ext cx="1004539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Прямая соединительная линия 68">
            <a:extLst>
              <a:ext uri="{FF2B5EF4-FFF2-40B4-BE49-F238E27FC236}">
                <a16:creationId xmlns:a16="http://schemas.microsoft.com/office/drawing/2014/main" id="{C311357F-A3BF-685F-2157-DA48E6561898}"/>
              </a:ext>
            </a:extLst>
          </p:cNvPr>
          <p:cNvCxnSpPr>
            <a:cxnSpLocks/>
          </p:cNvCxnSpPr>
          <p:nvPr/>
        </p:nvCxnSpPr>
        <p:spPr>
          <a:xfrm>
            <a:off x="4315452" y="4557307"/>
            <a:ext cx="402643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Прямая соединительная линия 71">
            <a:extLst>
              <a:ext uri="{FF2B5EF4-FFF2-40B4-BE49-F238E27FC236}">
                <a16:creationId xmlns:a16="http://schemas.microsoft.com/office/drawing/2014/main" id="{A6FD5C53-F559-D6B7-CD84-500EA818617C}"/>
              </a:ext>
            </a:extLst>
          </p:cNvPr>
          <p:cNvCxnSpPr>
            <a:cxnSpLocks/>
          </p:cNvCxnSpPr>
          <p:nvPr/>
        </p:nvCxnSpPr>
        <p:spPr>
          <a:xfrm flipH="1">
            <a:off x="7636823" y="3831558"/>
            <a:ext cx="1004504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5BFDA0D-9FDF-E262-266C-F18DB1C958B6}"/>
              </a:ext>
            </a:extLst>
          </p:cNvPr>
          <p:cNvSpPr/>
          <p:nvPr/>
        </p:nvSpPr>
        <p:spPr>
          <a:xfrm>
            <a:off x="1828963" y="2537694"/>
            <a:ext cx="1004536" cy="891306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60 с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62631F2-0C4F-3E4A-60F1-47E39EB89292}"/>
              </a:ext>
            </a:extLst>
          </p:cNvPr>
          <p:cNvSpPr/>
          <p:nvPr/>
        </p:nvSpPr>
        <p:spPr>
          <a:xfrm>
            <a:off x="4699309" y="2547297"/>
            <a:ext cx="1004538" cy="881703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270 с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CA4376D-349D-F8D2-84A7-47A60EE92AEB}"/>
              </a:ext>
            </a:extLst>
          </p:cNvPr>
          <p:cNvSpPr/>
          <p:nvPr/>
        </p:nvSpPr>
        <p:spPr>
          <a:xfrm>
            <a:off x="9085124" y="2547561"/>
            <a:ext cx="1073243" cy="881439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60 с</a:t>
            </a: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20B53507-28EB-3B20-BB90-78D271308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491" y="3803625"/>
            <a:ext cx="54869" cy="762066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F588CC84-1D31-B1E1-EE8D-D1CAF4CF3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4082" y="3782028"/>
            <a:ext cx="54869" cy="762066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B80A181E-42C1-C8F2-D02A-51BE3AD29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2135" y="3831558"/>
            <a:ext cx="54869" cy="762066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D5103C1-AFD8-3256-59C4-2F32872F0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9388" y="3831558"/>
            <a:ext cx="54869" cy="762066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D193F39E-9062-0366-2FCE-21D09BE3C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8431" y="3815809"/>
            <a:ext cx="54869" cy="762066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4F568F1D-B5AC-C80A-A384-647ABAE75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4659" y="3815809"/>
            <a:ext cx="54869" cy="762066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CF62BFD8-DD69-6EEE-BFF2-48372A9B69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941" y="3828460"/>
            <a:ext cx="45719" cy="762066"/>
          </a:xfrm>
          <a:prstGeom prst="rect">
            <a:avLst/>
          </a:prstGeom>
        </p:spPr>
      </p:pic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05745267-591D-2ABD-DBA8-BB6469D83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4729" y="3803625"/>
            <a:ext cx="54869" cy="762066"/>
          </a:xfrm>
          <a:prstGeom prst="rect">
            <a:avLst/>
          </a:prstGeom>
        </p:spPr>
      </p:pic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6B4CE51B-94B5-35DE-79AD-5E8F0E6A08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1955" y="4501611"/>
            <a:ext cx="560881" cy="60965"/>
          </a:xfrm>
          <a:prstGeom prst="rect">
            <a:avLst/>
          </a:prstGeom>
        </p:spPr>
      </p:pic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F28D7129-9C2E-29D5-BD73-EEBBFD245B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7469" y="4516910"/>
            <a:ext cx="560881" cy="60965"/>
          </a:xfrm>
          <a:prstGeom prst="rect">
            <a:avLst/>
          </a:prstGeom>
        </p:spPr>
      </p:pic>
      <p:pic>
        <p:nvPicPr>
          <p:cNvPr id="55" name="Рисунок 54">
            <a:extLst>
              <a:ext uri="{FF2B5EF4-FFF2-40B4-BE49-F238E27FC236}">
                <a16:creationId xmlns:a16="http://schemas.microsoft.com/office/drawing/2014/main" id="{D4B4AF57-BDBC-FDC6-B92B-B55A0A2638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2166" y="4524749"/>
            <a:ext cx="560881" cy="60965"/>
          </a:xfrm>
          <a:prstGeom prst="rect">
            <a:avLst/>
          </a:prstGeom>
        </p:spPr>
      </p:pic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DC28232B-B23D-BCB1-926B-B0124A92BF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0792" y="4506613"/>
            <a:ext cx="498806" cy="54218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9BB00EF5-B856-E561-2ADE-5B6FD04E1B96}"/>
              </a:ext>
            </a:extLst>
          </p:cNvPr>
          <p:cNvSpPr txBox="1"/>
          <p:nvPr/>
        </p:nvSpPr>
        <p:spPr>
          <a:xfrm>
            <a:off x="1437432" y="41437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5CB8675-13AF-7739-5BB7-0DEB02C28DFB}"/>
              </a:ext>
            </a:extLst>
          </p:cNvPr>
          <p:cNvSpPr txBox="1"/>
          <p:nvPr/>
        </p:nvSpPr>
        <p:spPr>
          <a:xfrm>
            <a:off x="2925395" y="41437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C05A085-B50A-B50A-84D1-A6E0F35754D1}"/>
              </a:ext>
            </a:extLst>
          </p:cNvPr>
          <p:cNvSpPr txBox="1"/>
          <p:nvPr/>
        </p:nvSpPr>
        <p:spPr>
          <a:xfrm>
            <a:off x="4394560" y="41732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A543928-CFA4-4F2D-3051-E1902194309B}"/>
              </a:ext>
            </a:extLst>
          </p:cNvPr>
          <p:cNvSpPr txBox="1"/>
          <p:nvPr/>
        </p:nvSpPr>
        <p:spPr>
          <a:xfrm>
            <a:off x="5677296" y="417728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30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7E702BD-10F6-24D3-DDAD-A8BF672AFC9F}"/>
              </a:ext>
            </a:extLst>
          </p:cNvPr>
          <p:cNvSpPr txBox="1"/>
          <p:nvPr/>
        </p:nvSpPr>
        <p:spPr>
          <a:xfrm>
            <a:off x="7237066" y="41932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1AE684E-69C3-C36F-25C9-7979BEE37505}"/>
              </a:ext>
            </a:extLst>
          </p:cNvPr>
          <p:cNvSpPr txBox="1"/>
          <p:nvPr/>
        </p:nvSpPr>
        <p:spPr>
          <a:xfrm>
            <a:off x="8681747" y="419324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20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ED795ED-03F6-7C96-E195-A53F8F96A9E2}"/>
              </a:ext>
            </a:extLst>
          </p:cNvPr>
          <p:cNvSpPr txBox="1"/>
          <p:nvPr/>
        </p:nvSpPr>
        <p:spPr>
          <a:xfrm>
            <a:off x="10146600" y="414374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60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3C7E9D0-39D7-E1B2-4CCD-9C88CAED20E3}"/>
              </a:ext>
            </a:extLst>
          </p:cNvPr>
          <p:cNvSpPr txBox="1"/>
          <p:nvPr/>
        </p:nvSpPr>
        <p:spPr>
          <a:xfrm>
            <a:off x="333189" y="1951795"/>
            <a:ext cx="8723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b="1" dirty="0">
                <a:effectLst/>
              </a:rPr>
              <a:t>Открытие </a:t>
            </a:r>
          </a:p>
          <a:p>
            <a:pPr algn="ctr"/>
            <a:r>
              <a:rPr lang="en-US" sz="1200" b="1" dirty="0">
                <a:effectLst/>
              </a:rPr>
              <a:t>WORD </a:t>
            </a:r>
            <a:endParaRPr lang="ru-RU" sz="1200" b="1" dirty="0">
              <a:effectLst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E5F2B2C-6ACA-9A07-5942-F9B2E0C7D848}"/>
              </a:ext>
            </a:extLst>
          </p:cNvPr>
          <p:cNvSpPr txBox="1"/>
          <p:nvPr/>
        </p:nvSpPr>
        <p:spPr>
          <a:xfrm>
            <a:off x="1664984" y="1705081"/>
            <a:ext cx="133249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b="1" dirty="0">
                <a:effectLst/>
              </a:rPr>
              <a:t>Формирование и </a:t>
            </a:r>
          </a:p>
          <a:p>
            <a:pPr algn="ctr"/>
            <a:r>
              <a:rPr lang="ru-RU" sz="1200" b="1" dirty="0">
                <a:effectLst/>
              </a:rPr>
              <a:t>печать титульного </a:t>
            </a:r>
          </a:p>
          <a:p>
            <a:pPr algn="ctr"/>
            <a:r>
              <a:rPr lang="ru-RU" sz="1200" b="1" dirty="0">
                <a:effectLst/>
              </a:rPr>
              <a:t>листа</a:t>
            </a:r>
          </a:p>
          <a:p>
            <a:endParaRPr lang="ru-RU" sz="1600" b="1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72A0652-9D5C-41FF-CDAC-F80F928D6241}"/>
              </a:ext>
            </a:extLst>
          </p:cNvPr>
          <p:cNvSpPr txBox="1"/>
          <p:nvPr/>
        </p:nvSpPr>
        <p:spPr>
          <a:xfrm>
            <a:off x="3079758" y="1708769"/>
            <a:ext cx="1457158" cy="1118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b="1" dirty="0">
                <a:effectLst/>
              </a:rPr>
              <a:t>Складывание </a:t>
            </a:r>
          </a:p>
          <a:p>
            <a:pPr algn="ctr"/>
            <a:r>
              <a:rPr lang="ru-RU" sz="1200" b="1" dirty="0">
                <a:effectLst/>
              </a:rPr>
              <a:t>документов в </a:t>
            </a:r>
          </a:p>
          <a:p>
            <a:pPr algn="ctr"/>
            <a:r>
              <a:rPr lang="ru-RU" sz="1200" b="1" dirty="0">
                <a:effectLst/>
              </a:rPr>
              <a:t>хронологическом </a:t>
            </a:r>
          </a:p>
          <a:p>
            <a:pPr algn="ctr"/>
            <a:r>
              <a:rPr lang="ru-RU" sz="1200" b="1" dirty="0">
                <a:effectLst/>
              </a:rPr>
              <a:t>порядке</a:t>
            </a:r>
          </a:p>
          <a:p>
            <a:pPr algn="ctr"/>
            <a:endParaRPr lang="ru-RU" sz="16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0AA4BE3-A630-ECAC-211A-BE2ED74A1E5E}"/>
              </a:ext>
            </a:extLst>
          </p:cNvPr>
          <p:cNvSpPr txBox="1"/>
          <p:nvPr/>
        </p:nvSpPr>
        <p:spPr>
          <a:xfrm>
            <a:off x="4691032" y="1832126"/>
            <a:ext cx="10045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b="1" dirty="0">
                <a:effectLst/>
              </a:rPr>
              <a:t>Снятие </a:t>
            </a:r>
          </a:p>
          <a:p>
            <a:pPr algn="ctr"/>
            <a:r>
              <a:rPr lang="ru-RU" sz="1200" b="1" dirty="0">
                <a:effectLst/>
              </a:rPr>
              <a:t>скрепок с </a:t>
            </a:r>
          </a:p>
          <a:p>
            <a:pPr algn="ctr"/>
            <a:r>
              <a:rPr lang="ru-RU" sz="1200" b="1" dirty="0">
                <a:effectLst/>
              </a:rPr>
              <a:t>документов</a:t>
            </a:r>
          </a:p>
          <a:p>
            <a:endParaRPr lang="ru-RU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B4938C0-1D4E-1FB0-D768-AA40096102FE}"/>
              </a:ext>
            </a:extLst>
          </p:cNvPr>
          <p:cNvSpPr txBox="1"/>
          <p:nvPr/>
        </p:nvSpPr>
        <p:spPr>
          <a:xfrm>
            <a:off x="6168951" y="2028758"/>
            <a:ext cx="10396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b="1" dirty="0">
                <a:effectLst/>
              </a:rPr>
              <a:t>Сбор папки </a:t>
            </a:r>
          </a:p>
          <a:p>
            <a:pPr algn="ctr"/>
            <a:r>
              <a:rPr lang="ru-RU" sz="1200" b="1" dirty="0">
                <a:effectLst/>
              </a:rPr>
              <a:t>для тома</a:t>
            </a:r>
          </a:p>
          <a:p>
            <a:endParaRPr lang="ru-RU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5329346-C338-206A-01D0-6C1BE7432E94}"/>
              </a:ext>
            </a:extLst>
          </p:cNvPr>
          <p:cNvSpPr txBox="1"/>
          <p:nvPr/>
        </p:nvSpPr>
        <p:spPr>
          <a:xfrm>
            <a:off x="7478325" y="1530871"/>
            <a:ext cx="133249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b="1" dirty="0">
                <a:effectLst/>
              </a:rPr>
              <a:t>Формирование </a:t>
            </a:r>
          </a:p>
          <a:p>
            <a:pPr algn="ctr"/>
            <a:r>
              <a:rPr lang="ru-RU" sz="1200" b="1" dirty="0">
                <a:effectLst/>
              </a:rPr>
              <a:t>тома документами </a:t>
            </a:r>
          </a:p>
          <a:p>
            <a:pPr algn="ctr"/>
            <a:r>
              <a:rPr lang="ru-RU" sz="1200" b="1" dirty="0">
                <a:effectLst/>
              </a:rPr>
              <a:t>и титульным листом</a:t>
            </a:r>
          </a:p>
          <a:p>
            <a:endParaRPr lang="ru-RU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5DB5E6B-CB04-A707-167C-ECB1591968BD}"/>
              </a:ext>
            </a:extLst>
          </p:cNvPr>
          <p:cNvSpPr txBox="1"/>
          <p:nvPr/>
        </p:nvSpPr>
        <p:spPr>
          <a:xfrm>
            <a:off x="9013031" y="1832126"/>
            <a:ext cx="12115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b="1" dirty="0">
                <a:effectLst/>
              </a:rPr>
              <a:t>Формирование </a:t>
            </a:r>
          </a:p>
          <a:p>
            <a:pPr algn="ctr"/>
            <a:r>
              <a:rPr lang="ru-RU" sz="1200" b="1" dirty="0">
                <a:effectLst/>
              </a:rPr>
              <a:t>и печать марок </a:t>
            </a:r>
          </a:p>
          <a:p>
            <a:pPr algn="ctr"/>
            <a:r>
              <a:rPr lang="ru-RU" sz="1200" b="1" dirty="0">
                <a:effectLst/>
              </a:rPr>
              <a:t>в </a:t>
            </a:r>
            <a:r>
              <a:rPr lang="en-US" sz="1200" b="1" dirty="0">
                <a:effectLst/>
              </a:rPr>
              <a:t>WORD</a:t>
            </a:r>
            <a:endParaRPr lang="ru-RU" sz="1200" b="1" dirty="0">
              <a:effectLst/>
            </a:endParaRPr>
          </a:p>
          <a:p>
            <a:endParaRPr lang="ru-RU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110CD41-D216-0A6B-8476-1FBE3665AD93}"/>
              </a:ext>
            </a:extLst>
          </p:cNvPr>
          <p:cNvSpPr txBox="1"/>
          <p:nvPr/>
        </p:nvSpPr>
        <p:spPr>
          <a:xfrm>
            <a:off x="10477594" y="1924459"/>
            <a:ext cx="125367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b="1" dirty="0">
                <a:effectLst/>
              </a:rPr>
              <a:t>Клейка марок</a:t>
            </a:r>
          </a:p>
          <a:p>
            <a:pPr algn="ctr"/>
            <a:r>
              <a:rPr lang="ru-RU" sz="1200" b="1" dirty="0">
                <a:effectLst/>
              </a:rPr>
              <a:t>на том</a:t>
            </a:r>
          </a:p>
          <a:p>
            <a:endParaRPr lang="ru-RU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989D2C4-1FCB-8990-B4C8-27CEA88FD0FF}"/>
              </a:ext>
            </a:extLst>
          </p:cNvPr>
          <p:cNvSpPr txBox="1"/>
          <p:nvPr/>
        </p:nvSpPr>
        <p:spPr>
          <a:xfrm>
            <a:off x="4879662" y="5696855"/>
            <a:ext cx="2113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2070 сек = 34,5 мин</a:t>
            </a:r>
          </a:p>
        </p:txBody>
      </p:sp>
    </p:spTree>
    <p:extLst>
      <p:ext uri="{BB962C8B-B14F-4D97-AF65-F5344CB8AC3E}">
        <p14:creationId xmlns:p14="http://schemas.microsoft.com/office/powerpoint/2010/main" val="31522610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422A3-3373-93BB-09D5-2D69C372F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7A81958-C36E-96C8-EFB7-D922E6A4C465}"/>
              </a:ext>
            </a:extLst>
          </p:cNvPr>
          <p:cNvSpPr/>
          <p:nvPr/>
        </p:nvSpPr>
        <p:spPr>
          <a:xfrm>
            <a:off x="0" y="0"/>
            <a:ext cx="12192000" cy="1297577"/>
          </a:xfrm>
          <a:prstGeom prst="rect">
            <a:avLst/>
          </a:prstGeom>
          <a:solidFill>
            <a:srgbClr val="456A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5CAD7D-AF19-052C-C1E9-FD526317F2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8673"/>
            <a:ext cx="9144000" cy="881017"/>
          </a:xfrm>
        </p:spPr>
        <p:txBody>
          <a:bodyPr>
            <a:no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Bernard MT Condensed" panose="02050806060905020404" pitchFamily="18" charset="0"/>
              </a:rPr>
              <a:t>DMAIC – </a:t>
            </a:r>
            <a:r>
              <a:rPr lang="ru-RU" sz="4800" dirty="0">
                <a:solidFill>
                  <a:schemeClr val="bg1"/>
                </a:solidFill>
                <a:latin typeface="Bernard MT Condensed" panose="02050806060905020404" pitchFamily="18" charset="0"/>
              </a:rPr>
              <a:t>Подготовка документов</a:t>
            </a:r>
            <a:endParaRPr lang="ru-RU" sz="4800" dirty="0"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150F0A7-E28E-8140-B058-CFFCA200C6F6}"/>
              </a:ext>
            </a:extLst>
          </p:cNvPr>
          <p:cNvSpPr/>
          <p:nvPr/>
        </p:nvSpPr>
        <p:spPr>
          <a:xfrm>
            <a:off x="322218" y="1576250"/>
            <a:ext cx="3483429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/>
              <a:t>Define</a:t>
            </a:r>
            <a:r>
              <a:rPr lang="ru-RU" b="1" dirty="0"/>
              <a:t> (Определение)</a:t>
            </a:r>
            <a:endParaRPr lang="en-US" b="1" dirty="0"/>
          </a:p>
          <a:p>
            <a:endParaRPr lang="ru-RU" dirty="0"/>
          </a:p>
          <a:p>
            <a:r>
              <a:rPr lang="ru-RU" b="1" dirty="0"/>
              <a:t>Проблема: долгий процесс подготовки документов для прошивки</a:t>
            </a:r>
          </a:p>
          <a:p>
            <a:endParaRPr lang="ru-RU" b="1" dirty="0"/>
          </a:p>
          <a:p>
            <a:r>
              <a:rPr lang="ru-RU" b="1" dirty="0"/>
              <a:t>Цель проекта: сократить время подготовки документов и замотивировать сотрудников готовить больше на 1-2 тома документов</a:t>
            </a:r>
            <a:endParaRPr lang="ru-RU" dirty="0"/>
          </a:p>
        </p:txBody>
      </p:sp>
      <p:pic>
        <p:nvPicPr>
          <p:cNvPr id="2052" name="Picture 4" descr="Навыки презентации | CBSD">
            <a:extLst>
              <a:ext uri="{FF2B5EF4-FFF2-40B4-BE49-F238E27FC236}">
                <a16:creationId xmlns:a16="http://schemas.microsoft.com/office/drawing/2014/main" id="{65AC5BF8-DCA4-B098-A054-BE663A7D66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2393" y="2307772"/>
            <a:ext cx="5918100" cy="3629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66C52C0-BF7A-A6B4-DA85-F9EB398C4C2D}"/>
              </a:ext>
            </a:extLst>
          </p:cNvPr>
          <p:cNvSpPr/>
          <p:nvPr/>
        </p:nvSpPr>
        <p:spPr>
          <a:xfrm>
            <a:off x="7550330" y="1576250"/>
            <a:ext cx="4249783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>
                <a:latin typeface="Google Sans Text"/>
              </a:rPr>
              <a:t>Measure</a:t>
            </a:r>
            <a:r>
              <a:rPr lang="ru-RU" b="1" dirty="0">
                <a:latin typeface="Google Sans Text"/>
              </a:rPr>
              <a:t> </a:t>
            </a:r>
            <a:r>
              <a:rPr lang="en-US" b="1" dirty="0">
                <a:latin typeface="Google Sans Text"/>
              </a:rPr>
              <a:t>(</a:t>
            </a:r>
            <a:r>
              <a:rPr lang="ru-RU" b="1" dirty="0">
                <a:latin typeface="Google Sans Text"/>
              </a:rPr>
              <a:t>Измерение):</a:t>
            </a:r>
            <a:endParaRPr lang="en-US" b="1" dirty="0">
              <a:latin typeface="Google Sans Text"/>
            </a:endParaRPr>
          </a:p>
          <a:p>
            <a:endParaRPr lang="ru-RU" dirty="0">
              <a:latin typeface="Google Sans Text"/>
            </a:endParaRPr>
          </a:p>
          <a:p>
            <a:pPr lvl="1"/>
            <a:r>
              <a:rPr lang="ru-RU" b="1" dirty="0">
                <a:latin typeface="Google Sans Text"/>
              </a:rPr>
              <a:t>Текущее время работы: 2070 сек. на подготовку одного тома </a:t>
            </a:r>
          </a:p>
          <a:p>
            <a:pPr lvl="1"/>
            <a:endParaRPr lang="ru-RU" b="1" dirty="0">
              <a:latin typeface="Google Sans Text"/>
            </a:endParaRPr>
          </a:p>
          <a:p>
            <a:pPr lvl="1"/>
            <a:r>
              <a:rPr lang="ru-RU" b="1" dirty="0">
                <a:latin typeface="Google Sans Text"/>
              </a:rPr>
              <a:t>Основное проблемное место: складывание документов в хронологическом порядке (1140 сек.), снятие скрепок с документов (270 сек.)</a:t>
            </a:r>
            <a:endParaRPr lang="en-US" b="1" dirty="0">
              <a:latin typeface="Google Sans Text"/>
            </a:endParaRPr>
          </a:p>
          <a:p>
            <a:pPr lvl="1"/>
            <a:endParaRPr lang="en-US" b="1" dirty="0">
              <a:latin typeface="Google Sans Text"/>
            </a:endParaRPr>
          </a:p>
          <a:p>
            <a:pPr lvl="1"/>
            <a:endParaRPr lang="en-US" b="1" dirty="0">
              <a:latin typeface="Google Sans Text"/>
            </a:endParaRPr>
          </a:p>
          <a:p>
            <a:pPr lvl="1"/>
            <a:endParaRPr lang="en-US" b="1" dirty="0">
              <a:latin typeface="Google Sans Text"/>
            </a:endParaRPr>
          </a:p>
          <a:p>
            <a:pPr lvl="1"/>
            <a:endParaRPr lang="en-US" b="1" dirty="0">
              <a:latin typeface="Google Sans Text"/>
            </a:endParaRPr>
          </a:p>
          <a:p>
            <a:pPr lvl="1"/>
            <a:endParaRPr lang="ru-RU" b="1" dirty="0">
              <a:latin typeface="Google Sans Text"/>
            </a:endParaRPr>
          </a:p>
          <a:p>
            <a:pPr lvl="1"/>
            <a:r>
              <a:rPr lang="ru-RU" b="1" dirty="0">
                <a:latin typeface="Google Sans Text"/>
              </a:rPr>
              <a:t>Потери (MUDA): Интеллект, Неэффективное использование времени</a:t>
            </a:r>
            <a:endParaRPr lang="ru-RU" b="1" i="0" dirty="0">
              <a:effectLst/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14995244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1601A-F36A-C386-0CDA-6110BE220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A609BF6-F33A-6D50-91FD-342EB48DB827}"/>
              </a:ext>
            </a:extLst>
          </p:cNvPr>
          <p:cNvSpPr/>
          <p:nvPr/>
        </p:nvSpPr>
        <p:spPr>
          <a:xfrm>
            <a:off x="0" y="0"/>
            <a:ext cx="12192000" cy="1297577"/>
          </a:xfrm>
          <a:prstGeom prst="rect">
            <a:avLst/>
          </a:prstGeom>
          <a:solidFill>
            <a:srgbClr val="456A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51904F-5404-4EAB-5C7E-0B8AB66DEC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8279"/>
            <a:ext cx="9144000" cy="881017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Диаграмма Исикавы (Подготовка документов)</a:t>
            </a:r>
            <a:endParaRPr lang="ru-RU" sz="3600" dirty="0">
              <a:solidFill>
                <a:schemeClr val="bg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C088214-4CBA-8210-461D-0E6A13BF8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" y="1361075"/>
            <a:ext cx="10007600" cy="537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5862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90DBA-A516-B633-6884-6DD1BA88B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Искусство создания презентации - МГПУ">
            <a:extLst>
              <a:ext uri="{FF2B5EF4-FFF2-40B4-BE49-F238E27FC236}">
                <a16:creationId xmlns:a16="http://schemas.microsoft.com/office/drawing/2014/main" id="{24CF76FA-F743-8F22-E9EA-B6852EDA0C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2774" y="1555513"/>
            <a:ext cx="5980612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7D7CD34-A726-7ADB-752A-FD624387F8C1}"/>
              </a:ext>
            </a:extLst>
          </p:cNvPr>
          <p:cNvSpPr/>
          <p:nvPr/>
        </p:nvSpPr>
        <p:spPr>
          <a:xfrm>
            <a:off x="0" y="-2"/>
            <a:ext cx="12192000" cy="1297577"/>
          </a:xfrm>
          <a:prstGeom prst="rect">
            <a:avLst/>
          </a:prstGeom>
          <a:solidFill>
            <a:srgbClr val="456A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F22133-36C5-8EB5-26C7-7777117598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8279"/>
            <a:ext cx="9144000" cy="881017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Bernard MT Condensed" panose="02050806060905020404" pitchFamily="18" charset="0"/>
              </a:rPr>
              <a:t>Improve | TO BE</a:t>
            </a:r>
            <a:endParaRPr lang="ru-RU" sz="4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333FAC-C5F3-33CD-A204-13FD25ED7667}"/>
              </a:ext>
            </a:extLst>
          </p:cNvPr>
          <p:cNvSpPr txBox="1"/>
          <p:nvPr/>
        </p:nvSpPr>
        <p:spPr>
          <a:xfrm>
            <a:off x="225424" y="1297575"/>
            <a:ext cx="4029075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Предлагаемые решения:</a:t>
            </a:r>
          </a:p>
          <a:p>
            <a:pPr marL="342900" indent="-342900">
              <a:buAutoNum type="arabicPeriod"/>
            </a:pPr>
            <a:r>
              <a:rPr lang="ru-RU" sz="1400" dirty="0"/>
              <a:t>Сократить время на складывание документов в хронологическом порядке в два раза.</a:t>
            </a:r>
          </a:p>
          <a:p>
            <a:pPr marL="342900" indent="-342900">
              <a:buAutoNum type="arabicPeriod"/>
            </a:pPr>
            <a:r>
              <a:rPr lang="ru-RU" sz="1400" dirty="0"/>
              <a:t>2. Сократить время на снятие скрепок с документов в два раза.</a:t>
            </a:r>
          </a:p>
          <a:p>
            <a:pPr marL="342900" indent="-342900">
              <a:buAutoNum type="arabicPeriod"/>
            </a:pPr>
            <a:r>
              <a:rPr lang="ru-RU" sz="1400" dirty="0"/>
              <a:t>3. Ввести KPI для сотрудников.</a:t>
            </a:r>
          </a:p>
          <a:p>
            <a:endParaRPr lang="ru-RU" sz="1200" dirty="0"/>
          </a:p>
          <a:p>
            <a:r>
              <a:rPr lang="ru-RU" sz="1400" dirty="0"/>
              <a:t>Текущее состояние: 2070 сек на 1 том, за день формирует в среднем 3-4 тома.</a:t>
            </a:r>
          </a:p>
          <a:p>
            <a:r>
              <a:rPr lang="ru-RU" sz="1400" dirty="0"/>
              <a:t>На 3 тома тратит 6210 сек. или 103,5 мин</a:t>
            </a:r>
          </a:p>
          <a:p>
            <a:endParaRPr lang="ru-RU" sz="1400" dirty="0"/>
          </a:p>
          <a:p>
            <a:r>
              <a:rPr lang="ru-RU" sz="1400" dirty="0"/>
              <a:t>Оптимизированное:1365 сек на 1 том7200/1365=5,27 =&gt; 5 томов</a:t>
            </a:r>
          </a:p>
          <a:p>
            <a:endParaRPr lang="ru-RU" sz="1400" dirty="0"/>
          </a:p>
          <a:p>
            <a:r>
              <a:rPr lang="ru-RU" sz="1400" dirty="0"/>
              <a:t>KPI: за подготовку 5 томов в день +300р </a:t>
            </a: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C665A532-49EB-AE28-8475-CF8504E944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7670358"/>
              </p:ext>
            </p:extLst>
          </p:nvPr>
        </p:nvGraphicFramePr>
        <p:xfrm>
          <a:off x="8048627" y="2435375"/>
          <a:ext cx="4029075" cy="2352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33573">
                  <a:extLst>
                    <a:ext uri="{9D8B030D-6E8A-4147-A177-3AD203B41FA5}">
                      <a16:colId xmlns:a16="http://schemas.microsoft.com/office/drawing/2014/main" val="1980929038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332767015"/>
                    </a:ext>
                  </a:extLst>
                </a:gridCol>
                <a:gridCol w="1066802">
                  <a:extLst>
                    <a:ext uri="{9D8B030D-6E8A-4147-A177-3AD203B41FA5}">
                      <a16:colId xmlns:a16="http://schemas.microsoft.com/office/drawing/2014/main" val="14292241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до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после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901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Суммарное время операций, требующих улучшения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1140+270=1410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705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8177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Объем выполненной работы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 том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 том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7447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Суммарное время выполнения всех операций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2070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1365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0360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21087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0444B-59D6-2AFA-70A1-3F63BDF21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6E90C4B-0B6B-0233-0C17-A6CA682560C5}"/>
              </a:ext>
            </a:extLst>
          </p:cNvPr>
          <p:cNvSpPr/>
          <p:nvPr/>
        </p:nvSpPr>
        <p:spPr>
          <a:xfrm>
            <a:off x="0" y="-2"/>
            <a:ext cx="12192000" cy="1297577"/>
          </a:xfrm>
          <a:prstGeom prst="rect">
            <a:avLst/>
          </a:prstGeom>
          <a:solidFill>
            <a:srgbClr val="456A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65FD89-8303-AE99-9B48-827E141D14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5364"/>
            <a:ext cx="9144000" cy="881017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Оценка предполагаемого экономического эффекта</a:t>
            </a:r>
            <a:endParaRPr lang="ru-RU" sz="3600" dirty="0">
              <a:solidFill>
                <a:schemeClr val="bg1"/>
              </a:solidFill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5FB03427-A25F-15BD-0034-D41CAB5066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5019119"/>
              </p:ext>
            </p:extLst>
          </p:nvPr>
        </p:nvGraphicFramePr>
        <p:xfrm>
          <a:off x="343948" y="1400961"/>
          <a:ext cx="11610366" cy="4957894"/>
        </p:xfrm>
        <a:graphic>
          <a:graphicData uri="http://schemas.openxmlformats.org/drawingml/2006/table">
            <a:tbl>
              <a:tblPr/>
              <a:tblGrid>
                <a:gridCol w="1935061">
                  <a:extLst>
                    <a:ext uri="{9D8B030D-6E8A-4147-A177-3AD203B41FA5}">
                      <a16:colId xmlns:a16="http://schemas.microsoft.com/office/drawing/2014/main" val="2604422396"/>
                    </a:ext>
                  </a:extLst>
                </a:gridCol>
                <a:gridCol w="1935061">
                  <a:extLst>
                    <a:ext uri="{9D8B030D-6E8A-4147-A177-3AD203B41FA5}">
                      <a16:colId xmlns:a16="http://schemas.microsoft.com/office/drawing/2014/main" val="1382035803"/>
                    </a:ext>
                  </a:extLst>
                </a:gridCol>
                <a:gridCol w="1935061">
                  <a:extLst>
                    <a:ext uri="{9D8B030D-6E8A-4147-A177-3AD203B41FA5}">
                      <a16:colId xmlns:a16="http://schemas.microsoft.com/office/drawing/2014/main" val="3701092716"/>
                    </a:ext>
                  </a:extLst>
                </a:gridCol>
                <a:gridCol w="1935061">
                  <a:extLst>
                    <a:ext uri="{9D8B030D-6E8A-4147-A177-3AD203B41FA5}">
                      <a16:colId xmlns:a16="http://schemas.microsoft.com/office/drawing/2014/main" val="419765365"/>
                    </a:ext>
                  </a:extLst>
                </a:gridCol>
                <a:gridCol w="1935061">
                  <a:extLst>
                    <a:ext uri="{9D8B030D-6E8A-4147-A177-3AD203B41FA5}">
                      <a16:colId xmlns:a16="http://schemas.microsoft.com/office/drawing/2014/main" val="2486033169"/>
                    </a:ext>
                  </a:extLst>
                </a:gridCol>
                <a:gridCol w="1935061">
                  <a:extLst>
                    <a:ext uri="{9D8B030D-6E8A-4147-A177-3AD203B41FA5}">
                      <a16:colId xmlns:a16="http://schemas.microsoft.com/office/drawing/2014/main" val="307720661"/>
                    </a:ext>
                  </a:extLst>
                </a:gridCol>
              </a:tblGrid>
              <a:tr h="361253"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Google Sans Text"/>
                        </a:rPr>
                        <a:t>Показатель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Google Sans Text"/>
                        </a:rPr>
                        <a:t>Единица измерения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Google Sans Text"/>
                        </a:rPr>
                        <a:t>ДО (</a:t>
                      </a:r>
                      <a:r>
                        <a:rPr lang="en-US" sz="900" b="1">
                          <a:effectLst/>
                          <a:latin typeface="Google Sans Text"/>
                        </a:rPr>
                        <a:t>AS IS)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 dirty="0">
                          <a:effectLst/>
                          <a:latin typeface="Google Sans Text"/>
                        </a:rPr>
                        <a:t>ПОСЛЕ (</a:t>
                      </a:r>
                      <a:r>
                        <a:rPr lang="en-US" sz="900" b="1" dirty="0">
                          <a:effectLst/>
                          <a:latin typeface="Google Sans Text"/>
                        </a:rPr>
                        <a:t>TO BE) </a:t>
                      </a:r>
                      <a:r>
                        <a:rPr lang="ru-RU" sz="900" b="1" dirty="0">
                          <a:effectLst/>
                          <a:latin typeface="Google Sans Text"/>
                        </a:rPr>
                        <a:t>Прогноз 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Google Sans Text"/>
                        </a:rPr>
                        <a:t>Экономия/Улучшение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Google Sans Text"/>
                        </a:rPr>
                        <a:t>Результат (за период)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1487033"/>
                  </a:ext>
                </a:extLst>
              </a:tr>
              <a:tr h="660222"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Google Sans Text"/>
                        </a:rPr>
                        <a:t>Время на проблемный шаг (Изучение + Ожидание)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Google Sans Text"/>
                        </a:rPr>
                        <a:t>Секунды / Минуты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Google Sans Text"/>
                        </a:rPr>
                        <a:t>1140 сек (19 мин)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Google Sans Text"/>
                        </a:rPr>
                        <a:t>~705 сек (11,75 мин)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0" dirty="0">
                          <a:effectLst/>
                          <a:latin typeface="Google Sans Text"/>
                        </a:rPr>
                        <a:t>~705 сек (11,75 мин)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Google Sans Text"/>
                        </a:rPr>
                        <a:t>-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103573"/>
                  </a:ext>
                </a:extLst>
              </a:tr>
              <a:tr h="510738"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Общее время процесса на 1 документ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Google Sans Text"/>
                        </a:rPr>
                        <a:t>Секунды / Минуты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Google Sans Text"/>
                        </a:rPr>
                        <a:t>2070 сек (34,5 мин)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Google Sans Text"/>
                        </a:rPr>
                        <a:t>~1365 сек (22,75 мин)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0" dirty="0">
                          <a:effectLst/>
                          <a:latin typeface="Google Sans Text"/>
                        </a:rPr>
                        <a:t>~705 сек (11,75 мин)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-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065720"/>
                  </a:ext>
                </a:extLst>
              </a:tr>
              <a:tr h="510738"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Экономия времени на 1 документ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Google Sans Text"/>
                        </a:rPr>
                        <a:t>Секунды / Минуты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-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-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0" dirty="0">
                          <a:effectLst/>
                          <a:latin typeface="Google Sans Text"/>
                        </a:rPr>
                        <a:t>~705 сек (11,75 мин)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-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626447"/>
                  </a:ext>
                </a:extLst>
              </a:tr>
              <a:tr h="510738"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Стоимость минуты работы сотрудника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Руб/минута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Google Sans Text"/>
                        </a:rPr>
                        <a:t>~4,73 </a:t>
                      </a:r>
                      <a:r>
                        <a:rPr lang="ru-RU" sz="900" b="0" dirty="0" err="1">
                          <a:effectLst/>
                          <a:latin typeface="Google Sans Text"/>
                        </a:rPr>
                        <a:t>руб</a:t>
                      </a:r>
                      <a:endParaRPr lang="ru-RU" sz="900" b="0" dirty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Google Sans Text"/>
                        </a:rPr>
                        <a:t>~4,73 </a:t>
                      </a:r>
                      <a:r>
                        <a:rPr lang="ru-RU" sz="900" b="0" dirty="0" err="1">
                          <a:effectLst/>
                          <a:latin typeface="Google Sans Text"/>
                        </a:rPr>
                        <a:t>руб</a:t>
                      </a:r>
                      <a:endParaRPr lang="ru-RU" sz="900" b="0" dirty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-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Google Sans Text"/>
                        </a:rPr>
                        <a:t>(Расчет: 50000 / (176*60))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5428523"/>
                  </a:ext>
                </a:extLst>
              </a:tr>
              <a:tr h="510738"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Экономия затрат на 1 документ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Рубли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-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-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 dirty="0">
                          <a:effectLst/>
                          <a:latin typeface="Google Sans Text"/>
                        </a:rPr>
                        <a:t>~55,57 </a:t>
                      </a:r>
                      <a:r>
                        <a:rPr lang="ru-RU" sz="900" b="1" dirty="0" err="1">
                          <a:effectLst/>
                          <a:latin typeface="Google Sans Text"/>
                        </a:rPr>
                        <a:t>руб</a:t>
                      </a:r>
                      <a:endParaRPr lang="ru-RU" sz="900" b="0" dirty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Google Sans Text"/>
                        </a:rPr>
                        <a:t>11,75 мин/док * 4,73 </a:t>
                      </a:r>
                      <a:r>
                        <a:rPr lang="ru-RU" sz="900" b="0" dirty="0" err="1">
                          <a:effectLst/>
                          <a:latin typeface="Google Sans Text"/>
                        </a:rPr>
                        <a:t>руб</a:t>
                      </a:r>
                      <a:r>
                        <a:rPr lang="ru-RU" sz="900" b="0" dirty="0">
                          <a:effectLst/>
                          <a:latin typeface="Google Sans Text"/>
                        </a:rPr>
                        <a:t>/мин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1921917"/>
                  </a:ext>
                </a:extLst>
              </a:tr>
              <a:tr h="361253"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Объем документов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Док/день (Док/мес)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Google Sans Text"/>
                        </a:rPr>
                        <a:t>3 тома/день (66 т/</a:t>
                      </a:r>
                      <a:r>
                        <a:rPr lang="ru-RU" sz="900" b="0" dirty="0" err="1">
                          <a:effectLst/>
                          <a:latin typeface="Google Sans Text"/>
                        </a:rPr>
                        <a:t>мес</a:t>
                      </a:r>
                      <a:r>
                        <a:rPr lang="ru-RU" sz="900" b="0" dirty="0"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Google Sans Text"/>
                        </a:rPr>
                        <a:t>5 том/день (110 т/</a:t>
                      </a:r>
                      <a:r>
                        <a:rPr lang="ru-RU" sz="900" b="0" dirty="0" err="1">
                          <a:effectLst/>
                          <a:latin typeface="Google Sans Text"/>
                        </a:rPr>
                        <a:t>мес</a:t>
                      </a:r>
                      <a:r>
                        <a:rPr lang="ru-RU" sz="900" b="0" dirty="0"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-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(Используется для расчета)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4338877"/>
                  </a:ext>
                </a:extLst>
              </a:tr>
              <a:tr h="510738"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Google Sans Text"/>
                        </a:rPr>
                        <a:t>Ежедневная экономия затрат</a:t>
                      </a:r>
                      <a:endParaRPr lang="ru-RU" sz="900" b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Google Sans Text"/>
                        </a:rPr>
                        <a:t>Рубли/день</a:t>
                      </a:r>
                      <a:endParaRPr lang="ru-RU" sz="900" b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Google Sans Text"/>
                        </a:rPr>
                        <a:t>-</a:t>
                      </a:r>
                      <a:endParaRPr lang="ru-RU" sz="900" b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Google Sans Text"/>
                        </a:rPr>
                        <a:t>-</a:t>
                      </a:r>
                      <a:endParaRPr lang="ru-RU" sz="900" b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 dirty="0">
                          <a:effectLst/>
                          <a:latin typeface="Google Sans Text"/>
                        </a:rPr>
                        <a:t>~277,85 </a:t>
                      </a:r>
                      <a:r>
                        <a:rPr lang="ru-RU" sz="900" b="1" dirty="0" err="1">
                          <a:effectLst/>
                          <a:latin typeface="Google Sans Text"/>
                        </a:rPr>
                        <a:t>руб</a:t>
                      </a:r>
                      <a:endParaRPr lang="ru-RU" sz="900" b="0" dirty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 dirty="0">
                          <a:effectLst/>
                          <a:latin typeface="Google Sans Text"/>
                        </a:rPr>
                        <a:t>55,57 </a:t>
                      </a:r>
                      <a:r>
                        <a:rPr lang="ru-RU" sz="900" b="1" dirty="0" err="1">
                          <a:effectLst/>
                          <a:latin typeface="Google Sans Text"/>
                        </a:rPr>
                        <a:t>руб</a:t>
                      </a:r>
                      <a:r>
                        <a:rPr lang="ru-RU" sz="900" b="1" dirty="0">
                          <a:effectLst/>
                          <a:latin typeface="Google Sans Text"/>
                        </a:rPr>
                        <a:t>/т * 5 т/день</a:t>
                      </a:r>
                      <a:endParaRPr lang="ru-RU" sz="900" b="0" dirty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616583"/>
                  </a:ext>
                </a:extLst>
              </a:tr>
              <a:tr h="510738"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Google Sans Text"/>
                        </a:rPr>
                        <a:t>Ежемесячная экономия затрат</a:t>
                      </a:r>
                      <a:endParaRPr lang="ru-RU" sz="900" b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Google Sans Text"/>
                        </a:rPr>
                        <a:t>Рубли/месяц</a:t>
                      </a:r>
                      <a:endParaRPr lang="ru-RU" sz="900" b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Google Sans Text"/>
                        </a:rPr>
                        <a:t>-</a:t>
                      </a:r>
                      <a:endParaRPr lang="ru-RU" sz="900" b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Google Sans Text"/>
                        </a:rPr>
                        <a:t>-</a:t>
                      </a:r>
                      <a:endParaRPr lang="ru-RU" sz="900" b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 dirty="0">
                          <a:effectLst/>
                          <a:latin typeface="Google Sans Text"/>
                        </a:rPr>
                        <a:t>~6112,7 </a:t>
                      </a:r>
                      <a:r>
                        <a:rPr lang="ru-RU" sz="900" b="1" dirty="0" err="1">
                          <a:effectLst/>
                          <a:latin typeface="Google Sans Text"/>
                        </a:rPr>
                        <a:t>руб</a:t>
                      </a:r>
                      <a:endParaRPr lang="ru-RU" sz="900" b="0" dirty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 dirty="0">
                          <a:effectLst/>
                          <a:latin typeface="Google Sans Text"/>
                        </a:rPr>
                        <a:t>55,57 </a:t>
                      </a:r>
                      <a:r>
                        <a:rPr lang="ru-RU" sz="900" b="1" dirty="0" err="1">
                          <a:effectLst/>
                          <a:latin typeface="Google Sans Text"/>
                        </a:rPr>
                        <a:t>руб</a:t>
                      </a:r>
                      <a:r>
                        <a:rPr lang="ru-RU" sz="900" b="1" dirty="0">
                          <a:effectLst/>
                          <a:latin typeface="Google Sans Text"/>
                        </a:rPr>
                        <a:t>/т * 110 т/</a:t>
                      </a:r>
                      <a:r>
                        <a:rPr lang="ru-RU" sz="900" b="1" dirty="0" err="1">
                          <a:effectLst/>
                          <a:latin typeface="Google Sans Text"/>
                        </a:rPr>
                        <a:t>мес</a:t>
                      </a:r>
                      <a:endParaRPr lang="ru-RU" sz="900" b="0" dirty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561360"/>
                  </a:ext>
                </a:extLst>
              </a:tr>
              <a:tr h="510738"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Google Sans Text"/>
                        </a:rPr>
                        <a:t>Годовая экономия затрат</a:t>
                      </a:r>
                      <a:endParaRPr lang="ru-RU" sz="900" b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Google Sans Text"/>
                        </a:rPr>
                        <a:t>Рубли/год</a:t>
                      </a:r>
                      <a:endParaRPr lang="ru-RU" sz="900" b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Google Sans Text"/>
                        </a:rPr>
                        <a:t>-</a:t>
                      </a:r>
                      <a:endParaRPr lang="ru-RU" sz="900" b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 dirty="0">
                          <a:effectLst/>
                          <a:latin typeface="Google Sans Text"/>
                        </a:rPr>
                        <a:t>-</a:t>
                      </a:r>
                      <a:endParaRPr lang="ru-RU" sz="900" b="0" dirty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 dirty="0">
                          <a:effectLst/>
                          <a:latin typeface="Google Sans Text"/>
                        </a:rPr>
                        <a:t>~73 352,4 </a:t>
                      </a:r>
                      <a:r>
                        <a:rPr lang="ru-RU" sz="900" b="1" dirty="0" err="1">
                          <a:effectLst/>
                          <a:latin typeface="Google Sans Text"/>
                        </a:rPr>
                        <a:t>руб</a:t>
                      </a:r>
                      <a:endParaRPr lang="ru-RU" sz="900" b="0" dirty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 dirty="0">
                          <a:effectLst/>
                          <a:latin typeface="Google Sans Text"/>
                        </a:rPr>
                        <a:t>6112,7 </a:t>
                      </a:r>
                      <a:r>
                        <a:rPr lang="ru-RU" sz="900" b="1" dirty="0" err="1">
                          <a:effectLst/>
                          <a:latin typeface="Google Sans Text"/>
                        </a:rPr>
                        <a:t>руб</a:t>
                      </a:r>
                      <a:r>
                        <a:rPr lang="ru-RU" sz="900" b="1" dirty="0">
                          <a:effectLst/>
                          <a:latin typeface="Google Sans Text"/>
                        </a:rPr>
                        <a:t>/</a:t>
                      </a:r>
                      <a:r>
                        <a:rPr lang="ru-RU" sz="900" b="1" dirty="0" err="1">
                          <a:effectLst/>
                          <a:latin typeface="Google Sans Text"/>
                        </a:rPr>
                        <a:t>мес</a:t>
                      </a:r>
                      <a:r>
                        <a:rPr lang="ru-RU" sz="900" b="1" dirty="0">
                          <a:effectLst/>
                          <a:latin typeface="Google Sans Text"/>
                        </a:rPr>
                        <a:t> * 12 </a:t>
                      </a:r>
                      <a:r>
                        <a:rPr lang="ru-RU" sz="900" b="1" dirty="0" err="1">
                          <a:effectLst/>
                          <a:latin typeface="Google Sans Text"/>
                        </a:rPr>
                        <a:t>мес</a:t>
                      </a:r>
                      <a:r>
                        <a:rPr lang="ru-RU" sz="900" b="1" dirty="0">
                          <a:effectLst/>
                          <a:latin typeface="Google Sans Text"/>
                        </a:rPr>
                        <a:t>/год</a:t>
                      </a:r>
                      <a:endParaRPr lang="ru-RU" sz="900" b="0" dirty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8761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5541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63DB0-711E-F1CF-78EF-7AD60085C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4D97A20-FA8A-561E-EFA6-D58D582B16F0}"/>
              </a:ext>
            </a:extLst>
          </p:cNvPr>
          <p:cNvSpPr/>
          <p:nvPr/>
        </p:nvSpPr>
        <p:spPr>
          <a:xfrm>
            <a:off x="0" y="-2"/>
            <a:ext cx="12192000" cy="1107349"/>
          </a:xfrm>
          <a:prstGeom prst="rect">
            <a:avLst/>
          </a:prstGeom>
          <a:solidFill>
            <a:srgbClr val="456A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2EB54D-FA27-E9E9-6FDE-D36D6AA243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881017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Расчет времени такта</a:t>
            </a:r>
            <a:endParaRPr lang="ru-RU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1028" name="Picture 4" descr="презентация PNG рисунок, картинки и пнг прозрачный для бесплатной загрузки  | Pngtree">
            <a:extLst>
              <a:ext uri="{FF2B5EF4-FFF2-40B4-BE49-F238E27FC236}">
                <a16:creationId xmlns:a16="http://schemas.microsoft.com/office/drawing/2014/main" id="{46367DFA-6C46-D36E-3800-8CD46B81D1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4524" y="1808894"/>
            <a:ext cx="2974975" cy="2974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78B2D0F-560E-05E2-D91E-4D1A2C7A1F92}"/>
              </a:ext>
            </a:extLst>
          </p:cNvPr>
          <p:cNvSpPr txBox="1"/>
          <p:nvPr/>
        </p:nvSpPr>
        <p:spPr>
          <a:xfrm>
            <a:off x="952501" y="2537100"/>
            <a:ext cx="60833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cs typeface="Times New Roman" panose="02020603050405020304" pitchFamily="18" charset="0"/>
              </a:rPr>
              <a:t>Время такта. </a:t>
            </a:r>
          </a:p>
          <a:p>
            <a:endParaRPr lang="ru-RU" sz="2000" dirty="0">
              <a:cs typeface="Times New Roman" panose="02020603050405020304" pitchFamily="18" charset="0"/>
            </a:endParaRPr>
          </a:p>
          <a:p>
            <a:r>
              <a:rPr lang="ru-RU" sz="2000" dirty="0">
                <a:cs typeface="Times New Roman" panose="02020603050405020304" pitchFamily="18" charset="0"/>
              </a:rPr>
              <a:t>В среднем сотрудник тратит 2 часа рабочего времени в день на подготовку документов для прошивки, это 7200 секунд. В день нужно собрать 3-4 тома документов. </a:t>
            </a:r>
          </a:p>
          <a:p>
            <a:r>
              <a:rPr lang="ru-RU" sz="2000" dirty="0">
                <a:cs typeface="Times New Roman" panose="02020603050405020304" pitchFamily="18" charset="0"/>
              </a:rPr>
              <a:t>7200/3,5=2057,14 сек/том</a:t>
            </a:r>
          </a:p>
        </p:txBody>
      </p:sp>
    </p:spTree>
    <p:extLst>
      <p:ext uri="{BB962C8B-B14F-4D97-AF65-F5344CB8AC3E}">
        <p14:creationId xmlns:p14="http://schemas.microsoft.com/office/powerpoint/2010/main" val="39122745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53C8D-610A-BFB6-CF32-001EAE41C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B0195AD-2DAC-36CD-4E7B-F9EE8DDB042D}"/>
              </a:ext>
            </a:extLst>
          </p:cNvPr>
          <p:cNvSpPr/>
          <p:nvPr/>
        </p:nvSpPr>
        <p:spPr>
          <a:xfrm>
            <a:off x="0" y="-2"/>
            <a:ext cx="12192000" cy="1297577"/>
          </a:xfrm>
          <a:prstGeom prst="rect">
            <a:avLst/>
          </a:prstGeom>
          <a:solidFill>
            <a:srgbClr val="456A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8D5ACB-4F56-8AB4-6B46-9EFF287EA2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5364"/>
            <a:ext cx="9144000" cy="881017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Паспорт проекта (Подготовка документов)</a:t>
            </a:r>
            <a:endParaRPr lang="ru-RU" sz="3600" dirty="0">
              <a:solidFill>
                <a:schemeClr val="bg1"/>
              </a:solidFill>
            </a:endParaRP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34087CA2-5B34-2730-BC34-E1C4DBC06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2570612"/>
              </p:ext>
            </p:extLst>
          </p:nvPr>
        </p:nvGraphicFramePr>
        <p:xfrm>
          <a:off x="250970" y="1471747"/>
          <a:ext cx="11451672" cy="5004554"/>
        </p:xfrm>
        <a:graphic>
          <a:graphicData uri="http://schemas.openxmlformats.org/drawingml/2006/table">
            <a:tbl>
              <a:tblPr/>
              <a:tblGrid>
                <a:gridCol w="1908612">
                  <a:extLst>
                    <a:ext uri="{9D8B030D-6E8A-4147-A177-3AD203B41FA5}">
                      <a16:colId xmlns:a16="http://schemas.microsoft.com/office/drawing/2014/main" val="322945137"/>
                    </a:ext>
                  </a:extLst>
                </a:gridCol>
                <a:gridCol w="1908612">
                  <a:extLst>
                    <a:ext uri="{9D8B030D-6E8A-4147-A177-3AD203B41FA5}">
                      <a16:colId xmlns:a16="http://schemas.microsoft.com/office/drawing/2014/main" val="1336014053"/>
                    </a:ext>
                  </a:extLst>
                </a:gridCol>
                <a:gridCol w="1908612">
                  <a:extLst>
                    <a:ext uri="{9D8B030D-6E8A-4147-A177-3AD203B41FA5}">
                      <a16:colId xmlns:a16="http://schemas.microsoft.com/office/drawing/2014/main" val="4258419958"/>
                    </a:ext>
                  </a:extLst>
                </a:gridCol>
                <a:gridCol w="1908612">
                  <a:extLst>
                    <a:ext uri="{9D8B030D-6E8A-4147-A177-3AD203B41FA5}">
                      <a16:colId xmlns:a16="http://schemas.microsoft.com/office/drawing/2014/main" val="1334701864"/>
                    </a:ext>
                  </a:extLst>
                </a:gridCol>
                <a:gridCol w="1908612">
                  <a:extLst>
                    <a:ext uri="{9D8B030D-6E8A-4147-A177-3AD203B41FA5}">
                      <a16:colId xmlns:a16="http://schemas.microsoft.com/office/drawing/2014/main" val="3744917779"/>
                    </a:ext>
                  </a:extLst>
                </a:gridCol>
                <a:gridCol w="1908612">
                  <a:extLst>
                    <a:ext uri="{9D8B030D-6E8A-4147-A177-3AD203B41FA5}">
                      <a16:colId xmlns:a16="http://schemas.microsoft.com/office/drawing/2014/main" val="1996713636"/>
                    </a:ext>
                  </a:extLst>
                </a:gridCol>
              </a:tblGrid>
              <a:tr h="763853"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Google Sans Text"/>
                        </a:rPr>
                        <a:t>Начало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Google Sans Text"/>
                        </a:rPr>
                        <a:t>Окончание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Google Sans Text"/>
                        </a:rPr>
                        <a:t>Руководитель проекта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Google Sans Text"/>
                        </a:rPr>
                        <a:t>Команда проекта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Google Sans Text"/>
                        </a:rPr>
                        <a:t>Бюджет проекта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effectLst/>
                          <a:latin typeface="Google Sans Text"/>
                        </a:rPr>
                        <a:t>Цель проекта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487422"/>
                  </a:ext>
                </a:extLst>
              </a:tr>
              <a:tr h="4240701"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Google Sans Text"/>
                        </a:rPr>
                        <a:t>01.06.2025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Google Sans Text"/>
                        </a:rPr>
                        <a:t>01.07.2025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Google Sans Text"/>
                        </a:rPr>
                        <a:t>Руководитель Управления документооборотом КФУ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Google Sans Text"/>
                        </a:rPr>
                        <a:t>Сотрудники ведущие документоведы КФУ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Google Sans Text"/>
                        </a:rPr>
                        <a:t>Введение </a:t>
                      </a:r>
                      <a:r>
                        <a:rPr lang="en-US" b="0" dirty="0">
                          <a:effectLst/>
                          <a:latin typeface="Google Sans Text"/>
                        </a:rPr>
                        <a:t>KPI </a:t>
                      </a:r>
                      <a:r>
                        <a:rPr lang="ru-RU" b="0" dirty="0">
                          <a:effectLst/>
                          <a:latin typeface="Google Sans Text"/>
                        </a:rPr>
                        <a:t>для сотрудников</a:t>
                      </a:r>
                    </a:p>
                    <a:p>
                      <a:endParaRPr lang="ru-RU" b="0" dirty="0">
                        <a:effectLst/>
                        <a:latin typeface="Google Sans Text"/>
                      </a:endParaRPr>
                    </a:p>
                    <a:p>
                      <a:r>
                        <a:rPr lang="ru-RU" b="0" dirty="0">
                          <a:effectLst/>
                          <a:latin typeface="Google Sans Text"/>
                        </a:rPr>
                        <a:t>300*22=6600,</a:t>
                      </a:r>
                    </a:p>
                    <a:p>
                      <a:r>
                        <a:rPr lang="ru-RU" b="0" dirty="0">
                          <a:effectLst/>
                          <a:latin typeface="Google Sans Text"/>
                        </a:rPr>
                        <a:t>6600*10=66000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Google Sans Text"/>
                        </a:rPr>
                        <a:t>Сократить время на подготовку документов для прошивки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531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07619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9ECB9-B987-363A-1003-BCE166E6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C6F103D-2CE5-8D56-685C-DBDCD357DAB2}"/>
              </a:ext>
            </a:extLst>
          </p:cNvPr>
          <p:cNvSpPr/>
          <p:nvPr/>
        </p:nvSpPr>
        <p:spPr>
          <a:xfrm>
            <a:off x="0" y="-2"/>
            <a:ext cx="12192000" cy="1297577"/>
          </a:xfrm>
          <a:prstGeom prst="rect">
            <a:avLst/>
          </a:prstGeom>
          <a:solidFill>
            <a:srgbClr val="456A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9FBA13-B2FA-04B5-F8BC-F09A488536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4609" y="124387"/>
            <a:ext cx="9144000" cy="881017"/>
          </a:xfrm>
        </p:spPr>
        <p:txBody>
          <a:bodyPr>
            <a:no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Arial Black" panose="020B0A04020102020204" pitchFamily="34" charset="0"/>
              </a:rPr>
              <a:t>Внедрение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1A12A992-2E4F-9E37-72F4-49C77F786F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3802733"/>
              </p:ext>
            </p:extLst>
          </p:nvPr>
        </p:nvGraphicFramePr>
        <p:xfrm>
          <a:off x="0" y="2021475"/>
          <a:ext cx="12192000" cy="2636294"/>
        </p:xfrm>
        <a:graphic>
          <a:graphicData uri="http://schemas.openxmlformats.org/drawingml/2006/table">
            <a:tbl>
              <a:tblPr/>
              <a:tblGrid>
                <a:gridCol w="1568741">
                  <a:extLst>
                    <a:ext uri="{9D8B030D-6E8A-4147-A177-3AD203B41FA5}">
                      <a16:colId xmlns:a16="http://schemas.microsoft.com/office/drawing/2014/main" val="3597525703"/>
                    </a:ext>
                  </a:extLst>
                </a:gridCol>
                <a:gridCol w="3308059">
                  <a:extLst>
                    <a:ext uri="{9D8B030D-6E8A-4147-A177-3AD203B41FA5}">
                      <a16:colId xmlns:a16="http://schemas.microsoft.com/office/drawing/2014/main" val="333872334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457879235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94069147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809430689"/>
                    </a:ext>
                  </a:extLst>
                </a:gridCol>
              </a:tblGrid>
              <a:tr h="148162">
                <a:tc>
                  <a:txBody>
                    <a:bodyPr/>
                    <a:lstStyle/>
                    <a:p>
                      <a:r>
                        <a:rPr lang="ru-RU" sz="1200" b="1" dirty="0">
                          <a:effectLst/>
                          <a:latin typeface="Google Sans Text"/>
                        </a:rPr>
                        <a:t>№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>
                          <a:effectLst/>
                          <a:latin typeface="Google Sans Text"/>
                        </a:rPr>
                        <a:t>Мероприятие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>
                          <a:effectLst/>
                          <a:latin typeface="Google Sans Text"/>
                        </a:rPr>
                        <a:t>Ответственный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>
                          <a:effectLst/>
                          <a:latin typeface="Google Sans Text"/>
                        </a:rPr>
                        <a:t>Дата начала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effectLst/>
                          <a:latin typeface="Google Sans Text"/>
                        </a:rPr>
                        <a:t>Комментарий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112267"/>
                  </a:ext>
                </a:extLst>
              </a:tr>
              <a:tr h="566501"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Google Sans Text"/>
                        </a:rPr>
                        <a:t>1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Google Sans Text"/>
                        </a:rPr>
                        <a:t>Разработка </a:t>
                      </a:r>
                      <a:r>
                        <a:rPr lang="en-US" sz="1200" b="0" dirty="0">
                          <a:effectLst/>
                          <a:latin typeface="Google Sans Text"/>
                        </a:rPr>
                        <a:t>KPI</a:t>
                      </a:r>
                      <a:endParaRPr lang="ru-RU" sz="1200" b="0" dirty="0">
                        <a:effectLst/>
                        <a:latin typeface="Google Sans Text"/>
                      </a:endParaRP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Google Sans Text"/>
                        </a:rPr>
                        <a:t>Руководитель Управления документооборотом, Рабочая группа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Google Sans Text"/>
                        </a:rPr>
                        <a:t>01.06.2025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Google Sans Text"/>
                        </a:rPr>
                        <a:t>Получение официального одобрения на изменение процесса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559500"/>
                  </a:ext>
                </a:extLst>
              </a:tr>
              <a:tr h="671086"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Google Sans Text"/>
                        </a:rPr>
                        <a:t>2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Google Sans Text"/>
                        </a:rPr>
                        <a:t>Согласование нового </a:t>
                      </a:r>
                      <a:r>
                        <a:rPr lang="en-US" sz="1200" b="0" dirty="0">
                          <a:effectLst/>
                          <a:latin typeface="Google Sans Text"/>
                        </a:rPr>
                        <a:t>KPI</a:t>
                      </a:r>
                      <a:endParaRPr lang="ru-RU" sz="1200" b="0" dirty="0">
                        <a:effectLst/>
                        <a:latin typeface="Google Sans Text"/>
                      </a:endParaRP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Google Sans Text"/>
                        </a:rPr>
                        <a:t>Руководитель Управления документооборотом, Рабочая группа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Google Sans Text"/>
                        </a:rPr>
                        <a:t>08.06.2025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Google Sans Text"/>
                        </a:rPr>
                        <a:t>Сбор и структурирование информации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375302"/>
                  </a:ext>
                </a:extLst>
              </a:tr>
              <a:tr h="566501"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Google Sans Text"/>
                        </a:rPr>
                        <a:t>3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Google Sans Text"/>
                        </a:rPr>
                        <a:t>Обучение сотрудников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>
                          <a:effectLst/>
                          <a:latin typeface="Google Sans Text"/>
                        </a:rPr>
                        <a:t>Руководитель Управления документооборотом, Рабочая группа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Google Sans Text"/>
                        </a:rPr>
                        <a:t>15.06.2025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Google Sans Text"/>
                        </a:rPr>
                        <a:t>Доработка регламента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05230"/>
                  </a:ext>
                </a:extLst>
              </a:tr>
              <a:tr h="566501">
                <a:tc>
                  <a:txBody>
                    <a:bodyPr/>
                    <a:lstStyle/>
                    <a:p>
                      <a:r>
                        <a:rPr lang="en-US" sz="1200" b="0" dirty="0">
                          <a:effectLst/>
                          <a:latin typeface="Google Sans Text"/>
                        </a:rPr>
                        <a:t>4</a:t>
                      </a:r>
                      <a:endParaRPr lang="ru-RU" sz="1200" b="0" dirty="0">
                        <a:effectLst/>
                        <a:latin typeface="Google Sans Text"/>
                      </a:endParaRP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Google Sans Text"/>
                        </a:rPr>
                        <a:t>Контроль за сотрудниками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>
                          <a:effectLst/>
                          <a:latin typeface="Google Sans Text"/>
                        </a:rPr>
                        <a:t>Руководитель Управления документооборотом, Рабочая группа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Google Sans Text"/>
                        </a:rPr>
                        <a:t>21.06.2025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Google Sans Text"/>
                        </a:rPr>
                        <a:t>Проведение повторных замеров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189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40220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F67A8-A1D6-3B9D-2442-EB4F2D743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Дизайн презентации: коротко о самом главном | Блог 4brain">
            <a:extLst>
              <a:ext uri="{FF2B5EF4-FFF2-40B4-BE49-F238E27FC236}">
                <a16:creationId xmlns:a16="http://schemas.microsoft.com/office/drawing/2014/main" id="{523666E4-07CC-E9A1-1B4D-CC8CB84AF2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66" r="7573"/>
          <a:stretch/>
        </p:blipFill>
        <p:spPr bwMode="auto">
          <a:xfrm>
            <a:off x="348343" y="3486942"/>
            <a:ext cx="4032069" cy="3101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AE6277E-48AF-2F7D-C531-79007C41EDD4}"/>
              </a:ext>
            </a:extLst>
          </p:cNvPr>
          <p:cNvSpPr/>
          <p:nvPr/>
        </p:nvSpPr>
        <p:spPr>
          <a:xfrm>
            <a:off x="0" y="-2"/>
            <a:ext cx="12192000" cy="1297577"/>
          </a:xfrm>
          <a:prstGeom prst="rect">
            <a:avLst/>
          </a:prstGeom>
          <a:solidFill>
            <a:srgbClr val="456A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412A0A-E388-33D8-36F5-1563C31926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4609" y="124387"/>
            <a:ext cx="9144000" cy="881017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Bernard MT Condensed" panose="02050806060905020404" pitchFamily="18" charset="0"/>
              </a:rPr>
              <a:t>IDEF0</a:t>
            </a:r>
            <a:r>
              <a:rPr lang="ru-RU" sz="3600" dirty="0">
                <a:solidFill>
                  <a:schemeClr val="bg1"/>
                </a:solidFill>
                <a:latin typeface="Arial Black" panose="020B0A04020102020204" pitchFamily="34" charset="0"/>
              </a:rPr>
              <a:t> (Подготовка документов)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A81EE78-CA09-97A3-AF55-E5DF71872B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14"/>
          <a:stretch/>
        </p:blipFill>
        <p:spPr>
          <a:xfrm>
            <a:off x="3525340" y="1348375"/>
            <a:ext cx="8572500" cy="5051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2920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9AC3C-81A0-9342-B337-CC0FFC47B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E58EDAC-2602-A96A-D4B1-F3A372AA51B8}"/>
              </a:ext>
            </a:extLst>
          </p:cNvPr>
          <p:cNvSpPr/>
          <p:nvPr/>
        </p:nvSpPr>
        <p:spPr>
          <a:xfrm>
            <a:off x="0" y="-2"/>
            <a:ext cx="12192000" cy="1297577"/>
          </a:xfrm>
          <a:prstGeom prst="rect">
            <a:avLst/>
          </a:prstGeom>
          <a:solidFill>
            <a:srgbClr val="456A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8A64B2-4345-8B54-F579-09D037DB5D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4609" y="124387"/>
            <a:ext cx="9144000" cy="881017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Bernard MT Condensed" panose="02050806060905020404" pitchFamily="18" charset="0"/>
              </a:rPr>
              <a:t>BPMN</a:t>
            </a:r>
            <a:r>
              <a:rPr lang="ru-RU" sz="3600" dirty="0">
                <a:solidFill>
                  <a:schemeClr val="bg1"/>
                </a:solidFill>
                <a:latin typeface="Arial Black" panose="020B0A04020102020204" pitchFamily="34" charset="0"/>
              </a:rPr>
              <a:t> (Подготовка документов)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987FB85-E505-D1B4-5B96-6387FE781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1736725"/>
            <a:ext cx="11201400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2180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235B2-7E0F-AC79-7EED-70F7D498D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78FBF2F-CC09-1323-8A3C-3252A82E63CB}"/>
              </a:ext>
            </a:extLst>
          </p:cNvPr>
          <p:cNvSpPr/>
          <p:nvPr/>
        </p:nvSpPr>
        <p:spPr>
          <a:xfrm>
            <a:off x="0" y="-2"/>
            <a:ext cx="12192000" cy="1297577"/>
          </a:xfrm>
          <a:prstGeom prst="rect">
            <a:avLst/>
          </a:prstGeom>
          <a:solidFill>
            <a:srgbClr val="456A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D05A12-2A82-E10B-43A7-2026E4FF9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4609" y="124387"/>
            <a:ext cx="9144000" cy="881017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Berlin Sans FB Demi" panose="020E0802020502020306" pitchFamily="34" charset="0"/>
              </a:rPr>
              <a:t>Basic Flowchart (</a:t>
            </a:r>
            <a:r>
              <a:rPr lang="ru-RU" sz="3600" dirty="0">
                <a:solidFill>
                  <a:schemeClr val="bg1"/>
                </a:solidFill>
                <a:latin typeface="Bernard MT Condensed" panose="02050806060905020404" pitchFamily="18" charset="0"/>
              </a:rPr>
              <a:t>Резолюция)</a:t>
            </a:r>
            <a:endParaRPr lang="ru-RU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0C85716-A7CB-9885-BE01-BA503B6405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074" r="25132"/>
          <a:stretch/>
        </p:blipFill>
        <p:spPr>
          <a:xfrm>
            <a:off x="1364609" y="1421964"/>
            <a:ext cx="4147279" cy="52705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03BD67E-8730-1933-C41B-5B97A121C8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533" r="32044"/>
          <a:stretch/>
        </p:blipFill>
        <p:spPr>
          <a:xfrm>
            <a:off x="5961923" y="1421964"/>
            <a:ext cx="3505201" cy="534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9260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8FF0C71-8419-C1C0-F2FF-91BD026B29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979" t="20912" r="14896" b="23691"/>
          <a:stretch/>
        </p:blipFill>
        <p:spPr>
          <a:xfrm>
            <a:off x="817749" y="241301"/>
            <a:ext cx="10556502" cy="61890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05FB0C-B9D3-2306-A43E-78A0F52A41C2}"/>
              </a:ext>
            </a:extLst>
          </p:cNvPr>
          <p:cNvSpPr txBox="1"/>
          <p:nvPr/>
        </p:nvSpPr>
        <p:spPr>
          <a:xfrm>
            <a:off x="4688499" y="427691"/>
            <a:ext cx="2815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Процесс обработки заявки</a:t>
            </a:r>
          </a:p>
        </p:txBody>
      </p:sp>
    </p:spTree>
    <p:extLst>
      <p:ext uri="{BB962C8B-B14F-4D97-AF65-F5344CB8AC3E}">
        <p14:creationId xmlns:p14="http://schemas.microsoft.com/office/powerpoint/2010/main" val="14352108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C3405E4-7684-2AE8-6D21-F7BFDA98D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3397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CE78FB-3950-B73C-30AE-249BD42D77F6}"/>
              </a:ext>
            </a:extLst>
          </p:cNvPr>
          <p:cNvSpPr txBox="1"/>
          <p:nvPr/>
        </p:nvSpPr>
        <p:spPr>
          <a:xfrm>
            <a:off x="4578350" y="162058"/>
            <a:ext cx="63119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Замеры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19AA56A-D43F-D2A6-C1AC-E916E87810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416" t="33511" r="18542" b="19430"/>
          <a:stretch/>
        </p:blipFill>
        <p:spPr>
          <a:xfrm>
            <a:off x="1454150" y="1360965"/>
            <a:ext cx="9283700" cy="5334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5111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242449B-0EF0-813E-D194-A89C3CF17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3397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F2B767C-0E65-27BC-AEB0-037C696388A6}"/>
              </a:ext>
            </a:extLst>
          </p:cNvPr>
          <p:cNvSpPr txBox="1"/>
          <p:nvPr/>
        </p:nvSpPr>
        <p:spPr>
          <a:xfrm>
            <a:off x="3638550" y="208225"/>
            <a:ext cx="81978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Bernard MT Condensed" panose="02050806060905020404" pitchFamily="18" charset="0"/>
              </a:rPr>
              <a:t>Value Stream Map</a:t>
            </a:r>
            <a:endParaRPr lang="ru-RU" sz="540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A58A84E-C95E-9D18-D3A1-0EC0404F40C6}"/>
              </a:ext>
            </a:extLst>
          </p:cNvPr>
          <p:cNvSpPr/>
          <p:nvPr/>
        </p:nvSpPr>
        <p:spPr>
          <a:xfrm>
            <a:off x="0" y="2949840"/>
            <a:ext cx="1004561" cy="85401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 </a:t>
            </a:r>
            <a:endParaRPr lang="ru-RU" sz="160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BF311B4-F1CB-023C-EDFF-542988979869}"/>
              </a:ext>
            </a:extLst>
          </p:cNvPr>
          <p:cNvSpPr/>
          <p:nvPr/>
        </p:nvSpPr>
        <p:spPr>
          <a:xfrm>
            <a:off x="2749401" y="2949840"/>
            <a:ext cx="1004553" cy="87358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700" dirty="0"/>
              <a:t>60с (1м)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8EA3BBD7-923F-4BDC-CF4F-DCACDBCCA0BD}"/>
              </a:ext>
            </a:extLst>
          </p:cNvPr>
          <p:cNvCxnSpPr>
            <a:cxnSpLocks/>
          </p:cNvCxnSpPr>
          <p:nvPr/>
        </p:nvCxnSpPr>
        <p:spPr>
          <a:xfrm>
            <a:off x="-20016" y="3803853"/>
            <a:ext cx="1564438" cy="0"/>
          </a:xfrm>
          <a:prstGeom prst="line">
            <a:avLst/>
          </a:prstGeom>
          <a:ln w="57150">
            <a:solidFill>
              <a:srgbClr val="1D9A78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C1A6A26-EA0E-A57D-EC0E-D88D0FBD8071}"/>
              </a:ext>
            </a:extLst>
          </p:cNvPr>
          <p:cNvSpPr/>
          <p:nvPr/>
        </p:nvSpPr>
        <p:spPr>
          <a:xfrm>
            <a:off x="-163594" y="2377302"/>
            <a:ext cx="14451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b="1" dirty="0"/>
              <a:t>Поступление заявки в архив</a:t>
            </a:r>
            <a:endParaRPr lang="ru-RU" sz="1400" dirty="0"/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6A9E7E3D-DD58-76CD-B7DC-571D087B323E}"/>
              </a:ext>
            </a:extLst>
          </p:cNvPr>
          <p:cNvCxnSpPr>
            <a:cxnSpLocks/>
          </p:cNvCxnSpPr>
          <p:nvPr/>
        </p:nvCxnSpPr>
        <p:spPr>
          <a:xfrm>
            <a:off x="1544422" y="3803853"/>
            <a:ext cx="0" cy="72574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C9AFB7AB-3F14-80CA-8E73-38AC2C7F7DA9}"/>
              </a:ext>
            </a:extLst>
          </p:cNvPr>
          <p:cNvCxnSpPr>
            <a:cxnSpLocks/>
          </p:cNvCxnSpPr>
          <p:nvPr/>
        </p:nvCxnSpPr>
        <p:spPr>
          <a:xfrm>
            <a:off x="1544422" y="4538119"/>
            <a:ext cx="619034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AD33F622-3156-F84B-FA72-02E722C013A6}"/>
              </a:ext>
            </a:extLst>
          </p:cNvPr>
          <p:cNvCxnSpPr>
            <a:cxnSpLocks/>
          </p:cNvCxnSpPr>
          <p:nvPr/>
        </p:nvCxnSpPr>
        <p:spPr>
          <a:xfrm>
            <a:off x="2141750" y="3803852"/>
            <a:ext cx="0" cy="72574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A9CBBEC-CF85-83F6-BF7D-8B2555E4C543}"/>
              </a:ext>
            </a:extLst>
          </p:cNvPr>
          <p:cNvSpPr/>
          <p:nvPr/>
        </p:nvSpPr>
        <p:spPr>
          <a:xfrm>
            <a:off x="1611741" y="3967034"/>
            <a:ext cx="4523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dirty="0"/>
              <a:t> 0с</a:t>
            </a:r>
            <a:endParaRPr lang="ru-RU" sz="1600" dirty="0"/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5D3A0F3F-8392-91D0-943E-0B9097076032}"/>
              </a:ext>
            </a:extLst>
          </p:cNvPr>
          <p:cNvCxnSpPr>
            <a:cxnSpLocks/>
          </p:cNvCxnSpPr>
          <p:nvPr/>
        </p:nvCxnSpPr>
        <p:spPr>
          <a:xfrm flipH="1">
            <a:off x="2141750" y="3823420"/>
            <a:ext cx="6096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4B21183E-C192-BE32-1DAF-44F96A81E845}"/>
              </a:ext>
            </a:extLst>
          </p:cNvPr>
          <p:cNvCxnSpPr>
            <a:cxnSpLocks/>
          </p:cNvCxnSpPr>
          <p:nvPr/>
        </p:nvCxnSpPr>
        <p:spPr>
          <a:xfrm flipH="1">
            <a:off x="3753954" y="3823420"/>
            <a:ext cx="60765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82C84855-4474-C8C8-E05C-385DC58D5E3F}"/>
              </a:ext>
            </a:extLst>
          </p:cNvPr>
          <p:cNvCxnSpPr>
            <a:cxnSpLocks/>
          </p:cNvCxnSpPr>
          <p:nvPr/>
        </p:nvCxnSpPr>
        <p:spPr>
          <a:xfrm>
            <a:off x="4361604" y="3812370"/>
            <a:ext cx="0" cy="72574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45E6B333-F650-639A-AEB8-5CF75DFBABB0}"/>
              </a:ext>
            </a:extLst>
          </p:cNvPr>
          <p:cNvCxnSpPr>
            <a:cxnSpLocks/>
          </p:cNvCxnSpPr>
          <p:nvPr/>
        </p:nvCxnSpPr>
        <p:spPr>
          <a:xfrm>
            <a:off x="4361604" y="4507777"/>
            <a:ext cx="67541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50C05118-CD64-EDDE-4C58-71B932967056}"/>
              </a:ext>
            </a:extLst>
          </p:cNvPr>
          <p:cNvCxnSpPr>
            <a:cxnSpLocks/>
          </p:cNvCxnSpPr>
          <p:nvPr/>
        </p:nvCxnSpPr>
        <p:spPr>
          <a:xfrm>
            <a:off x="7783929" y="3831558"/>
            <a:ext cx="0" cy="72574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C56888C4-2DBD-AE5B-C661-DE9C2B5324D4}"/>
              </a:ext>
            </a:extLst>
          </p:cNvPr>
          <p:cNvCxnSpPr>
            <a:cxnSpLocks/>
          </p:cNvCxnSpPr>
          <p:nvPr/>
        </p:nvCxnSpPr>
        <p:spPr>
          <a:xfrm>
            <a:off x="7246387" y="3831558"/>
            <a:ext cx="0" cy="72574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F5A947F0-B87D-3317-0F3C-4C54536259EA}"/>
              </a:ext>
            </a:extLst>
          </p:cNvPr>
          <p:cNvCxnSpPr>
            <a:cxnSpLocks/>
          </p:cNvCxnSpPr>
          <p:nvPr/>
        </p:nvCxnSpPr>
        <p:spPr>
          <a:xfrm>
            <a:off x="5037014" y="3803852"/>
            <a:ext cx="0" cy="72574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97B1EBE7-9C77-5E1F-3AE4-4566CBB1D53C}"/>
              </a:ext>
            </a:extLst>
          </p:cNvPr>
          <p:cNvSpPr/>
          <p:nvPr/>
        </p:nvSpPr>
        <p:spPr>
          <a:xfrm>
            <a:off x="5643052" y="2949840"/>
            <a:ext cx="1004539" cy="88171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700" dirty="0"/>
              <a:t>150с</a:t>
            </a:r>
          </a:p>
          <a:p>
            <a:pPr algn="ctr"/>
            <a:r>
              <a:rPr lang="ru-RU" sz="1700" dirty="0"/>
              <a:t>(2.5м) </a:t>
            </a:r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2FADC453-E782-57A5-9D57-206381DBF3B6}"/>
              </a:ext>
            </a:extLst>
          </p:cNvPr>
          <p:cNvCxnSpPr>
            <a:cxnSpLocks/>
          </p:cNvCxnSpPr>
          <p:nvPr/>
        </p:nvCxnSpPr>
        <p:spPr>
          <a:xfrm flipH="1">
            <a:off x="5037014" y="3823420"/>
            <a:ext cx="60765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771EF62-1252-23AD-95FE-037CB63BD4D4}"/>
              </a:ext>
            </a:extLst>
          </p:cNvPr>
          <p:cNvSpPr/>
          <p:nvPr/>
        </p:nvSpPr>
        <p:spPr>
          <a:xfrm>
            <a:off x="7170352" y="4025156"/>
            <a:ext cx="68961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1600" dirty="0"/>
              <a:t>30м-?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DEBF5DB1-457A-79FF-B2A3-A4CBDFC8C079}"/>
              </a:ext>
            </a:extLst>
          </p:cNvPr>
          <p:cNvSpPr/>
          <p:nvPr/>
        </p:nvSpPr>
        <p:spPr>
          <a:xfrm>
            <a:off x="8278568" y="2984070"/>
            <a:ext cx="1004553" cy="87358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300с</a:t>
            </a:r>
            <a:r>
              <a:rPr lang="ru-RU" sz="1700" dirty="0"/>
              <a:t> (5м)</a:t>
            </a:r>
          </a:p>
        </p:txBody>
      </p: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5E35DA46-E5A5-1AE4-9046-0481A1B39190}"/>
              </a:ext>
            </a:extLst>
          </p:cNvPr>
          <p:cNvCxnSpPr>
            <a:cxnSpLocks/>
          </p:cNvCxnSpPr>
          <p:nvPr/>
        </p:nvCxnSpPr>
        <p:spPr>
          <a:xfrm flipH="1">
            <a:off x="9213012" y="3863176"/>
            <a:ext cx="60765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02109496-4F3C-DA9F-FDBA-0EA2946CB4CB}"/>
              </a:ext>
            </a:extLst>
          </p:cNvPr>
          <p:cNvCxnSpPr>
            <a:cxnSpLocks/>
          </p:cNvCxnSpPr>
          <p:nvPr/>
        </p:nvCxnSpPr>
        <p:spPr>
          <a:xfrm>
            <a:off x="9820662" y="3852126"/>
            <a:ext cx="0" cy="725749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2D98514A-F7E8-5F59-8497-2B111D3B354E}"/>
              </a:ext>
            </a:extLst>
          </p:cNvPr>
          <p:cNvCxnSpPr>
            <a:cxnSpLocks/>
          </p:cNvCxnSpPr>
          <p:nvPr/>
        </p:nvCxnSpPr>
        <p:spPr>
          <a:xfrm>
            <a:off x="9820662" y="4547533"/>
            <a:ext cx="675410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65647FCB-F684-BA6A-6AF8-5E3AC2780A5F}"/>
              </a:ext>
            </a:extLst>
          </p:cNvPr>
          <p:cNvCxnSpPr>
            <a:cxnSpLocks/>
          </p:cNvCxnSpPr>
          <p:nvPr/>
        </p:nvCxnSpPr>
        <p:spPr>
          <a:xfrm>
            <a:off x="10496072" y="3843608"/>
            <a:ext cx="0" cy="725749"/>
          </a:xfrm>
          <a:prstGeom prst="line">
            <a:avLst/>
          </a:prstGeom>
          <a:ln w="57150">
            <a:solidFill>
              <a:srgbClr val="1D9A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D3BE50B1-9E8D-9F3C-B2B4-9634F66AF96C}"/>
              </a:ext>
            </a:extLst>
          </p:cNvPr>
          <p:cNvSpPr/>
          <p:nvPr/>
        </p:nvSpPr>
        <p:spPr>
          <a:xfrm>
            <a:off x="11076088" y="2988141"/>
            <a:ext cx="1004539" cy="88171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120с</a:t>
            </a:r>
            <a:r>
              <a:rPr lang="ru-RU" sz="1700" dirty="0"/>
              <a:t> </a:t>
            </a:r>
          </a:p>
        </p:txBody>
      </p: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1779434C-6BF2-2C2F-FF8F-2FF1537270DB}"/>
              </a:ext>
            </a:extLst>
          </p:cNvPr>
          <p:cNvCxnSpPr>
            <a:cxnSpLocks/>
          </p:cNvCxnSpPr>
          <p:nvPr/>
        </p:nvCxnSpPr>
        <p:spPr>
          <a:xfrm flipH="1">
            <a:off x="10496072" y="3863176"/>
            <a:ext cx="60765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2E251C0F-D23B-C5AA-7DCB-31300AC8EC79}"/>
              </a:ext>
            </a:extLst>
          </p:cNvPr>
          <p:cNvSpPr/>
          <p:nvPr/>
        </p:nvSpPr>
        <p:spPr>
          <a:xfrm>
            <a:off x="9717763" y="3869859"/>
            <a:ext cx="88331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/>
              <a:t>30с</a:t>
            </a:r>
          </a:p>
        </p:txBody>
      </p: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800C9B5E-5179-5E96-9220-B3CDD5835302}"/>
              </a:ext>
            </a:extLst>
          </p:cNvPr>
          <p:cNvCxnSpPr>
            <a:cxnSpLocks/>
          </p:cNvCxnSpPr>
          <p:nvPr/>
        </p:nvCxnSpPr>
        <p:spPr>
          <a:xfrm flipH="1">
            <a:off x="6638737" y="3831819"/>
            <a:ext cx="60765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D43BDDB9-EA05-5CA5-D2C0-1C356F2060AD}"/>
              </a:ext>
            </a:extLst>
          </p:cNvPr>
          <p:cNvCxnSpPr>
            <a:cxnSpLocks/>
          </p:cNvCxnSpPr>
          <p:nvPr/>
        </p:nvCxnSpPr>
        <p:spPr>
          <a:xfrm>
            <a:off x="7246387" y="4557307"/>
            <a:ext cx="53754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CE1033A1-A0EE-4F1E-A2FB-BFE78F0ADEE5}"/>
              </a:ext>
            </a:extLst>
          </p:cNvPr>
          <p:cNvCxnSpPr>
            <a:cxnSpLocks/>
          </p:cNvCxnSpPr>
          <p:nvPr/>
        </p:nvCxnSpPr>
        <p:spPr>
          <a:xfrm flipH="1">
            <a:off x="7783929" y="3852126"/>
            <a:ext cx="552876" cy="26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86C52260-60A0-855B-1C41-6570DACF49B2}"/>
              </a:ext>
            </a:extLst>
          </p:cNvPr>
          <p:cNvSpPr/>
          <p:nvPr/>
        </p:nvSpPr>
        <p:spPr>
          <a:xfrm>
            <a:off x="5069091" y="2322283"/>
            <a:ext cx="186486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Отправка заявки</a:t>
            </a:r>
          </a:p>
          <a:p>
            <a:r>
              <a:rPr lang="ru-RU" b="1" dirty="0"/>
              <a:t>специалисту</a:t>
            </a:r>
            <a:endParaRPr lang="ru-RU" dirty="0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B5CB6A26-4892-3E96-6D82-442B0AC1282C}"/>
              </a:ext>
            </a:extLst>
          </p:cNvPr>
          <p:cNvSpPr/>
          <p:nvPr/>
        </p:nvSpPr>
        <p:spPr>
          <a:xfrm>
            <a:off x="2456225" y="2337446"/>
            <a:ext cx="24601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latin typeface="Google Sans Text"/>
              </a:rPr>
              <a:t>Обратная связь </a:t>
            </a:r>
          </a:p>
          <a:p>
            <a:r>
              <a:rPr lang="ru-RU" b="1" dirty="0">
                <a:latin typeface="Google Sans Text"/>
              </a:rPr>
              <a:t>С заказчиком</a:t>
            </a:r>
            <a:endParaRPr lang="ru-RU" dirty="0"/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F5622C5C-0F8D-B85C-9829-5E742620788F}"/>
              </a:ext>
            </a:extLst>
          </p:cNvPr>
          <p:cNvSpPr/>
          <p:nvPr/>
        </p:nvSpPr>
        <p:spPr>
          <a:xfrm>
            <a:off x="7794963" y="2530793"/>
            <a:ext cx="27011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latin typeface="Google Sans Text"/>
              </a:rPr>
              <a:t>Работа с документом</a:t>
            </a:r>
            <a:endParaRPr lang="ru-RU" dirty="0"/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BAEFD42D-B799-211E-C123-EE3FC16D802E}"/>
              </a:ext>
            </a:extLst>
          </p:cNvPr>
          <p:cNvSpPr/>
          <p:nvPr/>
        </p:nvSpPr>
        <p:spPr>
          <a:xfrm>
            <a:off x="10801585" y="2310202"/>
            <a:ext cx="16715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latin typeface="Google Sans Text"/>
              </a:rPr>
              <a:t>Отправка документа</a:t>
            </a:r>
            <a:endParaRPr lang="ru-RU" dirty="0"/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9F372FDA-EBEA-0013-1530-E89DA5C74489}"/>
              </a:ext>
            </a:extLst>
          </p:cNvPr>
          <p:cNvSpPr/>
          <p:nvPr/>
        </p:nvSpPr>
        <p:spPr>
          <a:xfrm>
            <a:off x="3095761" y="4652014"/>
            <a:ext cx="32070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Google Sans Text"/>
              </a:rPr>
              <a:t>ОЖИДАНИЕ ответа от клиента</a:t>
            </a:r>
            <a:endParaRPr lang="ru-RU" dirty="0"/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A7C92F1F-4F90-1D8F-5AA5-1E34824CA566}"/>
              </a:ext>
            </a:extLst>
          </p:cNvPr>
          <p:cNvSpPr/>
          <p:nvPr/>
        </p:nvSpPr>
        <p:spPr>
          <a:xfrm>
            <a:off x="2318993" y="5802186"/>
            <a:ext cx="23007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latin typeface="Google Sans Text"/>
              </a:rPr>
              <a:t>810</a:t>
            </a:r>
            <a:r>
              <a:rPr lang="ru-RU" b="1" dirty="0">
                <a:solidFill>
                  <a:srgbClr val="E2E2E5"/>
                </a:solidFill>
                <a:latin typeface="Google Sans Text"/>
              </a:rPr>
              <a:t> </a:t>
            </a:r>
            <a:r>
              <a:rPr lang="ru-RU" b="1" dirty="0">
                <a:latin typeface="Google Sans Text"/>
              </a:rPr>
              <a:t>сек – 13.5 мин</a:t>
            </a:r>
            <a:endParaRPr lang="ru-RU" dirty="0"/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9175F409-4985-0306-7335-6504ABA82263}"/>
              </a:ext>
            </a:extLst>
          </p:cNvPr>
          <p:cNvSpPr/>
          <p:nvPr/>
        </p:nvSpPr>
        <p:spPr>
          <a:xfrm>
            <a:off x="4339179" y="3930220"/>
            <a:ext cx="6880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dirty="0"/>
              <a:t> </a:t>
            </a:r>
            <a:r>
              <a:rPr lang="ru-RU" dirty="0">
                <a:solidFill>
                  <a:srgbClr val="FF0000"/>
                </a:solidFill>
              </a:rPr>
              <a:t>2м-?</a:t>
            </a:r>
            <a:endParaRPr lang="ru-RU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88396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E170856-2747-28FF-A8CC-AE4A27966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83"/>
            <a:ext cx="12192000" cy="1309331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AD20F9F-DA61-F5F9-94AC-F115A9EC8C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4745"/>
          <a:stretch/>
        </p:blipFill>
        <p:spPr>
          <a:xfrm>
            <a:off x="1374239" y="0"/>
            <a:ext cx="2384961" cy="12863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BA8855-2039-A5D8-00B7-31D47A44482C}"/>
              </a:ext>
            </a:extLst>
          </p:cNvPr>
          <p:cNvSpPr txBox="1"/>
          <p:nvPr/>
        </p:nvSpPr>
        <p:spPr>
          <a:xfrm>
            <a:off x="533400" y="177353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u="sng" dirty="0" err="1"/>
              <a:t>Define</a:t>
            </a:r>
            <a:r>
              <a:rPr lang="ru-RU" b="1" dirty="0"/>
              <a:t> (определение)</a:t>
            </a:r>
          </a:p>
          <a:p>
            <a:pPr>
              <a:buNone/>
            </a:pPr>
            <a:endParaRPr lang="ru-RU" b="1" dirty="0"/>
          </a:p>
          <a:p>
            <a:pPr>
              <a:buNone/>
            </a:pPr>
            <a:r>
              <a:rPr lang="ru-RU" b="1" dirty="0"/>
              <a:t>Проблема: долгий процесс работы с заявкой</a:t>
            </a:r>
          </a:p>
          <a:p>
            <a:r>
              <a:rPr lang="ru-RU" b="1" dirty="0"/>
              <a:t>Цель: ускорить процесс работы с заявкой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D71E1D-ACBF-661B-B0EA-9F84A8902623}"/>
              </a:ext>
            </a:extLst>
          </p:cNvPr>
          <p:cNvSpPr txBox="1"/>
          <p:nvPr/>
        </p:nvSpPr>
        <p:spPr>
          <a:xfrm>
            <a:off x="5613400" y="3238500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 err="1"/>
              <a:t>Measure</a:t>
            </a:r>
            <a:r>
              <a:rPr lang="ru-RU" b="1" dirty="0"/>
              <a:t> (измерение)</a:t>
            </a:r>
          </a:p>
          <a:p>
            <a:endParaRPr lang="ru-RU" b="1" dirty="0"/>
          </a:p>
          <a:p>
            <a:r>
              <a:rPr lang="ru-RU" b="1" dirty="0"/>
              <a:t>Текущее время работы: 385-665 сек. на обработку одной заявки</a:t>
            </a:r>
          </a:p>
          <a:p>
            <a:endParaRPr lang="ru-RU" b="1" dirty="0"/>
          </a:p>
          <a:p>
            <a:endParaRPr lang="ru-RU" b="1" dirty="0"/>
          </a:p>
          <a:p>
            <a:endParaRPr lang="ru-RU" b="1" dirty="0"/>
          </a:p>
          <a:p>
            <a:endParaRPr lang="ru-RU" b="1" dirty="0"/>
          </a:p>
          <a:p>
            <a:endParaRPr lang="ru-RU" b="1" dirty="0"/>
          </a:p>
          <a:p>
            <a:r>
              <a:rPr lang="ru-RU" b="1" dirty="0"/>
              <a:t>Потери (</a:t>
            </a:r>
            <a:r>
              <a:rPr lang="en-US" b="1" dirty="0"/>
              <a:t>MUDA)</a:t>
            </a:r>
            <a:r>
              <a:rPr lang="ru-RU" b="1" dirty="0"/>
              <a:t>: долгое ожидание оплаты от клиента, ответа на сообщение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49AEDE-B819-F5B9-96CA-5B85056D141E}"/>
              </a:ext>
            </a:extLst>
          </p:cNvPr>
          <p:cNvSpPr txBox="1"/>
          <p:nvPr/>
        </p:nvSpPr>
        <p:spPr>
          <a:xfrm>
            <a:off x="5360377" y="4721270"/>
            <a:ext cx="60694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Основное проблемное место: долгое ожидание оплаты от</a:t>
            </a:r>
          </a:p>
          <a:p>
            <a:r>
              <a:rPr lang="ru-RU" b="1" dirty="0"/>
              <a:t>Клиента, долгие ответы на сообщения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C353A94-F421-4364-891E-54FE994F98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66" y="3640888"/>
            <a:ext cx="4405711" cy="26996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473B5E-486B-4B60-BF57-B142887979AD}"/>
              </a:ext>
            </a:extLst>
          </p:cNvPr>
          <p:cNvSpPr txBox="1"/>
          <p:nvPr/>
        </p:nvSpPr>
        <p:spPr>
          <a:xfrm>
            <a:off x="3759200" y="315057"/>
            <a:ext cx="48455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Работа с заявкой</a:t>
            </a:r>
          </a:p>
        </p:txBody>
      </p:sp>
    </p:spTree>
    <p:extLst>
      <p:ext uri="{BB962C8B-B14F-4D97-AF65-F5344CB8AC3E}">
        <p14:creationId xmlns:p14="http://schemas.microsoft.com/office/powerpoint/2010/main" val="27294114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4B1A195-A762-4D36-A377-9D6DCC3D7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1262"/>
            <a:ext cx="12192000" cy="13093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FDF5344-D158-4186-B2F5-D0F0F6880DFC}"/>
              </a:ext>
            </a:extLst>
          </p:cNvPr>
          <p:cNvSpPr txBox="1"/>
          <p:nvPr/>
        </p:nvSpPr>
        <p:spPr>
          <a:xfrm>
            <a:off x="3016739" y="3019642"/>
            <a:ext cx="61585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>
                <a:solidFill>
                  <a:schemeClr val="bg1"/>
                </a:solidFill>
              </a:rPr>
              <a:t>Диаграмма Исикавы (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45371C2-B475-4184-82F2-2F3C0CE01F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069" y="314819"/>
            <a:ext cx="4645555" cy="9632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719D41-3918-42FF-BD52-6200EC224103}"/>
              </a:ext>
            </a:extLst>
          </p:cNvPr>
          <p:cNvSpPr txBox="1"/>
          <p:nvPr/>
        </p:nvSpPr>
        <p:spPr>
          <a:xfrm>
            <a:off x="6457116" y="423821"/>
            <a:ext cx="4023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</a:rPr>
              <a:t>Работа с заявкой )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9E6B965-334D-4384-A89B-9190EF64DB3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464" t="2375" r="1027" b="3731"/>
          <a:stretch/>
        </p:blipFill>
        <p:spPr>
          <a:xfrm>
            <a:off x="1406769" y="1733152"/>
            <a:ext cx="9261231" cy="4570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9489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EA7A448-53DF-46C7-B5A1-4E90CBEC3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309331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D10FCC9-EFD1-4A44-9650-6FFCF7AFC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8829" y="50719"/>
            <a:ext cx="4182218" cy="117663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2B2BFD4-C4F0-418C-A829-D21140A1E5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84" y="3704410"/>
            <a:ext cx="3451455" cy="29694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044885-5CDF-463B-BD05-9E884D5052A0}"/>
              </a:ext>
            </a:extLst>
          </p:cNvPr>
          <p:cNvSpPr txBox="1"/>
          <p:nvPr/>
        </p:nvSpPr>
        <p:spPr>
          <a:xfrm>
            <a:off x="3048000" y="1861294"/>
            <a:ext cx="72604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Предлагаемое решение: все услуги платные, введение временных ограничений на ответ на письмо сотрудника (внедрение анкетирования для уточнения информации), установка дедлайнов (когда нужен будет ответ)</a:t>
            </a:r>
          </a:p>
        </p:txBody>
      </p:sp>
    </p:spTree>
    <p:extLst>
      <p:ext uri="{BB962C8B-B14F-4D97-AF65-F5344CB8AC3E}">
        <p14:creationId xmlns:p14="http://schemas.microsoft.com/office/powerpoint/2010/main" val="27253208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790CE43-83E1-46DA-BA7E-835CD647B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3093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2FF6F1-8704-4C16-82FE-C510BBB8CC69}"/>
              </a:ext>
            </a:extLst>
          </p:cNvPr>
          <p:cNvSpPr txBox="1"/>
          <p:nvPr/>
        </p:nvSpPr>
        <p:spPr>
          <a:xfrm>
            <a:off x="3048000" y="5450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Оценка предполагаемого экономического эффекта</a:t>
            </a:r>
            <a:endParaRPr lang="ru-RU" sz="3600" dirty="0"/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0D19FA48-EAE2-40C7-B081-AB5CAE4E74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813126"/>
              </p:ext>
            </p:extLst>
          </p:nvPr>
        </p:nvGraphicFramePr>
        <p:xfrm>
          <a:off x="343948" y="1400961"/>
          <a:ext cx="11610366" cy="4957894"/>
        </p:xfrm>
        <a:graphic>
          <a:graphicData uri="http://schemas.openxmlformats.org/drawingml/2006/table">
            <a:tbl>
              <a:tblPr/>
              <a:tblGrid>
                <a:gridCol w="1935061">
                  <a:extLst>
                    <a:ext uri="{9D8B030D-6E8A-4147-A177-3AD203B41FA5}">
                      <a16:colId xmlns:a16="http://schemas.microsoft.com/office/drawing/2014/main" val="2604422396"/>
                    </a:ext>
                  </a:extLst>
                </a:gridCol>
                <a:gridCol w="1935061">
                  <a:extLst>
                    <a:ext uri="{9D8B030D-6E8A-4147-A177-3AD203B41FA5}">
                      <a16:colId xmlns:a16="http://schemas.microsoft.com/office/drawing/2014/main" val="1382035803"/>
                    </a:ext>
                  </a:extLst>
                </a:gridCol>
                <a:gridCol w="1935061">
                  <a:extLst>
                    <a:ext uri="{9D8B030D-6E8A-4147-A177-3AD203B41FA5}">
                      <a16:colId xmlns:a16="http://schemas.microsoft.com/office/drawing/2014/main" val="3701092716"/>
                    </a:ext>
                  </a:extLst>
                </a:gridCol>
                <a:gridCol w="1935061">
                  <a:extLst>
                    <a:ext uri="{9D8B030D-6E8A-4147-A177-3AD203B41FA5}">
                      <a16:colId xmlns:a16="http://schemas.microsoft.com/office/drawing/2014/main" val="419765365"/>
                    </a:ext>
                  </a:extLst>
                </a:gridCol>
                <a:gridCol w="1935061">
                  <a:extLst>
                    <a:ext uri="{9D8B030D-6E8A-4147-A177-3AD203B41FA5}">
                      <a16:colId xmlns:a16="http://schemas.microsoft.com/office/drawing/2014/main" val="2486033169"/>
                    </a:ext>
                  </a:extLst>
                </a:gridCol>
                <a:gridCol w="1935061">
                  <a:extLst>
                    <a:ext uri="{9D8B030D-6E8A-4147-A177-3AD203B41FA5}">
                      <a16:colId xmlns:a16="http://schemas.microsoft.com/office/drawing/2014/main" val="307720661"/>
                    </a:ext>
                  </a:extLst>
                </a:gridCol>
              </a:tblGrid>
              <a:tr h="361253"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Google Sans Text"/>
                        </a:rPr>
                        <a:t>Показатель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Google Sans Text"/>
                        </a:rPr>
                        <a:t>Единица измерения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Google Sans Text"/>
                        </a:rPr>
                        <a:t>ДО (</a:t>
                      </a:r>
                      <a:r>
                        <a:rPr lang="en-US" sz="900" b="1">
                          <a:effectLst/>
                          <a:latin typeface="Google Sans Text"/>
                        </a:rPr>
                        <a:t>AS IS)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 dirty="0">
                          <a:effectLst/>
                          <a:latin typeface="Google Sans Text"/>
                        </a:rPr>
                        <a:t>ПОСЛЕ (</a:t>
                      </a:r>
                      <a:r>
                        <a:rPr lang="en-US" sz="900" b="1" dirty="0">
                          <a:effectLst/>
                          <a:latin typeface="Google Sans Text"/>
                        </a:rPr>
                        <a:t>TO BE) </a:t>
                      </a:r>
                      <a:r>
                        <a:rPr lang="ru-RU" sz="900" b="1" dirty="0">
                          <a:effectLst/>
                          <a:latin typeface="Google Sans Text"/>
                        </a:rPr>
                        <a:t>Прогноз 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Google Sans Text"/>
                        </a:rPr>
                        <a:t>Экономия/Улучшение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Google Sans Text"/>
                        </a:rPr>
                        <a:t>Результат (за период)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1487033"/>
                  </a:ext>
                </a:extLst>
              </a:tr>
              <a:tr h="660222"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Google Sans Text"/>
                        </a:rPr>
                        <a:t>Время на проблемный шаг (Изучение + Ожидание)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Google Sans Text"/>
                        </a:rPr>
                        <a:t>Секунды / Минуты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dirty="0">
                          <a:effectLst/>
                          <a:latin typeface="Google Sans Text"/>
                        </a:rPr>
                        <a:t>n</a:t>
                      </a:r>
                      <a:r>
                        <a:rPr lang="ru-RU" sz="900" b="0" dirty="0">
                          <a:effectLst/>
                          <a:latin typeface="Google Sans Text"/>
                        </a:rPr>
                        <a:t> сек (</a:t>
                      </a:r>
                      <a:r>
                        <a:rPr lang="en-US" sz="900" b="0" dirty="0">
                          <a:effectLst/>
                          <a:latin typeface="Google Sans Text"/>
                        </a:rPr>
                        <a:t>n</a:t>
                      </a:r>
                      <a:r>
                        <a:rPr lang="ru-RU" sz="900" b="0" dirty="0">
                          <a:effectLst/>
                          <a:latin typeface="Google Sans Text"/>
                        </a:rPr>
                        <a:t> мин)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Google Sans Text"/>
                        </a:rPr>
                        <a:t>~120 сек (2 мин)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0" dirty="0">
                          <a:effectLst/>
                          <a:latin typeface="Google Sans Text"/>
                        </a:rPr>
                        <a:t>~120 сек (2 мин)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Google Sans Text"/>
                        </a:rPr>
                        <a:t>-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103573"/>
                  </a:ext>
                </a:extLst>
              </a:tr>
              <a:tr h="510738"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Общее время процесса на 1 документ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Google Sans Text"/>
                        </a:rPr>
                        <a:t>Секунды / Минуты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Google Sans Text"/>
                        </a:rPr>
                        <a:t>810 сек (13,5 мин)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Google Sans Text"/>
                        </a:rPr>
                        <a:t>~705 сек (11,75 мин)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0" dirty="0">
                          <a:effectLst/>
                          <a:latin typeface="Google Sans Text"/>
                        </a:rPr>
                        <a:t>~120 сек (2 мин)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-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065720"/>
                  </a:ext>
                </a:extLst>
              </a:tr>
              <a:tr h="510738"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Экономия времени на 1 документ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Google Sans Text"/>
                        </a:rPr>
                        <a:t>Секунды / Минуты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-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-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0" dirty="0">
                          <a:effectLst/>
                          <a:latin typeface="Google Sans Text"/>
                        </a:rPr>
                        <a:t>~120 сек (2 мин)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-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626447"/>
                  </a:ext>
                </a:extLst>
              </a:tr>
              <a:tr h="510738"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Стоимость минуты работы сотрудника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Руб/минута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Google Sans Text"/>
                        </a:rPr>
                        <a:t>~</a:t>
                      </a:r>
                      <a:r>
                        <a:rPr lang="en-US" sz="900" b="0" dirty="0">
                          <a:effectLst/>
                          <a:latin typeface="Google Sans Text"/>
                        </a:rPr>
                        <a:t>6</a:t>
                      </a:r>
                      <a:r>
                        <a:rPr lang="ru-RU" sz="900" b="0" dirty="0">
                          <a:effectLst/>
                          <a:latin typeface="Google Sans Text"/>
                        </a:rPr>
                        <a:t>,73 </a:t>
                      </a:r>
                      <a:r>
                        <a:rPr lang="ru-RU" sz="900" b="0" dirty="0" err="1">
                          <a:effectLst/>
                          <a:latin typeface="Google Sans Text"/>
                        </a:rPr>
                        <a:t>руб</a:t>
                      </a:r>
                      <a:endParaRPr lang="ru-RU" sz="900" b="0" dirty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Google Sans Text"/>
                        </a:rPr>
                        <a:t>~6,73 </a:t>
                      </a:r>
                      <a:r>
                        <a:rPr lang="ru-RU" sz="900" b="0" dirty="0" err="1">
                          <a:effectLst/>
                          <a:latin typeface="Google Sans Text"/>
                        </a:rPr>
                        <a:t>руб</a:t>
                      </a:r>
                      <a:endParaRPr lang="ru-RU" sz="900" b="0" dirty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-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b="0" dirty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5428523"/>
                  </a:ext>
                </a:extLst>
              </a:tr>
              <a:tr h="510738"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Экономия затрат на 1 документ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Рубли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-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-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Google Sans Text"/>
                        </a:rPr>
                        <a:t>22 р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Google Sans Text"/>
                        </a:rPr>
                        <a:t>2*6.73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1921917"/>
                  </a:ext>
                </a:extLst>
              </a:tr>
              <a:tr h="361253"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Объем документов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Док/день (Док/мес)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dirty="0">
                          <a:effectLst/>
                          <a:latin typeface="Google Sans Text"/>
                        </a:rPr>
                        <a:t>5 </a:t>
                      </a:r>
                      <a:r>
                        <a:rPr lang="ru-RU" sz="900" b="0" dirty="0">
                          <a:effectLst/>
                          <a:latin typeface="Google Sans Text"/>
                        </a:rPr>
                        <a:t>заявок/день (110 з/</a:t>
                      </a:r>
                      <a:r>
                        <a:rPr lang="ru-RU" sz="900" b="0" dirty="0" err="1">
                          <a:effectLst/>
                          <a:latin typeface="Google Sans Text"/>
                        </a:rPr>
                        <a:t>мес</a:t>
                      </a:r>
                      <a:r>
                        <a:rPr lang="ru-RU" sz="900" b="0" dirty="0"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dirty="0">
                          <a:effectLst/>
                          <a:latin typeface="Google Sans Text"/>
                        </a:rPr>
                        <a:t>5 заявок/день (110 з/</a:t>
                      </a:r>
                      <a:r>
                        <a:rPr lang="ru-RU" sz="900" b="0" dirty="0" err="1">
                          <a:effectLst/>
                          <a:latin typeface="Google Sans Text"/>
                        </a:rPr>
                        <a:t>мес</a:t>
                      </a:r>
                      <a:r>
                        <a:rPr lang="ru-RU" sz="900" b="0" dirty="0"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>
                          <a:effectLst/>
                          <a:latin typeface="Google Sans Text"/>
                        </a:rPr>
                        <a:t>-</a:t>
                      </a: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b="0" dirty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4338877"/>
                  </a:ext>
                </a:extLst>
              </a:tr>
              <a:tr h="510738"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Google Sans Text"/>
                        </a:rPr>
                        <a:t>Ежедневная экономия затрат</a:t>
                      </a:r>
                      <a:endParaRPr lang="ru-RU" sz="900" b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Google Sans Text"/>
                        </a:rPr>
                        <a:t>Рубли/день</a:t>
                      </a:r>
                      <a:endParaRPr lang="ru-RU" sz="900" b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 dirty="0">
                          <a:effectLst/>
                          <a:latin typeface="Google Sans Text"/>
                        </a:rPr>
                        <a:t>-</a:t>
                      </a:r>
                      <a:endParaRPr lang="ru-RU" sz="900" b="0" dirty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Google Sans Text"/>
                        </a:rPr>
                        <a:t>-</a:t>
                      </a:r>
                      <a:endParaRPr lang="ru-RU" sz="900" b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 dirty="0">
                          <a:effectLst/>
                          <a:latin typeface="Google Sans Text"/>
                        </a:rPr>
                        <a:t>~110р</a:t>
                      </a:r>
                      <a:endParaRPr lang="ru-RU" sz="900" b="0" dirty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 dirty="0">
                          <a:effectLst/>
                          <a:latin typeface="Google Sans Text"/>
                        </a:rPr>
                        <a:t>22* 5 з/день</a:t>
                      </a:r>
                      <a:endParaRPr lang="ru-RU" sz="900" b="0" dirty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616583"/>
                  </a:ext>
                </a:extLst>
              </a:tr>
              <a:tr h="510738"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Google Sans Text"/>
                        </a:rPr>
                        <a:t>Ежемесячная экономия затрат</a:t>
                      </a:r>
                      <a:endParaRPr lang="ru-RU" sz="900" b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Google Sans Text"/>
                        </a:rPr>
                        <a:t>Рубли/месяц</a:t>
                      </a:r>
                      <a:endParaRPr lang="ru-RU" sz="900" b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Google Sans Text"/>
                        </a:rPr>
                        <a:t>-</a:t>
                      </a:r>
                      <a:endParaRPr lang="ru-RU" sz="900" b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Google Sans Text"/>
                        </a:rPr>
                        <a:t>-</a:t>
                      </a:r>
                      <a:endParaRPr lang="ru-RU" sz="900" b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 dirty="0">
                          <a:effectLst/>
                          <a:latin typeface="Google Sans Text"/>
                        </a:rPr>
                        <a:t>~2430р</a:t>
                      </a:r>
                      <a:endParaRPr lang="ru-RU" sz="900" b="0" dirty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 dirty="0">
                          <a:effectLst/>
                          <a:latin typeface="Google Sans Text"/>
                        </a:rPr>
                        <a:t>22 * 110 т/</a:t>
                      </a:r>
                      <a:r>
                        <a:rPr lang="ru-RU" sz="900" b="1" dirty="0" err="1">
                          <a:effectLst/>
                          <a:latin typeface="Google Sans Text"/>
                        </a:rPr>
                        <a:t>мес</a:t>
                      </a:r>
                      <a:endParaRPr lang="ru-RU" sz="900" b="0" dirty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561360"/>
                  </a:ext>
                </a:extLst>
              </a:tr>
              <a:tr h="510738"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Google Sans Text"/>
                        </a:rPr>
                        <a:t>Годовая экономия затрат</a:t>
                      </a:r>
                      <a:endParaRPr lang="ru-RU" sz="900" b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Google Sans Text"/>
                        </a:rPr>
                        <a:t>Рубли/год</a:t>
                      </a:r>
                      <a:endParaRPr lang="ru-RU" sz="900" b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>
                          <a:effectLst/>
                          <a:latin typeface="Google Sans Text"/>
                        </a:rPr>
                        <a:t>-</a:t>
                      </a:r>
                      <a:endParaRPr lang="ru-RU" sz="900" b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 dirty="0">
                          <a:effectLst/>
                          <a:latin typeface="Google Sans Text"/>
                        </a:rPr>
                        <a:t>-</a:t>
                      </a:r>
                      <a:endParaRPr lang="ru-RU" sz="900" b="0" dirty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 dirty="0">
                          <a:effectLst/>
                          <a:latin typeface="Google Sans Text"/>
                        </a:rPr>
                        <a:t>~29160р</a:t>
                      </a:r>
                      <a:endParaRPr lang="ru-RU" sz="900" b="0" dirty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1" dirty="0">
                          <a:effectLst/>
                          <a:latin typeface="Google Sans Text"/>
                        </a:rPr>
                        <a:t>2430 </a:t>
                      </a:r>
                      <a:r>
                        <a:rPr lang="ru-RU" sz="900" b="1" dirty="0" err="1">
                          <a:effectLst/>
                          <a:latin typeface="Google Sans Text"/>
                        </a:rPr>
                        <a:t>руб</a:t>
                      </a:r>
                      <a:r>
                        <a:rPr lang="ru-RU" sz="900" b="1" dirty="0">
                          <a:effectLst/>
                          <a:latin typeface="Google Sans Text"/>
                        </a:rPr>
                        <a:t>/</a:t>
                      </a:r>
                      <a:r>
                        <a:rPr lang="ru-RU" sz="900" b="1" dirty="0" err="1">
                          <a:effectLst/>
                          <a:latin typeface="Google Sans Text"/>
                        </a:rPr>
                        <a:t>мес</a:t>
                      </a:r>
                      <a:r>
                        <a:rPr lang="ru-RU" sz="900" b="1" dirty="0">
                          <a:effectLst/>
                          <a:latin typeface="Google Sans Text"/>
                        </a:rPr>
                        <a:t> * 12 </a:t>
                      </a:r>
                      <a:r>
                        <a:rPr lang="ru-RU" sz="900" b="1" dirty="0" err="1">
                          <a:effectLst/>
                          <a:latin typeface="Google Sans Text"/>
                        </a:rPr>
                        <a:t>мес</a:t>
                      </a:r>
                      <a:r>
                        <a:rPr lang="ru-RU" sz="900" b="1" dirty="0">
                          <a:effectLst/>
                          <a:latin typeface="Google Sans Text"/>
                        </a:rPr>
                        <a:t>/год</a:t>
                      </a:r>
                      <a:endParaRPr lang="ru-RU" sz="900" b="0" dirty="0">
                        <a:effectLst/>
                        <a:latin typeface="Google Sans Text"/>
                      </a:endParaRPr>
                    </a:p>
                  </a:txBody>
                  <a:tcPr marL="54665" marR="54665" marT="27333" marB="273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8761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39600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EFA69CE-C765-420A-9C43-61EDE2270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309331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EA43DCC-7693-4770-BB08-64E519D0A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650" y="96832"/>
            <a:ext cx="9144793" cy="11156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D5C5913-73DD-43F5-ACC2-A77CCC1B1A3C}"/>
              </a:ext>
            </a:extLst>
          </p:cNvPr>
          <p:cNvSpPr txBox="1"/>
          <p:nvPr/>
        </p:nvSpPr>
        <p:spPr>
          <a:xfrm>
            <a:off x="3048000" y="2969289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 среднем сотрудник тратит 2 часа (7 200 сек) в день на работу с заявками, в день обрабатывается около 5 заявок.</a:t>
            </a:r>
          </a:p>
          <a:p>
            <a:r>
              <a:rPr lang="ru-RU" dirty="0"/>
              <a:t>Время такта: 7 200:5=1440 сек</a:t>
            </a:r>
          </a:p>
        </p:txBody>
      </p:sp>
    </p:spTree>
    <p:extLst>
      <p:ext uri="{BB962C8B-B14F-4D97-AF65-F5344CB8AC3E}">
        <p14:creationId xmlns:p14="http://schemas.microsoft.com/office/powerpoint/2010/main" val="17658552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EFA69CE-C765-420A-9C43-61EDE2270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30933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CE3145C-AF0A-4696-8059-C30644A65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7237" y="173039"/>
            <a:ext cx="3804234" cy="963251"/>
          </a:xfrm>
          <a:prstGeom prst="rect">
            <a:avLst/>
          </a:prstGeom>
        </p:spPr>
      </p:pic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09857C14-C451-4857-8114-94B2FB8281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8920999"/>
              </p:ext>
            </p:extLst>
          </p:nvPr>
        </p:nvGraphicFramePr>
        <p:xfrm>
          <a:off x="250970" y="1471747"/>
          <a:ext cx="11451672" cy="5004554"/>
        </p:xfrm>
        <a:graphic>
          <a:graphicData uri="http://schemas.openxmlformats.org/drawingml/2006/table">
            <a:tbl>
              <a:tblPr/>
              <a:tblGrid>
                <a:gridCol w="1908612">
                  <a:extLst>
                    <a:ext uri="{9D8B030D-6E8A-4147-A177-3AD203B41FA5}">
                      <a16:colId xmlns:a16="http://schemas.microsoft.com/office/drawing/2014/main" val="322945137"/>
                    </a:ext>
                  </a:extLst>
                </a:gridCol>
                <a:gridCol w="1908612">
                  <a:extLst>
                    <a:ext uri="{9D8B030D-6E8A-4147-A177-3AD203B41FA5}">
                      <a16:colId xmlns:a16="http://schemas.microsoft.com/office/drawing/2014/main" val="1336014053"/>
                    </a:ext>
                  </a:extLst>
                </a:gridCol>
                <a:gridCol w="1908612">
                  <a:extLst>
                    <a:ext uri="{9D8B030D-6E8A-4147-A177-3AD203B41FA5}">
                      <a16:colId xmlns:a16="http://schemas.microsoft.com/office/drawing/2014/main" val="4258419958"/>
                    </a:ext>
                  </a:extLst>
                </a:gridCol>
                <a:gridCol w="1908612">
                  <a:extLst>
                    <a:ext uri="{9D8B030D-6E8A-4147-A177-3AD203B41FA5}">
                      <a16:colId xmlns:a16="http://schemas.microsoft.com/office/drawing/2014/main" val="1334701864"/>
                    </a:ext>
                  </a:extLst>
                </a:gridCol>
                <a:gridCol w="1908612">
                  <a:extLst>
                    <a:ext uri="{9D8B030D-6E8A-4147-A177-3AD203B41FA5}">
                      <a16:colId xmlns:a16="http://schemas.microsoft.com/office/drawing/2014/main" val="3744917779"/>
                    </a:ext>
                  </a:extLst>
                </a:gridCol>
                <a:gridCol w="1908612">
                  <a:extLst>
                    <a:ext uri="{9D8B030D-6E8A-4147-A177-3AD203B41FA5}">
                      <a16:colId xmlns:a16="http://schemas.microsoft.com/office/drawing/2014/main" val="1996713636"/>
                    </a:ext>
                  </a:extLst>
                </a:gridCol>
              </a:tblGrid>
              <a:tr h="763853"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Google Sans Text"/>
                        </a:rPr>
                        <a:t>Начало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Google Sans Text"/>
                        </a:rPr>
                        <a:t>Окончание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Google Sans Text"/>
                        </a:rPr>
                        <a:t>Руководитель проекта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Google Sans Text"/>
                        </a:rPr>
                        <a:t>Команда проекта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Google Sans Text"/>
                        </a:rPr>
                        <a:t>Бюджет проекта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effectLst/>
                          <a:latin typeface="Google Sans Text"/>
                        </a:rPr>
                        <a:t>Цель проекта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487422"/>
                  </a:ext>
                </a:extLst>
              </a:tr>
              <a:tr h="4240701"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Google Sans Text"/>
                        </a:rPr>
                        <a:t>01.06.2025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Google Sans Text"/>
                        </a:rPr>
                        <a:t>01.07.2025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Google Sans Text"/>
                        </a:rPr>
                        <a:t>Руководитель Управления документооборотом КФУ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Google Sans Text"/>
                        </a:rPr>
                        <a:t>Сотрудники ведущие документоведы КФУ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Google Sans Text"/>
                        </a:rPr>
                        <a:t>Составление анкеты для клиентов </a:t>
                      </a:r>
                    </a:p>
                    <a:p>
                      <a:r>
                        <a:rPr lang="ru-RU" b="0" dirty="0">
                          <a:effectLst/>
                          <a:latin typeface="Google Sans Text"/>
                        </a:rPr>
                        <a:t>0 рублей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Google Sans Text"/>
                        </a:rPr>
                        <a:t>Сократить время ожидания клиента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531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20581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EFA69CE-C765-420A-9C43-61EDE2270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309331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3CE1A34-B4E6-4E0C-8D0F-CE8AA33D0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0794" y="173039"/>
            <a:ext cx="3395766" cy="963251"/>
          </a:xfrm>
          <a:prstGeom prst="rect">
            <a:avLst/>
          </a:prstGeom>
        </p:spPr>
      </p:pic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1B9A1D31-6D58-457D-B0EC-44C274F852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8636236"/>
              </p:ext>
            </p:extLst>
          </p:nvPr>
        </p:nvGraphicFramePr>
        <p:xfrm>
          <a:off x="1219200" y="2110853"/>
          <a:ext cx="9753600" cy="2636294"/>
        </p:xfrm>
        <a:graphic>
          <a:graphicData uri="http://schemas.openxmlformats.org/drawingml/2006/table">
            <a:tbl>
              <a:tblPr/>
              <a:tblGrid>
                <a:gridCol w="1568741">
                  <a:extLst>
                    <a:ext uri="{9D8B030D-6E8A-4147-A177-3AD203B41FA5}">
                      <a16:colId xmlns:a16="http://schemas.microsoft.com/office/drawing/2014/main" val="3597525703"/>
                    </a:ext>
                  </a:extLst>
                </a:gridCol>
                <a:gridCol w="3308059">
                  <a:extLst>
                    <a:ext uri="{9D8B030D-6E8A-4147-A177-3AD203B41FA5}">
                      <a16:colId xmlns:a16="http://schemas.microsoft.com/office/drawing/2014/main" val="333872334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457879235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940691470"/>
                    </a:ext>
                  </a:extLst>
                </a:gridCol>
              </a:tblGrid>
              <a:tr h="148162">
                <a:tc>
                  <a:txBody>
                    <a:bodyPr/>
                    <a:lstStyle/>
                    <a:p>
                      <a:r>
                        <a:rPr lang="ru-RU" sz="1200" b="1" dirty="0">
                          <a:effectLst/>
                          <a:latin typeface="Google Sans Text"/>
                        </a:rPr>
                        <a:t>№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>
                          <a:effectLst/>
                          <a:latin typeface="Google Sans Text"/>
                        </a:rPr>
                        <a:t>Мероприятие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>
                          <a:effectLst/>
                          <a:latin typeface="Google Sans Text"/>
                        </a:rPr>
                        <a:t>Ответственный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>
                          <a:effectLst/>
                          <a:latin typeface="Google Sans Text"/>
                        </a:rPr>
                        <a:t>Дата начала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112267"/>
                  </a:ext>
                </a:extLst>
              </a:tr>
              <a:tr h="566501"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Google Sans Text"/>
                        </a:rPr>
                        <a:t>1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Google Sans Text"/>
                        </a:rPr>
                        <a:t>Введение платных услуг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Google Sans Text"/>
                        </a:rPr>
                        <a:t>Руководитель Управления документооборотом, Рабочая группа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Google Sans Text"/>
                        </a:rPr>
                        <a:t>01.06.2025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559500"/>
                  </a:ext>
                </a:extLst>
              </a:tr>
              <a:tr h="671086"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Google Sans Text"/>
                        </a:rPr>
                        <a:t>2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Google Sans Text"/>
                        </a:rPr>
                        <a:t>Разработка регламентов (временные ограничения)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Google Sans Text"/>
                        </a:rPr>
                        <a:t>Руководитель Управления документооборотом, Рабочая группа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Google Sans Text"/>
                        </a:rPr>
                        <a:t>08.06.2025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375302"/>
                  </a:ext>
                </a:extLst>
              </a:tr>
              <a:tr h="566501"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Google Sans Text"/>
                        </a:rPr>
                        <a:t>3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Google Sans Text"/>
                        </a:rPr>
                        <a:t>Внедрение регламента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>
                          <a:effectLst/>
                          <a:latin typeface="Google Sans Text"/>
                        </a:rPr>
                        <a:t>Руководитель Управления документооборотом, Рабочая группа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Google Sans Text"/>
                        </a:rPr>
                        <a:t>15.06.2025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05230"/>
                  </a:ext>
                </a:extLst>
              </a:tr>
              <a:tr h="566501">
                <a:tc>
                  <a:txBody>
                    <a:bodyPr/>
                    <a:lstStyle/>
                    <a:p>
                      <a:r>
                        <a:rPr lang="en-US" sz="1200" b="0" dirty="0">
                          <a:effectLst/>
                          <a:latin typeface="Google Sans Text"/>
                        </a:rPr>
                        <a:t>4</a:t>
                      </a:r>
                      <a:endParaRPr lang="ru-RU" sz="1200" b="0" dirty="0">
                        <a:effectLst/>
                        <a:latin typeface="Google Sans Text"/>
                      </a:endParaRP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Google Sans Text"/>
                        </a:rPr>
                        <a:t>Составление и внедрение анкет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>
                          <a:effectLst/>
                          <a:latin typeface="Google Sans Text"/>
                        </a:rPr>
                        <a:t>Руководитель Управления документооборотом, Рабочая группа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Google Sans Text"/>
                        </a:rPr>
                        <a:t>21.06.2025</a:t>
                      </a:r>
                    </a:p>
                  </a:txBody>
                  <a:tcPr marL="34101" marR="34101" marT="17051" marB="170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189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27716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EFA69CE-C765-420A-9C43-61EDE2270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309331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E31DD24-7EA0-4441-9498-04CFA029C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740" y="235562"/>
            <a:ext cx="1530229" cy="963251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A3BA27B-6498-75B0-7EA9-85BD4281E5F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705" t="6655" r="18625" b="12135"/>
          <a:stretch/>
        </p:blipFill>
        <p:spPr>
          <a:xfrm>
            <a:off x="1464365" y="1391481"/>
            <a:ext cx="9263270" cy="5466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3398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EFA69CE-C765-420A-9C43-61EDE2270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309331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FB905F6-3180-43F2-96F9-521FCCBB2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934" y="173039"/>
            <a:ext cx="1524132" cy="963251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73D27B4-9A86-EBA0-EF85-0F340AA678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89" t="3523" r="5630" b="7481"/>
          <a:stretch/>
        </p:blipFill>
        <p:spPr>
          <a:xfrm>
            <a:off x="1418982" y="1309329"/>
            <a:ext cx="9354036" cy="5465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5717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EFA69CE-C765-420A-9C43-61EDE2270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309331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ECD68BC-DBF9-4A3F-867B-4B39A03D8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2512" y="235436"/>
            <a:ext cx="3853006" cy="963251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04D5243-A6E8-7C1E-818B-33E49AB49FD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269" r="11119" b="6887"/>
          <a:stretch/>
        </p:blipFill>
        <p:spPr>
          <a:xfrm>
            <a:off x="2309005" y="1434123"/>
            <a:ext cx="3127014" cy="507309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C5391EB-12B0-D850-5237-EF42A8C3BA6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507" t="8776" r="13043" b="9522"/>
          <a:stretch/>
        </p:blipFill>
        <p:spPr>
          <a:xfrm>
            <a:off x="6573576" y="1544767"/>
            <a:ext cx="3127014" cy="5216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6018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EFA69CE-C765-420A-9C43-61EDE2270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30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175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672</TotalTime>
  <Words>2348</Words>
  <Application>Microsoft Office PowerPoint</Application>
  <PresentationFormat>Широкоэкранный</PresentationFormat>
  <Paragraphs>557</Paragraphs>
  <Slides>41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41</vt:i4>
      </vt:variant>
    </vt:vector>
  </HeadingPairs>
  <TitlesOfParts>
    <vt:vector size="50" baseType="lpstr">
      <vt:lpstr>Arial</vt:lpstr>
      <vt:lpstr>Arial Black</vt:lpstr>
      <vt:lpstr>Berlin Sans FB Demi</vt:lpstr>
      <vt:lpstr>Bernard MT Condensed</vt:lpstr>
      <vt:lpstr>Calibri</vt:lpstr>
      <vt:lpstr>Calibri Light</vt:lpstr>
      <vt:lpstr>Courier New</vt:lpstr>
      <vt:lpstr>Google Sans Text</vt:lpstr>
      <vt:lpstr>Office Theme</vt:lpstr>
      <vt:lpstr>Гемба</vt:lpstr>
      <vt:lpstr>Презентация PowerPoint</vt:lpstr>
      <vt:lpstr>Замеры</vt:lpstr>
      <vt:lpstr> Value Stream Map</vt:lpstr>
      <vt:lpstr>DMAIC - Резолюция</vt:lpstr>
      <vt:lpstr>Диаграмма Ишикавы (Резолюция)</vt:lpstr>
      <vt:lpstr>Improve | TO BE</vt:lpstr>
      <vt:lpstr>Оценка предполагаемого экономического эффекта</vt:lpstr>
      <vt:lpstr>Расчет времени такта</vt:lpstr>
      <vt:lpstr>Паспорт проекта (Резолююция)</vt:lpstr>
      <vt:lpstr>Внедрение</vt:lpstr>
      <vt:lpstr>IDEF0 (Резолюция)</vt:lpstr>
      <vt:lpstr>BPMN (Резолюция)</vt:lpstr>
      <vt:lpstr>Basic Flowchart (Резолюция)</vt:lpstr>
      <vt:lpstr>Презентация PowerPoint</vt:lpstr>
      <vt:lpstr>Замеры</vt:lpstr>
      <vt:lpstr> Value Stream Map</vt:lpstr>
      <vt:lpstr>DMAIC – Подготовка документов</vt:lpstr>
      <vt:lpstr>Диаграмма Исикавы (Подготовка документов)</vt:lpstr>
      <vt:lpstr>Improve | TO BE</vt:lpstr>
      <vt:lpstr>Оценка предполагаемого экономического эффекта</vt:lpstr>
      <vt:lpstr>Расчет времени такта</vt:lpstr>
      <vt:lpstr>Паспорт проекта (Подготовка документов)</vt:lpstr>
      <vt:lpstr>Внедрение</vt:lpstr>
      <vt:lpstr>IDEF0 (Подготовка документов)</vt:lpstr>
      <vt:lpstr>BPMN (Подготовка документов)</vt:lpstr>
      <vt:lpstr>Basic Flowchart (Резолюция)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Гемба</dc:title>
  <dc:creator>Фарид</dc:creator>
  <cp:lastModifiedBy>User</cp:lastModifiedBy>
  <cp:revision>45</cp:revision>
  <dcterms:created xsi:type="dcterms:W3CDTF">2025-05-02T11:39:13Z</dcterms:created>
  <dcterms:modified xsi:type="dcterms:W3CDTF">2025-05-05T06:34:56Z</dcterms:modified>
</cp:coreProperties>
</file>