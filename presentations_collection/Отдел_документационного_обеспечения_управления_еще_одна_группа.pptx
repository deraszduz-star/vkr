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sldIdLst>
    <p:sldId id="256" r:id="rId2"/>
    <p:sldId id="257" r:id="rId3"/>
    <p:sldId id="258" r:id="rId4"/>
    <p:sldId id="266" r:id="rId5"/>
    <p:sldId id="264" r:id="rId6"/>
    <p:sldId id="270" r:id="rId7"/>
    <p:sldId id="273" r:id="rId8"/>
    <p:sldId id="279" r:id="rId9"/>
    <p:sldId id="265" r:id="rId10"/>
    <p:sldId id="271" r:id="rId11"/>
    <p:sldId id="272" r:id="rId12"/>
    <p:sldId id="276" r:id="rId13"/>
    <p:sldId id="288" r:id="rId14"/>
    <p:sldId id="263" r:id="rId15"/>
    <p:sldId id="269" r:id="rId16"/>
    <p:sldId id="274" r:id="rId17"/>
    <p:sldId id="275" r:id="rId18"/>
    <p:sldId id="280" r:id="rId19"/>
    <p:sldId id="278" r:id="rId20"/>
    <p:sldId id="267" r:id="rId21"/>
    <p:sldId id="287" r:id="rId22"/>
    <p:sldId id="268" r:id="rId23"/>
    <p:sldId id="281" r:id="rId24"/>
    <p:sldId id="282" r:id="rId25"/>
    <p:sldId id="283" r:id="rId26"/>
    <p:sldId id="284" r:id="rId27"/>
    <p:sldId id="285" r:id="rId28"/>
    <p:sldId id="286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3T19:04:48.4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1,'28'0,"342"11,211 8,-353-4,3 0,1401-16,-1446-14,-17 0,576 13,-358 4,585-2,-946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3T19:04:50.5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25,'2469'0,"-2494"-11,-12-2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3T19:05:06.759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0,'1258'0,"-1226"2,0 1,32 7,42 4,9 2,-80-9,57 3,536-9,-298-3,2510 2,-2814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3T19:05:16.248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2,'87'-2,"96"4,-160 2,41 10,-28-5,8 2,0-3,72 5,12-11,126 8,453 10,-476-22,1529 2,-1735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06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0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3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6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61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05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6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79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6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93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60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1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5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46" r:id="rId6"/>
    <p:sldLayoutId id="2147483751" r:id="rId7"/>
    <p:sldLayoutId id="2147483747" r:id="rId8"/>
    <p:sldLayoutId id="2147483748" r:id="rId9"/>
    <p:sldLayoutId id="2147483749" r:id="rId10"/>
    <p:sldLayoutId id="2147483750" r:id="rId11"/>
    <p:sldLayoutId id="214748375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F994C0-2A89-4EE7-A2E1-2D1BC34C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0E0B39D-28FB-41E0-999D-8298BDB09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34873" y="1674546"/>
            <a:ext cx="5594224" cy="3508908"/>
          </a:xfrm>
          <a:noFill/>
        </p:spPr>
        <p:txBody>
          <a:bodyPr anchor="ctr">
            <a:normAutofit fontScale="90000"/>
          </a:bodyPr>
          <a:lstStyle/>
          <a:p>
            <a:r>
              <a:rPr lang="ru-RU" b="1" dirty="0">
                <a:solidFill>
                  <a:srgbClr val="FFFFFF"/>
                </a:solidFill>
                <a:latin typeface="Grandview Display"/>
              </a:rPr>
              <a:t>Проектное задание по дисциплине «Анализ и моделирование бизнес- процессов»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109284" y="1711268"/>
            <a:ext cx="3983323" cy="34721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cap="all" dirty="0">
                <a:latin typeface="Grandview Display"/>
              </a:rPr>
              <a:t>14.6-110</a:t>
            </a:r>
            <a:endParaRPr lang="ru-RU" sz="2800" dirty="0"/>
          </a:p>
          <a:p>
            <a:r>
              <a:rPr lang="ru-RU" sz="2800" b="1" cap="all" dirty="0">
                <a:latin typeface="Grandview Display"/>
              </a:rPr>
              <a:t>Гирфанова </a:t>
            </a:r>
            <a:r>
              <a:rPr lang="ru-RU" sz="2800" b="1" cap="all" dirty="0" err="1">
                <a:latin typeface="Grandview Display"/>
              </a:rPr>
              <a:t>Аделя</a:t>
            </a:r>
            <a:endParaRPr lang="ru-RU" sz="2800">
              <a:latin typeface="Century Gothic"/>
            </a:endParaRPr>
          </a:p>
          <a:p>
            <a:r>
              <a:rPr lang="ru-RU" sz="2800" b="1" cap="all" dirty="0">
                <a:latin typeface="Grandview Display"/>
              </a:rPr>
              <a:t>Митченко Мария</a:t>
            </a:r>
            <a:endParaRPr lang="ru-RU" sz="2800" dirty="0">
              <a:latin typeface="Century Gothic"/>
            </a:endParaRPr>
          </a:p>
          <a:p>
            <a:r>
              <a:rPr lang="ru-RU" sz="2800" b="1" dirty="0">
                <a:latin typeface="Grandview Display"/>
              </a:rPr>
              <a:t> </a:t>
            </a:r>
            <a:r>
              <a:rPr lang="ru-RU" sz="2800" b="1" cap="all" err="1">
                <a:latin typeface="Grandview Display"/>
              </a:rPr>
              <a:t>Минязева</a:t>
            </a:r>
            <a:r>
              <a:rPr lang="ru-RU" sz="2800" b="1" cap="all" dirty="0">
                <a:latin typeface="Grandview Display"/>
              </a:rPr>
              <a:t> Алина</a:t>
            </a:r>
            <a:endParaRPr lang="ru-RU" sz="2800"/>
          </a:p>
          <a:p>
            <a:endParaRPr lang="ru-RU" sz="280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5EE3CB-831B-ECD4-07F8-EFD7498A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200" i="0" dirty="0"/>
              <a:t>ОТДЕЛ УДК</a:t>
            </a:r>
            <a:endParaRPr lang="ru-RU" sz="3600" dirty="0"/>
          </a:p>
          <a:p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F18753AA-7FA4-777D-04DE-EAFF371ED76E}"/>
              </a:ext>
            </a:extLst>
          </p:cNvPr>
          <p:cNvSpPr/>
          <p:nvPr/>
        </p:nvSpPr>
        <p:spPr>
          <a:xfrm>
            <a:off x="974162" y="1461871"/>
            <a:ext cx="2108547" cy="11482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9348EF3B-3C28-169D-037E-E33AC530975D}"/>
              </a:ext>
            </a:extLst>
          </p:cNvPr>
          <p:cNvSpPr/>
          <p:nvPr/>
        </p:nvSpPr>
        <p:spPr>
          <a:xfrm>
            <a:off x="9190907" y="1461871"/>
            <a:ext cx="2108547" cy="11482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C596352-9223-F8A2-3E65-3A27A59040AE}"/>
              </a:ext>
            </a:extLst>
          </p:cNvPr>
          <p:cNvSpPr/>
          <p:nvPr/>
        </p:nvSpPr>
        <p:spPr>
          <a:xfrm>
            <a:off x="4969035" y="1430978"/>
            <a:ext cx="2108547" cy="11482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9762F-4D25-F472-090A-C0A4219B6489}"/>
              </a:ext>
            </a:extLst>
          </p:cNvPr>
          <p:cNvSpPr txBox="1"/>
          <p:nvPr/>
        </p:nvSpPr>
        <p:spPr>
          <a:xfrm>
            <a:off x="1163059" y="1673155"/>
            <a:ext cx="17257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/>
              <a:t>Гирфанова </a:t>
            </a:r>
            <a:r>
              <a:rPr lang="ru-RU" err="1"/>
              <a:t>Аделя</a:t>
            </a:r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BE878-F90D-D801-AC17-903E651C4B7A}"/>
              </a:ext>
            </a:extLst>
          </p:cNvPr>
          <p:cNvSpPr txBox="1"/>
          <p:nvPr/>
        </p:nvSpPr>
        <p:spPr>
          <a:xfrm>
            <a:off x="5318719" y="1681922"/>
            <a:ext cx="14091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/>
              <a:t>Митченко Мария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E183C8-A4A0-A512-0617-07EE63712EDC}"/>
              </a:ext>
            </a:extLst>
          </p:cNvPr>
          <p:cNvSpPr txBox="1"/>
          <p:nvPr/>
        </p:nvSpPr>
        <p:spPr>
          <a:xfrm>
            <a:off x="8915882" y="1705514"/>
            <a:ext cx="2658596" cy="858857"/>
          </a:xfrm>
          <a:prstGeom prst="downArrow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/>
              <a:t>Минязева Алина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E95EED1-2CC1-3F15-9FB9-97BFBBF8C107}"/>
              </a:ext>
            </a:extLst>
          </p:cNvPr>
          <p:cNvCxnSpPr/>
          <p:nvPr/>
        </p:nvCxnSpPr>
        <p:spPr>
          <a:xfrm>
            <a:off x="1989608" y="2853443"/>
            <a:ext cx="10438" cy="1346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6AAFED8-36A0-D8D0-2656-D99B08FCE2BE}"/>
              </a:ext>
            </a:extLst>
          </p:cNvPr>
          <p:cNvCxnSpPr>
            <a:cxnSpLocks/>
          </p:cNvCxnSpPr>
          <p:nvPr/>
        </p:nvCxnSpPr>
        <p:spPr>
          <a:xfrm>
            <a:off x="6092746" y="2853443"/>
            <a:ext cx="10438" cy="1346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CA45E4A6-CE58-5DFA-BDCA-2AF006B35205}"/>
              </a:ext>
            </a:extLst>
          </p:cNvPr>
          <p:cNvCxnSpPr>
            <a:cxnSpLocks/>
          </p:cNvCxnSpPr>
          <p:nvPr/>
        </p:nvCxnSpPr>
        <p:spPr>
          <a:xfrm>
            <a:off x="10245180" y="2853443"/>
            <a:ext cx="10438" cy="1346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29EBC5D-9A03-6AAD-60D1-753F60A4DB05}"/>
              </a:ext>
            </a:extLst>
          </p:cNvPr>
          <p:cNvSpPr/>
          <p:nvPr/>
        </p:nvSpPr>
        <p:spPr>
          <a:xfrm>
            <a:off x="872483" y="4752720"/>
            <a:ext cx="2306876" cy="1273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Руководитель подразделения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00CD6D6-AE47-196C-297B-6DD6B32E3DF3}"/>
              </a:ext>
            </a:extLst>
          </p:cNvPr>
          <p:cNvSpPr/>
          <p:nvPr/>
        </p:nvSpPr>
        <p:spPr>
          <a:xfrm>
            <a:off x="5034084" y="4752720"/>
            <a:ext cx="2306876" cy="1273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Ведущий специалист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476B6C6-894B-A9DA-19B1-DA994CC295B1}"/>
              </a:ext>
            </a:extLst>
          </p:cNvPr>
          <p:cNvSpPr/>
          <p:nvPr/>
        </p:nvSpPr>
        <p:spPr>
          <a:xfrm>
            <a:off x="9091742" y="4752720"/>
            <a:ext cx="2306876" cy="12734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/>
              <a:t>Ведущий специалист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64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4C5663A-0CE3-4AEE-B47E-FB68D9EB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50792-67F6-6B1C-5B77-DF13504DC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807305"/>
          </a:xfrm>
        </p:spPr>
        <p:txBody>
          <a:bodyPr>
            <a:normAutofit/>
          </a:bodyPr>
          <a:lstStyle/>
          <a:p>
            <a:r>
              <a:rPr lang="ru-RU" sz="3100" dirty="0"/>
              <a:t>Отдел документооборота и контроля КФУ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33DFA-EEF4-7D5B-A73B-E0723C790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333297"/>
            <a:ext cx="3816096" cy="38436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err="1">
                <a:ea typeface="+mn-lt"/>
                <a:cs typeface="+mn-lt"/>
              </a:rPr>
              <a:t>Чем</a:t>
            </a:r>
            <a:r>
              <a:rPr lang="en-US" sz="1700" b="1" dirty="0">
                <a:ea typeface="+mn-lt"/>
                <a:cs typeface="+mn-lt"/>
              </a:rPr>
              <a:t> </a:t>
            </a:r>
            <a:r>
              <a:rPr lang="en-US" sz="1700" b="1" err="1">
                <a:ea typeface="+mn-lt"/>
                <a:cs typeface="+mn-lt"/>
              </a:rPr>
              <a:t>занимается</a:t>
            </a:r>
            <a:r>
              <a:rPr lang="en-US" sz="1700" b="1" dirty="0">
                <a:ea typeface="+mn-lt"/>
                <a:cs typeface="+mn-lt"/>
              </a:rPr>
              <a:t> УДК 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 err="1">
                <a:ea typeface="+mn-lt"/>
                <a:cs typeface="+mn-lt"/>
              </a:rPr>
              <a:t>Обеспечивает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формирование</a:t>
            </a:r>
            <a:r>
              <a:rPr lang="en-US" sz="1700" dirty="0">
                <a:ea typeface="+mn-lt"/>
                <a:cs typeface="+mn-lt"/>
              </a:rPr>
              <a:t> и </a:t>
            </a:r>
            <a:r>
              <a:rPr lang="en-US" sz="1700" dirty="0" err="1">
                <a:ea typeface="+mn-lt"/>
                <a:cs typeface="+mn-lt"/>
              </a:rPr>
              <a:t>оформление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дел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dirty="0" err="1">
                <a:ea typeface="+mn-lt"/>
                <a:cs typeface="+mn-lt"/>
              </a:rPr>
              <a:t>описание</a:t>
            </a:r>
            <a:r>
              <a:rPr lang="en-US" sz="1700" dirty="0">
                <a:ea typeface="+mn-lt"/>
                <a:cs typeface="+mn-lt"/>
              </a:rPr>
              <a:t> и </a:t>
            </a:r>
            <a:r>
              <a:rPr lang="en-US" sz="1700" dirty="0" err="1">
                <a:ea typeface="+mn-lt"/>
                <a:cs typeface="+mn-lt"/>
              </a:rPr>
              <a:t>уничтожение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дел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dirty="0" err="1">
                <a:ea typeface="+mn-lt"/>
                <a:cs typeface="+mn-lt"/>
              </a:rPr>
              <a:t>хранение</a:t>
            </a:r>
            <a:r>
              <a:rPr lang="en-US" sz="1700" dirty="0">
                <a:ea typeface="+mn-lt"/>
                <a:cs typeface="+mn-lt"/>
              </a:rPr>
              <a:t> и </a:t>
            </a:r>
            <a:r>
              <a:rPr lang="en-US" sz="1700" dirty="0" err="1">
                <a:ea typeface="+mn-lt"/>
                <a:cs typeface="+mn-lt"/>
              </a:rPr>
              <a:t>использование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дел</a:t>
            </a:r>
            <a:r>
              <a:rPr lang="en-US" sz="1700" dirty="0">
                <a:ea typeface="+mn-lt"/>
                <a:cs typeface="+mn-lt"/>
              </a:rPr>
              <a:t> в </a:t>
            </a:r>
            <a:r>
              <a:rPr lang="en-US" sz="1700" dirty="0" err="1">
                <a:ea typeface="+mn-lt"/>
                <a:cs typeface="+mn-lt"/>
              </a:rPr>
              <a:t>делопроизводстве</a:t>
            </a:r>
            <a:r>
              <a:rPr lang="en-US" sz="1700" dirty="0">
                <a:ea typeface="+mn-lt"/>
                <a:cs typeface="+mn-lt"/>
              </a:rPr>
              <a:t>. </a:t>
            </a:r>
            <a:r>
              <a:rPr lang="en-US" sz="1700" dirty="0" err="1">
                <a:ea typeface="+mn-lt"/>
                <a:cs typeface="+mn-lt"/>
              </a:rPr>
              <a:t>Осуществление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контроля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за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порядком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формирования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дел</a:t>
            </a:r>
            <a:r>
              <a:rPr lang="en-US" sz="1700" dirty="0">
                <a:ea typeface="+mn-lt"/>
                <a:cs typeface="+mn-lt"/>
              </a:rPr>
              <a:t> в </a:t>
            </a:r>
            <a:r>
              <a:rPr lang="en-US" sz="1700" dirty="0" err="1">
                <a:ea typeface="+mn-lt"/>
                <a:cs typeface="+mn-lt"/>
              </a:rPr>
              <a:t>структурных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подразделениях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dirty="0" err="1">
                <a:ea typeface="+mn-lt"/>
                <a:cs typeface="+mn-lt"/>
              </a:rPr>
              <a:t>их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хранением</a:t>
            </a:r>
            <a:r>
              <a:rPr lang="en-US" sz="1700" dirty="0">
                <a:ea typeface="+mn-lt"/>
                <a:cs typeface="+mn-lt"/>
              </a:rPr>
              <a:t> и </a:t>
            </a:r>
            <a:r>
              <a:rPr lang="en-US" sz="1700" dirty="0" err="1">
                <a:ea typeface="+mn-lt"/>
                <a:cs typeface="+mn-lt"/>
              </a:rPr>
              <a:t>использованием</a:t>
            </a:r>
            <a:r>
              <a:rPr lang="en-US" sz="1700" dirty="0">
                <a:ea typeface="+mn-lt"/>
                <a:cs typeface="+mn-lt"/>
              </a:rPr>
              <a:t>. </a:t>
            </a:r>
            <a:r>
              <a:rPr lang="en-US" sz="1700" dirty="0" err="1">
                <a:ea typeface="+mn-lt"/>
                <a:cs typeface="+mn-lt"/>
              </a:rPr>
              <a:t>Организация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работы</a:t>
            </a:r>
            <a:r>
              <a:rPr lang="en-US" sz="1700" dirty="0">
                <a:ea typeface="+mn-lt"/>
                <a:cs typeface="+mn-lt"/>
              </a:rPr>
              <a:t> с </a:t>
            </a:r>
            <a:r>
              <a:rPr lang="en-US" sz="1700" dirty="0" err="1">
                <a:ea typeface="+mn-lt"/>
                <a:cs typeface="+mn-lt"/>
              </a:rPr>
              <a:t>письменными</a:t>
            </a:r>
            <a:r>
              <a:rPr lang="en-US" sz="1700" dirty="0">
                <a:ea typeface="+mn-lt"/>
                <a:cs typeface="+mn-lt"/>
              </a:rPr>
              <a:t> и </a:t>
            </a:r>
            <a:r>
              <a:rPr lang="en-US" sz="1700" dirty="0" err="1">
                <a:ea typeface="+mn-lt"/>
                <a:cs typeface="+mn-lt"/>
              </a:rPr>
              <a:t>электронными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обращениями</a:t>
            </a:r>
            <a:r>
              <a:rPr lang="en-US" sz="1700" dirty="0">
                <a:ea typeface="+mn-lt"/>
                <a:cs typeface="+mn-lt"/>
              </a:rPr>
              <a:t> </a:t>
            </a:r>
            <a:r>
              <a:rPr lang="en-US" sz="1700" dirty="0" err="1">
                <a:ea typeface="+mn-lt"/>
                <a:cs typeface="+mn-lt"/>
              </a:rPr>
              <a:t>граждан</a:t>
            </a:r>
            <a:r>
              <a:rPr lang="en-US" sz="1700" dirty="0">
                <a:ea typeface="+mn-lt"/>
                <a:cs typeface="+mn-lt"/>
              </a:rPr>
              <a:t>.</a:t>
            </a:r>
            <a:endParaRPr lang="en-US" sz="1700" dirty="0"/>
          </a:p>
        </p:txBody>
      </p:sp>
      <p:pic>
        <p:nvPicPr>
          <p:cNvPr id="4" name="Объект 3" descr="Изображение выглядит как в помещении, мебель, одежда, ст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672A570-07F5-6F7E-AD7D-2E59886078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6" r="14455"/>
          <a:stretch/>
        </p:blipFill>
        <p:spPr>
          <a:xfrm>
            <a:off x="4726728" y="10"/>
            <a:ext cx="7472381" cy="6857990"/>
          </a:xfrm>
          <a:custGeom>
            <a:avLst/>
            <a:gdLst/>
            <a:ahLst/>
            <a:cxnLst/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53565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B007E-631C-52C3-92B0-6B6358199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V</a:t>
            </a:r>
            <a:r>
              <a:rPr lang="ru-RU" sz="6600"/>
              <a:t>SM</a:t>
            </a:r>
            <a:endParaRPr lang="ru-RU" sz="6600" dirty="0"/>
          </a:p>
        </p:txBody>
      </p:sp>
      <p:pic>
        <p:nvPicPr>
          <p:cNvPr id="4" name="Объект 3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3A20AC-6E41-7907-EB14-BF5B1C881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972" y="1993812"/>
            <a:ext cx="11450876" cy="462422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Рукописный ввод 26">
                <a:extLst>
                  <a:ext uri="{FF2B5EF4-FFF2-40B4-BE49-F238E27FC236}">
                    <a16:creationId xmlns:a16="http://schemas.microsoft.com/office/drawing/2014/main" id="{334C7B9E-17CA-F262-4B04-63959B38D05F}"/>
                  </a:ext>
                </a:extLst>
              </p14:cNvPr>
              <p14:cNvContentPartPr/>
              <p14:nvPr/>
            </p14:nvContentPartPr>
            <p14:xfrm>
              <a:off x="2495922" y="3668104"/>
              <a:ext cx="2000160" cy="22320"/>
            </p14:xfrm>
          </p:contentPart>
        </mc:Choice>
        <mc:Fallback xmlns="">
          <p:pic>
            <p:nvPicPr>
              <p:cNvPr id="27" name="Рукописный ввод 26">
                <a:extLst>
                  <a:ext uri="{FF2B5EF4-FFF2-40B4-BE49-F238E27FC236}">
                    <a16:creationId xmlns:a16="http://schemas.microsoft.com/office/drawing/2014/main" id="{334C7B9E-17CA-F262-4B04-63959B38D0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1922" y="3560464"/>
                <a:ext cx="21078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50AF9A84-A838-B09E-5763-BE19AA5DA260}"/>
                  </a:ext>
                </a:extLst>
              </p14:cNvPr>
              <p14:cNvContentPartPr/>
              <p14:nvPr/>
            </p14:nvContentPartPr>
            <p14:xfrm>
              <a:off x="3033402" y="6090904"/>
              <a:ext cx="889200" cy="9000"/>
            </p14:xfrm>
          </p:contentPart>
        </mc:Choice>
        <mc:Fallback xmlns=""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50AF9A84-A838-B09E-5763-BE19AA5DA2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79762" y="5983264"/>
                <a:ext cx="9968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Рукописный ввод 30">
                <a:extLst>
                  <a:ext uri="{FF2B5EF4-FFF2-40B4-BE49-F238E27FC236}">
                    <a16:creationId xmlns:a16="http://schemas.microsoft.com/office/drawing/2014/main" id="{E562936D-E1BE-170C-BB7F-561DA440EFCC}"/>
                  </a:ext>
                </a:extLst>
              </p14:cNvPr>
              <p14:cNvContentPartPr/>
              <p14:nvPr/>
            </p14:nvContentPartPr>
            <p14:xfrm>
              <a:off x="7659402" y="3678904"/>
              <a:ext cx="2001240" cy="23040"/>
            </p14:xfrm>
          </p:contentPart>
        </mc:Choice>
        <mc:Fallback xmlns="">
          <p:pic>
            <p:nvPicPr>
              <p:cNvPr id="31" name="Рукописный ввод 30">
                <a:extLst>
                  <a:ext uri="{FF2B5EF4-FFF2-40B4-BE49-F238E27FC236}">
                    <a16:creationId xmlns:a16="http://schemas.microsoft.com/office/drawing/2014/main" id="{E562936D-E1BE-170C-BB7F-561DA440EF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05762" y="3570904"/>
                <a:ext cx="21088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Рукописный ввод 33">
                <a:extLst>
                  <a:ext uri="{FF2B5EF4-FFF2-40B4-BE49-F238E27FC236}">
                    <a16:creationId xmlns:a16="http://schemas.microsoft.com/office/drawing/2014/main" id="{10EE9967-7601-2FDA-058A-740D1028104E}"/>
                  </a:ext>
                </a:extLst>
              </p14:cNvPr>
              <p14:cNvContentPartPr/>
              <p14:nvPr/>
            </p14:nvContentPartPr>
            <p14:xfrm>
              <a:off x="8014362" y="6099184"/>
              <a:ext cx="1333080" cy="33480"/>
            </p14:xfrm>
          </p:contentPart>
        </mc:Choice>
        <mc:Fallback xmlns="">
          <p:pic>
            <p:nvPicPr>
              <p:cNvPr id="34" name="Рукописный ввод 33">
                <a:extLst>
                  <a:ext uri="{FF2B5EF4-FFF2-40B4-BE49-F238E27FC236}">
                    <a16:creationId xmlns:a16="http://schemas.microsoft.com/office/drawing/2014/main" id="{10EE9967-7601-2FDA-058A-740D1028104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60362" y="5991184"/>
                <a:ext cx="1440720" cy="24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943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502D8-E3E3-BC2C-3DF9-13ED80FFB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i="0" dirty="0"/>
              <a:t>SIPOC 1</a:t>
            </a:r>
            <a:endParaRPr lang="ru-RU" dirty="0"/>
          </a:p>
        </p:txBody>
      </p:sp>
      <p:pic>
        <p:nvPicPr>
          <p:cNvPr id="3" name="Объект 2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1A9A25-EFCF-FD4B-AAD0-F0348C85D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763" y="1192171"/>
            <a:ext cx="11470104" cy="5578958"/>
          </a:xfrm>
        </p:spPr>
      </p:pic>
    </p:spTree>
    <p:extLst>
      <p:ext uri="{BB962C8B-B14F-4D97-AF65-F5344CB8AC3E}">
        <p14:creationId xmlns:p14="http://schemas.microsoft.com/office/powerpoint/2010/main" val="1689301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8EC6D-6767-99D0-0E42-42F36DDD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IDF0 (1)</a:t>
            </a:r>
          </a:p>
        </p:txBody>
      </p:sp>
      <p:pic>
        <p:nvPicPr>
          <p:cNvPr id="4" name="Объект 3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EFE439-087A-CA46-17AE-990D54D24A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241" y="1269849"/>
            <a:ext cx="11714602" cy="5433023"/>
          </a:xfrm>
        </p:spPr>
      </p:pic>
    </p:spTree>
    <p:extLst>
      <p:ext uri="{BB962C8B-B14F-4D97-AF65-F5344CB8AC3E}">
        <p14:creationId xmlns:p14="http://schemas.microsoft.com/office/powerpoint/2010/main" val="1254602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48D64-042D-C146-A811-67225AB6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BPMN (1)</a:t>
            </a:r>
          </a:p>
        </p:txBody>
      </p:sp>
      <p:pic>
        <p:nvPicPr>
          <p:cNvPr id="4" name="Объект 3" descr="Изображение выглядит как текст, снимок экрана, диаграмма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4F53B60-AA53-AE17-8133-602D90825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928" y="1199891"/>
            <a:ext cx="11494265" cy="5536216"/>
          </a:xfrm>
        </p:spPr>
      </p:pic>
    </p:spTree>
    <p:extLst>
      <p:ext uri="{BB962C8B-B14F-4D97-AF65-F5344CB8AC3E}">
        <p14:creationId xmlns:p14="http://schemas.microsoft.com/office/powerpoint/2010/main" val="2729432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3B2C9-965F-7216-7703-E0F08F3C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EPC 1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423A615-9694-4DC1-BBAB-0B3A4BE15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622" y="789933"/>
            <a:ext cx="7315199" cy="5889163"/>
          </a:xfrm>
        </p:spPr>
      </p:pic>
    </p:spTree>
    <p:extLst>
      <p:ext uri="{BB962C8B-B14F-4D97-AF65-F5344CB8AC3E}">
        <p14:creationId xmlns:p14="http://schemas.microsoft.com/office/powerpoint/2010/main" val="4206109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E0EEA-021E-8750-62BF-9E7D1F43A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i="0" dirty="0"/>
              <a:t>SIPOC 2</a:t>
            </a:r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0E4725-E007-F332-B475-B16FF341A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446" y="1283936"/>
            <a:ext cx="10438481" cy="5441573"/>
          </a:xfrm>
        </p:spPr>
      </p:pic>
    </p:spTree>
    <p:extLst>
      <p:ext uri="{BB962C8B-B14F-4D97-AF65-F5344CB8AC3E}">
        <p14:creationId xmlns:p14="http://schemas.microsoft.com/office/powerpoint/2010/main" val="817514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89904-6468-E0DE-8D6E-099CAB13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IDF0 (2)</a:t>
            </a:r>
          </a:p>
        </p:txBody>
      </p:sp>
      <p:pic>
        <p:nvPicPr>
          <p:cNvPr id="4" name="Объект 3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5696762-ED9A-3C48-7644-2DFE82BEE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879" y="1255781"/>
            <a:ext cx="11852312" cy="5479521"/>
          </a:xfrm>
        </p:spPr>
      </p:pic>
    </p:spTree>
    <p:extLst>
      <p:ext uri="{BB962C8B-B14F-4D97-AF65-F5344CB8AC3E}">
        <p14:creationId xmlns:p14="http://schemas.microsoft.com/office/powerpoint/2010/main" val="1709230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DAB93-9369-38AD-9FAA-C24A8002B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BPMN(2)</a:t>
            </a:r>
          </a:p>
        </p:txBody>
      </p:sp>
      <p:pic>
        <p:nvPicPr>
          <p:cNvPr id="4" name="Объект 3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FD22C2-786C-D4AE-B048-39D0C7369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675" y="1362080"/>
            <a:ext cx="11751324" cy="5294465"/>
          </a:xfrm>
        </p:spPr>
      </p:pic>
    </p:spTree>
    <p:extLst>
      <p:ext uri="{BB962C8B-B14F-4D97-AF65-F5344CB8AC3E}">
        <p14:creationId xmlns:p14="http://schemas.microsoft.com/office/powerpoint/2010/main" val="2598949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C9A2B4-56FF-4409-A3A9-682952BB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EPC 2</a:t>
            </a:r>
          </a:p>
        </p:txBody>
      </p:sp>
      <p:pic>
        <p:nvPicPr>
          <p:cNvPr id="4" name="Объект 3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FC4A08-342F-F456-00D7-B7D135CE3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5682" y="79046"/>
            <a:ext cx="8668949" cy="6575232"/>
          </a:xfrm>
        </p:spPr>
      </p:pic>
    </p:spTree>
    <p:extLst>
      <p:ext uri="{BB962C8B-B14F-4D97-AF65-F5344CB8AC3E}">
        <p14:creationId xmlns:p14="http://schemas.microsoft.com/office/powerpoint/2010/main" val="2975146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07142-3C07-3929-980B-FB836F50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Возможность автоматизации процесса составления протокола совещания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4FC5DB-06E9-AD1E-1642-AFD1DB2CA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79"/>
            <a:ext cx="10515600" cy="4581625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ru-RU" sz="2400" dirty="0"/>
              <a:t>Была рассмотрела идея по автоматизации процесса составления протокола совещания. Она заключалась в следующем:  </a:t>
            </a:r>
            <a:r>
              <a:rPr lang="ru-RU" sz="2400" b="1" dirty="0"/>
              <a:t>внедрить программу, которая создавала бы звуковую запись и автоматически переводила ее в текст для упрощения работы ведущего специалиста и сокращения времени.</a:t>
            </a:r>
          </a:p>
          <a:p>
            <a:pPr marL="0" indent="0" algn="just">
              <a:buNone/>
            </a:pPr>
            <a:r>
              <a:rPr lang="ru-RU" sz="2400" dirty="0"/>
              <a:t>Однако, выдвинутая идея показалась не эффективной ввиду того, что при использовании голосового ввода текста допускаются многочисленные ошибки в словах, отсутствует пунктуация при автоматическом переводе информации в текстовый вид, могут быть пропущены некоторые слова и т.п. Иными словами, такой способ автоматизации является несовершенным и создает больше потерь времени в процессе постобработки такой информации и затрудняет процесс составления протокола. </a:t>
            </a:r>
          </a:p>
          <a:p>
            <a:pPr marL="0" indent="0" algn="just">
              <a:buNone/>
            </a:pPr>
            <a:r>
              <a:rPr lang="ru-RU" sz="2400" dirty="0"/>
              <a:t>Таким образом, можно сделать вывод о том, что форма процесса, в которой он воплощается сейчас (</a:t>
            </a:r>
            <a:r>
              <a:rPr lang="ru-RU" sz="2400" dirty="0" err="1"/>
              <a:t>as</a:t>
            </a:r>
            <a:r>
              <a:rPr lang="ru-RU" sz="2400" dirty="0"/>
              <a:t> </a:t>
            </a:r>
            <a:r>
              <a:rPr lang="ru-RU" sz="2400" dirty="0" err="1"/>
              <a:t>is</a:t>
            </a:r>
            <a:r>
              <a:rPr lang="ru-RU" sz="2400" dirty="0"/>
              <a:t>), является наиболее оптимальной и эффективной.</a:t>
            </a:r>
          </a:p>
        </p:txBody>
      </p:sp>
    </p:spTree>
    <p:extLst>
      <p:ext uri="{BB962C8B-B14F-4D97-AF65-F5344CB8AC3E}">
        <p14:creationId xmlns:p14="http://schemas.microsoft.com/office/powerpoint/2010/main" val="2834109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1C9F5-B8AE-1E49-E140-5C896AD1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35244" cy="626194"/>
          </a:xfrm>
        </p:spPr>
        <p:txBody>
          <a:bodyPr>
            <a:normAutofit fontScale="90000"/>
          </a:bodyPr>
          <a:lstStyle/>
          <a:p>
            <a:r>
              <a:rPr lang="ru-RU" i="0" dirty="0">
                <a:ea typeface="+mj-lt"/>
                <a:cs typeface="+mj-lt"/>
              </a:rPr>
              <a:t>SIPOC 3</a:t>
            </a:r>
            <a:endParaRPr lang="ru-RU" dirty="0">
              <a:ea typeface="+mj-lt"/>
              <a:cs typeface="+mj-lt"/>
            </a:endParaRPr>
          </a:p>
        </p:txBody>
      </p:sp>
      <p:sp>
        <p:nvSpPr>
          <p:cNvPr id="15" name="Объект 14">
            <a:extLst>
              <a:ext uri="{FF2B5EF4-FFF2-40B4-BE49-F238E27FC236}">
                <a16:creationId xmlns:a16="http://schemas.microsoft.com/office/drawing/2014/main" id="{02785E22-F6E6-A388-452D-F9E044B3B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033" y="161414"/>
            <a:ext cx="10515600" cy="6622843"/>
          </a:xfrm>
        </p:spPr>
        <p:txBody>
          <a:bodyPr/>
          <a:lstStyle/>
          <a:p>
            <a:r>
              <a:rPr lang="ru-RU" dirty="0"/>
              <a:t>.</a:t>
            </a:r>
          </a:p>
        </p:txBody>
      </p:sp>
      <p:sp>
        <p:nvSpPr>
          <p:cNvPr id="21" name="Стрелка: пятиугольник 1">
            <a:extLst>
              <a:ext uri="{FF2B5EF4-FFF2-40B4-BE49-F238E27FC236}">
                <a16:creationId xmlns:a16="http://schemas.microsoft.com/office/drawing/2014/main" id="{92AE035A-9D75-D165-F773-8E155F169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23" y="73743"/>
            <a:ext cx="1570038" cy="461794"/>
          </a:xfrm>
          <a:prstGeom prst="homePlate">
            <a:avLst>
              <a:gd name="adj" fmla="val 50058"/>
            </a:avLst>
          </a:prstGeom>
          <a:noFill/>
          <a:ln w="127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Процесс</a:t>
            </a:r>
            <a:endParaRPr kumimoji="0" lang="ru-RU" alt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0F2A5E77-6488-5116-82D9-A76C987C6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986" y="691410"/>
            <a:ext cx="1577975" cy="457201"/>
          </a:xfrm>
          <a:prstGeom prst="homePlate">
            <a:avLst>
              <a:gd name="adj" fmla="val 50063"/>
            </a:avLst>
          </a:prstGeom>
          <a:noFill/>
          <a:ln w="127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Начало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Прямоугольник: скругленные углы 2">
            <a:extLst>
              <a:ext uri="{FF2B5EF4-FFF2-40B4-BE49-F238E27FC236}">
                <a16:creationId xmlns:a16="http://schemas.microsoft.com/office/drawing/2014/main" id="{9DDD5662-854B-8875-99E6-CA30F32D1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534" y="1286462"/>
            <a:ext cx="1722438" cy="724729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шаг. Поступление положения, приказа в СЭД «Практика» </a:t>
            </a:r>
            <a:endParaRPr kumimoji="0" lang="ru-RU" altLang="ru-RU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AutoShape 1">
            <a:extLst>
              <a:ext uri="{FF2B5EF4-FFF2-40B4-BE49-F238E27FC236}">
                <a16:creationId xmlns:a16="http://schemas.microsoft.com/office/drawing/2014/main" id="{1B775CB5-8EAA-4E7A-F7EE-CC3F573D6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608" y="2130230"/>
            <a:ext cx="1757352" cy="1034897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шаг. Скачивание файла, необходимого для проверки актуальности по тексту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AutoShape 17">
            <a:extLst>
              <a:ext uri="{FF2B5EF4-FFF2-40B4-BE49-F238E27FC236}">
                <a16:creationId xmlns:a16="http://schemas.microsoft.com/office/drawing/2014/main" id="{EBF29352-3A7F-F77F-6734-BA955310B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523" y="4318829"/>
            <a:ext cx="1722438" cy="993537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 шаг. Прикрепление документа в СЭД с комментарием/одобрением/отменой заявки по документу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2">
            <a:extLst>
              <a:ext uri="{FF2B5EF4-FFF2-40B4-BE49-F238E27FC236}">
                <a16:creationId xmlns:a16="http://schemas.microsoft.com/office/drawing/2014/main" id="{D431145B-0772-2E82-1A11-D437D5828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205" y="3279415"/>
            <a:ext cx="1722437" cy="901563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шаг. Проверка текста приказов, распоряжений, писей в 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Word</a:t>
            </a:r>
            <a:endParaRPr kumimoji="0" lang="en-US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0A1F1961-3F3A-58A5-1BB3-0A6D0687C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523" y="5524352"/>
            <a:ext cx="1722437" cy="795425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шаг. Передача документов  исполнителю после рассмотрения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Стрелка: пятиугольник 5">
            <a:extLst>
              <a:ext uri="{FF2B5EF4-FFF2-40B4-BE49-F238E27FC236}">
                <a16:creationId xmlns:a16="http://schemas.microsoft.com/office/drawing/2014/main" id="{A6F3DE4B-AB3B-A7BF-EF9E-5F0133AB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7699" y="84497"/>
            <a:ext cx="1317625" cy="593725"/>
          </a:xfrm>
          <a:prstGeom prst="homePlate">
            <a:avLst>
              <a:gd name="adj" fmla="val 50026"/>
            </a:avLst>
          </a:prstGeom>
          <a:noFill/>
          <a:ln w="127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Поставщики</a:t>
            </a:r>
            <a:endParaRPr kumimoji="0" lang="ru-RU" alt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AutoShape 15">
            <a:extLst>
              <a:ext uri="{FF2B5EF4-FFF2-40B4-BE49-F238E27FC236}">
                <a16:creationId xmlns:a16="http://schemas.microsoft.com/office/drawing/2014/main" id="{8C032F65-71F0-25E7-DF26-ECB4A2A28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67186"/>
            <a:ext cx="1317625" cy="593725"/>
          </a:xfrm>
          <a:prstGeom prst="homePlate">
            <a:avLst>
              <a:gd name="adj" fmla="val 50026"/>
            </a:avLst>
          </a:prstGeom>
          <a:noFill/>
          <a:ln w="127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Входы</a:t>
            </a: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205FB09F-2952-B3ED-07F9-6E5D91C2E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591" y="7777"/>
            <a:ext cx="1317625" cy="593725"/>
          </a:xfrm>
          <a:prstGeom prst="homePlate">
            <a:avLst>
              <a:gd name="adj" fmla="val 50026"/>
            </a:avLst>
          </a:prstGeom>
          <a:noFill/>
          <a:ln w="127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Результаты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AutoShape 14">
            <a:extLst>
              <a:ext uri="{FF2B5EF4-FFF2-40B4-BE49-F238E27FC236}">
                <a16:creationId xmlns:a16="http://schemas.microsoft.com/office/drawing/2014/main" id="{79376347-9DD7-0767-8C8A-C50E82ED0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7991" y="0"/>
            <a:ext cx="1317625" cy="593725"/>
          </a:xfrm>
          <a:prstGeom prst="homePlate">
            <a:avLst>
              <a:gd name="adj" fmla="val 50026"/>
            </a:avLst>
          </a:prstGeom>
          <a:noFill/>
          <a:ln w="12700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Клиенты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Прямоугольник 6">
            <a:extLst>
              <a:ext uri="{FF2B5EF4-FFF2-40B4-BE49-F238E27FC236}">
                <a16:creationId xmlns:a16="http://schemas.microsoft.com/office/drawing/2014/main" id="{AD51DD0D-5579-D297-AA49-A9D0F447D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1073516"/>
            <a:ext cx="1311276" cy="563563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МинОбр</a:t>
            </a: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11">
            <a:extLst>
              <a:ext uri="{FF2B5EF4-FFF2-40B4-BE49-F238E27FC236}">
                <a16:creationId xmlns:a16="http://schemas.microsoft.com/office/drawing/2014/main" id="{58428D29-BE4B-8B0A-5478-EA9A3D1A0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558" y="1052236"/>
            <a:ext cx="1311275" cy="1889125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Отправленные заявки/приказы/положения для их рассмотрения и ознакомления, дальнейшего отправления в подразделения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47E0AF0A-DB2E-BBC2-295E-6D8AA59A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875" y="1012362"/>
            <a:ext cx="1311275" cy="1112837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Рассмотренные, отредактированные заявки согласно уставу КФУ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322E7C2B-FFE6-3C3D-EDCC-45045ABE4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2002" y="979138"/>
            <a:ext cx="1311275" cy="563563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Структурные подразделения</a:t>
            </a:r>
            <a:endParaRPr kumimoji="0" lang="ru-RU" altLang="ru-RU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316933FC-67E8-8541-70BB-0F7861D33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4049" y="1864015"/>
            <a:ext cx="1311275" cy="563562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Мин.Культуры</a:t>
            </a:r>
            <a:endParaRPr kumimoji="0" lang="ru-RU" alt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4335A43A-4D4A-5B36-5EA7-D627C4058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7699" y="2748956"/>
            <a:ext cx="1311276" cy="563563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Деревня Универсиады</a:t>
            </a:r>
            <a:endParaRPr kumimoji="0" lang="ru-RU" alt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1CADB31E-A0CB-8CAC-4924-6D9C2D96C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3571401"/>
            <a:ext cx="1311276" cy="563562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КФУ</a:t>
            </a:r>
            <a:endParaRPr kumimoji="0" lang="ru-RU" alt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061D7D9E-5DA5-7F93-AC3F-E7B4DE340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46" y="3467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494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9F6AA-C39E-00AA-4121-D1BA3BA5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IDF0 (3)</a:t>
            </a:r>
          </a:p>
        </p:txBody>
      </p:sp>
      <p:pic>
        <p:nvPicPr>
          <p:cNvPr id="4" name="Объект 3" descr="Изображение выглядит как диаграмма, текст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23558C-510C-F8B3-F4EB-F22A8D4FD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338" y="1222711"/>
            <a:ext cx="11751325" cy="5325323"/>
          </a:xfrm>
        </p:spPr>
      </p:pic>
    </p:spTree>
    <p:extLst>
      <p:ext uri="{BB962C8B-B14F-4D97-AF65-F5344CB8AC3E}">
        <p14:creationId xmlns:p14="http://schemas.microsoft.com/office/powerpoint/2010/main" val="1030438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0536F-3125-B9B1-2F22-92FF28B5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BPMN </a:t>
            </a:r>
            <a:r>
              <a:rPr lang="ru-RU" i="0" dirty="0">
                <a:ea typeface="+mj-lt"/>
                <a:cs typeface="+mj-lt"/>
              </a:rPr>
              <a:t>AS IS</a:t>
            </a:r>
            <a:endParaRPr lang="ru-RU" dirty="0">
              <a:ea typeface="+mj-lt"/>
              <a:cs typeface="+mj-lt"/>
            </a:endParaRPr>
          </a:p>
        </p:txBody>
      </p:sp>
      <p:pic>
        <p:nvPicPr>
          <p:cNvPr id="4" name="Объект 3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FC0AB7-51F6-C338-720E-27F4FE44D2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1176" y="1373528"/>
            <a:ext cx="10913600" cy="4702366"/>
          </a:xfrm>
        </p:spPr>
      </p:pic>
    </p:spTree>
    <p:extLst>
      <p:ext uri="{BB962C8B-B14F-4D97-AF65-F5344CB8AC3E}">
        <p14:creationId xmlns:p14="http://schemas.microsoft.com/office/powerpoint/2010/main" val="473697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B18B24-C3BF-B53A-BE91-A5415DC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BPMN </a:t>
            </a:r>
            <a:r>
              <a:rPr lang="ru-RU" dirty="0">
                <a:ea typeface="+mj-lt"/>
                <a:cs typeface="+mj-lt"/>
              </a:rPr>
              <a:t> </a:t>
            </a:r>
            <a:r>
              <a:rPr lang="ru-RU" i="0" dirty="0">
                <a:ea typeface="+mj-lt"/>
                <a:cs typeface="+mj-lt"/>
              </a:rPr>
              <a:t>TO BE</a:t>
            </a:r>
            <a:endParaRPr lang="ru-RU" dirty="0"/>
          </a:p>
        </p:txBody>
      </p:sp>
      <p:pic>
        <p:nvPicPr>
          <p:cNvPr id="4" name="Объект 3" descr="Изображение выглядит как текст, снимок экрана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1B0976-4353-D1B6-DF1F-21D86F60A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021" y="1364347"/>
            <a:ext cx="11870321" cy="4996149"/>
          </a:xfrm>
        </p:spPr>
      </p:pic>
    </p:spTree>
    <p:extLst>
      <p:ext uri="{BB962C8B-B14F-4D97-AF65-F5344CB8AC3E}">
        <p14:creationId xmlns:p14="http://schemas.microsoft.com/office/powerpoint/2010/main" val="3851396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D3FD53-CCA7-94A1-1648-94843CDE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i="0" dirty="0">
                <a:ea typeface="Roboto"/>
                <a:cs typeface="Roboto"/>
              </a:rPr>
              <a:t>AS IS / TO BE</a:t>
            </a:r>
            <a:endParaRPr lang="ru-RU" sz="28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F0A3F9-F133-B9CB-2CB6-0D743DE41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000" dirty="0">
                <a:latin typeface="+mj-lt"/>
                <a:ea typeface="Roboto"/>
                <a:cs typeface="Roboto"/>
              </a:rPr>
              <a:t>AS IS - руководитель подразделения проверяет приказы и положения, поступившие от управляющего органа и сотрудников КФУ. Процесс занимает большое количество времени и перепроверок, сотрудники КФУ часто составляют приказы или положения без должного внимания, допуская большое количество ошибок в орфографии и речевых оборотах.</a:t>
            </a:r>
          </a:p>
          <a:p>
            <a:pPr marL="0" indent="0" algn="just">
              <a:buNone/>
            </a:pPr>
            <a:br>
              <a:rPr lang="ru-RU" sz="2000" dirty="0">
                <a:latin typeface="+mj-lt"/>
                <a:ea typeface="Roboto"/>
                <a:cs typeface="Roboto"/>
              </a:rPr>
            </a:br>
            <a:r>
              <a:rPr lang="ru-RU" sz="2000" dirty="0">
                <a:latin typeface="+mj-lt"/>
                <a:ea typeface="Roboto"/>
                <a:cs typeface="Roboto"/>
              </a:rPr>
              <a:t>TO BE - исходя из модернизированного подхода в 2 нотациях, мы решили внедрить встроенный текстовый редактор - </a:t>
            </a:r>
            <a:r>
              <a:rPr lang="ru-RU" sz="2000" dirty="0" err="1">
                <a:latin typeface="+mj-lt"/>
                <a:ea typeface="Roboto"/>
                <a:cs typeface="Roboto"/>
              </a:rPr>
              <a:t>Орфограммка</a:t>
            </a:r>
            <a:r>
              <a:rPr lang="ru-RU" sz="2000" dirty="0">
                <a:latin typeface="+mj-lt"/>
                <a:ea typeface="Roboto"/>
                <a:cs typeface="Roboto"/>
              </a:rPr>
              <a:t> в WORD, чтобы на корню сотрудникам КФУ избавиться от лишних замечаний и корректировок. Редактор выделяет смысловые, юридические и орфографические ошибки. Тем самым руководитель подразделения не тратит время на излишнюю проверку, а лишь согласовывает уже окончательный и обработанный вариант приказа от сотрудника.</a:t>
            </a: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2899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F6D61E-340F-DC39-90D8-1913EACC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829"/>
          </a:xfrm>
        </p:spPr>
        <p:txBody>
          <a:bodyPr>
            <a:normAutofit fontScale="90000"/>
          </a:bodyPr>
          <a:lstStyle/>
          <a:p>
            <a:r>
              <a:rPr lang="ru-RU" dirty="0"/>
              <a:t>EPC 3</a:t>
            </a:r>
          </a:p>
        </p:txBody>
      </p:sp>
      <p:pic>
        <p:nvPicPr>
          <p:cNvPr id="4" name="Объект 3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6F5B0F-866F-E40C-96CF-2372B1843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120" y="831865"/>
            <a:ext cx="5042434" cy="6024390"/>
          </a:xfrm>
        </p:spPr>
      </p:pic>
      <p:pic>
        <p:nvPicPr>
          <p:cNvPr id="5" name="Рисунок 4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93B1BE-5513-CDA7-A8A7-B296F3D33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771" y="367230"/>
            <a:ext cx="5350748" cy="629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88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BA274-C0C4-31F5-EB0D-4FF7FD6B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92853" cy="1325563"/>
          </a:xfrm>
        </p:spPr>
        <p:txBody>
          <a:bodyPr>
            <a:normAutofit/>
          </a:bodyPr>
          <a:lstStyle/>
          <a:p>
            <a:r>
              <a:rPr lang="ru-RU" sz="3600" dirty="0"/>
              <a:t>Пять «Почему?» ( для выявления коренных причин)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50EA97E-90D0-0469-00FC-7F49566EE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4385082"/>
              </p:ext>
            </p:extLst>
          </p:nvPr>
        </p:nvGraphicFramePr>
        <p:xfrm>
          <a:off x="838200" y="1917032"/>
          <a:ext cx="10515600" cy="3939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1189">
                  <a:extLst>
                    <a:ext uri="{9D8B030D-6E8A-4147-A177-3AD203B41FA5}">
                      <a16:colId xmlns:a16="http://schemas.microsoft.com/office/drawing/2014/main" val="2659973228"/>
                    </a:ext>
                  </a:extLst>
                </a:gridCol>
                <a:gridCol w="7014411">
                  <a:extLst>
                    <a:ext uri="{9D8B030D-6E8A-4147-A177-3AD203B41FA5}">
                      <a16:colId xmlns:a16="http://schemas.microsoft.com/office/drawing/2014/main" val="2297774164"/>
                    </a:ext>
                  </a:extLst>
                </a:gridCol>
              </a:tblGrid>
              <a:tr h="465171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Проблема: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Потери времени на </a:t>
                      </a:r>
                      <a:r>
                        <a:rPr lang="ru-RU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переобработку</a:t>
                      </a:r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9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Почему происходят потери на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переобработку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Потому что руководитель вчитывается в каждую строчку документов и тратит время на поиск в интернете правильных формулировок и написания слов/выражений.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212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Почему?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Потому что ведущие специалисты неверно формулируют приказы.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5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Почему?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Потому что специалисты не следуют правилам оформления приказов.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75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Почему?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Потому что не внедрена автоматическая система в виде справочника для проверки содержания приказов.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11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Почему?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Потому что это требует ресурсов (человеческих, финансовых, временных).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98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324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1698F-C394-2CB1-1616-ED00C84D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28" y="578242"/>
            <a:ext cx="10515600" cy="699746"/>
          </a:xfrm>
        </p:spPr>
        <p:txBody>
          <a:bodyPr/>
          <a:lstStyle/>
          <a:p>
            <a:r>
              <a:rPr lang="ru-RU" dirty="0"/>
              <a:t>Анализ шагов процессов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68BB52A-8D5B-4204-08D4-166884620F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026075"/>
              </p:ext>
            </p:extLst>
          </p:nvPr>
        </p:nvGraphicFramePr>
        <p:xfrm>
          <a:off x="449179" y="1676400"/>
          <a:ext cx="11293641" cy="4356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7516">
                  <a:extLst>
                    <a:ext uri="{9D8B030D-6E8A-4147-A177-3AD203B41FA5}">
                      <a16:colId xmlns:a16="http://schemas.microsoft.com/office/drawing/2014/main" val="1200413139"/>
                    </a:ext>
                  </a:extLst>
                </a:gridCol>
                <a:gridCol w="3545305">
                  <a:extLst>
                    <a:ext uri="{9D8B030D-6E8A-4147-A177-3AD203B41FA5}">
                      <a16:colId xmlns:a16="http://schemas.microsoft.com/office/drawing/2014/main" val="2244879877"/>
                    </a:ext>
                  </a:extLst>
                </a:gridCol>
                <a:gridCol w="3360820">
                  <a:extLst>
                    <a:ext uri="{9D8B030D-6E8A-4147-A177-3AD203B41FA5}">
                      <a16:colId xmlns:a16="http://schemas.microsoft.com/office/drawing/2014/main" val="2652226849"/>
                    </a:ext>
                  </a:extLst>
                </a:gridCol>
              </a:tblGrid>
              <a:tr h="474571">
                <a:tc>
                  <a:txBody>
                    <a:bodyPr/>
                    <a:lstStyle/>
                    <a:p>
                      <a:pPr rtl="0" fontAlgn="b"/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Открытие положения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20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CVA</a:t>
                      </a:r>
                      <a:endParaRPr lang="ru-RU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025172"/>
                  </a:ext>
                </a:extLst>
              </a:tr>
              <a:tr h="520056">
                <a:tc>
                  <a:txBody>
                    <a:bodyPr/>
                    <a:lstStyle/>
                    <a:p>
                      <a:pPr rtl="0" fontAlgn="b"/>
                      <a:r>
                        <a:rPr lang="ru-RU" sz="1800" dirty="0">
                          <a:effectLst/>
                        </a:rPr>
                        <a:t>Скачивание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2000" dirty="0">
                          <a:effectLst/>
                        </a:rPr>
                        <a:t>2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NBA</a:t>
                      </a:r>
                      <a:endParaRPr lang="ru-RU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399754"/>
                  </a:ext>
                </a:extLst>
              </a:tr>
              <a:tr h="748026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Чтение документа, проверка на грамматические ошибки, написание замечаний прямо в WORD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effectLst/>
                        </a:rPr>
                        <a:t>1140</a:t>
                      </a:r>
                      <a:endParaRPr lang="ru-RU" sz="200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CVA</a:t>
                      </a:r>
                      <a:endParaRPr lang="ru-RU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565515"/>
                  </a:ext>
                </a:extLst>
              </a:tr>
              <a:tr h="520056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Поиск документа, на который ссылались в прошлом документе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2000" dirty="0">
                          <a:effectLst/>
                        </a:rPr>
                        <a:t>180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BNVA</a:t>
                      </a:r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759134"/>
                  </a:ext>
                </a:extLst>
              </a:tr>
              <a:tr h="520056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Продолжение чтения документа в Word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2000" dirty="0">
                          <a:effectLst/>
                        </a:rPr>
                        <a:t>231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BNVA</a:t>
                      </a:r>
                      <a:endParaRPr lang="ru-RU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360598"/>
                  </a:ext>
                </a:extLst>
              </a:tr>
              <a:tr h="520056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Письменный комментарий в </a:t>
                      </a:r>
                      <a:r>
                        <a:rPr lang="ru-RU" sz="1600" dirty="0" err="1">
                          <a:effectLst/>
                        </a:rPr>
                        <a:t>сэд</a:t>
                      </a:r>
                      <a:r>
                        <a:rPr lang="ru-RU" sz="1600" dirty="0">
                          <a:effectLst/>
                        </a:rPr>
                        <a:t> с замечаниями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2000" dirty="0">
                          <a:effectLst/>
                        </a:rPr>
                        <a:t>60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CVA</a:t>
                      </a:r>
                      <a:endParaRPr lang="ru-RU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040584"/>
                  </a:ext>
                </a:extLst>
              </a:tr>
              <a:tr h="520056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effectLst/>
                        </a:rPr>
                        <a:t>Прикрепление документа в СЭД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2000" dirty="0">
                          <a:effectLst/>
                        </a:rPr>
                        <a:t>60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CVA</a:t>
                      </a:r>
                      <a:endParaRPr lang="ru-RU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85078"/>
                  </a:ext>
                </a:extLst>
              </a:tr>
              <a:tr h="520056">
                <a:tc>
                  <a:txBody>
                    <a:bodyPr/>
                    <a:lstStyle/>
                    <a:p>
                      <a:r>
                        <a:rPr lang="en-US" dirty="0"/>
                        <a:t>CVA=57%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BNVA=29%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NBA=14%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9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672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F499F-067F-D61E-3D05-F0A6EBBE6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Паспорт проекта по улучшению  процесса 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33AC514-C95C-7C78-FBAB-308F432848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875478"/>
              </p:ext>
            </p:extLst>
          </p:nvPr>
        </p:nvGraphicFramePr>
        <p:xfrm>
          <a:off x="912394" y="1907090"/>
          <a:ext cx="10367212" cy="4145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606">
                  <a:extLst>
                    <a:ext uri="{9D8B030D-6E8A-4147-A177-3AD203B41FA5}">
                      <a16:colId xmlns:a16="http://schemas.microsoft.com/office/drawing/2014/main" val="2266381662"/>
                    </a:ext>
                  </a:extLst>
                </a:gridCol>
                <a:gridCol w="5183606">
                  <a:extLst>
                    <a:ext uri="{9D8B030D-6E8A-4147-A177-3AD203B41FA5}">
                      <a16:colId xmlns:a16="http://schemas.microsoft.com/office/drawing/2014/main" val="1806226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ПОДРАЗДЕЛЕНИЕ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ОТДЕЛ УПРАВЛЕНИЯ ДОКУМЕНТООБОРОТА И КОНТРОЛЯ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17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РЕЗУЛЬТАТ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Разработанные предложения по оптимизации процесса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50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 МАРТА - 5 МАЯ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431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РИСКИ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entury Gothic"/>
                        </a:rPr>
                        <a:t>ОГРАНИЧЕННЫЕ ВОЗМОЖНОСТИ АВТОМАТИЗАЦИИ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784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ЗАКАЗЧИК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КФУ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260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КУРАТОР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ЛУКИШИНА Л.В., САДРИЕВ А.Р.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624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РУКОВОДИТЕЛЬ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ГИРФАНОВА АДЕЛЯ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75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УЧАСТНИК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АДЕЛЯ, МАРИЯ, АЛИНА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43546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dirty="0"/>
                        <a:t>АДМИНИСТРАТОР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dirty="0"/>
                        <a:t>МИТЧЕНКО МАРИЯ, МИНЯЗЕВА АЛИНА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525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815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DA12A-37C2-B551-9812-5596619BF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2266"/>
          </a:xfrm>
        </p:spPr>
        <p:txBody>
          <a:bodyPr/>
          <a:lstStyle/>
          <a:p>
            <a:r>
              <a:rPr lang="ru-RU" dirty="0"/>
              <a:t>План внедрения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0FAAAE-6A4C-9E47-9EDC-D9BD49905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391"/>
            <a:ext cx="10808368" cy="525404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ru-RU" sz="7200" b="1" dirty="0">
                <a:ea typeface="Calibri"/>
                <a:cs typeface="Calibri"/>
              </a:rPr>
              <a:t>1.Подготовительный этап. </a:t>
            </a:r>
            <a:endParaRPr lang="ru-RU" sz="72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ru-RU" sz="7200" dirty="0">
                <a:ea typeface="+mn-lt"/>
                <a:cs typeface="+mn-lt"/>
              </a:rPr>
              <a:t>- Определение сотрудников, нуждающихся в программе "</a:t>
            </a:r>
            <a:r>
              <a:rPr lang="ru-RU" sz="7200" dirty="0" err="1">
                <a:ea typeface="+mn-lt"/>
                <a:cs typeface="+mn-lt"/>
              </a:rPr>
              <a:t>Орфограммка</a:t>
            </a:r>
            <a:r>
              <a:rPr lang="ru-RU" sz="7200" dirty="0">
                <a:ea typeface="+mn-lt"/>
                <a:cs typeface="+mn-lt"/>
              </a:rPr>
              <a:t>".</a:t>
            </a:r>
            <a:endParaRPr lang="ru-RU" sz="72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200" b="1" dirty="0">
                <a:ea typeface="Roboto"/>
                <a:cs typeface="Roboto"/>
              </a:rPr>
              <a:t>2. Подготовка </a:t>
            </a:r>
            <a:r>
              <a:rPr lang="en-US" sz="7200" b="1" dirty="0" err="1">
                <a:ea typeface="Roboto"/>
                <a:cs typeface="Roboto"/>
              </a:rPr>
              <a:t>технической</a:t>
            </a:r>
            <a:r>
              <a:rPr lang="en-US" sz="7200" b="1" dirty="0">
                <a:ea typeface="Roboto"/>
                <a:cs typeface="Roboto"/>
              </a:rPr>
              <a:t> </a:t>
            </a:r>
            <a:r>
              <a:rPr lang="en-US" sz="7200" b="1" dirty="0" err="1">
                <a:ea typeface="Roboto"/>
                <a:cs typeface="Roboto"/>
              </a:rPr>
              <a:t>базы</a:t>
            </a:r>
            <a:r>
              <a:rPr lang="en-US" sz="7200" b="1" dirty="0">
                <a:ea typeface="Roboto"/>
                <a:cs typeface="Roboto"/>
              </a:rPr>
              <a:t>.</a:t>
            </a:r>
            <a:br>
              <a:rPr lang="en-US" sz="7200" dirty="0">
                <a:ea typeface="Roboto"/>
                <a:cs typeface="Roboto"/>
              </a:rPr>
            </a:br>
            <a:r>
              <a:rPr lang="en-US" sz="7200" dirty="0">
                <a:ea typeface="Roboto"/>
                <a:cs typeface="Roboto"/>
              </a:rPr>
              <a:t>- </a:t>
            </a:r>
            <a:r>
              <a:rPr lang="en-US" sz="7200" dirty="0" err="1">
                <a:ea typeface="Roboto"/>
                <a:cs typeface="Roboto"/>
              </a:rPr>
              <a:t>Обновление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программного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обеспечения</a:t>
            </a:r>
            <a:r>
              <a:rPr lang="en-US" sz="7200" dirty="0">
                <a:ea typeface="Roboto"/>
                <a:cs typeface="Roboto"/>
              </a:rPr>
              <a:t>: </a:t>
            </a:r>
            <a:r>
              <a:rPr lang="en-US" sz="7200" dirty="0" err="1">
                <a:ea typeface="Roboto"/>
                <a:cs typeface="Roboto"/>
              </a:rPr>
              <a:t>убедиться</a:t>
            </a:r>
            <a:r>
              <a:rPr lang="en-US" sz="7200" dirty="0">
                <a:ea typeface="Roboto"/>
                <a:cs typeface="Roboto"/>
              </a:rPr>
              <a:t>, </a:t>
            </a:r>
            <a:r>
              <a:rPr lang="en-US" sz="7200" dirty="0" err="1">
                <a:ea typeface="Roboto"/>
                <a:cs typeface="Roboto"/>
              </a:rPr>
              <a:t>что</a:t>
            </a:r>
            <a:r>
              <a:rPr lang="en-US" sz="7200" dirty="0">
                <a:ea typeface="Roboto"/>
                <a:cs typeface="Roboto"/>
              </a:rPr>
              <a:t> у </a:t>
            </a:r>
            <a:r>
              <a:rPr lang="en-US" sz="7200" dirty="0" err="1">
                <a:ea typeface="Roboto"/>
                <a:cs typeface="Roboto"/>
              </a:rPr>
              <a:t>всех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пользователей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установлена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актуальная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версия</a:t>
            </a:r>
            <a:r>
              <a:rPr lang="en-US" sz="7200" dirty="0">
                <a:ea typeface="Roboto"/>
                <a:cs typeface="Roboto"/>
              </a:rPr>
              <a:t> Microsoft Word (2016 и </a:t>
            </a:r>
            <a:r>
              <a:rPr lang="en-US" sz="7200" dirty="0" err="1">
                <a:ea typeface="Roboto"/>
                <a:cs typeface="Roboto"/>
              </a:rPr>
              <a:t>выше</a:t>
            </a:r>
            <a:r>
              <a:rPr lang="en-US" sz="7200" dirty="0">
                <a:ea typeface="Roboto"/>
                <a:cs typeface="Roboto"/>
              </a:rPr>
              <a:t>).</a:t>
            </a:r>
            <a:br>
              <a:rPr lang="en-US" sz="7200" dirty="0">
                <a:ea typeface="Roboto"/>
                <a:cs typeface="Roboto"/>
              </a:rPr>
            </a:br>
            <a:r>
              <a:rPr lang="en-US" sz="7200" dirty="0">
                <a:ea typeface="Roboto"/>
                <a:cs typeface="Roboto"/>
              </a:rPr>
              <a:t>- </a:t>
            </a:r>
            <a:r>
              <a:rPr lang="en-US" sz="7200" dirty="0" err="1">
                <a:ea typeface="Roboto"/>
                <a:cs typeface="Roboto"/>
              </a:rPr>
              <a:t>Проверка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совместимости</a:t>
            </a:r>
            <a:r>
              <a:rPr lang="en-US" sz="7200" dirty="0">
                <a:ea typeface="Roboto"/>
                <a:cs typeface="Roboto"/>
              </a:rPr>
              <a:t>: </a:t>
            </a:r>
            <a:r>
              <a:rPr lang="en-US" sz="7200" dirty="0" err="1">
                <a:ea typeface="Roboto"/>
                <a:cs typeface="Roboto"/>
              </a:rPr>
              <a:t>проверить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совместимость</a:t>
            </a:r>
            <a:r>
              <a:rPr lang="en-US" sz="7200" dirty="0">
                <a:ea typeface="Roboto"/>
                <a:cs typeface="Roboto"/>
              </a:rPr>
              <a:t> приложения "</a:t>
            </a:r>
            <a:r>
              <a:rPr lang="en-US" sz="7200" dirty="0" err="1">
                <a:ea typeface="Roboto"/>
                <a:cs typeface="Roboto"/>
              </a:rPr>
              <a:t>Орфограммка</a:t>
            </a:r>
            <a:r>
              <a:rPr lang="en-US" sz="7200" dirty="0">
                <a:ea typeface="Roboto"/>
                <a:cs typeface="Roboto"/>
              </a:rPr>
              <a:t>" с </a:t>
            </a:r>
            <a:r>
              <a:rPr lang="en-US" sz="7200" dirty="0" err="1">
                <a:ea typeface="Roboto"/>
                <a:cs typeface="Roboto"/>
              </a:rPr>
              <a:t>выбранной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версией</a:t>
            </a:r>
            <a:r>
              <a:rPr lang="en-US" sz="7200" dirty="0">
                <a:ea typeface="Roboto"/>
                <a:cs typeface="Roboto"/>
              </a:rPr>
              <a:t> Word.</a:t>
            </a:r>
            <a:br>
              <a:rPr lang="en-US" sz="7200" dirty="0">
                <a:ea typeface="Roboto"/>
                <a:cs typeface="Roboto"/>
              </a:rPr>
            </a:br>
            <a:r>
              <a:rPr lang="en-US" sz="7200" dirty="0">
                <a:ea typeface="Roboto"/>
                <a:cs typeface="Roboto"/>
              </a:rPr>
              <a:t>- </a:t>
            </a:r>
            <a:r>
              <a:rPr lang="en-US" sz="7200" dirty="0" err="1">
                <a:ea typeface="Roboto"/>
                <a:cs typeface="Roboto"/>
              </a:rPr>
              <a:t>Настройка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доступа</a:t>
            </a:r>
            <a:r>
              <a:rPr lang="en-US" sz="7200" dirty="0">
                <a:ea typeface="Roboto"/>
                <a:cs typeface="Roboto"/>
              </a:rPr>
              <a:t>: </a:t>
            </a:r>
            <a:r>
              <a:rPr lang="en-US" sz="7200" dirty="0" err="1">
                <a:ea typeface="Roboto"/>
                <a:cs typeface="Roboto"/>
              </a:rPr>
              <a:t>обеспечить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всем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пользователям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необходимые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права</a:t>
            </a:r>
            <a:r>
              <a:rPr lang="en-US" sz="7200" dirty="0">
                <a:ea typeface="Roboto"/>
                <a:cs typeface="Roboto"/>
              </a:rPr>
              <a:t> и </a:t>
            </a:r>
            <a:r>
              <a:rPr lang="en-US" sz="7200" dirty="0" err="1">
                <a:ea typeface="Roboto"/>
                <a:cs typeface="Roboto"/>
              </a:rPr>
              <a:t>доступы</a:t>
            </a:r>
            <a:r>
              <a:rPr lang="en-US" sz="7200" dirty="0">
                <a:ea typeface="Roboto"/>
                <a:cs typeface="Roboto"/>
              </a:rPr>
              <a:t> к </a:t>
            </a:r>
            <a:r>
              <a:rPr lang="en-US" sz="7200" dirty="0" err="1">
                <a:ea typeface="Roboto"/>
                <a:cs typeface="Roboto"/>
              </a:rPr>
              <a:t>приложению</a:t>
            </a:r>
            <a:r>
              <a:rPr lang="en-US" sz="7200" dirty="0">
                <a:ea typeface="Roboto"/>
                <a:cs typeface="Roboto"/>
              </a:rPr>
              <a:t>.</a:t>
            </a:r>
            <a:br>
              <a:rPr lang="en-US" sz="7200" dirty="0">
                <a:ea typeface="Roboto"/>
                <a:cs typeface="Roboto"/>
              </a:rPr>
            </a:br>
            <a:br>
              <a:rPr lang="en-US" sz="7200" dirty="0">
                <a:ea typeface="Roboto"/>
                <a:cs typeface="Roboto"/>
              </a:rPr>
            </a:br>
            <a:r>
              <a:rPr lang="en-US" sz="7200" b="1" dirty="0">
                <a:ea typeface="Roboto"/>
                <a:cs typeface="Roboto"/>
              </a:rPr>
              <a:t>3. </a:t>
            </a:r>
            <a:r>
              <a:rPr lang="en-US" sz="7200" b="1" dirty="0" err="1">
                <a:ea typeface="Roboto"/>
                <a:cs typeface="Roboto"/>
              </a:rPr>
              <a:t>Установка</a:t>
            </a:r>
            <a:r>
              <a:rPr lang="en-US" sz="7200" b="1" dirty="0">
                <a:ea typeface="Roboto"/>
                <a:cs typeface="Roboto"/>
              </a:rPr>
              <a:t> и </a:t>
            </a:r>
            <a:r>
              <a:rPr lang="en-US" sz="7200" b="1" dirty="0" err="1">
                <a:ea typeface="Roboto"/>
                <a:cs typeface="Roboto"/>
              </a:rPr>
              <a:t>настройка</a:t>
            </a:r>
            <a:r>
              <a:rPr lang="en-US" sz="7200" b="1" dirty="0">
                <a:ea typeface="Roboto"/>
                <a:cs typeface="Roboto"/>
              </a:rPr>
              <a:t>.</a:t>
            </a:r>
            <a:br>
              <a:rPr lang="en-US" sz="7200" dirty="0">
                <a:ea typeface="Roboto"/>
                <a:cs typeface="Roboto"/>
              </a:rPr>
            </a:br>
            <a:r>
              <a:rPr lang="en-US" sz="7200" dirty="0">
                <a:ea typeface="Roboto"/>
                <a:cs typeface="Roboto"/>
              </a:rPr>
              <a:t>- </a:t>
            </a:r>
            <a:r>
              <a:rPr lang="en-US" sz="7200" dirty="0" err="1">
                <a:ea typeface="Roboto"/>
                <a:cs typeface="Roboto"/>
              </a:rPr>
              <a:t>Установка</a:t>
            </a:r>
            <a:r>
              <a:rPr lang="en-US" sz="7200" dirty="0">
                <a:ea typeface="Roboto"/>
                <a:cs typeface="Roboto"/>
              </a:rPr>
              <a:t> приложения: </a:t>
            </a:r>
            <a:r>
              <a:rPr lang="en-US" sz="7200" dirty="0" err="1">
                <a:ea typeface="Roboto"/>
                <a:cs typeface="Roboto"/>
              </a:rPr>
              <a:t>загрузить</a:t>
            </a:r>
            <a:r>
              <a:rPr lang="en-US" sz="7200" dirty="0">
                <a:ea typeface="Roboto"/>
                <a:cs typeface="Roboto"/>
              </a:rPr>
              <a:t> и </a:t>
            </a:r>
            <a:r>
              <a:rPr lang="en-US" sz="7200" dirty="0" err="1">
                <a:ea typeface="Roboto"/>
                <a:cs typeface="Roboto"/>
              </a:rPr>
              <a:t>установить</a:t>
            </a:r>
            <a:r>
              <a:rPr lang="en-US" sz="7200" dirty="0">
                <a:ea typeface="Roboto"/>
                <a:cs typeface="Roboto"/>
              </a:rPr>
              <a:t> "</a:t>
            </a:r>
            <a:r>
              <a:rPr lang="en-US" sz="7200" dirty="0" err="1">
                <a:ea typeface="Roboto"/>
                <a:cs typeface="Roboto"/>
              </a:rPr>
              <a:t>Орфограммка</a:t>
            </a:r>
            <a:r>
              <a:rPr lang="en-US" sz="7200" dirty="0">
                <a:ea typeface="Roboto"/>
                <a:cs typeface="Roboto"/>
              </a:rPr>
              <a:t>" </a:t>
            </a:r>
            <a:r>
              <a:rPr lang="en-US" sz="7200" dirty="0" err="1">
                <a:ea typeface="Roboto"/>
                <a:cs typeface="Roboto"/>
              </a:rPr>
              <a:t>согласно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инструкциям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разработчика</a:t>
            </a:r>
            <a:r>
              <a:rPr lang="en-US" sz="7200" dirty="0">
                <a:ea typeface="Roboto"/>
                <a:cs typeface="Roboto"/>
              </a:rPr>
              <a:t>.</a:t>
            </a:r>
            <a:br>
              <a:rPr lang="en-US" sz="7200" dirty="0">
                <a:ea typeface="Roboto"/>
                <a:cs typeface="Roboto"/>
              </a:rPr>
            </a:br>
            <a:r>
              <a:rPr lang="en-US" sz="7200" dirty="0">
                <a:ea typeface="Roboto"/>
                <a:cs typeface="Roboto"/>
              </a:rPr>
              <a:t>- </a:t>
            </a:r>
            <a:r>
              <a:rPr lang="en-US" sz="7200" dirty="0" err="1">
                <a:ea typeface="Roboto"/>
                <a:cs typeface="Roboto"/>
              </a:rPr>
              <a:t>Настройка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параметров</a:t>
            </a:r>
            <a:r>
              <a:rPr lang="en-US" sz="7200" dirty="0">
                <a:ea typeface="Roboto"/>
                <a:cs typeface="Roboto"/>
              </a:rPr>
              <a:t>: </a:t>
            </a:r>
            <a:r>
              <a:rPr lang="en-US" sz="7200" dirty="0" err="1">
                <a:ea typeface="Roboto"/>
                <a:cs typeface="Roboto"/>
              </a:rPr>
              <a:t>настроить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параметры</a:t>
            </a:r>
            <a:r>
              <a:rPr lang="en-US" sz="7200" dirty="0">
                <a:ea typeface="Roboto"/>
                <a:cs typeface="Roboto"/>
              </a:rPr>
              <a:t> приложения </a:t>
            </a:r>
            <a:r>
              <a:rPr lang="en-US" sz="7200" dirty="0" err="1">
                <a:ea typeface="Roboto"/>
                <a:cs typeface="Roboto"/>
              </a:rPr>
              <a:t>под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потребности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организации</a:t>
            </a:r>
            <a:r>
              <a:rPr lang="en-US" sz="7200" dirty="0">
                <a:ea typeface="Roboto"/>
                <a:cs typeface="Roboto"/>
              </a:rPr>
              <a:t> (</a:t>
            </a:r>
            <a:r>
              <a:rPr lang="en-US" sz="7200" dirty="0" err="1">
                <a:ea typeface="Roboto"/>
                <a:cs typeface="Roboto"/>
              </a:rPr>
              <a:t>язык</a:t>
            </a:r>
            <a:r>
              <a:rPr lang="en-US" sz="7200" dirty="0">
                <a:ea typeface="Roboto"/>
                <a:cs typeface="Roboto"/>
              </a:rPr>
              <a:t>, </a:t>
            </a:r>
            <a:r>
              <a:rPr lang="en-US" sz="7200" dirty="0" err="1">
                <a:ea typeface="Roboto"/>
                <a:cs typeface="Roboto"/>
              </a:rPr>
              <a:t>правила</a:t>
            </a:r>
            <a:r>
              <a:rPr lang="en-US" sz="7200" dirty="0">
                <a:ea typeface="Roboto"/>
                <a:cs typeface="Roboto"/>
              </a:rPr>
              <a:t>, </a:t>
            </a:r>
            <a:r>
              <a:rPr lang="en-US" sz="7200" dirty="0" err="1">
                <a:ea typeface="Roboto"/>
                <a:cs typeface="Roboto"/>
              </a:rPr>
              <a:t>стили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проверок</a:t>
            </a:r>
            <a:r>
              <a:rPr lang="en-US" sz="7200" dirty="0">
                <a:ea typeface="Roboto"/>
                <a:cs typeface="Roboto"/>
              </a:rPr>
              <a:t> и </a:t>
            </a:r>
            <a:r>
              <a:rPr lang="en-US" sz="7200" dirty="0" err="1">
                <a:ea typeface="Roboto"/>
                <a:cs typeface="Roboto"/>
              </a:rPr>
              <a:t>т.п</a:t>
            </a:r>
            <a:r>
              <a:rPr lang="en-US" sz="7200" dirty="0">
                <a:ea typeface="Roboto"/>
                <a:cs typeface="Roboto"/>
              </a:rPr>
              <a:t>.).</a:t>
            </a:r>
            <a:br>
              <a:rPr lang="en-US" sz="7200" dirty="0">
                <a:ea typeface="Roboto"/>
                <a:cs typeface="Roboto"/>
              </a:rPr>
            </a:br>
            <a:r>
              <a:rPr lang="en-US" sz="7200" dirty="0">
                <a:ea typeface="Roboto"/>
                <a:cs typeface="Roboto"/>
              </a:rPr>
              <a:t>- </a:t>
            </a:r>
            <a:r>
              <a:rPr lang="en-US" sz="7200" dirty="0" err="1">
                <a:ea typeface="Roboto"/>
                <a:cs typeface="Roboto"/>
              </a:rPr>
              <a:t>Обучение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ключевых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пользователей</a:t>
            </a:r>
            <a:r>
              <a:rPr lang="en-US" sz="7200" dirty="0">
                <a:ea typeface="Roboto"/>
                <a:cs typeface="Roboto"/>
              </a:rPr>
              <a:t>: </a:t>
            </a:r>
            <a:r>
              <a:rPr lang="en-US" sz="7200" dirty="0" err="1">
                <a:ea typeface="Roboto"/>
                <a:cs typeface="Roboto"/>
              </a:rPr>
              <a:t>провести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обучение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для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сотрудников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по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использованию</a:t>
            </a:r>
            <a:r>
              <a:rPr lang="en-US" sz="7200" dirty="0">
                <a:ea typeface="Roboto"/>
                <a:cs typeface="Roboto"/>
              </a:rPr>
              <a:t> приложения.</a:t>
            </a:r>
          </a:p>
          <a:p>
            <a:pPr marL="0" indent="0">
              <a:buNone/>
            </a:pPr>
            <a:r>
              <a:rPr lang="en-US" sz="7200" b="1" dirty="0">
                <a:ea typeface="Roboto"/>
                <a:cs typeface="Roboto"/>
              </a:rPr>
              <a:t>4. </a:t>
            </a:r>
            <a:r>
              <a:rPr lang="en-US" sz="7200" b="1" dirty="0" err="1">
                <a:ea typeface="Roboto"/>
                <a:cs typeface="Roboto"/>
              </a:rPr>
              <a:t>Мониторинг</a:t>
            </a:r>
            <a:r>
              <a:rPr lang="en-US" sz="7200" b="1" dirty="0">
                <a:ea typeface="Roboto"/>
                <a:cs typeface="Roboto"/>
              </a:rPr>
              <a:t> </a:t>
            </a:r>
            <a:r>
              <a:rPr lang="en-US" sz="7200" b="1" dirty="0" err="1">
                <a:ea typeface="Roboto"/>
                <a:cs typeface="Roboto"/>
              </a:rPr>
              <a:t>эффективности</a:t>
            </a:r>
            <a:r>
              <a:rPr lang="en-US" sz="7200" b="1" dirty="0">
                <a:ea typeface="Roboto"/>
                <a:cs typeface="Roboto"/>
              </a:rPr>
              <a:t>.</a:t>
            </a:r>
            <a:endParaRPr lang="en-US" sz="7200" dirty="0">
              <a:ea typeface="Roboto"/>
              <a:cs typeface="Roboto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7200" dirty="0" err="1">
                <a:ea typeface="Roboto"/>
                <a:cs typeface="Roboto"/>
              </a:rPr>
              <a:t>Оценивать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качество</a:t>
            </a:r>
            <a:r>
              <a:rPr lang="en-US" sz="7200" dirty="0">
                <a:ea typeface="Roboto"/>
                <a:cs typeface="Roboto"/>
              </a:rPr>
              <a:t> и </a:t>
            </a:r>
            <a:r>
              <a:rPr lang="en-US" sz="7200" dirty="0" err="1">
                <a:ea typeface="Roboto"/>
                <a:cs typeface="Roboto"/>
              </a:rPr>
              <a:t>время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проверки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работ</a:t>
            </a:r>
            <a:r>
              <a:rPr lang="en-US" sz="7200" dirty="0">
                <a:ea typeface="Roboto"/>
                <a:cs typeface="Roboto"/>
              </a:rPr>
              <a:t> с </a:t>
            </a:r>
            <a:r>
              <a:rPr lang="en-US" sz="7200" dirty="0" err="1">
                <a:ea typeface="Roboto"/>
                <a:cs typeface="Roboto"/>
              </a:rPr>
              <a:t>помощью</a:t>
            </a:r>
            <a:r>
              <a:rPr lang="en-US" sz="7200" dirty="0">
                <a:ea typeface="Roboto"/>
                <a:cs typeface="Roboto"/>
              </a:rPr>
              <a:t> "</a:t>
            </a:r>
            <a:r>
              <a:rPr lang="en-US" sz="7200" dirty="0" err="1">
                <a:ea typeface="Roboto"/>
                <a:cs typeface="Roboto"/>
              </a:rPr>
              <a:t>Орфограммки</a:t>
            </a:r>
            <a:r>
              <a:rPr lang="en-US" sz="7200" dirty="0">
                <a:ea typeface="Roboto"/>
                <a:cs typeface="Roboto"/>
              </a:rPr>
              <a:t>".</a:t>
            </a:r>
            <a:endParaRPr lang="ru-RU" sz="7200" dirty="0">
              <a:ea typeface="Roboto"/>
              <a:cs typeface="Roboto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7200" dirty="0" err="1">
                <a:ea typeface="Roboto"/>
                <a:cs typeface="Roboto"/>
              </a:rPr>
              <a:t>Обновление</a:t>
            </a:r>
            <a:r>
              <a:rPr lang="en-US" sz="7200" dirty="0">
                <a:ea typeface="Roboto"/>
                <a:cs typeface="Roboto"/>
              </a:rPr>
              <a:t> и </a:t>
            </a:r>
            <a:r>
              <a:rPr lang="en-US" sz="7200" dirty="0" err="1">
                <a:ea typeface="Roboto"/>
                <a:cs typeface="Roboto"/>
              </a:rPr>
              <a:t>сопровождение</a:t>
            </a:r>
            <a:r>
              <a:rPr lang="en-US" sz="7200" dirty="0">
                <a:ea typeface="Roboto"/>
                <a:cs typeface="Roboto"/>
              </a:rPr>
              <a:t>: </a:t>
            </a:r>
            <a:r>
              <a:rPr lang="en-US" sz="7200" dirty="0" err="1">
                <a:ea typeface="Roboto"/>
                <a:cs typeface="Roboto"/>
              </a:rPr>
              <a:t>регулярно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обновлять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приложение</a:t>
            </a:r>
            <a:r>
              <a:rPr lang="en-US" sz="7200" dirty="0">
                <a:ea typeface="Roboto"/>
                <a:cs typeface="Roboto"/>
              </a:rPr>
              <a:t>, </a:t>
            </a:r>
            <a:r>
              <a:rPr lang="en-US" sz="7200" dirty="0" err="1">
                <a:ea typeface="Roboto"/>
                <a:cs typeface="Roboto"/>
              </a:rPr>
              <a:t>учитывать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новые</a:t>
            </a:r>
            <a:r>
              <a:rPr lang="en-US" sz="7200" dirty="0">
                <a:ea typeface="Roboto"/>
                <a:cs typeface="Roboto"/>
              </a:rPr>
              <a:t> </a:t>
            </a:r>
            <a:r>
              <a:rPr lang="en-US" sz="7200" dirty="0" err="1">
                <a:ea typeface="Roboto"/>
                <a:cs typeface="Roboto"/>
              </a:rPr>
              <a:t>версии</a:t>
            </a:r>
            <a:r>
              <a:rPr lang="en-US" sz="7200" dirty="0">
                <a:ea typeface="Roboto"/>
                <a:cs typeface="Roboto"/>
              </a:rPr>
              <a:t> Word.</a:t>
            </a:r>
            <a:br>
              <a:rPr lang="en-US" dirty="0"/>
            </a:br>
            <a:endParaRPr lang="en-US" dirty="0"/>
          </a:p>
          <a:p>
            <a:pPr>
              <a:buFont typeface="Calibri" panose="020B0604020202020204" pitchFamily="34" charset="0"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6868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8A9AF-0F61-14B0-BE4A-78326D4F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времени такта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0E4C2C-911B-CFEB-F783-5FE3C6449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62" y="2910134"/>
            <a:ext cx="11233676" cy="867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accent1"/>
                </a:solidFill>
              </a:rPr>
              <a:t>ВРЕМЯ ТАКТА: 25200 СЕК./18 приказов = 23,3 мин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6522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56051-FC1A-1BAA-6740-EED956D1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Узкое место и ловушка </a:t>
            </a:r>
          </a:p>
        </p:txBody>
      </p:sp>
      <p:pic>
        <p:nvPicPr>
          <p:cNvPr id="4" name="Объект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FC76E3-900B-4744-8103-67E0812AA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386" y="1414393"/>
            <a:ext cx="11356553" cy="5033768"/>
          </a:xfrm>
        </p:spPr>
      </p:pic>
    </p:spTree>
    <p:extLst>
      <p:ext uri="{BB962C8B-B14F-4D97-AF65-F5344CB8AC3E}">
        <p14:creationId xmlns:p14="http://schemas.microsoft.com/office/powerpoint/2010/main" val="4220770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A5652-877D-0CF8-B676-5014A8180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59C861-9450-9069-40A8-497B7268A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94" y="1821459"/>
            <a:ext cx="11834812" cy="456558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br>
              <a:rPr lang="ru-RU" sz="2600" dirty="0">
                <a:ea typeface="+mn-lt"/>
                <a:cs typeface="+mn-lt"/>
              </a:rPr>
            </a:br>
            <a:r>
              <a:rPr lang="ru-RU" sz="2600" dirty="0">
                <a:ea typeface="+mn-lt"/>
                <a:cs typeface="+mn-lt"/>
              </a:rPr>
              <a:t>- Время на проверку без автоматизации:</a:t>
            </a:r>
            <a:br>
              <a:rPr lang="ru-RU" sz="2600" dirty="0">
                <a:ea typeface="+mn-lt"/>
                <a:cs typeface="+mn-lt"/>
              </a:rPr>
            </a:br>
            <a:r>
              <a:rPr lang="ru-RU" sz="2600" dirty="0">
                <a:ea typeface="+mn-lt"/>
                <a:cs typeface="+mn-lt"/>
              </a:rPr>
              <a:t>  23,3 мин * 10 приказов = 240 приказов в месяц = 336 000 сек.</a:t>
            </a:r>
            <a:br>
              <a:rPr lang="ru-RU" sz="2600" dirty="0">
                <a:ea typeface="+mn-lt"/>
                <a:cs typeface="+mn-lt"/>
              </a:rPr>
            </a:br>
            <a:r>
              <a:rPr lang="ru-RU" sz="2600" dirty="0">
                <a:ea typeface="+mn-lt"/>
                <a:cs typeface="+mn-lt"/>
              </a:rPr>
              <a:t>  </a:t>
            </a:r>
            <a:br>
              <a:rPr lang="ru-RU" sz="2600" dirty="0">
                <a:ea typeface="+mn-lt"/>
                <a:cs typeface="+mn-lt"/>
              </a:rPr>
            </a:br>
            <a:r>
              <a:rPr lang="ru-RU" sz="2600" dirty="0">
                <a:ea typeface="+mn-lt"/>
                <a:cs typeface="+mn-lt"/>
              </a:rPr>
              <a:t>- Время на проверку с автоматизацией:</a:t>
            </a:r>
            <a:br>
              <a:rPr lang="ru-RU" sz="2600" dirty="0">
                <a:ea typeface="+mn-lt"/>
                <a:cs typeface="+mn-lt"/>
              </a:rPr>
            </a:br>
            <a:r>
              <a:rPr lang="ru-RU" sz="2600" dirty="0">
                <a:ea typeface="+mn-lt"/>
                <a:cs typeface="+mn-lt"/>
              </a:rPr>
              <a:t>  12 мин * 10 приказов = 120 приказов в месяц= 86 400 сек.</a:t>
            </a:r>
            <a:br>
              <a:rPr lang="ru-RU" sz="2600" dirty="0">
                <a:ea typeface="+mn-lt"/>
                <a:cs typeface="+mn-lt"/>
              </a:rPr>
            </a:br>
            <a:r>
              <a:rPr lang="ru-RU" sz="2600" dirty="0">
                <a:ea typeface="+mn-lt"/>
                <a:cs typeface="+mn-lt"/>
              </a:rPr>
              <a:t>  </a:t>
            </a:r>
            <a:br>
              <a:rPr lang="ru-RU" sz="2600" dirty="0">
                <a:ea typeface="+mn-lt"/>
                <a:cs typeface="+mn-lt"/>
              </a:rPr>
            </a:br>
            <a:r>
              <a:rPr lang="ru-RU" sz="2600" dirty="0">
                <a:ea typeface="+mn-lt"/>
                <a:cs typeface="+mn-lt"/>
              </a:rPr>
              <a:t>- Экономия времени:</a:t>
            </a:r>
            <a:br>
              <a:rPr lang="ru-RU" sz="2600" dirty="0">
                <a:ea typeface="+mn-lt"/>
                <a:cs typeface="+mn-lt"/>
              </a:rPr>
            </a:br>
            <a:r>
              <a:rPr lang="ru-RU" sz="2600" dirty="0">
                <a:ea typeface="+mn-lt"/>
                <a:cs typeface="+mn-lt"/>
              </a:rPr>
              <a:t>336 000-86 400=249 000 сек = 4 160 мин= 69 ч. </a:t>
            </a:r>
            <a:br>
              <a:rPr lang="ru-RU" sz="2600" dirty="0">
                <a:ea typeface="+mn-lt"/>
                <a:cs typeface="+mn-lt"/>
              </a:rPr>
            </a:br>
            <a:r>
              <a:rPr lang="ru-RU" sz="26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ru-RU" sz="2600" dirty="0"/>
              <a:t>Затраты на "</a:t>
            </a:r>
            <a:r>
              <a:rPr lang="ru-RU" sz="2600" dirty="0" err="1"/>
              <a:t>Орфограммка</a:t>
            </a:r>
            <a:r>
              <a:rPr lang="ru-RU" sz="2600" dirty="0"/>
              <a:t>"= 400 </a:t>
            </a:r>
            <a:r>
              <a:rPr lang="ru-RU" sz="2600" dirty="0" err="1"/>
              <a:t>руб</a:t>
            </a:r>
            <a:r>
              <a:rPr lang="ru-RU" sz="2600" dirty="0"/>
              <a:t> в месяц (за 1 компьютер) * 3 = 1200 в месяц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ru-RU" sz="2600" dirty="0"/>
              <a:t>1200*12= 14.100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ru-RU" sz="2600" dirty="0"/>
              <a:t>Если покупать сразу на год , то 3200 в месяц * 3 = 9600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280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9FEB0-7AF1-F68E-95C5-4623BE83F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0780CB-3765-CB4F-F796-8EB81BE91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7617"/>
            <a:ext cx="10515600" cy="416052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Исходя из причинно-следственной связи, можно сделать вывод, что даже при наличии определённого скрипта на документы по оформлению, ведущие специалисты и работники КФУ все равно допускают речевые и смысловые ошибки. Человеческий фактор мы учли и приняли решение внедрить автоматический способ проверки текста, для увеличения времени проверки на более важные вопросы.</a:t>
            </a:r>
          </a:p>
        </p:txBody>
      </p:sp>
    </p:spTree>
    <p:extLst>
      <p:ext uri="{BB962C8B-B14F-4D97-AF65-F5344CB8AC3E}">
        <p14:creationId xmlns:p14="http://schemas.microsoft.com/office/powerpoint/2010/main" val="3562203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8FB9BDE-8133-8930-23C0-A39E30CD2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3738" y="2873232"/>
            <a:ext cx="10808762" cy="11115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44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090594955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1075</Words>
  <Application>Microsoft Office PowerPoint</Application>
  <PresentationFormat>Широкоэкранный</PresentationFormat>
  <Paragraphs>135</Paragraphs>
  <Slides>28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BrushVTI</vt:lpstr>
      <vt:lpstr>Проектное задание по дисциплине «Анализ и моделирование бизнес- процессов»</vt:lpstr>
      <vt:lpstr>ОТДЕЛ УДК </vt:lpstr>
      <vt:lpstr>Отдел документооборота и контроля КФУ</vt:lpstr>
      <vt:lpstr>VSM</vt:lpstr>
      <vt:lpstr>SIPOC 1</vt:lpstr>
      <vt:lpstr>IDF0 (1)</vt:lpstr>
      <vt:lpstr>BPMN (1)</vt:lpstr>
      <vt:lpstr>EPC 1</vt:lpstr>
      <vt:lpstr>SIPOC 2</vt:lpstr>
      <vt:lpstr>IDF0 (2)</vt:lpstr>
      <vt:lpstr>BPMN(2)</vt:lpstr>
      <vt:lpstr>EPC 2</vt:lpstr>
      <vt:lpstr>Возможность автоматизации процесса составления протокола совещания</vt:lpstr>
      <vt:lpstr>SIPOC 3</vt:lpstr>
      <vt:lpstr>IDF0 (3)</vt:lpstr>
      <vt:lpstr>BPMN AS IS</vt:lpstr>
      <vt:lpstr>BPMN  TO BE</vt:lpstr>
      <vt:lpstr>AS IS / TO BE</vt:lpstr>
      <vt:lpstr>EPC 3</vt:lpstr>
      <vt:lpstr>Пять «Почему?» ( для выявления коренных причин)</vt:lpstr>
      <vt:lpstr>Анализ шагов процессов</vt:lpstr>
      <vt:lpstr>Паспорт проекта по улучшению  процесса </vt:lpstr>
      <vt:lpstr>План внедрения </vt:lpstr>
      <vt:lpstr>Расчет времени такта</vt:lpstr>
      <vt:lpstr>Узкое место и ловушка </vt:lpstr>
      <vt:lpstr>Расчеты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Проектное задание по дисциплине «Анализ и моделирование бизнес- процессов»</dc:title>
  <dc:creator>Андрей</dc:creator>
  <cp:lastModifiedBy>мария алексеева</cp:lastModifiedBy>
  <cp:revision>425</cp:revision>
  <dcterms:created xsi:type="dcterms:W3CDTF">2025-04-27T16:28:12Z</dcterms:created>
  <dcterms:modified xsi:type="dcterms:W3CDTF">2025-05-05T06:37:37Z</dcterms:modified>
</cp:coreProperties>
</file>