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2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60" r:id="rId3"/>
    <p:sldId id="261" r:id="rId4"/>
    <p:sldId id="262" r:id="rId5"/>
    <p:sldId id="264" r:id="rId6"/>
    <p:sldId id="265" r:id="rId7"/>
    <p:sldId id="280" r:id="rId8"/>
    <p:sldId id="281" r:id="rId9"/>
    <p:sldId id="263" r:id="rId10"/>
    <p:sldId id="267" r:id="rId11"/>
    <p:sldId id="268" r:id="rId12"/>
    <p:sldId id="269" r:id="rId13"/>
    <p:sldId id="275" r:id="rId14"/>
    <p:sldId id="276" r:id="rId15"/>
    <p:sldId id="266" r:id="rId16"/>
    <p:sldId id="270" r:id="rId17"/>
    <p:sldId id="278" r:id="rId18"/>
    <p:sldId id="277" r:id="rId19"/>
    <p:sldId id="271" r:id="rId20"/>
    <p:sldId id="279" r:id="rId21"/>
    <p:sldId id="272" r:id="rId22"/>
    <p:sldId id="273" r:id="rId23"/>
    <p:sldId id="282" r:id="rId24"/>
    <p:sldId id="284" r:id="rId25"/>
    <p:sldId id="285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C11E"/>
    <a:srgbClr val="5596C7"/>
    <a:srgbClr val="FFFBC5"/>
    <a:srgbClr val="E9F8FD"/>
    <a:srgbClr val="FFCA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CVA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Лист1!$B$2</c:f>
              <c:numCache>
                <c:formatCode>General</c:formatCode>
                <c:ptCount val="1"/>
                <c:pt idx="0">
                  <c:v>11.9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EA-4696-8931-382BB727791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BVA</c:v>
                </c:pt>
              </c:strCache>
            </c:strRef>
          </c:tx>
          <c:spPr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Лист1!$C$2</c:f>
              <c:numCache>
                <c:formatCode>General</c:formatCode>
                <c:ptCount val="1"/>
                <c:pt idx="0">
                  <c:v>1.02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EA-4696-8931-382BB727791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NVA</c:v>
                </c:pt>
              </c:strCache>
            </c:strRef>
          </c:tx>
          <c:spPr>
            <a:solidFill>
              <a:srgbClr val="E00011">
                <a:alpha val="25098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Лист1!$D$2</c:f>
              <c:numCache>
                <c:formatCode>General</c:formatCode>
                <c:ptCount val="1"/>
                <c:pt idx="0">
                  <c:v>87.06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EA-4696-8931-382BB727791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52268736"/>
        <c:axId val="852255424"/>
      </c:barChart>
      <c:catAx>
        <c:axId val="8522687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52255424"/>
        <c:crossesAt val="0"/>
        <c:auto val="1"/>
        <c:lblAlgn val="ctr"/>
        <c:lblOffset val="100"/>
        <c:noMultiLvlLbl val="0"/>
      </c:catAx>
      <c:valAx>
        <c:axId val="8522554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52268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735749401883145E-2"/>
          <c:y val="0.11781902608252988"/>
          <c:w val="0.9190529308836396"/>
          <c:h val="0.741456346549056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Длительность задач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cat>
          <c:val>
            <c:numRef>
              <c:f>Лист1!$B$2:$B$12</c:f>
              <c:numCache>
                <c:formatCode>General</c:formatCode>
                <c:ptCount val="11"/>
                <c:pt idx="0">
                  <c:v>0.08</c:v>
                </c:pt>
                <c:pt idx="1">
                  <c:v>0.08</c:v>
                </c:pt>
                <c:pt idx="2">
                  <c:v>0.16</c:v>
                </c:pt>
                <c:pt idx="3">
                  <c:v>0.05</c:v>
                </c:pt>
                <c:pt idx="4">
                  <c:v>10</c:v>
                </c:pt>
                <c:pt idx="5">
                  <c:v>0.08</c:v>
                </c:pt>
                <c:pt idx="6">
                  <c:v>0.16</c:v>
                </c:pt>
                <c:pt idx="7">
                  <c:v>1.5</c:v>
                </c:pt>
                <c:pt idx="8">
                  <c:v>4</c:v>
                </c:pt>
                <c:pt idx="9">
                  <c:v>0.05</c:v>
                </c:pt>
                <c:pt idx="10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90-40E7-9424-CFC0978EE4A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64796016"/>
        <c:axId val="1864800176"/>
      </c:barChart>
      <c:catAx>
        <c:axId val="186479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64800176"/>
        <c:crosses val="autoZero"/>
        <c:auto val="1"/>
        <c:lblAlgn val="ctr"/>
        <c:lblOffset val="100"/>
        <c:noMultiLvlLbl val="0"/>
      </c:catAx>
      <c:valAx>
        <c:axId val="1864800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64796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616115745432811E-2"/>
          <c:y val="8.2607678551624708E-2"/>
          <c:w val="0.9190529308836396"/>
          <c:h val="0.741456346549056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Длительность задач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cat>
          <c:val>
            <c:numRef>
              <c:f>Лист1!$B$2:$B$12</c:f>
              <c:numCache>
                <c:formatCode>General</c:formatCode>
                <c:ptCount val="11"/>
                <c:pt idx="0">
                  <c:v>0.08</c:v>
                </c:pt>
                <c:pt idx="1">
                  <c:v>0.08</c:v>
                </c:pt>
                <c:pt idx="2">
                  <c:v>0.16</c:v>
                </c:pt>
                <c:pt idx="3">
                  <c:v>0.05</c:v>
                </c:pt>
                <c:pt idx="4">
                  <c:v>10</c:v>
                </c:pt>
                <c:pt idx="5">
                  <c:v>0.08</c:v>
                </c:pt>
                <c:pt idx="6">
                  <c:v>0.16</c:v>
                </c:pt>
                <c:pt idx="7">
                  <c:v>1.5</c:v>
                </c:pt>
                <c:pt idx="8">
                  <c:v>4</c:v>
                </c:pt>
                <c:pt idx="9">
                  <c:v>0.05</c:v>
                </c:pt>
                <c:pt idx="10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90-40E7-9424-CFC0978EE4A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64796016"/>
        <c:axId val="1864800176"/>
      </c:barChart>
      <c:catAx>
        <c:axId val="186479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64800176"/>
        <c:crosses val="autoZero"/>
        <c:auto val="1"/>
        <c:lblAlgn val="ctr"/>
        <c:lblOffset val="100"/>
        <c:noMultiLvlLbl val="0"/>
      </c:catAx>
      <c:valAx>
        <c:axId val="1864800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64796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ПЧР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Лист1!$A$2:$A$15</c:f>
              <c:strCache>
                <c:ptCount val="14"/>
                <c:pt idx="0">
                  <c:v>Х9</c:v>
                </c:pt>
                <c:pt idx="1">
                  <c:v>Х1</c:v>
                </c:pt>
                <c:pt idx="2">
                  <c:v>Х13</c:v>
                </c:pt>
                <c:pt idx="3">
                  <c:v>Х8</c:v>
                </c:pt>
                <c:pt idx="4">
                  <c:v>Х4</c:v>
                </c:pt>
                <c:pt idx="5">
                  <c:v>Х11</c:v>
                </c:pt>
                <c:pt idx="6">
                  <c:v>Х10</c:v>
                </c:pt>
                <c:pt idx="7">
                  <c:v>Х12</c:v>
                </c:pt>
                <c:pt idx="8">
                  <c:v>Х7</c:v>
                </c:pt>
                <c:pt idx="9">
                  <c:v>Х3</c:v>
                </c:pt>
                <c:pt idx="10">
                  <c:v>Х5</c:v>
                </c:pt>
                <c:pt idx="11">
                  <c:v>Х2</c:v>
                </c:pt>
                <c:pt idx="12">
                  <c:v>Х14</c:v>
                </c:pt>
                <c:pt idx="13">
                  <c:v>Х6</c:v>
                </c:pt>
              </c:strCache>
            </c:strRef>
          </c:cat>
          <c:val>
            <c:numRef>
              <c:f>Лист1!$B$2:$B$15</c:f>
              <c:numCache>
                <c:formatCode>General</c:formatCode>
                <c:ptCount val="14"/>
                <c:pt idx="0">
                  <c:v>320</c:v>
                </c:pt>
                <c:pt idx="1">
                  <c:v>280</c:v>
                </c:pt>
                <c:pt idx="2">
                  <c:v>280</c:v>
                </c:pt>
                <c:pt idx="3">
                  <c:v>210</c:v>
                </c:pt>
                <c:pt idx="4">
                  <c:v>180</c:v>
                </c:pt>
                <c:pt idx="5">
                  <c:v>150</c:v>
                </c:pt>
                <c:pt idx="6">
                  <c:v>144</c:v>
                </c:pt>
                <c:pt idx="7">
                  <c:v>144</c:v>
                </c:pt>
                <c:pt idx="8">
                  <c:v>126</c:v>
                </c:pt>
                <c:pt idx="9">
                  <c:v>120</c:v>
                </c:pt>
                <c:pt idx="10">
                  <c:v>105</c:v>
                </c:pt>
                <c:pt idx="11">
                  <c:v>90</c:v>
                </c:pt>
                <c:pt idx="12">
                  <c:v>90</c:v>
                </c:pt>
                <c:pt idx="13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97-4C6F-81EA-B09025F185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4514591"/>
        <c:axId val="544504607"/>
      </c:barChart>
      <c:catAx>
        <c:axId val="544514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544504607"/>
        <c:crosses val="autoZero"/>
        <c:auto val="1"/>
        <c:lblAlgn val="ctr"/>
        <c:lblOffset val="100"/>
        <c:noMultiLvlLbl val="0"/>
      </c:catAx>
      <c:valAx>
        <c:axId val="544504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544514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44257B-75F8-48F9-870F-36817787CDF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5B9FCE9-7D8F-4D05-ABCB-21E2F236D461}">
      <dgm:prSet phldrT="[Текст]"/>
      <dgm:spPr>
        <a:solidFill>
          <a:schemeClr val="tx2">
            <a:lumMod val="50000"/>
            <a:lumOff val="50000"/>
          </a:schemeClr>
        </a:solidFill>
        <a:effectLst/>
      </dgm:spPr>
      <dgm:t>
        <a:bodyPr/>
        <a:lstStyle/>
        <a:p>
          <a:r>
            <a:rPr lang="ru-RU" dirty="0"/>
            <a:t>Контроль и безопасность</a:t>
          </a:r>
        </a:p>
      </dgm:t>
    </dgm:pt>
    <dgm:pt modelId="{65CFA284-F5EC-4700-87F6-86F267F0B954}" type="parTrans" cxnId="{5C2B829B-1E24-4F8F-80F9-EE7A80F6767E}">
      <dgm:prSet/>
      <dgm:spPr/>
      <dgm:t>
        <a:bodyPr/>
        <a:lstStyle/>
        <a:p>
          <a:endParaRPr lang="ru-RU"/>
        </a:p>
      </dgm:t>
    </dgm:pt>
    <dgm:pt modelId="{BADD23AE-A764-4D6D-B9FA-9B44F887433D}" type="sibTrans" cxnId="{5C2B829B-1E24-4F8F-80F9-EE7A80F6767E}">
      <dgm:prSet/>
      <dgm:spPr/>
      <dgm:t>
        <a:bodyPr/>
        <a:lstStyle/>
        <a:p>
          <a:endParaRPr lang="ru-RU"/>
        </a:p>
      </dgm:t>
    </dgm:pt>
    <dgm:pt modelId="{A99E288C-6596-4FC9-A0CB-C0BC85DA0C55}">
      <dgm:prSet phldrT="[Текст]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ru-RU" dirty="0"/>
            <a:t>Единообразие и соответствие </a:t>
          </a:r>
          <a:r>
            <a:rPr lang="ru-RU" dirty="0" err="1"/>
            <a:t>стандратам</a:t>
          </a:r>
          <a:endParaRPr lang="ru-RU" dirty="0"/>
        </a:p>
      </dgm:t>
    </dgm:pt>
    <dgm:pt modelId="{A8CA243B-A62F-4A80-9A3D-3E90C06B0259}" type="parTrans" cxnId="{34CB7259-A0DF-449C-8F10-D42FC3588AC3}">
      <dgm:prSet/>
      <dgm:spPr/>
      <dgm:t>
        <a:bodyPr/>
        <a:lstStyle/>
        <a:p>
          <a:endParaRPr lang="ru-RU"/>
        </a:p>
      </dgm:t>
    </dgm:pt>
    <dgm:pt modelId="{7795EB98-4714-4B00-96A0-1B7983B067FA}" type="sibTrans" cxnId="{34CB7259-A0DF-449C-8F10-D42FC3588AC3}">
      <dgm:prSet/>
      <dgm:spPr/>
      <dgm:t>
        <a:bodyPr/>
        <a:lstStyle/>
        <a:p>
          <a:endParaRPr lang="ru-RU"/>
        </a:p>
      </dgm:t>
    </dgm:pt>
    <dgm:pt modelId="{00B2E2E5-F0E0-4F22-9054-A2237D189D93}">
      <dgm:prSet phldrT="[Текст]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ru-RU" dirty="0"/>
            <a:t>Подотчетность</a:t>
          </a:r>
        </a:p>
      </dgm:t>
    </dgm:pt>
    <dgm:pt modelId="{5813DA95-5109-4E40-A82B-D1EC892FBB9F}" type="parTrans" cxnId="{443DC4D3-55B2-4EA7-9A28-818A33D37982}">
      <dgm:prSet/>
      <dgm:spPr/>
      <dgm:t>
        <a:bodyPr/>
        <a:lstStyle/>
        <a:p>
          <a:endParaRPr lang="ru-RU"/>
        </a:p>
      </dgm:t>
    </dgm:pt>
    <dgm:pt modelId="{79A4C4DA-EF02-4873-9F5B-599177683E07}" type="sibTrans" cxnId="{443DC4D3-55B2-4EA7-9A28-818A33D37982}">
      <dgm:prSet/>
      <dgm:spPr/>
      <dgm:t>
        <a:bodyPr/>
        <a:lstStyle/>
        <a:p>
          <a:endParaRPr lang="ru-RU"/>
        </a:p>
      </dgm:t>
    </dgm:pt>
    <dgm:pt modelId="{009B0270-9572-45B4-BC5B-2394EB2372B9}" type="pres">
      <dgm:prSet presAssocID="{5544257B-75F8-48F9-870F-36817787CDF6}" presName="Name0" presStyleCnt="0">
        <dgm:presLayoutVars>
          <dgm:chMax val="7"/>
          <dgm:chPref val="7"/>
          <dgm:dir/>
        </dgm:presLayoutVars>
      </dgm:prSet>
      <dgm:spPr/>
    </dgm:pt>
    <dgm:pt modelId="{94A3A50F-0D45-4DBC-8B34-BB93E9EC2523}" type="pres">
      <dgm:prSet presAssocID="{5544257B-75F8-48F9-870F-36817787CDF6}" presName="Name1" presStyleCnt="0"/>
      <dgm:spPr/>
    </dgm:pt>
    <dgm:pt modelId="{E2C01D5B-45B7-4FF6-8DF1-38EA0C9F4184}" type="pres">
      <dgm:prSet presAssocID="{5544257B-75F8-48F9-870F-36817787CDF6}" presName="cycle" presStyleCnt="0"/>
      <dgm:spPr/>
    </dgm:pt>
    <dgm:pt modelId="{19A9B9F1-0717-4029-83FA-13F8207D545D}" type="pres">
      <dgm:prSet presAssocID="{5544257B-75F8-48F9-870F-36817787CDF6}" presName="srcNode" presStyleLbl="node1" presStyleIdx="0" presStyleCnt="3"/>
      <dgm:spPr/>
    </dgm:pt>
    <dgm:pt modelId="{EB2525BB-6150-4382-9DBB-0E1706DF86CA}" type="pres">
      <dgm:prSet presAssocID="{5544257B-75F8-48F9-870F-36817787CDF6}" presName="conn" presStyleLbl="parChTrans1D2" presStyleIdx="0" presStyleCnt="1"/>
      <dgm:spPr/>
    </dgm:pt>
    <dgm:pt modelId="{2FB026B7-6726-471D-9FAB-71E770CF2C0C}" type="pres">
      <dgm:prSet presAssocID="{5544257B-75F8-48F9-870F-36817787CDF6}" presName="extraNode" presStyleLbl="node1" presStyleIdx="0" presStyleCnt="3"/>
      <dgm:spPr/>
    </dgm:pt>
    <dgm:pt modelId="{3BA06579-C612-4639-A5CB-0196AFF48ED0}" type="pres">
      <dgm:prSet presAssocID="{5544257B-75F8-48F9-870F-36817787CDF6}" presName="dstNode" presStyleLbl="node1" presStyleIdx="0" presStyleCnt="3"/>
      <dgm:spPr/>
    </dgm:pt>
    <dgm:pt modelId="{C8BC872E-328B-4CCF-90E0-2A4FED30025B}" type="pres">
      <dgm:prSet presAssocID="{15B9FCE9-7D8F-4D05-ABCB-21E2F236D461}" presName="text_1" presStyleLbl="node1" presStyleIdx="0" presStyleCnt="3" custLinFactNeighborX="-122" custLinFactNeighborY="7973">
        <dgm:presLayoutVars>
          <dgm:bulletEnabled val="1"/>
        </dgm:presLayoutVars>
      </dgm:prSet>
      <dgm:spPr/>
    </dgm:pt>
    <dgm:pt modelId="{CC16AFA3-72F6-45A5-B8A9-7CE425120B57}" type="pres">
      <dgm:prSet presAssocID="{15B9FCE9-7D8F-4D05-ABCB-21E2F236D461}" presName="accent_1" presStyleCnt="0"/>
      <dgm:spPr/>
    </dgm:pt>
    <dgm:pt modelId="{64E8AB42-9A23-48F4-A849-DA0A2A2B365C}" type="pres">
      <dgm:prSet presAssocID="{15B9FCE9-7D8F-4D05-ABCB-21E2F236D461}" presName="accentRepeatNode" presStyleLbl="solidFgAcc1" presStyleIdx="0" presStyleCnt="3"/>
      <dgm:spPr/>
    </dgm:pt>
    <dgm:pt modelId="{2FBAE8C5-C308-403A-B69E-DEED5FEF9DA0}" type="pres">
      <dgm:prSet presAssocID="{A99E288C-6596-4FC9-A0CB-C0BC85DA0C55}" presName="text_2" presStyleLbl="node1" presStyleIdx="1" presStyleCnt="3" custLinFactNeighborX="164" custLinFactNeighborY="6510">
        <dgm:presLayoutVars>
          <dgm:bulletEnabled val="1"/>
        </dgm:presLayoutVars>
      </dgm:prSet>
      <dgm:spPr/>
    </dgm:pt>
    <dgm:pt modelId="{04BED3D9-1140-4BF6-B4DF-56A5CF2F953D}" type="pres">
      <dgm:prSet presAssocID="{A99E288C-6596-4FC9-A0CB-C0BC85DA0C55}" presName="accent_2" presStyleCnt="0"/>
      <dgm:spPr/>
    </dgm:pt>
    <dgm:pt modelId="{D60B1A96-68EB-4E66-8F7A-C92EEE6477A4}" type="pres">
      <dgm:prSet presAssocID="{A99E288C-6596-4FC9-A0CB-C0BC85DA0C55}" presName="accentRepeatNode" presStyleLbl="solidFgAcc1" presStyleIdx="1" presStyleCnt="3"/>
      <dgm:spPr/>
    </dgm:pt>
    <dgm:pt modelId="{55B9F375-E6D1-470C-BE93-7BCB024A3404}" type="pres">
      <dgm:prSet presAssocID="{00B2E2E5-F0E0-4F22-9054-A2237D189D93}" presName="text_3" presStyleLbl="node1" presStyleIdx="2" presStyleCnt="3">
        <dgm:presLayoutVars>
          <dgm:bulletEnabled val="1"/>
        </dgm:presLayoutVars>
      </dgm:prSet>
      <dgm:spPr/>
    </dgm:pt>
    <dgm:pt modelId="{5816E15C-2713-40E0-9DA8-53ECCD4E6600}" type="pres">
      <dgm:prSet presAssocID="{00B2E2E5-F0E0-4F22-9054-A2237D189D93}" presName="accent_3" presStyleCnt="0"/>
      <dgm:spPr/>
    </dgm:pt>
    <dgm:pt modelId="{61073707-5EE0-4A2C-BF45-86A79C13B104}" type="pres">
      <dgm:prSet presAssocID="{00B2E2E5-F0E0-4F22-9054-A2237D189D93}" presName="accentRepeatNode" presStyleLbl="solidFgAcc1" presStyleIdx="2" presStyleCnt="3"/>
      <dgm:spPr/>
    </dgm:pt>
  </dgm:ptLst>
  <dgm:cxnLst>
    <dgm:cxn modelId="{95E1870A-6B8E-40A3-AC4F-6F2BA7314511}" type="presOf" srcId="{5544257B-75F8-48F9-870F-36817787CDF6}" destId="{009B0270-9572-45B4-BC5B-2394EB2372B9}" srcOrd="0" destOrd="0" presId="urn:microsoft.com/office/officeart/2008/layout/VerticalCurvedList"/>
    <dgm:cxn modelId="{00A60D3F-63FF-4306-A44D-B69CFEC5A314}" type="presOf" srcId="{15B9FCE9-7D8F-4D05-ABCB-21E2F236D461}" destId="{C8BC872E-328B-4CCF-90E0-2A4FED30025B}" srcOrd="0" destOrd="0" presId="urn:microsoft.com/office/officeart/2008/layout/VerticalCurvedList"/>
    <dgm:cxn modelId="{CE573479-B0C0-4B87-B2E1-83C4AFFE2E50}" type="presOf" srcId="{A99E288C-6596-4FC9-A0CB-C0BC85DA0C55}" destId="{2FBAE8C5-C308-403A-B69E-DEED5FEF9DA0}" srcOrd="0" destOrd="0" presId="urn:microsoft.com/office/officeart/2008/layout/VerticalCurvedList"/>
    <dgm:cxn modelId="{34CB7259-A0DF-449C-8F10-D42FC3588AC3}" srcId="{5544257B-75F8-48F9-870F-36817787CDF6}" destId="{A99E288C-6596-4FC9-A0CB-C0BC85DA0C55}" srcOrd="1" destOrd="0" parTransId="{A8CA243B-A62F-4A80-9A3D-3E90C06B0259}" sibTransId="{7795EB98-4714-4B00-96A0-1B7983B067FA}"/>
    <dgm:cxn modelId="{5C2B829B-1E24-4F8F-80F9-EE7A80F6767E}" srcId="{5544257B-75F8-48F9-870F-36817787CDF6}" destId="{15B9FCE9-7D8F-4D05-ABCB-21E2F236D461}" srcOrd="0" destOrd="0" parTransId="{65CFA284-F5EC-4700-87F6-86F267F0B954}" sibTransId="{BADD23AE-A764-4D6D-B9FA-9B44F887433D}"/>
    <dgm:cxn modelId="{238499C4-179E-4CB4-A890-CE942E4FF1BF}" type="presOf" srcId="{BADD23AE-A764-4D6D-B9FA-9B44F887433D}" destId="{EB2525BB-6150-4382-9DBB-0E1706DF86CA}" srcOrd="0" destOrd="0" presId="urn:microsoft.com/office/officeart/2008/layout/VerticalCurvedList"/>
    <dgm:cxn modelId="{443DC4D3-55B2-4EA7-9A28-818A33D37982}" srcId="{5544257B-75F8-48F9-870F-36817787CDF6}" destId="{00B2E2E5-F0E0-4F22-9054-A2237D189D93}" srcOrd="2" destOrd="0" parTransId="{5813DA95-5109-4E40-A82B-D1EC892FBB9F}" sibTransId="{79A4C4DA-EF02-4873-9F5B-599177683E07}"/>
    <dgm:cxn modelId="{6AD865FD-9ADC-47D8-9637-440DE1F2E3E1}" type="presOf" srcId="{00B2E2E5-F0E0-4F22-9054-A2237D189D93}" destId="{55B9F375-E6D1-470C-BE93-7BCB024A3404}" srcOrd="0" destOrd="0" presId="urn:microsoft.com/office/officeart/2008/layout/VerticalCurvedList"/>
    <dgm:cxn modelId="{8B837592-8AD0-4FA0-B94A-456F4636F28C}" type="presParOf" srcId="{009B0270-9572-45B4-BC5B-2394EB2372B9}" destId="{94A3A50F-0D45-4DBC-8B34-BB93E9EC2523}" srcOrd="0" destOrd="0" presId="urn:microsoft.com/office/officeart/2008/layout/VerticalCurvedList"/>
    <dgm:cxn modelId="{826A0420-B473-4747-A760-034EB779AB11}" type="presParOf" srcId="{94A3A50F-0D45-4DBC-8B34-BB93E9EC2523}" destId="{E2C01D5B-45B7-4FF6-8DF1-38EA0C9F4184}" srcOrd="0" destOrd="0" presId="urn:microsoft.com/office/officeart/2008/layout/VerticalCurvedList"/>
    <dgm:cxn modelId="{F2DCE1EA-B25F-4837-8E7B-CE611FA0D6E1}" type="presParOf" srcId="{E2C01D5B-45B7-4FF6-8DF1-38EA0C9F4184}" destId="{19A9B9F1-0717-4029-83FA-13F8207D545D}" srcOrd="0" destOrd="0" presId="urn:microsoft.com/office/officeart/2008/layout/VerticalCurvedList"/>
    <dgm:cxn modelId="{30936007-AF01-40F8-84CC-28C4DE37E8D8}" type="presParOf" srcId="{E2C01D5B-45B7-4FF6-8DF1-38EA0C9F4184}" destId="{EB2525BB-6150-4382-9DBB-0E1706DF86CA}" srcOrd="1" destOrd="0" presId="urn:microsoft.com/office/officeart/2008/layout/VerticalCurvedList"/>
    <dgm:cxn modelId="{F7CE4896-8B5F-4883-B81D-B7A4A29D8B4A}" type="presParOf" srcId="{E2C01D5B-45B7-4FF6-8DF1-38EA0C9F4184}" destId="{2FB026B7-6726-471D-9FAB-71E770CF2C0C}" srcOrd="2" destOrd="0" presId="urn:microsoft.com/office/officeart/2008/layout/VerticalCurvedList"/>
    <dgm:cxn modelId="{D4FA9F8B-0CFE-43D9-9FD0-97BB9013195B}" type="presParOf" srcId="{E2C01D5B-45B7-4FF6-8DF1-38EA0C9F4184}" destId="{3BA06579-C612-4639-A5CB-0196AFF48ED0}" srcOrd="3" destOrd="0" presId="urn:microsoft.com/office/officeart/2008/layout/VerticalCurvedList"/>
    <dgm:cxn modelId="{B59F5EDC-640D-408C-B502-703CF073BFBC}" type="presParOf" srcId="{94A3A50F-0D45-4DBC-8B34-BB93E9EC2523}" destId="{C8BC872E-328B-4CCF-90E0-2A4FED30025B}" srcOrd="1" destOrd="0" presId="urn:microsoft.com/office/officeart/2008/layout/VerticalCurvedList"/>
    <dgm:cxn modelId="{32F7A67C-88BD-440A-85FB-242DA3D30AFA}" type="presParOf" srcId="{94A3A50F-0D45-4DBC-8B34-BB93E9EC2523}" destId="{CC16AFA3-72F6-45A5-B8A9-7CE425120B57}" srcOrd="2" destOrd="0" presId="urn:microsoft.com/office/officeart/2008/layout/VerticalCurvedList"/>
    <dgm:cxn modelId="{65F70D85-AC1D-4160-9192-B7E70E16E491}" type="presParOf" srcId="{CC16AFA3-72F6-45A5-B8A9-7CE425120B57}" destId="{64E8AB42-9A23-48F4-A849-DA0A2A2B365C}" srcOrd="0" destOrd="0" presId="urn:microsoft.com/office/officeart/2008/layout/VerticalCurvedList"/>
    <dgm:cxn modelId="{27D455F6-8117-4A46-9AB0-5B293018D168}" type="presParOf" srcId="{94A3A50F-0D45-4DBC-8B34-BB93E9EC2523}" destId="{2FBAE8C5-C308-403A-B69E-DEED5FEF9DA0}" srcOrd="3" destOrd="0" presId="urn:microsoft.com/office/officeart/2008/layout/VerticalCurvedList"/>
    <dgm:cxn modelId="{5B580D9D-0782-488D-9CD4-EF86C1CA30E4}" type="presParOf" srcId="{94A3A50F-0D45-4DBC-8B34-BB93E9EC2523}" destId="{04BED3D9-1140-4BF6-B4DF-56A5CF2F953D}" srcOrd="4" destOrd="0" presId="urn:microsoft.com/office/officeart/2008/layout/VerticalCurvedList"/>
    <dgm:cxn modelId="{AF150BC3-2819-4C6B-9DBB-6B5DB3E641AC}" type="presParOf" srcId="{04BED3D9-1140-4BF6-B4DF-56A5CF2F953D}" destId="{D60B1A96-68EB-4E66-8F7A-C92EEE6477A4}" srcOrd="0" destOrd="0" presId="urn:microsoft.com/office/officeart/2008/layout/VerticalCurvedList"/>
    <dgm:cxn modelId="{9039E57D-FDC2-424D-80A7-9C7B66ED249F}" type="presParOf" srcId="{94A3A50F-0D45-4DBC-8B34-BB93E9EC2523}" destId="{55B9F375-E6D1-470C-BE93-7BCB024A3404}" srcOrd="5" destOrd="0" presId="urn:microsoft.com/office/officeart/2008/layout/VerticalCurvedList"/>
    <dgm:cxn modelId="{34173DBF-6497-44FB-A5A7-F9BE9A3BD56E}" type="presParOf" srcId="{94A3A50F-0D45-4DBC-8B34-BB93E9EC2523}" destId="{5816E15C-2713-40E0-9DA8-53ECCD4E6600}" srcOrd="6" destOrd="0" presId="urn:microsoft.com/office/officeart/2008/layout/VerticalCurvedList"/>
    <dgm:cxn modelId="{3E93F648-FEAD-429B-A2F4-418AFF257CF2}" type="presParOf" srcId="{5816E15C-2713-40E0-9DA8-53ECCD4E6600}" destId="{61073707-5EE0-4A2C-BF45-86A79C13B104}" srcOrd="0" destOrd="0" presId="urn:microsoft.com/office/officeart/2008/layout/VerticalCurvedList"/>
  </dgm:cxnLst>
  <dgm:bg>
    <a:noFill/>
    <a:effectLst>
      <a:outerShdw blurRad="50800" dist="50800" dir="5400000" algn="ctr" rotWithShape="0">
        <a:schemeClr val="accent1">
          <a:lumMod val="75000"/>
        </a:schemeClr>
      </a:out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2525BB-6150-4382-9DBB-0E1706DF86CA}">
      <dsp:nvSpPr>
        <dsp:cNvPr id="0" name=""/>
        <dsp:cNvSpPr/>
      </dsp:nvSpPr>
      <dsp:spPr>
        <a:xfrm>
          <a:off x="-2379602" y="-367709"/>
          <a:ext cx="2841872" cy="2841872"/>
        </a:xfrm>
        <a:prstGeom prst="blockArc">
          <a:avLst>
            <a:gd name="adj1" fmla="val 18900000"/>
            <a:gd name="adj2" fmla="val 2700000"/>
            <a:gd name="adj3" fmla="val 76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BC872E-328B-4CCF-90E0-2A4FED30025B}">
      <dsp:nvSpPr>
        <dsp:cNvPr id="0" name=""/>
        <dsp:cNvSpPr/>
      </dsp:nvSpPr>
      <dsp:spPr>
        <a:xfrm>
          <a:off x="287952" y="244234"/>
          <a:ext cx="7559561" cy="421290"/>
        </a:xfrm>
        <a:prstGeom prst="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399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Контроль и безопасность</a:t>
          </a:r>
        </a:p>
      </dsp:txBody>
      <dsp:txXfrm>
        <a:off x="287952" y="244234"/>
        <a:ext cx="7559561" cy="421290"/>
      </dsp:txXfrm>
    </dsp:sp>
    <dsp:sp modelId="{64E8AB42-9A23-48F4-A849-DA0A2A2B365C}">
      <dsp:nvSpPr>
        <dsp:cNvPr id="0" name=""/>
        <dsp:cNvSpPr/>
      </dsp:nvSpPr>
      <dsp:spPr>
        <a:xfrm>
          <a:off x="33868" y="157983"/>
          <a:ext cx="526613" cy="5266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BAE8C5-C308-403A-B69E-DEED5FEF9DA0}">
      <dsp:nvSpPr>
        <dsp:cNvPr id="0" name=""/>
        <dsp:cNvSpPr/>
      </dsp:nvSpPr>
      <dsp:spPr>
        <a:xfrm>
          <a:off x="462461" y="870007"/>
          <a:ext cx="7406422" cy="421290"/>
        </a:xfrm>
        <a:prstGeom prst="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399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Единообразие и соответствие </a:t>
          </a:r>
          <a:r>
            <a:rPr lang="ru-RU" sz="2200" kern="1200" dirty="0" err="1"/>
            <a:t>стандратам</a:t>
          </a:r>
          <a:endParaRPr lang="ru-RU" sz="2200" kern="1200" dirty="0"/>
        </a:p>
      </dsp:txBody>
      <dsp:txXfrm>
        <a:off x="462461" y="870007"/>
        <a:ext cx="7406422" cy="421290"/>
      </dsp:txXfrm>
    </dsp:sp>
    <dsp:sp modelId="{D60B1A96-68EB-4E66-8F7A-C92EEE6477A4}">
      <dsp:nvSpPr>
        <dsp:cNvPr id="0" name=""/>
        <dsp:cNvSpPr/>
      </dsp:nvSpPr>
      <dsp:spPr>
        <a:xfrm>
          <a:off x="187008" y="789919"/>
          <a:ext cx="526613" cy="5266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9F375-E6D1-470C-BE93-7BCB024A3404}">
      <dsp:nvSpPr>
        <dsp:cNvPr id="0" name=""/>
        <dsp:cNvSpPr/>
      </dsp:nvSpPr>
      <dsp:spPr>
        <a:xfrm>
          <a:off x="297175" y="1474517"/>
          <a:ext cx="7559561" cy="421290"/>
        </a:xfrm>
        <a:prstGeom prst="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399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Подотчетность</a:t>
          </a:r>
        </a:p>
      </dsp:txBody>
      <dsp:txXfrm>
        <a:off x="297175" y="1474517"/>
        <a:ext cx="7559561" cy="421290"/>
      </dsp:txXfrm>
    </dsp:sp>
    <dsp:sp modelId="{61073707-5EE0-4A2C-BF45-86A79C13B104}">
      <dsp:nvSpPr>
        <dsp:cNvPr id="0" name=""/>
        <dsp:cNvSpPr/>
      </dsp:nvSpPr>
      <dsp:spPr>
        <a:xfrm>
          <a:off x="33868" y="1421855"/>
          <a:ext cx="526613" cy="5266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0.04745</cdr:x>
      <cdr:y>0.83138</cdr:y>
    </cdr:from>
    <cdr:to>
      <cdr:x>0.95023</cdr:x>
      <cdr:y>0.83431</cdr:y>
    </cdr:to>
    <cdr:cxnSp macro="">
      <cdr:nvCxnSpPr>
        <cdr:cNvPr id="3" name="Прямая соединительная линия 2">
          <a:extLst xmlns:a="http://schemas.openxmlformats.org/drawingml/2006/main">
            <a:ext uri="{FF2B5EF4-FFF2-40B4-BE49-F238E27FC236}">
              <a16:creationId xmlns:a16="http://schemas.microsoft.com/office/drawing/2014/main" id="{C12E0442-AEE1-0076-D237-D89BBA9B2839}"/>
            </a:ext>
          </a:extLst>
        </cdr:cNvPr>
        <cdr:cNvCxnSpPr/>
      </cdr:nvCxnSpPr>
      <cdr:spPr>
        <a:xfrm xmlns:a="http://schemas.openxmlformats.org/drawingml/2006/main" flipV="1">
          <a:off x="260350" y="3600450"/>
          <a:ext cx="4953000" cy="12700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rgbClr val="FF0000"/>
          </a:solidFill>
        </a:ln>
      </cdr:spPr>
      <cdr:style>
        <a:lnRef xmlns:a="http://schemas.openxmlformats.org/drawingml/2006/main" idx="1">
          <a:schemeClr val="accent2"/>
        </a:lnRef>
        <a:fillRef xmlns:a="http://schemas.openxmlformats.org/drawingml/2006/main" idx="0">
          <a:schemeClr val="accent2"/>
        </a:fillRef>
        <a:effectRef xmlns:a="http://schemas.openxmlformats.org/drawingml/2006/main" idx="0">
          <a:schemeClr val="accent2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0.39468</cdr:x>
      <cdr:y>0.18035</cdr:y>
    </cdr:from>
    <cdr:to>
      <cdr:x>0.46759</cdr:x>
      <cdr:y>0.26979</cdr:y>
    </cdr:to>
    <cdr:sp macro="" textlink="">
      <cdr:nvSpPr>
        <cdr:cNvPr id="4" name="Овал 3"/>
        <cdr:cNvSpPr/>
      </cdr:nvSpPr>
      <cdr:spPr>
        <a:xfrm xmlns:a="http://schemas.openxmlformats.org/drawingml/2006/main">
          <a:off x="2165350" y="781050"/>
          <a:ext cx="400050" cy="387350"/>
        </a:xfrm>
        <a:prstGeom xmlns:a="http://schemas.openxmlformats.org/drawingml/2006/main" prst="ellipse">
          <a:avLst/>
        </a:prstGeom>
        <a:noFill xmlns:a="http://schemas.openxmlformats.org/drawingml/2006/main"/>
        <a:ln xmlns:a="http://schemas.openxmlformats.org/drawingml/2006/main">
          <a:solidFill>
            <a:srgbClr val="FF0000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ru-RU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0.04745</cdr:x>
      <cdr:y>0.83138</cdr:y>
    </cdr:from>
    <cdr:to>
      <cdr:x>0.95023</cdr:x>
      <cdr:y>0.83431</cdr:y>
    </cdr:to>
    <cdr:cxnSp macro="">
      <cdr:nvCxnSpPr>
        <cdr:cNvPr id="3" name="Прямая соединительная линия 2">
          <a:extLst xmlns:a="http://schemas.openxmlformats.org/drawingml/2006/main">
            <a:ext uri="{FF2B5EF4-FFF2-40B4-BE49-F238E27FC236}">
              <a16:creationId xmlns:a16="http://schemas.microsoft.com/office/drawing/2014/main" id="{C12E0442-AEE1-0076-D237-D89BBA9B2839}"/>
            </a:ext>
          </a:extLst>
        </cdr:cNvPr>
        <cdr:cNvCxnSpPr/>
      </cdr:nvCxnSpPr>
      <cdr:spPr>
        <a:xfrm xmlns:a="http://schemas.openxmlformats.org/drawingml/2006/main" flipV="1">
          <a:off x="260350" y="3600450"/>
          <a:ext cx="4953000" cy="12700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rgbClr val="FF0000"/>
          </a:solidFill>
        </a:ln>
      </cdr:spPr>
      <cdr:style>
        <a:lnRef xmlns:a="http://schemas.openxmlformats.org/drawingml/2006/main" idx="1">
          <a:schemeClr val="accent2"/>
        </a:lnRef>
        <a:fillRef xmlns:a="http://schemas.openxmlformats.org/drawingml/2006/main" idx="0">
          <a:schemeClr val="accent2"/>
        </a:fillRef>
        <a:effectRef xmlns:a="http://schemas.openxmlformats.org/drawingml/2006/main" idx="0">
          <a:schemeClr val="accent2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0.39468</cdr:x>
      <cdr:y>0.18035</cdr:y>
    </cdr:from>
    <cdr:to>
      <cdr:x>0.46759</cdr:x>
      <cdr:y>0.26979</cdr:y>
    </cdr:to>
    <cdr:sp macro="" textlink="">
      <cdr:nvSpPr>
        <cdr:cNvPr id="4" name="Овал 3"/>
        <cdr:cNvSpPr/>
      </cdr:nvSpPr>
      <cdr:spPr>
        <a:xfrm xmlns:a="http://schemas.openxmlformats.org/drawingml/2006/main">
          <a:off x="2165350" y="781050"/>
          <a:ext cx="400050" cy="387350"/>
        </a:xfrm>
        <a:prstGeom xmlns:a="http://schemas.openxmlformats.org/drawingml/2006/main" prst="ellipse">
          <a:avLst/>
        </a:prstGeom>
        <a:noFill xmlns:a="http://schemas.openxmlformats.org/drawingml/2006/main"/>
        <a:ln xmlns:a="http://schemas.openxmlformats.org/drawingml/2006/main">
          <a:solidFill>
            <a:srgbClr val="FF0000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ru-RU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14E15-D3E1-4835-8A13-810A8DBBD276}" type="datetimeFigureOut">
              <a:rPr lang="ru-RU" smtClean="0"/>
              <a:t>28.04.2025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CFDF8E-A5E9-48EC-8C3B-4A8FBEB90F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0987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Добрый день, уважаемый Дмитри</a:t>
            </a:r>
            <a:r>
              <a:rPr lang="ru-RU" baseline="0" dirty="0"/>
              <a:t>й Альбертович</a:t>
            </a:r>
            <a:r>
              <a:rPr lang="ru-RU" dirty="0"/>
              <a:t>! Добрый день, коллеги.</a:t>
            </a:r>
          </a:p>
          <a:p>
            <a:r>
              <a:rPr lang="ru-RU" dirty="0"/>
              <a:t>Согласно поручению</a:t>
            </a:r>
            <a:r>
              <a:rPr lang="ru-RU" baseline="0" dirty="0"/>
              <a:t> ректора по рекомендациям по использованию фирменного стиля, мы разослали всем руководителям подразделений письмо с просьбой предоставить нам обратную связь в виде предложений по изменению и корректировкам связанными с использованием фирменного стиля в презентациях.</a:t>
            </a:r>
          </a:p>
          <a:p>
            <a:r>
              <a:rPr lang="ru-RU" baseline="0" dirty="0"/>
              <a:t>Все полученные рекомендации мы разбили на три категории:</a:t>
            </a:r>
          </a:p>
          <a:p>
            <a:pPr marL="228600" indent="-228600">
              <a:buAutoNum type="arabicParenR"/>
            </a:pPr>
            <a:r>
              <a:rPr lang="ru-RU" baseline="0" dirty="0"/>
              <a:t>Предложения по оформлению презентации;</a:t>
            </a:r>
          </a:p>
          <a:p>
            <a:pPr marL="228600" indent="-228600">
              <a:buAutoNum type="arabicParenR"/>
            </a:pPr>
            <a:r>
              <a:rPr lang="ru-RU" baseline="0" dirty="0"/>
              <a:t>Предложения по внедрению новых единых стилеобразующих элементов;</a:t>
            </a:r>
          </a:p>
          <a:p>
            <a:pPr marL="228600" indent="-228600">
              <a:buAutoNum type="arabicParenR"/>
            </a:pPr>
            <a:r>
              <a:rPr lang="ru-RU" baseline="0" dirty="0"/>
              <a:t>Предложения по структуре презентаций.</a:t>
            </a:r>
          </a:p>
          <a:p>
            <a:pPr marL="228600" indent="-228600">
              <a:buAutoNum type="arabicParenR"/>
            </a:pP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167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0671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4D9D6-3AA9-495D-5563-E020D40BD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F82D7F-5BD7-804B-CDA0-C95254075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AA80CE-2C71-2EA1-7C6A-DBC769DF5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F50DA-2B02-4D25-B314-8EEFDA122A4C}" type="datetimeFigureOut">
              <a:rPr lang="ru-RU" smtClean="0"/>
              <a:t>28.04.2025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D0B0B7-2745-2FEF-633A-E7D842A00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02589B-5A30-413E-54F6-8DA0514F6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770B9-C723-403F-92FD-B3F9A47B7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930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76FAC-53BA-9E0F-0D65-63EE15E9A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2C61CC-29F3-1B24-A963-1B7D8D076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8664B9-5267-9B40-1487-90E95D148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F50DA-2B02-4D25-B314-8EEFDA122A4C}" type="datetimeFigureOut">
              <a:rPr lang="ru-RU" smtClean="0"/>
              <a:t>28.04.2025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B52ADC-C34E-6A64-0636-2C113DEB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312227-2B9A-D91B-163D-BB4E0B061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770B9-C723-403F-92FD-B3F9A47B7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39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61184-9F2B-2CBA-CABA-0C8464459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32BA6C7-127D-512D-2B19-11181A284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AA3F7E-3A0C-4576-4556-91FFBB7B8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F50DA-2B02-4D25-B314-8EEFDA122A4C}" type="datetimeFigureOut">
              <a:rPr lang="ru-RU" smtClean="0"/>
              <a:t>28.04.2025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5CEDE6-50C3-A171-6BD6-A0838F77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93D88B-EF32-7DD2-23BD-92EA85546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770B9-C723-403F-92FD-B3F9A47B7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736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394D3B-4431-FEBA-6756-4E705D59E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BF0724-68E7-6F89-1626-ADD61BEB9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DA39FC-0792-AF11-CB2D-82CB6E424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7A24B0-F702-191C-CFB2-DCFDC2C30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F50DA-2B02-4D25-B314-8EEFDA122A4C}" type="datetimeFigureOut">
              <a:rPr lang="ru-RU" smtClean="0"/>
              <a:t>28.04.2025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3E0BDB-19C8-AB60-FA56-E8512E3D4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62908C-6DD8-171B-DDCC-305E0BA4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770B9-C723-403F-92FD-B3F9A47B7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09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98D9E2-07BD-7C1C-DD5B-7502AFFB6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47C85C-0A14-92E9-B22E-5A4CCEC4A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C1C592-9B15-42DA-1171-07469525E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CBAB109-D6B9-1C60-65D9-41E7490C66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1C231DB-7961-C995-CC4A-94827B895F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32BD509-7B60-A558-E08B-4BE83C50C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F50DA-2B02-4D25-B314-8EEFDA122A4C}" type="datetimeFigureOut">
              <a:rPr lang="ru-RU" smtClean="0"/>
              <a:t>28.04.2025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5D6C37D-93F1-13B2-4C32-2975BA277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52664C7-F2E2-7857-A494-7DC4878A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770B9-C723-403F-92FD-B3F9A47B7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173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5C58E4-FDAA-26ED-FAA0-042E64B88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17ABB24-4005-69EB-C741-763BE59B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F50DA-2B02-4D25-B314-8EEFDA122A4C}" type="datetimeFigureOut">
              <a:rPr lang="ru-RU" smtClean="0"/>
              <a:t>28.04.2025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DB0D6B6-60C5-F6BF-7F4A-4ABBF8CB3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3F10B3-4228-1788-2417-C633A3327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770B9-C723-403F-92FD-B3F9A47B7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5738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7AE372C-994C-349B-BDC6-28D32815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F50DA-2B02-4D25-B314-8EEFDA122A4C}" type="datetimeFigureOut">
              <a:rPr lang="ru-RU" smtClean="0"/>
              <a:t>28.04.2025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9D8062-876B-C448-C77F-569EBB0A0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0B7584-3833-47E6-7A93-679093446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770B9-C723-403F-92FD-B3F9A47B7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44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5155F6-CC74-E1CD-91CF-56964C1E8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E0D6C6-5504-40BD-4B2E-437104A6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30A61A-5EF6-C754-6BA3-455927E1A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44BDFA-78C0-2C02-7761-710A6F2C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F50DA-2B02-4D25-B314-8EEFDA122A4C}" type="datetimeFigureOut">
              <a:rPr lang="ru-RU" smtClean="0"/>
              <a:t>28.04.2025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B61D42-DB32-0D17-9934-57D9259AB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B9503C-ABD3-CFEE-DB5E-31FFEDC00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770B9-C723-403F-92FD-B3F9A47B7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1765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419909-8490-8E3B-63AF-F09849F99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54B6DC4-E589-4B2A-C8E5-B963593A28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0E185C-2759-3F84-22CA-CBE0E2322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360673-1291-B115-4615-F50815975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F50DA-2B02-4D25-B314-8EEFDA122A4C}" type="datetimeFigureOut">
              <a:rPr lang="ru-RU" smtClean="0"/>
              <a:t>28.04.2025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96D29C-E3A9-21CD-5F8E-C5A3F259B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AFCE64-472B-993A-1250-166ABC7C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770B9-C723-403F-92FD-B3F9A47B7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732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A907A-6F7E-E3E4-9A84-7521BDBB2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4427ECB-9CED-80EB-2A31-28831A1C0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E43C2C-CF49-9143-E576-38CDBD19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F50DA-2B02-4D25-B314-8EEFDA122A4C}" type="datetimeFigureOut">
              <a:rPr lang="ru-RU" smtClean="0"/>
              <a:t>28.04.2025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78C5E8-DC1C-777E-0DD8-ED90762C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577A1D-13FF-5C93-750B-0F63EA92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770B9-C723-403F-92FD-B3F9A47B7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719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1C87B81-1A6B-3C15-3AF5-5E479F900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1C44DA-08A0-B536-330A-B6E4FAD81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602A5C-109F-FCD3-8904-23C68BAE2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F50DA-2B02-4D25-B314-8EEFDA122A4C}" type="datetimeFigureOut">
              <a:rPr lang="ru-RU" smtClean="0"/>
              <a:t>28.04.2025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E155C4-6EF2-C17E-4DF0-AF4E39CBB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CBA2C6-2825-52F9-B6B8-C696C8B11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770B9-C723-403F-92FD-B3F9A47B7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664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AAEFD5-D6E4-74A8-387B-68D09B0B2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150ABF-11E6-246E-4E39-51BDCDEA8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4527D5-5460-307C-BB8F-C36EEC945E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7F50DA-2B02-4D25-B314-8EEFDA122A4C}" type="datetimeFigureOut">
              <a:rPr lang="ru-RU" smtClean="0"/>
              <a:t>28.04.2025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5FC59A-CFF8-C248-DD60-30F22F429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C2A990-1A05-4AD2-8464-93D98849B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770B9-C723-403F-92FD-B3F9A47B7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1250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10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openxmlformats.org/officeDocument/2006/relationships/image" Target="../media/image9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8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7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3" y="737118"/>
            <a:ext cx="5794313" cy="1388453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5" name="TextBox 4"/>
          <p:cNvSpPr txBox="1"/>
          <p:nvPr/>
        </p:nvSpPr>
        <p:spPr>
          <a:xfrm>
            <a:off x="5794310" y="925242"/>
            <a:ext cx="6515621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Оптимизация ключевых процессов подразделения УДК</a:t>
            </a:r>
            <a:endParaRPr lang="ru-RU" sz="2800" b="1" dirty="0">
              <a:solidFill>
                <a:schemeClr val="accent1">
                  <a:lumMod val="75000"/>
                </a:schemeClr>
              </a:solidFill>
              <a:latin typeface="PT Sans" panose="020B0503020203020204" pitchFamily="34" charset="-5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8012" y="4283803"/>
            <a:ext cx="4691932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549F"/>
                </a:solidFill>
                <a:latin typeface="PT Sans" panose="020B0503020203020204" pitchFamily="34" charset="-52"/>
              </a:rPr>
              <a:t>Выполнили:</a:t>
            </a:r>
          </a:p>
          <a:p>
            <a:r>
              <a:rPr lang="ru-RU" b="1" dirty="0" err="1">
                <a:solidFill>
                  <a:srgbClr val="00549F"/>
                </a:solidFill>
                <a:latin typeface="PT Sans" panose="020B0503020203020204" pitchFamily="34" charset="-52"/>
              </a:rPr>
              <a:t>Зайдуллина</a:t>
            </a:r>
            <a:r>
              <a:rPr lang="ru-RU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ru-RU" b="1" dirty="0" err="1">
                <a:solidFill>
                  <a:srgbClr val="00549F"/>
                </a:solidFill>
                <a:latin typeface="PT Sans" panose="020B0503020203020204" pitchFamily="34" charset="-52"/>
              </a:rPr>
              <a:t>Ильсина</a:t>
            </a:r>
            <a:r>
              <a:rPr lang="ru-RU" b="1" dirty="0">
                <a:solidFill>
                  <a:srgbClr val="00549F"/>
                </a:solidFill>
                <a:latin typeface="PT Sans" panose="020B0503020203020204" pitchFamily="34" charset="-52"/>
              </a:rPr>
              <a:t>, Санкова Анастасия, Мурзина Арина, Игнатьев Игнат</a:t>
            </a:r>
          </a:p>
          <a:p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Студенты 4 курса</a:t>
            </a:r>
          </a:p>
          <a:p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Группы 14.6-110</a:t>
            </a:r>
          </a:p>
          <a:p>
            <a:endParaRPr lang="ru-RU" sz="16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endParaRPr lang="ru-RU" sz="16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endParaRPr lang="ru-RU" sz="1600" b="1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  <p:pic>
        <p:nvPicPr>
          <p:cNvPr id="7" name="Picture 2" descr="C:\Users\MSShafigullin\Desktop\Проекты\Брендбук\Готовый ББ\Логотипы в png\2_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34" y="1212981"/>
            <a:ext cx="4436761" cy="596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E0A9F80-1E5D-4732-12D9-ED4CEE35A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34" y="3476730"/>
            <a:ext cx="3056822" cy="264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24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882" y="45134"/>
            <a:ext cx="9804918" cy="1325563"/>
          </a:xfrm>
        </p:spPr>
        <p:txBody>
          <a:bodyPr/>
          <a:lstStyle/>
          <a:p>
            <a:r>
              <a:rPr lang="ru-RU" b="1" dirty="0">
                <a:solidFill>
                  <a:srgbClr val="FFCA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печатей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44702B-C39A-60B2-2966-6E422D4E9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86" y="1460182"/>
            <a:ext cx="10047514" cy="4351338"/>
          </a:xfrm>
          <a:noFill/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Одной из </a:t>
            </a:r>
            <a:r>
              <a:rPr lang="ru-RU" u="sng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ключевых особенностей организации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документооборота в Казанском Федеральном Университете </a:t>
            </a:r>
            <a:r>
              <a:rPr lang="ru-RU" u="sng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является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строго централизованный порядок </a:t>
            </a:r>
            <a:r>
              <a:rPr lang="ru-RU" u="sng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проставления гербовой печати.</a:t>
            </a:r>
            <a:endParaRPr lang="en-US" u="sng" dirty="0">
              <a:solidFill>
                <a:schemeClr val="accent1">
                  <a:lumMod val="75000"/>
                </a:schemeClr>
              </a:solidFill>
              <a:latin typeface="PT Sans" panose="020B0503020203020204" pitchFamily="34" charset="-5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i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Документы требующие заверения необходимо предоставлять в Отдел документооборота и контроля (</a:t>
            </a:r>
            <a:r>
              <a:rPr lang="ru-RU" i="1" dirty="0" err="1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ОДиК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), расположенный в главном здании </a:t>
            </a:r>
            <a:r>
              <a:rPr lang="ru-RU" i="1" dirty="0">
                <a:solidFill>
                  <a:srgbClr val="FFCA09"/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КФУ на ул. Кремлевская 18.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A4006DCD-2FD4-BB26-5B61-64CB8EC923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1" t="17524" b="41778"/>
          <a:stretch/>
        </p:blipFill>
        <p:spPr bwMode="auto">
          <a:xfrm>
            <a:off x="1103445" y="4765040"/>
            <a:ext cx="11088555" cy="209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032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074" y="316745"/>
            <a:ext cx="10067332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EEC11E"/>
                </a:solidFill>
              </a:rPr>
              <a:t>К подразделениям, обязанным предоставлять документы в отдел </a:t>
            </a:r>
            <a:r>
              <a:rPr lang="ru-RU" sz="3200" b="1" dirty="0" err="1">
                <a:solidFill>
                  <a:srgbClr val="EEC11E"/>
                </a:solidFill>
              </a:rPr>
              <a:t>ОДиК</a:t>
            </a:r>
            <a:r>
              <a:rPr lang="ru-RU" sz="3200" b="1" dirty="0">
                <a:solidFill>
                  <a:srgbClr val="EEC11E"/>
                </a:solidFill>
              </a:rPr>
              <a:t> относятся: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357F1833-6BAD-CAED-881C-D7FAFBE1F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1862943"/>
              </p:ext>
            </p:extLst>
          </p:nvPr>
        </p:nvGraphicFramePr>
        <p:xfrm>
          <a:off x="1395074" y="4334986"/>
          <a:ext cx="7881006" cy="21064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975FD4B0-EC68-93F8-DE44-FA35B138C1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17" r="15782"/>
          <a:stretch/>
        </p:blipFill>
        <p:spPr bwMode="auto">
          <a:xfrm>
            <a:off x="9448800" y="4334987"/>
            <a:ext cx="2567326" cy="2464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22AAF3-BCC1-D087-D78F-923DBB841122}"/>
              </a:ext>
            </a:extLst>
          </p:cNvPr>
          <p:cNvSpPr txBox="1"/>
          <p:nvPr/>
        </p:nvSpPr>
        <p:spPr>
          <a:xfrm>
            <a:off x="1395074" y="1740590"/>
            <a:ext cx="10187326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1)  Институты и факультеты основного кампуса;</a:t>
            </a:r>
          </a:p>
          <a:p>
            <a:r>
              <a:rPr lang="ru-RU" sz="2200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2)  Административные управления и отделы;</a:t>
            </a:r>
          </a:p>
          <a:p>
            <a:r>
              <a:rPr lang="ru-RU" sz="2200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3)  Научно-исследовательские центры и лаборатории;</a:t>
            </a:r>
          </a:p>
          <a:p>
            <a:r>
              <a:rPr lang="ru-RU" sz="2200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4)  Елабужский институт КФУ (филиал);</a:t>
            </a:r>
          </a:p>
          <a:p>
            <a:pPr marL="342900" indent="-342900">
              <a:buAutoNum type="arabicParenR" startAt="5"/>
            </a:pPr>
            <a:r>
              <a:rPr lang="ru-RU" sz="2200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Набережночелнинский институт КФУ (филиал).</a:t>
            </a:r>
          </a:p>
          <a:p>
            <a:pPr marL="342900" indent="-342900">
              <a:buAutoNum type="arabicParenR" startAt="5"/>
            </a:pPr>
            <a:endParaRPr lang="ru-RU" dirty="0">
              <a:solidFill>
                <a:schemeClr val="accent1">
                  <a:lumMod val="75000"/>
                </a:schemeClr>
              </a:solidFill>
              <a:latin typeface="PT Sans" panose="020B0503020203020204" pitchFamily="34" charset="-52"/>
            </a:endParaRPr>
          </a:p>
          <a:p>
            <a:r>
              <a:rPr lang="ru-RU" sz="2800" b="1" dirty="0">
                <a:solidFill>
                  <a:srgbClr val="EEC11E"/>
                </a:solidFill>
                <a:latin typeface="PT Sans" panose="020B0503020203020204" pitchFamily="34" charset="-52"/>
              </a:rPr>
              <a:t>Почему это важно и реализовано именно так:</a:t>
            </a:r>
          </a:p>
        </p:txBody>
      </p:sp>
      <p:pic>
        <p:nvPicPr>
          <p:cNvPr id="12" name="Рисунок 11" descr="Банк со сплошной заливкой">
            <a:extLst>
              <a:ext uri="{FF2B5EF4-FFF2-40B4-BE49-F238E27FC236}">
                <a16:creationId xmlns:a16="http://schemas.microsoft.com/office/drawing/2014/main" id="{C4E5D67A-70ED-81E8-856A-173FECC796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95074" y="5702279"/>
            <a:ext cx="575966" cy="575966"/>
          </a:xfrm>
          <a:prstGeom prst="rect">
            <a:avLst/>
          </a:prstGeom>
        </p:spPr>
      </p:pic>
      <p:pic>
        <p:nvPicPr>
          <p:cNvPr id="14" name="Рисунок 13" descr="Документ со сплошной заливкой">
            <a:extLst>
              <a:ext uri="{FF2B5EF4-FFF2-40B4-BE49-F238E27FC236}">
                <a16:creationId xmlns:a16="http://schemas.microsoft.com/office/drawing/2014/main" id="{885CA680-BD7C-3B8E-9213-5CDD2CD2B5F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32257" y="5125763"/>
            <a:ext cx="450543" cy="500520"/>
          </a:xfrm>
          <a:prstGeom prst="rect">
            <a:avLst/>
          </a:prstGeom>
        </p:spPr>
      </p:pic>
      <p:pic>
        <p:nvPicPr>
          <p:cNvPr id="16" name="Рисунок 15" descr="Блокировка со сплошной заливкой">
            <a:extLst>
              <a:ext uri="{FF2B5EF4-FFF2-40B4-BE49-F238E27FC236}">
                <a16:creationId xmlns:a16="http://schemas.microsoft.com/office/drawing/2014/main" id="{FCE6A1DD-8412-F8AA-829B-B74E8B6A81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95074" y="4460239"/>
            <a:ext cx="575966" cy="54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877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468" y="365125"/>
            <a:ext cx="10067332" cy="1325563"/>
          </a:xfrm>
        </p:spPr>
        <p:txBody>
          <a:bodyPr>
            <a:normAutofit/>
          </a:bodyPr>
          <a:lstStyle/>
          <a:p>
            <a:pPr algn="ctr"/>
            <a:r>
              <a:rPr lang="ru-RU" sz="4200" b="1" dirty="0">
                <a:solidFill>
                  <a:srgbClr val="FFCA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и функции подразделения УДК: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F15B4D03-E43A-5275-837A-DE6559D653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108560"/>
              </p:ext>
            </p:extLst>
          </p:nvPr>
        </p:nvGraphicFramePr>
        <p:xfrm>
          <a:off x="1343291" y="1243647"/>
          <a:ext cx="10515600" cy="5353397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066149">
                  <a:extLst>
                    <a:ext uri="{9D8B030D-6E8A-4147-A177-3AD203B41FA5}">
                      <a16:colId xmlns:a16="http://schemas.microsoft.com/office/drawing/2014/main" val="1617404985"/>
                    </a:ext>
                  </a:extLst>
                </a:gridCol>
                <a:gridCol w="2550160">
                  <a:extLst>
                    <a:ext uri="{9D8B030D-6E8A-4147-A177-3AD203B41FA5}">
                      <a16:colId xmlns:a16="http://schemas.microsoft.com/office/drawing/2014/main" val="1372111484"/>
                    </a:ext>
                  </a:extLst>
                </a:gridCol>
                <a:gridCol w="4899291">
                  <a:extLst>
                    <a:ext uri="{9D8B030D-6E8A-4147-A177-3AD203B41FA5}">
                      <a16:colId xmlns:a16="http://schemas.microsoft.com/office/drawing/2014/main" val="3255064671"/>
                    </a:ext>
                  </a:extLst>
                </a:gridCol>
              </a:tblGrid>
              <a:tr h="691498">
                <a:tc>
                  <a:txBody>
                    <a:bodyPr/>
                    <a:lstStyle/>
                    <a:p>
                      <a:pPr algn="ctr" fontAlgn="b"/>
                      <a:r>
                        <a:rPr lang="ru-RU" sz="25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ДОЛЖНОСТЬ</a:t>
                      </a:r>
                      <a:endParaRPr lang="ru-RU" sz="25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18" marR="7018" marT="701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96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5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ЗАДАЧИ</a:t>
                      </a:r>
                      <a:endParaRPr lang="ru-RU" sz="25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18" marR="7018" marT="701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96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5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ФУНКЦИИ</a:t>
                      </a:r>
                      <a:endParaRPr lang="ru-RU" sz="25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18" marR="7018" marT="701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9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161109"/>
                  </a:ext>
                </a:extLst>
              </a:tr>
              <a:tr h="59469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ru-RU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Контроль печатей</a:t>
                      </a:r>
                      <a:endParaRPr lang="ru-RU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18" marR="7018" marT="70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ru-RU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Осуществлять работу по контролю за изготовлением печатей и штампов</a:t>
                      </a:r>
                      <a:endParaRPr lang="ru-RU" sz="2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18" marR="7018" marT="70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Проставлять номера на фирменных бланках университета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18" marR="7018" marT="70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130415"/>
                  </a:ext>
                </a:extLst>
              </a:tr>
              <a:tr h="45148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Проставлять печати на счетах, договорах, дополнительных соглашениях и дипломах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18" marR="7018" marT="70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58242"/>
                  </a:ext>
                </a:extLst>
              </a:tr>
              <a:tr h="45148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Распаковка новой упаковки документов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18" marR="7018" marT="70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620274"/>
                  </a:ext>
                </a:extLst>
              </a:tr>
              <a:tr h="118186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Заверение копии лицензии и свидетельств об аккредитации университета для предоставления в органы МВД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18" marR="7018" marT="70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026493"/>
                  </a:ext>
                </a:extLst>
              </a:tr>
              <a:tr h="142670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Подготовка пломбы для документов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18" marR="7018" marT="70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915861"/>
                  </a:ext>
                </a:extLst>
              </a:tr>
              <a:tr h="45148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Встреча с руководителем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18" marR="7018" marT="70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808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134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920" y="720158"/>
            <a:ext cx="9931400" cy="1325563"/>
          </a:xfrm>
        </p:spPr>
        <p:txBody>
          <a:bodyPr/>
          <a:lstStyle/>
          <a:p>
            <a:r>
              <a:rPr lang="en-US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endParaRPr lang="ru-RU" b="1" dirty="0">
              <a:solidFill>
                <a:srgbClr val="EEC1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E20987C-897C-3ADC-EAF8-BEEF9E01E0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27" t="10579" r="44088" b="27524"/>
          <a:stretch/>
        </p:blipFill>
        <p:spPr>
          <a:xfrm>
            <a:off x="1088216" y="1587857"/>
            <a:ext cx="10387515" cy="5005289"/>
          </a:xfr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AFC535-2E54-3BB7-A490-3DFADC4E7422}"/>
              </a:ext>
            </a:extLst>
          </p:cNvPr>
          <p:cNvSpPr txBox="1"/>
          <p:nvPr/>
        </p:nvSpPr>
        <p:spPr>
          <a:xfrm>
            <a:off x="1391920" y="5907295"/>
            <a:ext cx="3300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i="1" dirty="0">
                <a:solidFill>
                  <a:schemeClr val="accent1">
                    <a:lumMod val="50000"/>
                  </a:schemeClr>
                </a:solidFill>
              </a:rPr>
              <a:t>Продолжение далее…</a:t>
            </a:r>
          </a:p>
        </p:txBody>
      </p:sp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6A6A318A-557E-CECA-A407-D7D26222E5A7}"/>
              </a:ext>
            </a:extLst>
          </p:cNvPr>
          <p:cNvSpPr/>
          <p:nvPr/>
        </p:nvSpPr>
        <p:spPr>
          <a:xfrm>
            <a:off x="4692824" y="6021002"/>
            <a:ext cx="890085" cy="23367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4F5D6F1-5F5A-71B2-2584-FBF328A69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" y="-59085"/>
            <a:ext cx="12192000" cy="109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81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468" y="710565"/>
            <a:ext cx="10067332" cy="1325563"/>
          </a:xfrm>
        </p:spPr>
        <p:txBody>
          <a:bodyPr/>
          <a:lstStyle/>
          <a:p>
            <a:r>
              <a:rPr lang="en-US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4C6DCF4-5321-107D-50BE-DC9555CF45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5438" t="42123" r="6599" b="4056"/>
          <a:stretch/>
        </p:blipFill>
        <p:spPr>
          <a:xfrm>
            <a:off x="2536148" y="1806814"/>
            <a:ext cx="9320572" cy="5025786"/>
          </a:xfr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CCC1A6F-D92C-DAA5-CB93-634A8707207B}"/>
              </a:ext>
            </a:extLst>
          </p:cNvPr>
          <p:cNvCxnSpPr>
            <a:cxnSpLocks/>
          </p:cNvCxnSpPr>
          <p:nvPr/>
        </p:nvCxnSpPr>
        <p:spPr>
          <a:xfrm>
            <a:off x="1286468" y="3931920"/>
            <a:ext cx="13348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438B2C4-4DC9-C483-3426-188A64763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" y="-59085"/>
            <a:ext cx="12192000" cy="109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96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468" y="710565"/>
            <a:ext cx="10067332" cy="1325563"/>
          </a:xfrm>
        </p:spPr>
        <p:txBody>
          <a:bodyPr/>
          <a:lstStyle/>
          <a:p>
            <a:r>
              <a:rPr lang="en-US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BPMN </a:t>
            </a:r>
            <a:r>
              <a:rPr lang="ru-RU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дипломами: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438B2C4-4DC9-C483-3426-188A64763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" y="-59085"/>
            <a:ext cx="12192000" cy="1096249"/>
          </a:xfrm>
          <a:prstGeom prst="rect">
            <a:avLst/>
          </a:prstGeom>
        </p:spPr>
      </p:pic>
      <p:pic>
        <p:nvPicPr>
          <p:cNvPr id="10" name="Объект 9">
            <a:extLst>
              <a:ext uri="{FF2B5EF4-FFF2-40B4-BE49-F238E27FC236}">
                <a16:creationId xmlns:a16="http://schemas.microsoft.com/office/drawing/2014/main" id="{01E5E2DE-C6B6-12E4-1750-289364C0D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823" r="2948" b="8036"/>
          <a:stretch/>
        </p:blipFill>
        <p:spPr>
          <a:xfrm>
            <a:off x="1286468" y="1806814"/>
            <a:ext cx="10702333" cy="4766706"/>
          </a:xfrm>
        </p:spPr>
      </p:pic>
    </p:spTree>
    <p:extLst>
      <p:ext uri="{BB962C8B-B14F-4D97-AF65-F5344CB8AC3E}">
        <p14:creationId xmlns:p14="http://schemas.microsoft.com/office/powerpoint/2010/main" val="3780342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468" y="710565"/>
            <a:ext cx="10067332" cy="1325563"/>
          </a:xfrm>
        </p:spPr>
        <p:txBody>
          <a:bodyPr/>
          <a:lstStyle/>
          <a:p>
            <a:r>
              <a:rPr lang="en-US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BPMN </a:t>
            </a:r>
            <a:r>
              <a:rPr lang="ru-RU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документами: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438B2C4-4DC9-C483-3426-188A64763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96249"/>
          </a:xfrm>
          <a:prstGeom prst="rect">
            <a:avLst/>
          </a:prstGeom>
        </p:spPr>
      </p:pic>
      <p:pic>
        <p:nvPicPr>
          <p:cNvPr id="8" name="Объект 7">
            <a:extLst>
              <a:ext uri="{FF2B5EF4-FFF2-40B4-BE49-F238E27FC236}">
                <a16:creationId xmlns:a16="http://schemas.microsoft.com/office/drawing/2014/main" id="{36A17AFB-43B8-7453-6D4B-AD3322A190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b="13477"/>
          <a:stretch/>
        </p:blipFill>
        <p:spPr>
          <a:xfrm>
            <a:off x="1270478" y="1593454"/>
            <a:ext cx="10754489" cy="5104051"/>
          </a:xfrm>
        </p:spPr>
      </p:pic>
    </p:spTree>
    <p:extLst>
      <p:ext uri="{BB962C8B-B14F-4D97-AF65-F5344CB8AC3E}">
        <p14:creationId xmlns:p14="http://schemas.microsoft.com/office/powerpoint/2010/main" val="3408471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481" y="-65749"/>
            <a:ext cx="10515600" cy="1325563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EEC11E"/>
                </a:solidFill>
              </a:rPr>
              <a:t>Карта </a:t>
            </a:r>
            <a:r>
              <a:rPr lang="en-US" sz="4000" b="1" dirty="0">
                <a:solidFill>
                  <a:srgbClr val="EEC11E"/>
                </a:solidFill>
              </a:rPr>
              <a:t>SIPOC </a:t>
            </a:r>
            <a:r>
              <a:rPr lang="ru-RU" sz="4000" b="1" dirty="0">
                <a:solidFill>
                  <a:srgbClr val="EEC11E"/>
                </a:solidFill>
              </a:rPr>
              <a:t>по методу </a:t>
            </a:r>
            <a:r>
              <a:rPr lang="en-US" sz="4000" b="1" dirty="0">
                <a:solidFill>
                  <a:srgbClr val="EEC11E"/>
                </a:solidFill>
              </a:rPr>
              <a:t>DMAIC</a:t>
            </a:r>
            <a:endParaRPr lang="ru-RU" sz="4000" b="1" dirty="0">
              <a:solidFill>
                <a:srgbClr val="EEC11E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FB7D1688-38D3-73B4-15C5-FDBB2016ED29}"/>
              </a:ext>
            </a:extLst>
          </p:cNvPr>
          <p:cNvGrpSpPr/>
          <p:nvPr/>
        </p:nvGrpSpPr>
        <p:grpSpPr>
          <a:xfrm>
            <a:off x="1300481" y="1097281"/>
            <a:ext cx="10708497" cy="5395599"/>
            <a:chOff x="-19" y="0"/>
            <a:chExt cx="11734818" cy="5752512"/>
          </a:xfrm>
        </p:grpSpPr>
        <p:sp>
          <p:nvSpPr>
            <p:cNvPr id="7" name="Rectangle: Rounded Corners 5">
              <a:extLst>
                <a:ext uri="{FF2B5EF4-FFF2-40B4-BE49-F238E27FC236}">
                  <a16:creationId xmlns:a16="http://schemas.microsoft.com/office/drawing/2014/main" id="{06CAE2A1-2EA0-498C-81E2-B0132B4B808E}"/>
                </a:ext>
              </a:extLst>
            </p:cNvPr>
            <p:cNvSpPr/>
            <p:nvPr/>
          </p:nvSpPr>
          <p:spPr>
            <a:xfrm>
              <a:off x="-19" y="0"/>
              <a:ext cx="2070877" cy="750277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r>
                <a:rPr lang="ru-RU" b="1" dirty="0"/>
                <a:t>ПОСТАВЩИКИ</a:t>
              </a:r>
            </a:p>
          </p:txBody>
        </p:sp>
        <p:sp>
          <p:nvSpPr>
            <p:cNvPr id="8" name="Rectangle: Rounded Corners 6">
              <a:extLst>
                <a:ext uri="{FF2B5EF4-FFF2-40B4-BE49-F238E27FC236}">
                  <a16:creationId xmlns:a16="http://schemas.microsoft.com/office/drawing/2014/main" id="{FE28C6B6-BF50-48FB-84CA-72D3D68B731C}"/>
                </a:ext>
              </a:extLst>
            </p:cNvPr>
            <p:cNvSpPr/>
            <p:nvPr/>
          </p:nvSpPr>
          <p:spPr>
            <a:xfrm>
              <a:off x="2481631" y="0"/>
              <a:ext cx="1808273" cy="75027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r>
                <a:rPr lang="ru-RU" b="1" dirty="0"/>
                <a:t>ВХОДЫ</a:t>
              </a:r>
            </a:p>
          </p:txBody>
        </p:sp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C7C5CA09-6298-49E8-AC2A-41859ACD5020}"/>
                </a:ext>
              </a:extLst>
            </p:cNvPr>
            <p:cNvSpPr/>
            <p:nvPr/>
          </p:nvSpPr>
          <p:spPr>
            <a:xfrm>
              <a:off x="4963262" y="0"/>
              <a:ext cx="1808273" cy="75027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r>
                <a:rPr lang="ru-RU" b="1" dirty="0"/>
                <a:t>ПРОЦЕСС</a:t>
              </a:r>
            </a:p>
          </p:txBody>
        </p:sp>
        <p:sp>
          <p:nvSpPr>
            <p:cNvPr id="10" name="Rectangle: Rounded Corners 8">
              <a:extLst>
                <a:ext uri="{FF2B5EF4-FFF2-40B4-BE49-F238E27FC236}">
                  <a16:creationId xmlns:a16="http://schemas.microsoft.com/office/drawing/2014/main" id="{9FDAEFD5-54BF-4365-852D-A46199ED8AFB}"/>
                </a:ext>
              </a:extLst>
            </p:cNvPr>
            <p:cNvSpPr/>
            <p:nvPr/>
          </p:nvSpPr>
          <p:spPr>
            <a:xfrm>
              <a:off x="7444893" y="0"/>
              <a:ext cx="1808273" cy="750277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r>
                <a:rPr lang="ru-RU" b="1" dirty="0"/>
                <a:t>РЕЗУЛЬТАТ</a:t>
              </a:r>
            </a:p>
          </p:txBody>
        </p:sp>
        <p:sp>
          <p:nvSpPr>
            <p:cNvPr id="11" name="Rectangle: Rounded Corners 9">
              <a:extLst>
                <a:ext uri="{FF2B5EF4-FFF2-40B4-BE49-F238E27FC236}">
                  <a16:creationId xmlns:a16="http://schemas.microsoft.com/office/drawing/2014/main" id="{4536C858-0672-4E0B-94F7-FF56A48A0DA0}"/>
                </a:ext>
              </a:extLst>
            </p:cNvPr>
            <p:cNvSpPr/>
            <p:nvPr/>
          </p:nvSpPr>
          <p:spPr>
            <a:xfrm>
              <a:off x="9926526" y="0"/>
              <a:ext cx="1808273" cy="750277"/>
            </a:xfrm>
            <a:prstGeom prst="roundRect">
              <a:avLst/>
            </a:prstGeom>
            <a:solidFill>
              <a:srgbClr val="FFFBC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r>
                <a:rPr lang="ru-RU" b="1" dirty="0"/>
                <a:t>ЗАКАЗЧИК</a:t>
              </a:r>
              <a:r>
                <a:rPr lang="en-US" b="1" dirty="0"/>
                <a:t>/</a:t>
              </a:r>
              <a:r>
                <a:rPr lang="ru-RU" b="1" dirty="0"/>
                <a:t>КЛИЕНТ</a:t>
              </a:r>
            </a:p>
          </p:txBody>
        </p:sp>
        <p:sp>
          <p:nvSpPr>
            <p:cNvPr id="12" name="Rectangle: Rounded Corners 12">
              <a:extLst>
                <a:ext uri="{FF2B5EF4-FFF2-40B4-BE49-F238E27FC236}">
                  <a16:creationId xmlns:a16="http://schemas.microsoft.com/office/drawing/2014/main" id="{28035833-0704-4864-9026-9E644139EEE9}"/>
                </a:ext>
              </a:extLst>
            </p:cNvPr>
            <p:cNvSpPr/>
            <p:nvPr/>
          </p:nvSpPr>
          <p:spPr>
            <a:xfrm>
              <a:off x="0" y="1103608"/>
              <a:ext cx="1808274" cy="83695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rgbClr val="58319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r>
                <a:rPr lang="ru-RU" dirty="0"/>
                <a:t>Специалист по работе с архивом</a:t>
              </a:r>
            </a:p>
          </p:txBody>
        </p:sp>
        <p:sp>
          <p:nvSpPr>
            <p:cNvPr id="13" name="Rectangle: Rounded Corners 13">
              <a:extLst>
                <a:ext uri="{FF2B5EF4-FFF2-40B4-BE49-F238E27FC236}">
                  <a16:creationId xmlns:a16="http://schemas.microsoft.com/office/drawing/2014/main" id="{FF1E7D68-24D5-4E9E-8BF3-F7061D90C157}"/>
                </a:ext>
              </a:extLst>
            </p:cNvPr>
            <p:cNvSpPr/>
            <p:nvPr/>
          </p:nvSpPr>
          <p:spPr>
            <a:xfrm>
              <a:off x="2265691" y="1103482"/>
              <a:ext cx="2697565" cy="119985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rgbClr val="99013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r>
                <a:rPr lang="ru-RU" dirty="0"/>
                <a:t>Входящие документы всех институтов, личные дела граждан</a:t>
              </a:r>
            </a:p>
          </p:txBody>
        </p:sp>
        <p:sp>
          <p:nvSpPr>
            <p:cNvPr id="14" name="Rectangle: Rounded Corners 15">
              <a:extLst>
                <a:ext uri="{FF2B5EF4-FFF2-40B4-BE49-F238E27FC236}">
                  <a16:creationId xmlns:a16="http://schemas.microsoft.com/office/drawing/2014/main" id="{785B51F6-2DF7-48DA-8B3A-01B2BEABC102}"/>
                </a:ext>
              </a:extLst>
            </p:cNvPr>
            <p:cNvSpPr/>
            <p:nvPr/>
          </p:nvSpPr>
          <p:spPr>
            <a:xfrm>
              <a:off x="6987473" y="1103590"/>
              <a:ext cx="2481625" cy="54485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rgbClr val="EF392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r>
                <a:rPr lang="ru-RU" dirty="0"/>
                <a:t>Заверенные документы</a:t>
              </a:r>
            </a:p>
          </p:txBody>
        </p:sp>
        <p:sp>
          <p:nvSpPr>
            <p:cNvPr id="15" name="Rectangle: Rounded Corners 16">
              <a:extLst>
                <a:ext uri="{FF2B5EF4-FFF2-40B4-BE49-F238E27FC236}">
                  <a16:creationId xmlns:a16="http://schemas.microsoft.com/office/drawing/2014/main" id="{07E6F473-859A-4EB9-87BF-056F1762BA24}"/>
                </a:ext>
              </a:extLst>
            </p:cNvPr>
            <p:cNvSpPr/>
            <p:nvPr/>
          </p:nvSpPr>
          <p:spPr>
            <a:xfrm>
              <a:off x="9926526" y="1103590"/>
              <a:ext cx="1808273" cy="1474442"/>
            </a:xfrm>
            <a:prstGeom prst="roundRect">
              <a:avLst/>
            </a:prstGeom>
            <a:solidFill>
              <a:srgbClr val="FFFBC5"/>
            </a:solidFill>
            <a:ln w="1270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r>
                <a:rPr lang="ru-RU" dirty="0"/>
                <a:t>Студенты, сотрудники и простые граждане</a:t>
              </a:r>
            </a:p>
          </p:txBody>
        </p:sp>
        <p:sp>
          <p:nvSpPr>
            <p:cNvPr id="16" name="Rectangle: Rounded Corners 19">
              <a:extLst>
                <a:ext uri="{FF2B5EF4-FFF2-40B4-BE49-F238E27FC236}">
                  <a16:creationId xmlns:a16="http://schemas.microsoft.com/office/drawing/2014/main" id="{2A19D5AB-5D81-422A-836F-C0AD792726CF}"/>
                </a:ext>
              </a:extLst>
            </p:cNvPr>
            <p:cNvSpPr/>
            <p:nvPr/>
          </p:nvSpPr>
          <p:spPr>
            <a:xfrm>
              <a:off x="1" y="2424331"/>
              <a:ext cx="1808273" cy="1596534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rgbClr val="58319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r>
                <a:rPr lang="ru-RU" dirty="0"/>
                <a:t>Студенты, сотрудники КФУ и остальные граждане</a:t>
              </a:r>
            </a:p>
          </p:txBody>
        </p:sp>
        <p:sp>
          <p:nvSpPr>
            <p:cNvPr id="17" name="Rectangle: Rounded Corners 22">
              <a:extLst>
                <a:ext uri="{FF2B5EF4-FFF2-40B4-BE49-F238E27FC236}">
                  <a16:creationId xmlns:a16="http://schemas.microsoft.com/office/drawing/2014/main" id="{A5640469-D040-45E9-81C5-CF4FE0966957}"/>
                </a:ext>
              </a:extLst>
            </p:cNvPr>
            <p:cNvSpPr/>
            <p:nvPr/>
          </p:nvSpPr>
          <p:spPr>
            <a:xfrm>
              <a:off x="6987474" y="1940726"/>
              <a:ext cx="2481630" cy="48360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rgbClr val="EF392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r>
                <a:rPr lang="ru-RU" dirty="0"/>
                <a:t>Пронумерованные бланки КФУ</a:t>
              </a:r>
            </a:p>
          </p:txBody>
        </p:sp>
        <p:sp>
          <p:nvSpPr>
            <p:cNvPr id="18" name="Rectangle: Rounded Corners 26">
              <a:extLst>
                <a:ext uri="{FF2B5EF4-FFF2-40B4-BE49-F238E27FC236}">
                  <a16:creationId xmlns:a16="http://schemas.microsoft.com/office/drawing/2014/main" id="{D748D895-2351-411B-8A9E-101A26904AB4}"/>
                </a:ext>
              </a:extLst>
            </p:cNvPr>
            <p:cNvSpPr/>
            <p:nvPr/>
          </p:nvSpPr>
          <p:spPr>
            <a:xfrm>
              <a:off x="2265691" y="2777753"/>
              <a:ext cx="2697565" cy="107883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rgbClr val="99013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r>
                <a:rPr lang="ru-RU" dirty="0"/>
                <a:t>Исходящие документы всех институтов, личные дела граждан</a:t>
              </a:r>
            </a:p>
          </p:txBody>
        </p:sp>
        <p:sp>
          <p:nvSpPr>
            <p:cNvPr id="19" name="Rectangle: Rounded Corners 28">
              <a:extLst>
                <a:ext uri="{FF2B5EF4-FFF2-40B4-BE49-F238E27FC236}">
                  <a16:creationId xmlns:a16="http://schemas.microsoft.com/office/drawing/2014/main" id="{C4E3A72A-AB76-48CD-B7C7-B3A4978B7B05}"/>
                </a:ext>
              </a:extLst>
            </p:cNvPr>
            <p:cNvSpPr/>
            <p:nvPr/>
          </p:nvSpPr>
          <p:spPr>
            <a:xfrm>
              <a:off x="6987474" y="2777479"/>
              <a:ext cx="2481624" cy="118660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rgbClr val="EF392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r>
                <a:rPr lang="ru-RU" dirty="0"/>
                <a:t>Дипломы, </a:t>
              </a:r>
              <a:r>
                <a:rPr lang="ru-RU" dirty="0" err="1"/>
                <a:t>студенчиские</a:t>
              </a:r>
              <a:r>
                <a:rPr lang="ru-RU" dirty="0"/>
                <a:t>, зачетные книжки для вручения</a:t>
              </a:r>
            </a:p>
          </p:txBody>
        </p:sp>
        <p:grpSp>
          <p:nvGrpSpPr>
            <p:cNvPr id="20" name="Group 36">
              <a:extLst>
                <a:ext uri="{FF2B5EF4-FFF2-40B4-BE49-F238E27FC236}">
                  <a16:creationId xmlns:a16="http://schemas.microsoft.com/office/drawing/2014/main" id="{DD5C273C-A41E-45BB-A1BE-41078DF1FA8B}"/>
                </a:ext>
              </a:extLst>
            </p:cNvPr>
            <p:cNvGrpSpPr/>
            <p:nvPr/>
          </p:nvGrpSpPr>
          <p:grpSpPr>
            <a:xfrm>
              <a:off x="0" y="4210007"/>
              <a:ext cx="11734799" cy="1542505"/>
              <a:chOff x="0" y="4307771"/>
              <a:chExt cx="11734799" cy="918840"/>
            </a:xfrm>
            <a:solidFill>
              <a:sysClr val="window" lastClr="FFFFFF"/>
            </a:solidFill>
          </p:grpSpPr>
          <p:sp>
            <p:nvSpPr>
              <p:cNvPr id="34" name="Rectangle: Rounded Corners 37">
                <a:extLst>
                  <a:ext uri="{FF2B5EF4-FFF2-40B4-BE49-F238E27FC236}">
                    <a16:creationId xmlns:a16="http://schemas.microsoft.com/office/drawing/2014/main" id="{2BA2AAD5-023E-4039-A2B7-8E6E58345635}"/>
                  </a:ext>
                </a:extLst>
              </p:cNvPr>
              <p:cNvSpPr/>
              <p:nvPr/>
            </p:nvSpPr>
            <p:spPr>
              <a:xfrm>
                <a:off x="0" y="4342222"/>
                <a:ext cx="1808273" cy="884052"/>
              </a:xfrm>
              <a:prstGeom prst="roundRect">
                <a:avLst/>
              </a:prstGeom>
              <a:solidFill>
                <a:srgbClr val="E9F8FD"/>
              </a:solidFill>
              <a:ln w="12700" cap="flat" cmpd="sng" algn="ctr">
                <a:solidFill>
                  <a:srgbClr val="EA5A95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r>
                  <a:rPr lang="ru-RU" dirty="0"/>
                  <a:t>Приемка документов, дипломов, печать бланков</a:t>
                </a:r>
              </a:p>
            </p:txBody>
          </p:sp>
          <p:sp>
            <p:nvSpPr>
              <p:cNvPr id="35" name="Rectangle: Rounded Corners 38">
                <a:extLst>
                  <a:ext uri="{FF2B5EF4-FFF2-40B4-BE49-F238E27FC236}">
                    <a16:creationId xmlns:a16="http://schemas.microsoft.com/office/drawing/2014/main" id="{992AE639-D721-4E10-9C96-0B31C6EEAF4F}"/>
                  </a:ext>
                </a:extLst>
              </p:cNvPr>
              <p:cNvSpPr/>
              <p:nvPr/>
            </p:nvSpPr>
            <p:spPr>
              <a:xfrm>
                <a:off x="2265691" y="4342222"/>
                <a:ext cx="2453007" cy="884389"/>
              </a:xfrm>
              <a:prstGeom prst="roundRect">
                <a:avLst/>
              </a:prstGeom>
              <a:solidFill>
                <a:srgbClr val="E9F8FD"/>
              </a:solidFill>
              <a:ln w="12700" cap="flat" cmpd="sng" algn="ctr">
                <a:solidFill>
                  <a:srgbClr val="EA5A95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r>
                  <a:rPr lang="ru-RU" dirty="0"/>
                  <a:t>Проверка документов, поставление номеров бланков на бланках</a:t>
                </a:r>
              </a:p>
            </p:txBody>
          </p:sp>
          <p:sp>
            <p:nvSpPr>
              <p:cNvPr id="36" name="Rectangle: Rounded Corners 39">
                <a:extLst>
                  <a:ext uri="{FF2B5EF4-FFF2-40B4-BE49-F238E27FC236}">
                    <a16:creationId xmlns:a16="http://schemas.microsoft.com/office/drawing/2014/main" id="{F1F39490-37E2-4827-A7AE-0DA136067DE8}"/>
                  </a:ext>
                </a:extLst>
              </p:cNvPr>
              <p:cNvSpPr/>
              <p:nvPr/>
            </p:nvSpPr>
            <p:spPr>
              <a:xfrm>
                <a:off x="5333853" y="4307771"/>
                <a:ext cx="2024210" cy="918167"/>
              </a:xfrm>
              <a:prstGeom prst="roundRect">
                <a:avLst/>
              </a:prstGeom>
              <a:solidFill>
                <a:srgbClr val="E9F8FD"/>
              </a:solidFill>
              <a:ln w="12700" cap="flat" cmpd="sng" algn="ctr">
                <a:solidFill>
                  <a:srgbClr val="EA5A95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r>
                  <a:rPr lang="ru-RU" dirty="0"/>
                  <a:t>Проставление печатей на документах</a:t>
                </a:r>
              </a:p>
            </p:txBody>
          </p:sp>
          <p:sp>
            <p:nvSpPr>
              <p:cNvPr id="37" name="Rectangle: Rounded Corners 40">
                <a:extLst>
                  <a:ext uri="{FF2B5EF4-FFF2-40B4-BE49-F238E27FC236}">
                    <a16:creationId xmlns:a16="http://schemas.microsoft.com/office/drawing/2014/main" id="{052A45AA-CA59-45EA-BF31-0469F0627F7B}"/>
                  </a:ext>
                </a:extLst>
              </p:cNvPr>
              <p:cNvSpPr/>
              <p:nvPr/>
            </p:nvSpPr>
            <p:spPr>
              <a:xfrm>
                <a:off x="7834945" y="4451808"/>
                <a:ext cx="1921603" cy="774130"/>
              </a:xfrm>
              <a:prstGeom prst="roundRect">
                <a:avLst/>
              </a:prstGeom>
              <a:solidFill>
                <a:srgbClr val="E9F8FD"/>
              </a:solidFill>
              <a:ln w="12700" cap="flat" cmpd="sng" algn="ctr">
                <a:solidFill>
                  <a:srgbClr val="EA5A95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r>
                  <a:rPr lang="ru-RU" dirty="0"/>
                  <a:t>Сушка печатей на документах</a:t>
                </a:r>
              </a:p>
            </p:txBody>
          </p:sp>
          <p:sp>
            <p:nvSpPr>
              <p:cNvPr id="38" name="Rectangle: Rounded Corners 41">
                <a:extLst>
                  <a:ext uri="{FF2B5EF4-FFF2-40B4-BE49-F238E27FC236}">
                    <a16:creationId xmlns:a16="http://schemas.microsoft.com/office/drawing/2014/main" id="{FEF25625-9BC4-4408-9B2F-47D189C2DF45}"/>
                  </a:ext>
                </a:extLst>
              </p:cNvPr>
              <p:cNvSpPr/>
              <p:nvPr/>
            </p:nvSpPr>
            <p:spPr>
              <a:xfrm>
                <a:off x="10182037" y="4451808"/>
                <a:ext cx="1552762" cy="541069"/>
              </a:xfrm>
              <a:prstGeom prst="roundRect">
                <a:avLst/>
              </a:prstGeom>
              <a:solidFill>
                <a:srgbClr val="E9F8FD"/>
              </a:solidFill>
              <a:ln w="12700" cap="flat" cmpd="sng" algn="ctr">
                <a:solidFill>
                  <a:srgbClr val="EA5A95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r>
                  <a:rPr lang="ru-RU" dirty="0"/>
                  <a:t>Отдача документа</a:t>
                </a:r>
              </a:p>
            </p:txBody>
          </p:sp>
        </p:grpSp>
        <p:cxnSp>
          <p:nvCxnSpPr>
            <p:cNvPr id="21" name="Straight Arrow Connector 44">
              <a:extLst>
                <a:ext uri="{FF2B5EF4-FFF2-40B4-BE49-F238E27FC236}">
                  <a16:creationId xmlns:a16="http://schemas.microsoft.com/office/drawing/2014/main" id="{9608D920-85F4-4DB0-BEB9-0A4DFE20F105}"/>
                </a:ext>
              </a:extLst>
            </p:cNvPr>
            <p:cNvCxnSpPr/>
            <p:nvPr/>
          </p:nvCxnSpPr>
          <p:spPr>
            <a:xfrm>
              <a:off x="904137" y="750277"/>
              <a:ext cx="0" cy="35342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ysDot"/>
              <a:miter lim="800000"/>
              <a:tailEnd type="triangle"/>
            </a:ln>
            <a:effectLst/>
          </p:spPr>
        </p:cxnSp>
        <p:cxnSp>
          <p:nvCxnSpPr>
            <p:cNvPr id="22" name="Straight Arrow Connector 45">
              <a:extLst>
                <a:ext uri="{FF2B5EF4-FFF2-40B4-BE49-F238E27FC236}">
                  <a16:creationId xmlns:a16="http://schemas.microsoft.com/office/drawing/2014/main" id="{EFA81C2E-1372-46A9-8872-A357C1D1D885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904119" y="1940711"/>
              <a:ext cx="18" cy="48362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ysDot"/>
              <a:miter lim="800000"/>
              <a:tailEnd type="triangle"/>
            </a:ln>
            <a:effectLst/>
          </p:spPr>
        </p:cxnSp>
        <p:cxnSp>
          <p:nvCxnSpPr>
            <p:cNvPr id="23" name="Straight Arrow Connector 57">
              <a:extLst>
                <a:ext uri="{FF2B5EF4-FFF2-40B4-BE49-F238E27FC236}">
                  <a16:creationId xmlns:a16="http://schemas.microsoft.com/office/drawing/2014/main" id="{65CB6EE9-DBEB-4FAF-9D0A-5E75811AB223}"/>
                </a:ext>
              </a:extLst>
            </p:cNvPr>
            <p:cNvCxnSpPr>
              <a:cxnSpLocks/>
            </p:cNvCxnSpPr>
            <p:nvPr/>
          </p:nvCxnSpPr>
          <p:spPr>
            <a:xfrm>
              <a:off x="3385768" y="750277"/>
              <a:ext cx="1" cy="35342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ysDot"/>
              <a:miter lim="800000"/>
              <a:tailEnd type="triangle"/>
            </a:ln>
            <a:effectLst/>
          </p:spPr>
        </p:cxnSp>
        <p:cxnSp>
          <p:nvCxnSpPr>
            <p:cNvPr id="24" name="Straight Arrow Connector 63">
              <a:extLst>
                <a:ext uri="{FF2B5EF4-FFF2-40B4-BE49-F238E27FC236}">
                  <a16:creationId xmlns:a16="http://schemas.microsoft.com/office/drawing/2014/main" id="{0468BE7F-7DF6-40F2-9191-96E19B890708}"/>
                </a:ext>
              </a:extLst>
            </p:cNvPr>
            <p:cNvCxnSpPr>
              <a:cxnSpLocks/>
            </p:cNvCxnSpPr>
            <p:nvPr/>
          </p:nvCxnSpPr>
          <p:spPr>
            <a:xfrm>
              <a:off x="3398030" y="2349852"/>
              <a:ext cx="0" cy="35342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ysDot"/>
              <a:miter lim="800000"/>
              <a:tailEnd type="triangle"/>
            </a:ln>
            <a:effectLst/>
          </p:spPr>
        </p:cxnSp>
        <p:cxnSp>
          <p:nvCxnSpPr>
            <p:cNvPr id="25" name="Straight Arrow Connector 67">
              <a:extLst>
                <a:ext uri="{FF2B5EF4-FFF2-40B4-BE49-F238E27FC236}">
                  <a16:creationId xmlns:a16="http://schemas.microsoft.com/office/drawing/2014/main" id="{EFDB1682-D92B-4C56-8482-90DAF7C0F5A1}"/>
                </a:ext>
              </a:extLst>
            </p:cNvPr>
            <p:cNvCxnSpPr>
              <a:cxnSpLocks/>
            </p:cNvCxnSpPr>
            <p:nvPr/>
          </p:nvCxnSpPr>
          <p:spPr>
            <a:xfrm>
              <a:off x="8349030" y="750277"/>
              <a:ext cx="3" cy="35342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ysDot"/>
              <a:miter lim="800000"/>
              <a:tailEnd type="triangle"/>
            </a:ln>
            <a:effectLst/>
          </p:spPr>
        </p:cxnSp>
        <p:cxnSp>
          <p:nvCxnSpPr>
            <p:cNvPr id="26" name="Straight Arrow Connector 71">
              <a:extLst>
                <a:ext uri="{FF2B5EF4-FFF2-40B4-BE49-F238E27FC236}">
                  <a16:creationId xmlns:a16="http://schemas.microsoft.com/office/drawing/2014/main" id="{ABBB3A2E-7C44-439E-9683-E9DDD966F5D1}"/>
                </a:ext>
              </a:extLst>
            </p:cNvPr>
            <p:cNvCxnSpPr>
              <a:cxnSpLocks/>
            </p:cNvCxnSpPr>
            <p:nvPr/>
          </p:nvCxnSpPr>
          <p:spPr>
            <a:xfrm>
              <a:off x="8349033" y="1587304"/>
              <a:ext cx="0" cy="35342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ysDot"/>
              <a:miter lim="800000"/>
              <a:tailEnd type="triangle"/>
            </a:ln>
            <a:effectLst/>
          </p:spPr>
        </p:cxnSp>
        <p:cxnSp>
          <p:nvCxnSpPr>
            <p:cNvPr id="27" name="Straight Arrow Connector 74">
              <a:extLst>
                <a:ext uri="{FF2B5EF4-FFF2-40B4-BE49-F238E27FC236}">
                  <a16:creationId xmlns:a16="http://schemas.microsoft.com/office/drawing/2014/main" id="{3E323DC3-CFAD-4498-9B24-989B378A11B2}"/>
                </a:ext>
              </a:extLst>
            </p:cNvPr>
            <p:cNvCxnSpPr>
              <a:cxnSpLocks/>
            </p:cNvCxnSpPr>
            <p:nvPr/>
          </p:nvCxnSpPr>
          <p:spPr>
            <a:xfrm>
              <a:off x="8349033" y="2424331"/>
              <a:ext cx="0" cy="35342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ysDot"/>
              <a:miter lim="800000"/>
              <a:tailEnd type="triangle"/>
            </a:ln>
            <a:effectLst/>
          </p:spPr>
        </p:cxnSp>
        <p:cxnSp>
          <p:nvCxnSpPr>
            <p:cNvPr id="28" name="Straight Arrow Connector 86">
              <a:extLst>
                <a:ext uri="{FF2B5EF4-FFF2-40B4-BE49-F238E27FC236}">
                  <a16:creationId xmlns:a16="http://schemas.microsoft.com/office/drawing/2014/main" id="{06CAA1CF-3761-4D8C-ABA8-A4BD73617E23}"/>
                </a:ext>
              </a:extLst>
            </p:cNvPr>
            <p:cNvCxnSpPr>
              <a:cxnSpLocks/>
            </p:cNvCxnSpPr>
            <p:nvPr/>
          </p:nvCxnSpPr>
          <p:spPr>
            <a:xfrm>
              <a:off x="10830663" y="750277"/>
              <a:ext cx="0" cy="35342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ysDot"/>
              <a:miter lim="800000"/>
              <a:tailEnd type="triangle"/>
            </a:ln>
            <a:effectLst/>
          </p:spPr>
        </p:cxnSp>
        <p:cxnSp>
          <p:nvCxnSpPr>
            <p:cNvPr id="29" name="Straight Arrow Connector 111">
              <a:extLst>
                <a:ext uri="{FF2B5EF4-FFF2-40B4-BE49-F238E27FC236}">
                  <a16:creationId xmlns:a16="http://schemas.microsoft.com/office/drawing/2014/main" id="{24043BF7-1568-463A-BAA3-5B625F14B30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273" y="4857735"/>
              <a:ext cx="457417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ysDot"/>
              <a:miter lim="800000"/>
              <a:tailEnd type="triangle"/>
            </a:ln>
            <a:effectLst/>
          </p:spPr>
        </p:cxnSp>
        <p:cxnSp>
          <p:nvCxnSpPr>
            <p:cNvPr id="30" name="Straight Arrow Connector 115">
              <a:extLst>
                <a:ext uri="{FF2B5EF4-FFF2-40B4-BE49-F238E27FC236}">
                  <a16:creationId xmlns:a16="http://schemas.microsoft.com/office/drawing/2014/main" id="{5EA8EA8E-C34C-4C6D-AE48-B1F503C5C8CC}"/>
                </a:ext>
              </a:extLst>
            </p:cNvPr>
            <p:cNvCxnSpPr>
              <a:cxnSpLocks/>
            </p:cNvCxnSpPr>
            <p:nvPr/>
          </p:nvCxnSpPr>
          <p:spPr>
            <a:xfrm>
              <a:off x="4718697" y="4884368"/>
              <a:ext cx="581237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ysDot"/>
              <a:miter lim="800000"/>
              <a:tailEnd type="triangle"/>
            </a:ln>
            <a:effectLst/>
          </p:spPr>
        </p:cxnSp>
        <p:cxnSp>
          <p:nvCxnSpPr>
            <p:cNvPr id="31" name="Straight Arrow Connector 118">
              <a:extLst>
                <a:ext uri="{FF2B5EF4-FFF2-40B4-BE49-F238E27FC236}">
                  <a16:creationId xmlns:a16="http://schemas.microsoft.com/office/drawing/2014/main" id="{BFB2B4F6-ACE9-43AE-BC30-9B5A82B69AE1}"/>
                </a:ext>
              </a:extLst>
            </p:cNvPr>
            <p:cNvCxnSpPr>
              <a:cxnSpLocks/>
            </p:cNvCxnSpPr>
            <p:nvPr/>
          </p:nvCxnSpPr>
          <p:spPr>
            <a:xfrm>
              <a:off x="7388230" y="4884368"/>
              <a:ext cx="446714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ysDot"/>
              <a:miter lim="800000"/>
              <a:tailEnd type="triangle"/>
            </a:ln>
            <a:effectLst/>
          </p:spPr>
        </p:cxnSp>
        <p:cxnSp>
          <p:nvCxnSpPr>
            <p:cNvPr id="32" name="Straight Arrow Connector 122">
              <a:extLst>
                <a:ext uri="{FF2B5EF4-FFF2-40B4-BE49-F238E27FC236}">
                  <a16:creationId xmlns:a16="http://schemas.microsoft.com/office/drawing/2014/main" id="{84C0ACD8-8A9F-4478-B3A5-BDAE13AE6A72}"/>
                </a:ext>
              </a:extLst>
            </p:cNvPr>
            <p:cNvCxnSpPr>
              <a:cxnSpLocks/>
            </p:cNvCxnSpPr>
            <p:nvPr/>
          </p:nvCxnSpPr>
          <p:spPr>
            <a:xfrm>
              <a:off x="9756548" y="4857735"/>
              <a:ext cx="425489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ysDot"/>
              <a:miter lim="800000"/>
              <a:tailEnd type="triangle"/>
            </a:ln>
            <a:effectLst/>
          </p:spPr>
        </p:cxnSp>
        <p:cxnSp>
          <p:nvCxnSpPr>
            <p:cNvPr id="33" name="Straight Arrow Connector 125">
              <a:extLst>
                <a:ext uri="{FF2B5EF4-FFF2-40B4-BE49-F238E27FC236}">
                  <a16:creationId xmlns:a16="http://schemas.microsoft.com/office/drawing/2014/main" id="{C2EE7ADB-A8EB-426C-B9FE-924E58F86A27}"/>
                </a:ext>
              </a:extLst>
            </p:cNvPr>
            <p:cNvCxnSpPr>
              <a:cxnSpLocks/>
            </p:cNvCxnSpPr>
            <p:nvPr/>
          </p:nvCxnSpPr>
          <p:spPr>
            <a:xfrm>
              <a:off x="5867399" y="750277"/>
              <a:ext cx="0" cy="334811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ysDot"/>
              <a:miter lim="800000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522881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080" y="365125"/>
            <a:ext cx="9951720" cy="1325563"/>
          </a:xfrm>
        </p:spPr>
        <p:txBody>
          <a:bodyPr/>
          <a:lstStyle/>
          <a:p>
            <a:r>
              <a:rPr lang="ru-RU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44702B-C39A-60B2-2966-6E422D4E9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2080" y="1544320"/>
            <a:ext cx="7833360" cy="46326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Мы определили ключевые элементы процесса: поставщиков (студенты, сотрудники, специалист ПО), входы (документы для заверения), основные этапы самого процесса (приемка, проверка, проставление печатей, сушка, отдача), выходы (заверенные, пронумерованные документы, дипломы) и клиентов/заказчиков (студенты, сотрудники). Также установили границы процесса: начало (получение документов от поставщиков) и конец (выдача заверенных документов клиентам) процесса заверения гербовой печатью.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353A85A-01A0-3F97-A49E-83ED90E13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178" y="4213848"/>
            <a:ext cx="3056822" cy="264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46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468" y="116712"/>
            <a:ext cx="10067332" cy="1325563"/>
          </a:xfrm>
        </p:spPr>
        <p:txBody>
          <a:bodyPr/>
          <a:lstStyle/>
          <a:p>
            <a:r>
              <a:rPr lang="ru-RU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 VOC-CTQ: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08DFCC09-CE52-D489-6A53-C017E13694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2356894"/>
              </p:ext>
            </p:extLst>
          </p:nvPr>
        </p:nvGraphicFramePr>
        <p:xfrm>
          <a:off x="1286468" y="1345884"/>
          <a:ext cx="10712492" cy="50718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4865">
                  <a:extLst>
                    <a:ext uri="{9D8B030D-6E8A-4147-A177-3AD203B41FA5}">
                      <a16:colId xmlns:a16="http://schemas.microsoft.com/office/drawing/2014/main" val="1221651627"/>
                    </a:ext>
                  </a:extLst>
                </a:gridCol>
                <a:gridCol w="2121798">
                  <a:extLst>
                    <a:ext uri="{9D8B030D-6E8A-4147-A177-3AD203B41FA5}">
                      <a16:colId xmlns:a16="http://schemas.microsoft.com/office/drawing/2014/main" val="3367992862"/>
                    </a:ext>
                  </a:extLst>
                </a:gridCol>
                <a:gridCol w="3136121">
                  <a:extLst>
                    <a:ext uri="{9D8B030D-6E8A-4147-A177-3AD203B41FA5}">
                      <a16:colId xmlns:a16="http://schemas.microsoft.com/office/drawing/2014/main" val="3650283743"/>
                    </a:ext>
                  </a:extLst>
                </a:gridCol>
                <a:gridCol w="2359388">
                  <a:extLst>
                    <a:ext uri="{9D8B030D-6E8A-4147-A177-3AD203B41FA5}">
                      <a16:colId xmlns:a16="http://schemas.microsoft.com/office/drawing/2014/main" val="1233432227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3588218885"/>
                    </a:ext>
                  </a:extLst>
                </a:gridCol>
              </a:tblGrid>
              <a:tr h="101633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Сегмент клиентов </a:t>
                      </a:r>
                      <a:endParaRPr lang="ru-RU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96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Голос</a:t>
                      </a:r>
                      <a:endParaRPr lang="ru-RU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96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Потребность клиента</a:t>
                      </a:r>
                      <a:endParaRPr lang="ru-RU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96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CTQ (</a:t>
                      </a:r>
                      <a:r>
                        <a:rPr lang="ru-RU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Измеримый показатель)</a:t>
                      </a:r>
                      <a:endParaRPr lang="ru-RU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96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Важность</a:t>
                      </a:r>
                      <a:endParaRPr lang="ru-RU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9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031507"/>
                  </a:ext>
                </a:extLst>
              </a:tr>
              <a:tr h="71328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Студент/</a:t>
                      </a:r>
                      <a:endParaRPr lang="en-US" sz="180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algn="ctr" fontAlgn="b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Выпускник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Хочу получить диплом быстро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Скорость получения готового документа (диплома)</a:t>
                      </a:r>
                      <a:endParaRPr lang="ru-RU" sz="18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Секунды / Минуты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ru-RU" sz="2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727729"/>
                  </a:ext>
                </a:extLst>
              </a:tr>
              <a:tr h="71328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Сотрудник/</a:t>
                      </a:r>
                      <a:endParaRPr lang="en-US" sz="180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algn="ctr" fontAlgn="b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Подразделение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Нужно быстро заверить документ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Скорость получения готового документа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Секунды / Минуты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</a:t>
                      </a:r>
                      <a:endParaRPr lang="ru-RU" sz="2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84517"/>
                  </a:ext>
                </a:extLst>
              </a:tr>
              <a:tr h="121820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Университет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Процесс должен соответствовать правилам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Правильность использования гербовой печати (соответствующий документ, полномочия)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% соответствия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3</a:t>
                      </a:r>
                      <a:endParaRPr lang="ru-RU" sz="2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049646"/>
                  </a:ext>
                </a:extLst>
              </a:tr>
              <a:tr h="141072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Сотрудник отдела документооборота и контроля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Трудно работать в предоставленном кабинете 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Улучшенные условия труда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Уровень удовлетворенности, %</a:t>
                      </a:r>
                      <a:endParaRPr lang="ru-RU" sz="18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4</a:t>
                      </a:r>
                      <a:endParaRPr lang="ru-RU" sz="22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41" marR="6341" marT="634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490573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527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080" y="365125"/>
            <a:ext cx="9951720" cy="1325563"/>
          </a:xfrm>
        </p:spPr>
        <p:txBody>
          <a:bodyPr/>
          <a:lstStyle/>
          <a:p>
            <a:r>
              <a:rPr lang="ru-RU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44702B-C39A-60B2-2966-6E422D4E9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2080" y="1544320"/>
            <a:ext cx="8321040" cy="46326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Созданная матрица VOC-CTQ эффективно перевела качественные требования в конкретные, измеримые показатели (CTQ - 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Critical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 To Quality). Так скорость обслуживания (время в секундах/минутах) является критически важным показателем (CTQ) для основных внешних клиентов – студентов/выпускников (высший приоритет) и сотрудников/подразделений (второй по важности приоритет), соответствие процесса установленным правилам (% соответствия) является важным показателем для университета как организации и условия труда сотрудников, выполняющих процесс, также определены как значимый аспект, влияющий на качество и эффективность, с возможностью измерения через уровень удовлетворенности.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353A85A-01A0-3F97-A49E-83ED90E13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178" y="4213848"/>
            <a:ext cx="3056822" cy="264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211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-186070"/>
            <a:ext cx="9982200" cy="1325563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Карта </a:t>
            </a:r>
            <a:r>
              <a:rPr lang="en-US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VSM</a:t>
            </a:r>
            <a:r>
              <a:rPr lang="ru-RU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Объект 5">
            <a:extLst>
              <a:ext uri="{FF2B5EF4-FFF2-40B4-BE49-F238E27FC236}">
                <a16:creationId xmlns:a16="http://schemas.microsoft.com/office/drawing/2014/main" id="{E9DA34B1-BAB9-45F6-373C-EC384EF4B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45" y="914400"/>
            <a:ext cx="11088555" cy="577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404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080" y="116712"/>
            <a:ext cx="9951720" cy="1325563"/>
          </a:xfrm>
        </p:spPr>
        <p:txBody>
          <a:bodyPr/>
          <a:lstStyle/>
          <a:p>
            <a:r>
              <a:rPr lang="ru-RU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44702B-C39A-60B2-2966-6E422D4E9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2080" y="1290320"/>
            <a:ext cx="10180320" cy="4632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Детальный анализ карты выявил следующее распределение времени задач по категориям: 7 задач непосредственно создают ценность для клиента (CVA) и составляют 116 минут, 1 задача </a:t>
            </a:r>
            <a:r>
              <a:rPr lang="ru-RU" sz="2400" dirty="0" err="1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являетя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 необходимыми для бизнеса (BVA) – 10 минут, и 4 задачи относится к потерям (NVA) – 848 минут. Для наглядного представления этого соотношения обратимся к диаграмме, представленной на рисунке, иллюстрирующей процентное распределение этих категорий.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17E26785-6DF3-25A3-AC37-F8C597F762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7140211"/>
              </p:ext>
            </p:extLst>
          </p:nvPr>
        </p:nvGraphicFramePr>
        <p:xfrm>
          <a:off x="1402080" y="4006374"/>
          <a:ext cx="10180320" cy="2252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65989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760" y="0"/>
            <a:ext cx="9921240" cy="1325563"/>
          </a:xfrm>
        </p:spPr>
        <p:txBody>
          <a:bodyPr/>
          <a:lstStyle/>
          <a:p>
            <a:r>
              <a:rPr lang="en-US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Takt Time</a:t>
            </a:r>
            <a:r>
              <a:rPr lang="ru-RU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44702B-C39A-60B2-2966-6E422D4E9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5680" y="1219200"/>
            <a:ext cx="8656320" cy="5435600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Время такта (</a:t>
            </a:r>
            <a:r>
              <a:rPr lang="ru-RU" sz="2400" dirty="0" err="1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Takt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 Time) =(Доступное чистое время обработки)/(Количество заявок)</a:t>
            </a:r>
          </a:p>
          <a:p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Исходя из формулы, рассчитаем время такта для процесса проставления печатей.</a:t>
            </a:r>
          </a:p>
          <a:p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Время такта (</a:t>
            </a:r>
            <a:r>
              <a:rPr lang="ru-RU" sz="2400" dirty="0" err="1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Takt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 Time) =480/920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pPr marL="0" indent="0">
              <a:buNone/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Время такта- 0,52 минуты или 52 секунды.</a:t>
            </a:r>
          </a:p>
          <a:p>
            <a:pPr marL="0" indent="0">
              <a:buNone/>
            </a:pPr>
            <a:endParaRPr lang="ru-RU" sz="2400" dirty="0">
              <a:solidFill>
                <a:schemeClr val="accent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pPr marL="0" indent="0">
              <a:buNone/>
            </a:pPr>
            <a:endParaRPr lang="ru-RU" sz="2200" dirty="0">
              <a:solidFill>
                <a:schemeClr val="accent1">
                  <a:lumMod val="50000"/>
                </a:schemeClr>
              </a:solidFill>
              <a:latin typeface="PT Sans" panose="020B0503020203020204" pitchFamily="34" charset="-52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 descr="Часы со сплошной заливкой">
            <a:extLst>
              <a:ext uri="{FF2B5EF4-FFF2-40B4-BE49-F238E27FC236}">
                <a16:creationId xmlns:a16="http://schemas.microsoft.com/office/drawing/2014/main" id="{F551D3DE-0FD5-64F0-2E63-86E5457AD5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1760" y="1219200"/>
            <a:ext cx="2057400" cy="2057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68B154-1F3C-5598-573E-7A0C37F5EBF2}"/>
              </a:ext>
            </a:extLst>
          </p:cNvPr>
          <p:cNvSpPr txBox="1"/>
          <p:nvPr/>
        </p:nvSpPr>
        <p:spPr>
          <a:xfrm>
            <a:off x="1381760" y="3911600"/>
            <a:ext cx="1070864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 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Узкими местами в процессе являются сушка дипломов, проставление печатей в зависимости от объема документов и возращение документов на переделку, в следствии долгих выяснений и споров.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1834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1" y="349546"/>
            <a:ext cx="10250355" cy="1325563"/>
          </a:xfrm>
        </p:spPr>
        <p:txBody>
          <a:bodyPr>
            <a:noAutofit/>
          </a:bodyPr>
          <a:lstStyle/>
          <a:p>
            <a:r>
              <a:rPr lang="ru-RU" sz="3500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Выявленные узкие места проанализируем по методологии SWIIMTOO: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070B39F1-EEFB-9860-3FFA-F5A5911805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6675909"/>
              </p:ext>
            </p:extLst>
          </p:nvPr>
        </p:nvGraphicFramePr>
        <p:xfrm>
          <a:off x="5811520" y="1087120"/>
          <a:ext cx="6156960" cy="5770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2009853-8713-A925-D68E-CF87190DC0D1}"/>
              </a:ext>
            </a:extLst>
          </p:cNvPr>
          <p:cNvSpPr txBox="1"/>
          <p:nvPr/>
        </p:nvSpPr>
        <p:spPr>
          <a:xfrm>
            <a:off x="1341121" y="1690688"/>
            <a:ext cx="455167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1. Потеря ожидания: </a:t>
            </a:r>
          </a:p>
          <a:p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А) диплом (и потенциально клиент/сотрудник, ожидающий его) находится в состоянии простоя 10 минут. Это критическое узкое место.</a:t>
            </a:r>
          </a:p>
          <a:p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Б) документ "ждет" обработки отказа, а затем возвращается, заставляя инициатора ждать исправления и повторной подачи. Весь цикл затягивается.</a:t>
            </a:r>
          </a:p>
        </p:txBody>
      </p:sp>
    </p:spTree>
    <p:extLst>
      <p:ext uri="{BB962C8B-B14F-4D97-AF65-F5344CB8AC3E}">
        <p14:creationId xmlns:p14="http://schemas.microsoft.com/office/powerpoint/2010/main" val="4290929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468" y="56001"/>
            <a:ext cx="10250355" cy="1325563"/>
          </a:xfrm>
        </p:spPr>
        <p:txBody>
          <a:bodyPr>
            <a:noAutofit/>
          </a:bodyPr>
          <a:lstStyle/>
          <a:p>
            <a:r>
              <a:rPr lang="ru-RU" sz="3500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Выявленные узкие места проанализируем по методологии SWIIMTOO: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070B39F1-EEFB-9860-3FFA-F5A5911805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9245948"/>
              </p:ext>
            </p:extLst>
          </p:nvPr>
        </p:nvGraphicFramePr>
        <p:xfrm>
          <a:off x="5811520" y="1056640"/>
          <a:ext cx="6156960" cy="58537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2009853-8713-A925-D68E-CF87190DC0D1}"/>
              </a:ext>
            </a:extLst>
          </p:cNvPr>
          <p:cNvSpPr txBox="1"/>
          <p:nvPr/>
        </p:nvSpPr>
        <p:spPr>
          <a:xfrm>
            <a:off x="1259841" y="1547638"/>
            <a:ext cx="455167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2. Запасы: </a:t>
            </a:r>
          </a:p>
          <a:p>
            <a:r>
              <a:rPr lang="ru-RU" sz="20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А) дипломы, находящиеся на сушке, представляют собой незавершенное производство, накапливается запас.</a:t>
            </a:r>
          </a:p>
          <a:p>
            <a:r>
              <a:rPr lang="ru-RU" sz="20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Б) документы, отправленные на переделку, также являются формой незавершенного производства, застрявшего в цикле </a:t>
            </a:r>
            <a:r>
              <a:rPr lang="ru-RU" sz="2000" dirty="0" err="1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rework</a:t>
            </a:r>
            <a:r>
              <a:rPr lang="ru-RU" sz="20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.</a:t>
            </a:r>
          </a:p>
          <a:p>
            <a:r>
              <a:rPr lang="ru-RU" sz="2000" b="1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3. Переделка: </a:t>
            </a:r>
            <a:r>
              <a:rPr lang="ru-RU" sz="20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время, затрачиваемое на проверку, является потерей. </a:t>
            </a:r>
          </a:p>
          <a:p>
            <a:r>
              <a:rPr lang="ru-RU" sz="2000" b="1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4. Движение: </a:t>
            </a:r>
            <a:r>
              <a:rPr lang="ru-RU" sz="20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перемещение сотрудником диплома к месту сушки и обратно.</a:t>
            </a:r>
          </a:p>
          <a:p>
            <a:r>
              <a:rPr lang="ru-RU" sz="2000" b="1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5. Транспортировка:</a:t>
            </a:r>
            <a:r>
              <a:rPr lang="ru-RU" sz="20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 физическое перемещение документа - это потеря.</a:t>
            </a:r>
          </a:p>
        </p:txBody>
      </p:sp>
    </p:spTree>
    <p:extLst>
      <p:ext uri="{BB962C8B-B14F-4D97-AF65-F5344CB8AC3E}">
        <p14:creationId xmlns:p14="http://schemas.microsoft.com/office/powerpoint/2010/main" val="3365344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080" y="365125"/>
            <a:ext cx="9951720" cy="1325563"/>
          </a:xfrm>
        </p:spPr>
        <p:txBody>
          <a:bodyPr/>
          <a:lstStyle/>
          <a:p>
            <a:r>
              <a:rPr lang="ru-RU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Объект 8">
            <a:extLst>
              <a:ext uri="{FF2B5EF4-FFF2-40B4-BE49-F238E27FC236}">
                <a16:creationId xmlns:a16="http://schemas.microsoft.com/office/drawing/2014/main" id="{542BFFDE-317A-30E5-1BA5-563ED7E7F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2080" y="1825625"/>
            <a:ext cx="7924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Анализ SWIIMTOO показывает, что наибольшие потери в данном процессе связаны с ожиданием (сушка, отказ), проверками (инспекция документов), потенциально излишней обработкой (длительное проставление печати, метод сушки) и перемещениями (транспортировка на сушку, возврат). Устранение или сокращение этих потерь, особенно в узких местах, значительно повысит эффективность процесса.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9A5A20-1EB8-6353-30F6-4270E1766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178" y="4213848"/>
            <a:ext cx="3056822" cy="264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89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468" y="-186070"/>
            <a:ext cx="10067332" cy="1325563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 Исикавы: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Объект 9">
            <a:extLst>
              <a:ext uri="{FF2B5EF4-FFF2-40B4-BE49-F238E27FC236}">
                <a16:creationId xmlns:a16="http://schemas.microsoft.com/office/drawing/2014/main" id="{771C34D6-DCB5-0D84-947D-D6FE5E4C95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640"/>
          <a:stretch/>
        </p:blipFill>
        <p:spPr>
          <a:xfrm>
            <a:off x="1333272" y="850464"/>
            <a:ext cx="10665687" cy="602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24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080" y="365125"/>
            <a:ext cx="9951720" cy="1325563"/>
          </a:xfrm>
        </p:spPr>
        <p:txBody>
          <a:bodyPr/>
          <a:lstStyle/>
          <a:p>
            <a:r>
              <a:rPr lang="ru-RU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44702B-C39A-60B2-2966-6E422D4E9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2080" y="1544320"/>
            <a:ext cx="8321040" cy="4632643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Диаграмма показывает, что для решения проблемы медленной сушки и повышения пропускной способности необходимо комплексное рассмотрение и воздействие на множество аспектов процесса – от используемых материалов и методов до условий окружающей среды и подготовки персонала.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353A85A-01A0-3F97-A49E-83ED90E13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178" y="4213848"/>
            <a:ext cx="3056822" cy="264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20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468" y="365125"/>
            <a:ext cx="10067332" cy="58991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800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ПЧР: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DA4DC06E-BE71-F365-F9D5-8E4BD794D9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8317336"/>
              </p:ext>
            </p:extLst>
          </p:nvPr>
        </p:nvGraphicFramePr>
        <p:xfrm>
          <a:off x="1412239" y="944120"/>
          <a:ext cx="10535921" cy="55487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0481">
                  <a:extLst>
                    <a:ext uri="{9D8B030D-6E8A-4147-A177-3AD203B41FA5}">
                      <a16:colId xmlns:a16="http://schemas.microsoft.com/office/drawing/2014/main" val="1508594691"/>
                    </a:ext>
                  </a:extLst>
                </a:gridCol>
                <a:gridCol w="5288870">
                  <a:extLst>
                    <a:ext uri="{9D8B030D-6E8A-4147-A177-3AD203B41FA5}">
                      <a16:colId xmlns:a16="http://schemas.microsoft.com/office/drawing/2014/main" val="2880051533"/>
                    </a:ext>
                  </a:extLst>
                </a:gridCol>
                <a:gridCol w="771138">
                  <a:extLst>
                    <a:ext uri="{9D8B030D-6E8A-4147-A177-3AD203B41FA5}">
                      <a16:colId xmlns:a16="http://schemas.microsoft.com/office/drawing/2014/main" val="2990608140"/>
                    </a:ext>
                  </a:extLst>
                </a:gridCol>
                <a:gridCol w="797929">
                  <a:extLst>
                    <a:ext uri="{9D8B030D-6E8A-4147-A177-3AD203B41FA5}">
                      <a16:colId xmlns:a16="http://schemas.microsoft.com/office/drawing/2014/main" val="41727666"/>
                    </a:ext>
                  </a:extLst>
                </a:gridCol>
                <a:gridCol w="732792">
                  <a:extLst>
                    <a:ext uri="{9D8B030D-6E8A-4147-A177-3AD203B41FA5}">
                      <a16:colId xmlns:a16="http://schemas.microsoft.com/office/drawing/2014/main" val="3695360615"/>
                    </a:ext>
                  </a:extLst>
                </a:gridCol>
                <a:gridCol w="1644711">
                  <a:extLst>
                    <a:ext uri="{9D8B030D-6E8A-4147-A177-3AD203B41FA5}">
                      <a16:colId xmlns:a16="http://schemas.microsoft.com/office/drawing/2014/main" val="3045459702"/>
                    </a:ext>
                  </a:extLst>
                </a:gridCol>
              </a:tblGrid>
              <a:tr h="324388">
                <a:tc>
                  <a:txBody>
                    <a:bodyPr/>
                    <a:lstStyle/>
                    <a:p>
                      <a:pPr algn="ctr" fontAlgn="b"/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96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Причина (из диаграммы Исикавы)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96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</a:rPr>
                        <a:t>S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96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</a:rPr>
                        <a:t>O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96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</a:rPr>
                        <a:t>D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96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ПЧР (</a:t>
                      </a:r>
                      <a:r>
                        <a:rPr lang="en-US" sz="1500" u="none" strike="noStrike" dirty="0">
                          <a:effectLst/>
                        </a:rPr>
                        <a:t>SOD)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9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597107"/>
                  </a:ext>
                </a:extLst>
              </a:tr>
              <a:tr h="3243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Х1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1. Тип используемых чернил (</a:t>
                      </a:r>
                      <a:r>
                        <a:rPr lang="ru-RU" sz="1500" u="none" strike="noStrike" dirty="0" err="1">
                          <a:effectLst/>
                        </a:rPr>
                        <a:t>долгосохнущие</a:t>
                      </a:r>
                      <a:r>
                        <a:rPr lang="ru-RU" sz="1500" u="none" strike="noStrike" dirty="0">
                          <a:effectLst/>
                        </a:rPr>
                        <a:t>)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7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10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4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280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249562"/>
                  </a:ext>
                </a:extLst>
              </a:tr>
              <a:tr h="3243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Х2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2. Тип/качество бумаги диплома (плохо впитывающая)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5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9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2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90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49094"/>
                  </a:ext>
                </a:extLst>
              </a:tr>
              <a:tr h="3243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Х3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3. Состояние штемпельной подушки (отдает много чернил)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6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5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4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120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478225"/>
                  </a:ext>
                </a:extLst>
              </a:tr>
              <a:tr h="3243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Х4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4. Отсутствие оборудования для принудительной сушки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9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10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2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180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818465"/>
                  </a:ext>
                </a:extLst>
              </a:tr>
              <a:tr h="3243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Х5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5. Неоптимальное/неприспособленное место для сушки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5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7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3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105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630227"/>
                  </a:ext>
                </a:extLst>
              </a:tr>
              <a:tr h="3243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Х6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6. Состояние гербовой печати (износ, загрязнение)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4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4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3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48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968471"/>
                  </a:ext>
                </a:extLst>
              </a:tr>
              <a:tr h="3243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Х7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9. Отсутствие стандарта/процедуры ускоренной сушки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7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9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2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126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033650"/>
                  </a:ext>
                </a:extLst>
              </a:tr>
              <a:tr h="3243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Х8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10. Техника проставления печати (слишком много чернил)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7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6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5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210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643301"/>
                  </a:ext>
                </a:extLst>
              </a:tr>
              <a:tr h="55203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Х9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11. Неоптимизированный поток/раскладка дипломов для сушки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8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8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5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320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047976"/>
                  </a:ext>
                </a:extLst>
              </a:tr>
              <a:tr h="55203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Х10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12. Недостаток знаний/обучения альтернативным методам сушки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6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8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3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144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86927"/>
                  </a:ext>
                </a:extLst>
              </a:tr>
              <a:tr h="3243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Х11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13. Отсутствие мотивации искать/внедрять быстрые методы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5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6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5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150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889818"/>
                  </a:ext>
                </a:extLst>
              </a:tr>
              <a:tr h="3243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Х12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14. Недостаточная аккуратность при нанесении чернил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6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6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4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144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35282"/>
                  </a:ext>
                </a:extLst>
              </a:tr>
              <a:tr h="55203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Х13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15. Неблагоприятные условия (влажность, температура, вентиляция)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>
                          <a:effectLst/>
                        </a:rPr>
                        <a:t>7</a:t>
                      </a:r>
                      <a:endParaRPr lang="ru-RU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5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8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280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105932"/>
                  </a:ext>
                </a:extLst>
              </a:tr>
              <a:tr h="3243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Х14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16. Отсутствие контроля времени сушки, нет анализа причин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5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9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2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</a:rPr>
                        <a:t>90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9" marR="6049" marT="60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731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047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6C727-334E-5FA7-C168-8B456D22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680" y="365125"/>
            <a:ext cx="4937760" cy="1325563"/>
          </a:xfrm>
        </p:spPr>
        <p:txBody>
          <a:bodyPr>
            <a:noAutofit/>
          </a:bodyPr>
          <a:lstStyle/>
          <a:p>
            <a:r>
              <a:rPr lang="ru-RU" sz="3500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данным расчетов ПЧР построили диаграмма Парето: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E2F7C4CE-3108-BD9B-5153-DF0105B3F1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54064"/>
              </p:ext>
            </p:extLst>
          </p:nvPr>
        </p:nvGraphicFramePr>
        <p:xfrm>
          <a:off x="6441440" y="457200"/>
          <a:ext cx="5435600" cy="626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B99296-8A82-24CF-78BE-21174C37EA5D}"/>
              </a:ext>
            </a:extLst>
          </p:cNvPr>
          <p:cNvSpPr txBox="1"/>
          <p:nvPr/>
        </p:nvSpPr>
        <p:spPr>
          <a:xfrm>
            <a:off x="1503680" y="2001520"/>
            <a:ext cx="493776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Как видно, в наибольшей степени усложняют процесс длительной сушки дипломов, это:</a:t>
            </a:r>
          </a:p>
          <a:p>
            <a:r>
              <a:rPr lang="ru-RU" sz="22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1) Неоптимизированный поток/раскладка дипломов для сушки.</a:t>
            </a:r>
          </a:p>
          <a:p>
            <a:r>
              <a:rPr lang="ru-RU" sz="22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2) Тип используемых чернил (</a:t>
            </a:r>
            <a:r>
              <a:rPr lang="ru-RU" sz="2200" dirty="0" err="1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долгосохнущие</a:t>
            </a:r>
            <a:r>
              <a:rPr lang="ru-RU" sz="22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).</a:t>
            </a:r>
          </a:p>
          <a:p>
            <a:r>
              <a:rPr lang="ru-RU" sz="22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3) Неблагоприятные условия (влажность, температура, вентиляция).</a:t>
            </a:r>
          </a:p>
          <a:p>
            <a:r>
              <a:rPr lang="ru-RU" sz="2200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4) Техника проставления печати (слишком много чернил).</a:t>
            </a:r>
          </a:p>
        </p:txBody>
      </p:sp>
    </p:spTree>
    <p:extLst>
      <p:ext uri="{BB962C8B-B14F-4D97-AF65-F5344CB8AC3E}">
        <p14:creationId xmlns:p14="http://schemas.microsoft.com/office/powerpoint/2010/main" val="725322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CEAB5E9E-A54F-FED2-B1E6-18F338529F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5875" y="170378"/>
            <a:ext cx="100679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DMAIC</a:t>
            </a:r>
            <a:r>
              <a:rPr lang="ru-RU" sz="4000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оптимизация:  </a:t>
            </a:r>
          </a:p>
        </p:txBody>
      </p:sp>
      <p:graphicFrame>
        <p:nvGraphicFramePr>
          <p:cNvPr id="16" name="Объект 15">
            <a:extLst>
              <a:ext uri="{FF2B5EF4-FFF2-40B4-BE49-F238E27FC236}">
                <a16:creationId xmlns:a16="http://schemas.microsoft.com/office/drawing/2014/main" id="{5CEBE335-94DC-B477-7393-0627D10B4F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7293817"/>
              </p:ext>
            </p:extLst>
          </p:nvPr>
        </p:nvGraphicFramePr>
        <p:xfrm>
          <a:off x="1285875" y="886408"/>
          <a:ext cx="10515600" cy="5736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737">
                  <a:extLst>
                    <a:ext uri="{9D8B030D-6E8A-4147-A177-3AD203B41FA5}">
                      <a16:colId xmlns:a16="http://schemas.microsoft.com/office/drawing/2014/main" val="2858347245"/>
                    </a:ext>
                  </a:extLst>
                </a:gridCol>
                <a:gridCol w="2258008">
                  <a:extLst>
                    <a:ext uri="{9D8B030D-6E8A-4147-A177-3AD203B41FA5}">
                      <a16:colId xmlns:a16="http://schemas.microsoft.com/office/drawing/2014/main" val="2395395993"/>
                    </a:ext>
                  </a:extLst>
                </a:gridCol>
                <a:gridCol w="2509935">
                  <a:extLst>
                    <a:ext uri="{9D8B030D-6E8A-4147-A177-3AD203B41FA5}">
                      <a16:colId xmlns:a16="http://schemas.microsoft.com/office/drawing/2014/main" val="4112160799"/>
                    </a:ext>
                  </a:extLst>
                </a:gridCol>
                <a:gridCol w="4560920">
                  <a:extLst>
                    <a:ext uri="{9D8B030D-6E8A-4147-A177-3AD203B41FA5}">
                      <a16:colId xmlns:a16="http://schemas.microsoft.com/office/drawing/2014/main" val="868531792"/>
                    </a:ext>
                  </a:extLst>
                </a:gridCol>
              </a:tblGrid>
              <a:tr h="432979">
                <a:tc>
                  <a:txBody>
                    <a:bodyPr/>
                    <a:lstStyle/>
                    <a:p>
                      <a:r>
                        <a:rPr lang="ru-RU" sz="1300" dirty="0"/>
                        <a:t>Потеря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Как решает потерю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528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300" b="1" dirty="0"/>
                        <a:t>Ожидание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i="1" dirty="0"/>
                        <a:t>Долгое высыхание дипломов после проставления печати.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b="1" i="1" dirty="0"/>
                        <a:t>Многоярусный стойки, удобная логистика, быстросохнущие чернила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i="1" dirty="0"/>
                        <a:t>Сокращает время высыхания, дипломы быстрее готовы к выдаче, уменьшается простой, сокращается очередь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217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300" b="1" dirty="0"/>
                        <a:t>Переделка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i="1" dirty="0"/>
                        <a:t>Ошибки в документах, требующие исправления и повторное проставления</a:t>
                      </a:r>
                    </a:p>
                    <a:p>
                      <a:r>
                        <a:rPr lang="ru-RU" sz="1300" i="1" dirty="0"/>
                        <a:t>печати.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b="1" i="1" dirty="0"/>
                        <a:t>Четкие инструкции, шаблоны, опубликованные требования на сайте КФУ и стойках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i="1" dirty="0"/>
                        <a:t>Уменьшает количество ошибок в документах, снижает необходимость в переделке и повторном проставлении печати. Освобождает время сотрудника от исправления чужих ошибок.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284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300" b="1" dirty="0"/>
                        <a:t>Движение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i="1" dirty="0"/>
                        <a:t>Перемещение сотрудника между разными зонами рабочего пространства (прием, проставление печати, сушка, выдача).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b="1" i="1" dirty="0"/>
                        <a:t>Оптимизация рабочего пространства, все необходимое под рукой, снижение нагрузки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i="1" dirty="0"/>
                        <a:t>Снижает физическую нагрузку на сотрудника, экономит время на перемещениях, повышает продуктивность.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704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300" b="1" dirty="0"/>
                        <a:t>Транспортировка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i="1" dirty="0"/>
                        <a:t>Перемещение документов между отделами, если требуются исправления (потенциально).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b="1" i="1" dirty="0"/>
                        <a:t>Внутренняя система пневмопочты. Быстрая и надежная доставка между отделами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i="1" dirty="0"/>
                        <a:t>Ускоряет процесс передачи документов, снижает</a:t>
                      </a:r>
                    </a:p>
                    <a:p>
                      <a:r>
                        <a:rPr lang="ru-RU" sz="1300" i="1" dirty="0"/>
                        <a:t>зависимость от физического перемещения, повышает</a:t>
                      </a:r>
                    </a:p>
                    <a:p>
                      <a:r>
                        <a:rPr lang="ru-RU" sz="1300" i="1" dirty="0"/>
                        <a:t>оперативность исправления ошибок (если они возникают).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758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300" b="1" dirty="0"/>
                        <a:t>Излишняя обработка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i="1" dirty="0"/>
                        <a:t>Медленное высыхание чернил, требующее длительного времени на сушку.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b="1" i="1" dirty="0"/>
                        <a:t>Обеспечение благоприятных условий: вентиляция, кондиционер, осушитель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i="1" dirty="0"/>
                        <a:t>Сокращает общее время обработки каждого диплома, повышает производительность.</a:t>
                      </a:r>
                    </a:p>
                    <a:p>
                      <a:r>
                        <a:rPr lang="ru-RU" sz="1300" i="1" dirty="0"/>
                        <a:t>Уменьшает зависимость от внешних факторов (влажность, температура).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940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300" b="1" dirty="0"/>
                        <a:t>Потеря таланта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i="1" dirty="0"/>
                        <a:t>Сотрудник тратит время на рутинные операции вместо более важных задач.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b="1" i="1" dirty="0"/>
                        <a:t>Легкий доступ для консультации по вопросам заполнения.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i="1" dirty="0"/>
                        <a:t>Освобождает время сотрудников от рутинных операций, позволяя сосредоточиться на оптимизации и повышает удовлетворенность сотрудников и студентов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282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998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9A6023-4FE7-3828-4915-556571CEE472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5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A2242A7-7F41-F56F-ADBA-66166667A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3" y="116712"/>
            <a:ext cx="7374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CEAB5E9E-A54F-FED2-B1E6-18F338529F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5875" y="170378"/>
            <a:ext cx="10067925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DMAIC</a:t>
            </a:r>
            <a:r>
              <a:rPr lang="ru-RU" sz="4000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оптимизация:</a:t>
            </a:r>
            <a:br>
              <a:rPr lang="ru-RU" sz="4000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rgbClr val="EEC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Известно, что в день обрабатывается 120 документов и 800 дипломов  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257DF62C-2FC2-B582-A7D7-C26CF6156E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2608336"/>
              </p:ext>
            </p:extLst>
          </p:nvPr>
        </p:nvGraphicFramePr>
        <p:xfrm>
          <a:off x="1285875" y="1010608"/>
          <a:ext cx="10515603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220">
                  <a:extLst>
                    <a:ext uri="{9D8B030D-6E8A-4147-A177-3AD203B41FA5}">
                      <a16:colId xmlns:a16="http://schemas.microsoft.com/office/drawing/2014/main" val="1829253234"/>
                    </a:ext>
                  </a:extLst>
                </a:gridCol>
                <a:gridCol w="1688841">
                  <a:extLst>
                    <a:ext uri="{9D8B030D-6E8A-4147-A177-3AD203B41FA5}">
                      <a16:colId xmlns:a16="http://schemas.microsoft.com/office/drawing/2014/main" val="3688133329"/>
                    </a:ext>
                  </a:extLst>
                </a:gridCol>
                <a:gridCol w="1297150">
                  <a:extLst>
                    <a:ext uri="{9D8B030D-6E8A-4147-A177-3AD203B41FA5}">
                      <a16:colId xmlns:a16="http://schemas.microsoft.com/office/drawing/2014/main" val="3009743452"/>
                    </a:ext>
                  </a:extLst>
                </a:gridCol>
                <a:gridCol w="942197">
                  <a:extLst>
                    <a:ext uri="{9D8B030D-6E8A-4147-A177-3AD203B41FA5}">
                      <a16:colId xmlns:a16="http://schemas.microsoft.com/office/drawing/2014/main" val="690201084"/>
                    </a:ext>
                  </a:extLst>
                </a:gridCol>
                <a:gridCol w="1250302">
                  <a:extLst>
                    <a:ext uri="{9D8B030D-6E8A-4147-A177-3AD203B41FA5}">
                      <a16:colId xmlns:a16="http://schemas.microsoft.com/office/drawing/2014/main" val="3116770704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794792145"/>
                    </a:ext>
                  </a:extLst>
                </a:gridCol>
                <a:gridCol w="2620350">
                  <a:extLst>
                    <a:ext uri="{9D8B030D-6E8A-4147-A177-3AD203B41FA5}">
                      <a16:colId xmlns:a16="http://schemas.microsoft.com/office/drawing/2014/main" val="4002808704"/>
                    </a:ext>
                  </a:extLst>
                </a:gridCol>
              </a:tblGrid>
              <a:tr h="429373">
                <a:tc>
                  <a:txBody>
                    <a:bodyPr/>
                    <a:lstStyle/>
                    <a:p>
                      <a:r>
                        <a:rPr lang="ru-RU" sz="1400" dirty="0"/>
                        <a:t>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Исходные предложения в день</a:t>
                      </a:r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Расчёт в день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Экономия в </a:t>
                      </a:r>
                      <a:r>
                        <a:rPr lang="ru-RU" sz="1400" dirty="0" err="1"/>
                        <a:t>в</a:t>
                      </a:r>
                      <a:r>
                        <a:rPr lang="ru-RU" sz="1400" dirty="0"/>
                        <a:t> месяц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Экономия в год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Срок окупаемости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Вывод: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152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dirty="0"/>
                        <a:t>Установка кондиционера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Повышение производительности на 10%.</a:t>
                      </a:r>
                    </a:p>
                    <a:p>
                      <a:r>
                        <a:rPr lang="ru-RU" sz="1200" dirty="0"/>
                        <a:t>Стоимость 40.000 рублей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(300*8)*(10</a:t>
                      </a:r>
                      <a:r>
                        <a:rPr lang="en-US" sz="1200" dirty="0"/>
                        <a:t>/100)</a:t>
                      </a:r>
                      <a:r>
                        <a:rPr lang="ru-RU" sz="1200" dirty="0"/>
                        <a:t>=240 рублей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52.800*10</a:t>
                      </a:r>
                      <a:r>
                        <a:rPr lang="en-US" sz="1200" dirty="0"/>
                        <a:t>/100=</a:t>
                      </a:r>
                      <a:r>
                        <a:rPr lang="ru-RU" sz="1200" dirty="0"/>
                        <a:t>5.280 р</a:t>
                      </a:r>
                    </a:p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5.280*12=63.360 рублей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40.000</a:t>
                      </a:r>
                      <a:r>
                        <a:rPr lang="en-US" sz="1200" dirty="0"/>
                        <a:t>/</a:t>
                      </a:r>
                      <a:r>
                        <a:rPr lang="ru-RU" sz="1200" dirty="0"/>
                        <a:t>63.36</a:t>
                      </a:r>
                      <a:r>
                        <a:rPr lang="en-US" sz="1200" dirty="0"/>
                        <a:t>0=</a:t>
                      </a:r>
                      <a:r>
                        <a:rPr lang="ru-RU" sz="1200" dirty="0"/>
                        <a:t>7 месяцев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Не стоит пренебрегать комфортом своих работников. Установка кондиционера полностью оправдывает себя, увеличивает лояльность, имидж университета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79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dirty="0"/>
                        <a:t>Многоуровневые стойки, для высыхания дипломов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Повышение производительности на 20%.</a:t>
                      </a:r>
                    </a:p>
                    <a:p>
                      <a:r>
                        <a:rPr lang="ru-RU" sz="1200" dirty="0"/>
                        <a:t>Стоимость 5 позиций 25.000 рублей</a:t>
                      </a:r>
                    </a:p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(300*8)*(20</a:t>
                      </a:r>
                      <a:r>
                        <a:rPr lang="en-US" sz="1200" dirty="0"/>
                        <a:t>/100)</a:t>
                      </a:r>
                      <a:r>
                        <a:rPr lang="ru-RU" sz="1200" dirty="0"/>
                        <a:t>=480 рублей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52.800*20</a:t>
                      </a:r>
                      <a:r>
                        <a:rPr lang="en-US" sz="1200" dirty="0"/>
                        <a:t>/100=</a:t>
                      </a:r>
                      <a:r>
                        <a:rPr lang="ru-RU" sz="1200" dirty="0"/>
                        <a:t>10.560 р</a:t>
                      </a:r>
                    </a:p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10.560*12=126.720 рублей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25.000</a:t>
                      </a:r>
                      <a:r>
                        <a:rPr lang="en-US" sz="1200" dirty="0"/>
                        <a:t>/126</a:t>
                      </a:r>
                      <a:r>
                        <a:rPr lang="ru-RU" sz="1200" dirty="0"/>
                        <a:t>.720=2 месяца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Многоуровневые стойки не решат вопрос с быстрым высыханием дипломов, но хорошо оптимизирует рабочую площадь и в комбинации с улучшение микроклимата в кабинете ускорит процесс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17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dirty="0" err="1"/>
                        <a:t>Пневмапочта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До: Перемещение сотрудника 6 минут;</a:t>
                      </a:r>
                    </a:p>
                    <a:p>
                      <a:r>
                        <a:rPr lang="ru-RU" sz="1200" dirty="0"/>
                        <a:t>После: Перемещение 2 минуты;</a:t>
                      </a:r>
                    </a:p>
                    <a:p>
                      <a:r>
                        <a:rPr lang="ru-RU" sz="1200" dirty="0"/>
                        <a:t>Стоимость 150.000 рублей 3 станции+5000 обслуживание.</a:t>
                      </a:r>
                    </a:p>
                    <a:p>
                      <a:r>
                        <a:rPr lang="ru-RU" sz="1200" dirty="0"/>
                        <a:t>60 документов в день по пневмопочте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До:</a:t>
                      </a:r>
                      <a:r>
                        <a:rPr lang="ru-RU" sz="1200" dirty="0"/>
                        <a:t>60*6=360 минут=6 часов</a:t>
                      </a:r>
                    </a:p>
                    <a:p>
                      <a:r>
                        <a:rPr lang="ru-RU" sz="1200" dirty="0"/>
                        <a:t>6*250=1500 часов в год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/>
                        <a:t>После: </a:t>
                      </a:r>
                      <a:r>
                        <a:rPr lang="ru-RU" sz="1200" dirty="0"/>
                        <a:t>60*2=120 минут=2 часа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2*250=500 часов в год</a:t>
                      </a:r>
                    </a:p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Потеря До:6*22*300=39600</a:t>
                      </a:r>
                    </a:p>
                    <a:p>
                      <a:r>
                        <a:rPr lang="ru-RU" sz="1200" dirty="0"/>
                        <a:t>После:2*22*300=13.200</a:t>
                      </a:r>
                    </a:p>
                    <a:p>
                      <a:endParaRPr lang="ru-RU" sz="1200" dirty="0"/>
                    </a:p>
                    <a:p>
                      <a:r>
                        <a:rPr lang="ru-RU" sz="1200" dirty="0"/>
                        <a:t>Экономия 26.400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26.400*12=316.800 рублей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155.000</a:t>
                      </a:r>
                      <a:r>
                        <a:rPr lang="en-US" sz="1200" dirty="0"/>
                        <a:t>/316</a:t>
                      </a:r>
                      <a:r>
                        <a:rPr lang="ru-RU" sz="1200" dirty="0"/>
                        <a:t>.800=5 месяцев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Использование </a:t>
                      </a:r>
                      <a:r>
                        <a:rPr lang="ru-RU" sz="1200" dirty="0" err="1"/>
                        <a:t>пневмпочты</a:t>
                      </a:r>
                      <a:r>
                        <a:rPr lang="ru-RU" sz="1200" dirty="0"/>
                        <a:t> крайне выгодное предложение для отдела УДК, это ускорит весь процесс между отделами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819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3899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2381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60" y="548680"/>
            <a:ext cx="2499658" cy="2440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237721" y="995193"/>
            <a:ext cx="82269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Оптимизация ключевых процессов подразделения УДК</a:t>
            </a:r>
            <a:endParaRPr lang="ru-RU" sz="3200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sp>
        <p:nvSpPr>
          <p:cNvPr id="7" name="Google Shape;898;g89d9307d70_13_164"/>
          <p:cNvSpPr txBox="1"/>
          <p:nvPr/>
        </p:nvSpPr>
        <p:spPr>
          <a:xfrm>
            <a:off x="2538467" y="2765145"/>
            <a:ext cx="7872875" cy="1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5867"/>
            </a:pPr>
            <a:r>
              <a:rPr lang="en-US" sz="6000" b="1" dirty="0" err="1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Спасибо</a:t>
            </a:r>
            <a:r>
              <a:rPr lang="en-US" sz="6000" b="1" dirty="0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 </a:t>
            </a:r>
            <a:r>
              <a:rPr lang="en-US" sz="6000" b="1" dirty="0" err="1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за</a:t>
            </a:r>
            <a:r>
              <a:rPr lang="en-US" sz="6000" b="1" dirty="0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 </a:t>
            </a:r>
            <a:r>
              <a:rPr lang="en-US" sz="6000" b="1" dirty="0" err="1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внимание</a:t>
            </a:r>
            <a:r>
              <a:rPr lang="en-US" sz="6000" b="1" dirty="0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!</a:t>
            </a:r>
            <a:endParaRPr sz="6000" b="1" dirty="0">
              <a:solidFill>
                <a:schemeClr val="bg1"/>
              </a:solidFill>
              <a:latin typeface="PT Sans" panose="020B0503020203020204" pitchFamily="34" charset="-52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82718" y="4093156"/>
            <a:ext cx="87369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PT Sans" panose="020B0503020203020204" pitchFamily="34" charset="-52"/>
              </a:rPr>
              <a:t>Выполнили:</a:t>
            </a:r>
          </a:p>
          <a:p>
            <a:r>
              <a:rPr lang="ru-RU" sz="2000" b="1" dirty="0" err="1">
                <a:solidFill>
                  <a:schemeClr val="bg1"/>
                </a:solidFill>
                <a:latin typeface="PT Sans" panose="020B0503020203020204" pitchFamily="34" charset="-52"/>
              </a:rPr>
              <a:t>Зайдуллина</a:t>
            </a:r>
            <a:r>
              <a:rPr lang="ru-RU" sz="2000" b="1" dirty="0">
                <a:solidFill>
                  <a:schemeClr val="bg1"/>
                </a:solidFill>
                <a:latin typeface="PT Sans" panose="020B0503020203020204" pitchFamily="34" charset="-52"/>
              </a:rPr>
              <a:t> </a:t>
            </a:r>
            <a:r>
              <a:rPr lang="ru-RU" sz="2000" b="1" dirty="0" err="1">
                <a:solidFill>
                  <a:schemeClr val="bg1"/>
                </a:solidFill>
                <a:latin typeface="PT Sans" panose="020B0503020203020204" pitchFamily="34" charset="-52"/>
              </a:rPr>
              <a:t>Ильсина</a:t>
            </a:r>
            <a:r>
              <a:rPr lang="ru-RU" sz="2000" b="1" dirty="0">
                <a:solidFill>
                  <a:schemeClr val="bg1"/>
                </a:solidFill>
                <a:latin typeface="PT Sans" panose="020B0503020203020204" pitchFamily="34" charset="-52"/>
              </a:rPr>
              <a:t>, Санкова Анастасия, Мурзина Арина, Игнатьев Игнат</a:t>
            </a:r>
          </a:p>
          <a:p>
            <a:r>
              <a:rPr lang="ru-RU" sz="2000" dirty="0">
                <a:solidFill>
                  <a:schemeClr val="bg1"/>
                </a:solidFill>
                <a:latin typeface="PT Sans" panose="020B0503020203020204" pitchFamily="34" charset="-52"/>
              </a:rPr>
              <a:t>Студентка 4 курса</a:t>
            </a:r>
          </a:p>
          <a:p>
            <a:r>
              <a:rPr lang="ru-RU" sz="2000" dirty="0">
                <a:solidFill>
                  <a:schemeClr val="bg1"/>
                </a:solidFill>
                <a:latin typeface="PT Sans" panose="020B0503020203020204" pitchFamily="34" charset="-52"/>
              </a:rPr>
              <a:t>Группы 14.6-110</a:t>
            </a:r>
          </a:p>
          <a:p>
            <a:endParaRPr lang="ru-RU" sz="2000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489901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1822</Words>
  <Application>Microsoft Office PowerPoint</Application>
  <PresentationFormat>Широкоэкранный</PresentationFormat>
  <Paragraphs>298</Paragraphs>
  <Slides>25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Aptos Narrow</vt:lpstr>
      <vt:lpstr>Arial</vt:lpstr>
      <vt:lpstr>PT Sans</vt:lpstr>
      <vt:lpstr>Times New Roman</vt:lpstr>
      <vt:lpstr>Тема Office</vt:lpstr>
      <vt:lpstr>Презентация PowerPoint</vt:lpstr>
      <vt:lpstr>Контроль печатей</vt:lpstr>
      <vt:lpstr>К подразделениям, обязанным предоставлять документы в отдел ОДиК относятся:</vt:lpstr>
      <vt:lpstr>Задачи и функции подразделения УДК: </vt:lpstr>
      <vt:lpstr>IDEF0</vt:lpstr>
      <vt:lpstr>IDEF0</vt:lpstr>
      <vt:lpstr>BPMN работа с дипломами:</vt:lpstr>
      <vt:lpstr>BPMN работа с документами:</vt:lpstr>
      <vt:lpstr>Карта SIPOC по методу DMAIC</vt:lpstr>
      <vt:lpstr>Вывод:</vt:lpstr>
      <vt:lpstr>Матрица VOC-CTQ:</vt:lpstr>
      <vt:lpstr>Вывод:</vt:lpstr>
      <vt:lpstr>Карта VSM:</vt:lpstr>
      <vt:lpstr>Вывод:</vt:lpstr>
      <vt:lpstr>Takt Time:</vt:lpstr>
      <vt:lpstr>Выявленные узкие места проанализируем по методологии SWIIMTOO:</vt:lpstr>
      <vt:lpstr>Выявленные узкие места проанализируем по методологии SWIIMTOO:</vt:lpstr>
      <vt:lpstr>Вывод:</vt:lpstr>
      <vt:lpstr>Диаграммы Исикавы:</vt:lpstr>
      <vt:lpstr>Вывод:</vt:lpstr>
      <vt:lpstr>Расчет ПЧР:</vt:lpstr>
      <vt:lpstr>По данным расчетов ПЧР построили диаграмма Парето:</vt:lpstr>
      <vt:lpstr>DMAIC оптимизация:  </vt:lpstr>
      <vt:lpstr>DMAIC оптимизация: Известно, что в день обрабатывается 120 документов и 800 дипломов 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Арина Мурзина</dc:creator>
  <cp:lastModifiedBy>Арина Мурзина</cp:lastModifiedBy>
  <cp:revision>5</cp:revision>
  <dcterms:created xsi:type="dcterms:W3CDTF">2025-04-27T12:42:42Z</dcterms:created>
  <dcterms:modified xsi:type="dcterms:W3CDTF">2025-04-28T07:16:29Z</dcterms:modified>
</cp:coreProperties>
</file>