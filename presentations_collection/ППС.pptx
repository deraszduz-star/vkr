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315" r:id="rId8"/>
    <p:sldId id="262" r:id="rId9"/>
    <p:sldId id="263" r:id="rId10"/>
    <p:sldId id="264" r:id="rId11"/>
    <p:sldId id="269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316" r:id="rId24"/>
    <p:sldId id="279" r:id="rId25"/>
    <p:sldId id="280" r:id="rId26"/>
    <p:sldId id="281" r:id="rId27"/>
    <p:sldId id="282" r:id="rId28"/>
    <p:sldId id="284" r:id="rId29"/>
    <p:sldId id="283" r:id="rId30"/>
    <p:sldId id="286" r:id="rId31"/>
    <p:sldId id="289" r:id="rId32"/>
    <p:sldId id="297" r:id="rId33"/>
    <p:sldId id="298" r:id="rId34"/>
    <p:sldId id="299" r:id="rId35"/>
    <p:sldId id="292" r:id="rId36"/>
    <p:sldId id="288" r:id="rId37"/>
    <p:sldId id="301" r:id="rId38"/>
    <p:sldId id="287" r:id="rId39"/>
    <p:sldId id="302" r:id="rId40"/>
    <p:sldId id="303" r:id="rId41"/>
    <p:sldId id="304" r:id="rId42"/>
    <p:sldId id="305" r:id="rId43"/>
    <p:sldId id="306" r:id="rId44"/>
    <p:sldId id="307" r:id="rId45"/>
    <p:sldId id="317" r:id="rId46"/>
    <p:sldId id="308" r:id="rId47"/>
    <p:sldId id="309" r:id="rId48"/>
    <p:sldId id="310" r:id="rId49"/>
    <p:sldId id="311" r:id="rId50"/>
    <p:sldId id="312" r:id="rId51"/>
    <p:sldId id="313" r:id="rId52"/>
    <p:sldId id="274" r:id="rId53"/>
    <p:sldId id="314" r:id="rId5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04EE2F-36C5-44FA-9503-730FF0D26DF5}">
  <a:tblStyle styleId="{5804EE2F-36C5-44FA-9503-730FF0D26D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9341B2-4E14-4A4F-AE47-46B9B86B82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7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f2c043be1f509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f2c043be1f509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40f2c043be1f5099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40f2c043be1f5099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40f2c043be1f5099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40f2c043be1f5099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c7b5040c3fd997a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c7b5040c3fd997a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a106a0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6a106a0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6ae98de1c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6ae98de1c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6ae98de1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6ae98de1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6ae98de1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6ae98de1c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8a86bcc456d4edf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8a86bcc456d4edf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7a227bb2a69cd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7a227bb2a69cd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7a227bb2a69cd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7a227bb2a69cd4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7a227bb2a69cd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7a227bb2a69cd4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f2c043be1f5099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0f2c043be1f5099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6ae98de1c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6ae98de1c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8a86bcc456d4edf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8a86bcc456d4edf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6ae98de1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6ae98de1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6b4f463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6b4f463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6a106a06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6a106a06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40f2c043be1f5099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40f2c043be1f5099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6a106a06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56a106a06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6ae98de1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56ae98de1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6ae98de1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6ae98de1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6ae98de1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56ae98de1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6ae98de1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56ae98de1c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6c85130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6c85130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6ae98de1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56ae98de1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6b4f463c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56b4f463c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6ae98de1c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6ae98de1c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6ae98de1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6ae98de1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6ae98de1c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56ae98de1c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6ae98de1c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6ae98de1c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6b4f463c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56b4f463c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6b4f463c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6b4f463c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6bdc3da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56bdc3da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6b4f463c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6b4f463c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6a106a06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6a106a06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56a106a06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56a106a06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56a106a061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56a106a061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56a106a06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56a106a06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6a106a06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56a106a06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56a106a06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56a106a06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56a106a06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56a106a06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56a106a06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56a106a061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6a106a061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6a106a061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40f2c043be1f5099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40f2c043be1f5099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51498349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51498349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51498349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51498349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0f2c043be1f509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0f2c043be1f5099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56ae98de1c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56ae98de1c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hyperlink" Target="https://disk.yandex.ru/d/02poOe2gmjk0uA" TargetMode="External"/><Relationship Id="rId4" Type="http://schemas.openxmlformats.org/officeDocument/2006/relationships/hyperlink" Target="https://docs.google.com/spreadsheets/d/1ZxXRXxTYAPerwsNCcLwaym7RQ3n4WMzlfziUQZ9r9H0/edit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hyperlink" Target="https://disk.yandex.ru/d/02poOe2gmjk0uA" TargetMode="External"/><Relationship Id="rId4" Type="http://schemas.openxmlformats.org/officeDocument/2006/relationships/hyperlink" Target="https://docs.google.com/spreadsheets/d/1ZxXRXxTYAPerwsNCcLwaym7RQ3n4WMzlfziUQZ9r9H0/edit?usp=shar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isk.yandex.ru/d/02poOe2gmjk0uA" TargetMode="External"/><Relationship Id="rId5" Type="http://schemas.openxmlformats.org/officeDocument/2006/relationships/hyperlink" Target="https://docs.google.com/spreadsheets/d/1ZxXRXxTYAPerwsNCcLwaym7RQ3n4WMzlfziUQZ9r9H0/edit?usp=sharing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61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1130" t="-4258" r="-1130" b="30457"/>
          <a:stretch/>
        </p:blipFill>
        <p:spPr>
          <a:xfrm>
            <a:off x="0" y="1347525"/>
            <a:ext cx="9144001" cy="3795975"/>
          </a:xfrm>
          <a:prstGeom prst="rect">
            <a:avLst/>
          </a:prstGeom>
          <a:noFill/>
          <a:ln>
            <a:noFill/>
          </a:ln>
          <a:effectLst>
            <a:reflection stA="0" endPos="30000" fadeDir="5400012" sy="-100000" algn="bl" rotWithShape="0"/>
          </a:effectLst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560700" y="623738"/>
            <a:ext cx="8022600" cy="95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УПРАВЛЕНИЕ КАДРАМИ:</a:t>
            </a:r>
            <a:endParaRPr sz="2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Отдел по работе с профессорско-преподавательским составом (ППС)</a:t>
            </a:r>
            <a:endParaRPr sz="24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5653851" y="4406513"/>
            <a:ext cx="3614100" cy="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Выполнили: Егорова О.А, Мискачева С.С.,Хамитова Л.Д.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Группа: 14.6-111</a:t>
            </a:r>
            <a:endParaRPr sz="120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9344" y="1972453"/>
            <a:ext cx="3902474" cy="1426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отдела ППС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65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Деятельность Управления кадров направлена на достижение стратегической цели программы развития КФУ в области политики управления человеческим капиталом.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Миссия Управления кадров КФУ заключается в работе с кадрами университета. Именно кадровый потенциал обеспечивает приумножение успешных результатов и помогает достигать поставленные цели в рамках развития университета.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7388" y="0"/>
            <a:ext cx="103662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 rot="-5400000">
            <a:off x="-2179150" y="2339850"/>
            <a:ext cx="50511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Сотрудники Отдела Управления  Кадрами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 rot="-5400000">
            <a:off x="-1166348" y="2184599"/>
            <a:ext cx="45522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ОТДЕЛ ПО РАБОТЕ С ПРОФЕССОРСКО-ПРЕПОДАВАТЕЛЬСКИМ СОСТАВОМ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1" name="Google Shape;71;p15"/>
          <p:cNvCxnSpPr/>
          <p:nvPr/>
        </p:nvCxnSpPr>
        <p:spPr>
          <a:xfrm flipH="1">
            <a:off x="1641204" y="608"/>
            <a:ext cx="25800" cy="4595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4000"/>
              </a:srgbClr>
            </a:outerShdw>
          </a:effectLst>
        </p:spPr>
      </p:cxnSp>
      <p:cxnSp>
        <p:nvCxnSpPr>
          <p:cNvPr id="72" name="Google Shape;72;p15"/>
          <p:cNvCxnSpPr/>
          <p:nvPr/>
        </p:nvCxnSpPr>
        <p:spPr>
          <a:xfrm rot="10800000" flipH="1">
            <a:off x="7719165" y="3628190"/>
            <a:ext cx="4200" cy="1515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cxnSp>
        <p:nvCxnSpPr>
          <p:cNvPr id="73" name="Google Shape;73;p15"/>
          <p:cNvCxnSpPr/>
          <p:nvPr/>
        </p:nvCxnSpPr>
        <p:spPr>
          <a:xfrm flipH="1">
            <a:off x="8125575" y="3070382"/>
            <a:ext cx="5400" cy="2099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563" y="12"/>
            <a:ext cx="103662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r="-3799"/>
          <a:stretch/>
        </p:blipFill>
        <p:spPr>
          <a:xfrm>
            <a:off x="2129165" y="600"/>
            <a:ext cx="5823226" cy="2571725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rgbClr val="073763">
                <a:alpha val="50000"/>
              </a:srgbClr>
            </a:outerShdw>
          </a:effectLst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5">
            <a:alphaModFix/>
          </a:blip>
          <a:srcRect t="1806"/>
          <a:stretch/>
        </p:blipFill>
        <p:spPr>
          <a:xfrm>
            <a:off x="2758002" y="2679800"/>
            <a:ext cx="4276575" cy="24175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rgbClr val="073763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401923" y="1"/>
            <a:ext cx="7418400" cy="3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Должностные обязанности ведущего специалиста ППС</a:t>
            </a:r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1385111" y="922230"/>
            <a:ext cx="7758900" cy="2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7388" y="0"/>
            <a:ext cx="1036623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" name="Google Shape;84;p16"/>
          <p:cNvGraphicFramePr/>
          <p:nvPr/>
        </p:nvGraphicFramePr>
        <p:xfrm>
          <a:off x="447075" y="1063300"/>
          <a:ext cx="7486650" cy="3942400"/>
        </p:xfrm>
        <a:graphic>
          <a:graphicData uri="http://schemas.openxmlformats.org/drawingml/2006/table">
            <a:tbl>
              <a:tblPr>
                <a:noFill/>
                <a:tableStyleId>{5804EE2F-36C5-44FA-9503-730FF0D26DF5}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 row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Ведущий специалист по персоналу</a:t>
                      </a:r>
                      <a:endParaRPr sz="9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Документационное обеспечение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Ведение и учет кадровой документации в соответствии с действующим законодательством и внутренними регламентами.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Подготовка отчетности по кадровым вопросам и мониторинг состояния трудовых ресурсов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39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Организация и координация процессов управления персоналом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-Оформляет прием, перевод, увольнение работников, направление в служебные командировки, предоставление отпусков, привлечение к дисциплинарной ответственности.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-Доводит до сведения персонала организационные, распорядительные и кадровые документы организации.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-Формирует и ведет личные дела работников, вносит в них изменения, связанные с трудовой деятельностью.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-Консультирует работников КФУ предпенсионного возраста и формирует электронный макет пенсионного дела для направления в ПФР РФ.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Взаимодейтсвие с государственными структурами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Осуществляет взаимодействие с государственными структурами и оргадизациями по направлению деятельности в рамках предоставленных полномочий.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Готовит запросы в государственные органы и сторонние организации для подтверждения сведений в интересах работников и работодателя.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Анализ и мониторинг кадровых процессов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-Проведение регулярного анализа показателей текучести кадров, удовлетворенности сотрудников и других ключевых метрик.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-Разработка рекомендаций по оптимизации процессов управления персоналом на основе полученных данных руководству.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программными продуктами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Пополняют информацию по количественному и качественному составу работников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22DC274-22B4-4F51-B914-4216FBA7F627}"/>
              </a:ext>
            </a:extLst>
          </p:cNvPr>
          <p:cNvCxnSpPr/>
          <p:nvPr/>
        </p:nvCxnSpPr>
        <p:spPr>
          <a:xfrm>
            <a:off x="2921794" y="4493419"/>
            <a:ext cx="482203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Стрелка: влево 4">
            <a:extLst>
              <a:ext uri="{FF2B5EF4-FFF2-40B4-BE49-F238E27FC236}">
                <a16:creationId xmlns:a16="http://schemas.microsoft.com/office/drawing/2014/main" id="{6004C4FA-C03F-4ABC-977B-AA3C4B8409F6}"/>
              </a:ext>
            </a:extLst>
          </p:cNvPr>
          <p:cNvSpPr/>
          <p:nvPr/>
        </p:nvSpPr>
        <p:spPr>
          <a:xfrm>
            <a:off x="7820323" y="4314825"/>
            <a:ext cx="876602" cy="257175"/>
          </a:xfrm>
          <a:prstGeom prst="left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Должностные обязанности специалиста 1 категории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2" y="694751"/>
            <a:ext cx="7323855" cy="414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388" y="0"/>
            <a:ext cx="103662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90400" y="167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Должностные обязанности руководителя ППС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00" y="1052375"/>
            <a:ext cx="7878849" cy="370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388" y="0"/>
            <a:ext cx="1036623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E2AA280-D72E-47B2-8B7F-5ABE73D02D73}"/>
              </a:ext>
            </a:extLst>
          </p:cNvPr>
          <p:cNvCxnSpPr/>
          <p:nvPr/>
        </p:nvCxnSpPr>
        <p:spPr>
          <a:xfrm>
            <a:off x="2064544" y="4029076"/>
            <a:ext cx="4822031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Стрелка: влево 1">
            <a:extLst>
              <a:ext uri="{FF2B5EF4-FFF2-40B4-BE49-F238E27FC236}">
                <a16:creationId xmlns:a16="http://schemas.microsoft.com/office/drawing/2014/main" id="{50983677-A6C7-48B4-8150-3CF0EB9D3DBE}"/>
              </a:ext>
            </a:extLst>
          </p:cNvPr>
          <p:cNvSpPr/>
          <p:nvPr/>
        </p:nvSpPr>
        <p:spPr>
          <a:xfrm>
            <a:off x="4929187" y="3869670"/>
            <a:ext cx="592931" cy="19288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51826-40F4-4C5E-8808-8B941D03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62" y="450718"/>
            <a:ext cx="2588663" cy="572700"/>
          </a:xfrm>
        </p:spPr>
        <p:txBody>
          <a:bodyPr>
            <a:normAutofit/>
          </a:bodyPr>
          <a:lstStyle/>
          <a:p>
            <a:r>
              <a:rPr lang="ru-RU" sz="2000" b="1" dirty="0"/>
              <a:t>Фактически: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0BDC4B-7E97-462E-8726-9B3A44997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562" y="1397050"/>
            <a:ext cx="3531638" cy="3416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«Мы так привыкли»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«Мне так удобнее»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«Так завелось»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«Мне спокойнее так делать для себя»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«Раньше мы делали только так, но после изменений стали делать двойную работу»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021DE12-3EB9-4977-8192-FDB4226B1AA3}"/>
              </a:ext>
            </a:extLst>
          </p:cNvPr>
          <p:cNvSpPr txBox="1">
            <a:spLocks/>
          </p:cNvSpPr>
          <p:nvPr/>
        </p:nvSpPr>
        <p:spPr>
          <a:xfrm>
            <a:off x="4436269" y="343562"/>
            <a:ext cx="4238869" cy="1042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000" b="1" dirty="0">
                <a:latin typeface="+mj-lt"/>
              </a:rPr>
              <a:t>Решение: </a:t>
            </a:r>
            <a:r>
              <a:rPr lang="ru-RU" sz="2000" b="1" i="0" dirty="0">
                <a:solidFill>
                  <a:srgbClr val="2A3137"/>
                </a:solidFill>
                <a:effectLst/>
                <a:latin typeface="+mj-lt"/>
              </a:rPr>
              <a:t>Помочь людям захотеть участвовать в переменах</a:t>
            </a:r>
            <a:endParaRPr lang="ru-RU" sz="2000" b="1" dirty="0">
              <a:latin typeface="+mj-lt"/>
            </a:endParaRP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05102414-F2CA-4FE1-827D-E37765E9B3F3}"/>
              </a:ext>
            </a:extLst>
          </p:cNvPr>
          <p:cNvSpPr txBox="1">
            <a:spLocks/>
          </p:cNvSpPr>
          <p:nvPr/>
        </p:nvSpPr>
        <p:spPr>
          <a:xfrm>
            <a:off x="4293149" y="1457325"/>
            <a:ext cx="3531638" cy="311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Проводить мероприятия с наглядным объяснениям для чего изменение будет полезно, какие преимущества это даст. Изменения-это удобства.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Поощрять/хвалить сотрудников за его заслуги.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Проводить опросы с обратной связью</a:t>
            </a:r>
          </a:p>
          <a:p>
            <a:pPr marL="1143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7944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0" y="63475"/>
            <a:ext cx="1801725" cy="17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314375" y="976475"/>
            <a:ext cx="13494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hlinkClick r:id="rId4"/>
              </a:rPr>
              <a:t>Хронометраж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14375" y="583775"/>
            <a:ext cx="1746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hlinkClick r:id="rId5"/>
              </a:rPr>
              <a:t>Данные с гембы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9375" y="378750"/>
            <a:ext cx="7040200" cy="44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150"/>
            <a:ext cx="1875150" cy="18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34500" y="976475"/>
            <a:ext cx="13494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hlinkClick r:id="rId4"/>
              </a:rPr>
              <a:t>Хронометраж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262875" y="583775"/>
            <a:ext cx="1746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hlinkClick r:id="rId5"/>
              </a:rPr>
              <a:t>Данные с гембы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13076" y="152400"/>
            <a:ext cx="668655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8650" y="0"/>
            <a:ext cx="1866776" cy="18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 rotWithShape="1">
          <a:blip r:embed="rId4">
            <a:alphaModFix/>
          </a:blip>
          <a:srcRect r="28962"/>
          <a:stretch/>
        </p:blipFill>
        <p:spPr>
          <a:xfrm>
            <a:off x="1749525" y="818400"/>
            <a:ext cx="7212150" cy="36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285725" y="976475"/>
            <a:ext cx="13353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hlinkClick r:id="rId5"/>
              </a:rPr>
              <a:t>Хронометраж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228425" y="583775"/>
            <a:ext cx="1746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hlinkClick r:id="rId6"/>
              </a:rPr>
              <a:t>Данные с гембы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372" y="2482994"/>
            <a:ext cx="4246628" cy="2660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9;p22">
            <a:extLst>
              <a:ext uri="{FF2B5EF4-FFF2-40B4-BE49-F238E27FC236}">
                <a16:creationId xmlns:a16="http://schemas.microsoft.com/office/drawing/2014/main" id="{9B9E8C06-C541-4E3E-9ABC-953569CAE91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372" y="0"/>
            <a:ext cx="4246628" cy="2482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8;p22">
            <a:extLst>
              <a:ext uri="{FF2B5EF4-FFF2-40B4-BE49-F238E27FC236}">
                <a16:creationId xmlns:a16="http://schemas.microsoft.com/office/drawing/2014/main" id="{72ED1246-5553-499F-9BAD-84CE64514B6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1574" y="0"/>
            <a:ext cx="372579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34;p23">
            <a:extLst>
              <a:ext uri="{FF2B5EF4-FFF2-40B4-BE49-F238E27FC236}">
                <a16:creationId xmlns:a16="http://schemas.microsoft.com/office/drawing/2014/main" id="{A495272D-A247-410A-AB96-667DE3061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-5400000">
            <a:off x="-3730450" y="2150854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Фото рабочего места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 rot="-5400000">
            <a:off x="-3730450" y="2150854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Паспорт проекта</a:t>
            </a:r>
            <a:endParaRPr dirty="0"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618" y="0"/>
            <a:ext cx="733393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 rot="-5400000">
            <a:off x="-3484484" y="2253226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Паспорт проекта</a:t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8175" y="0"/>
            <a:ext cx="687092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 rot="-5400000">
            <a:off x="-3699005" y="2359553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Паспорт проекта</a:t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798" y="23725"/>
            <a:ext cx="7036701" cy="509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311700" y="27949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ПРОБЛЕМНЫЕ ЗОНЫ ППС КФУ</a:t>
            </a:r>
            <a:endParaRPr dirty="0"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82" y="852188"/>
            <a:ext cx="6489976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388" y="0"/>
            <a:ext cx="103662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5796175" y="1291475"/>
            <a:ext cx="2807400" cy="888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8"/>
          <p:cNvSpPr txBox="1"/>
          <p:nvPr/>
        </p:nvSpPr>
        <p:spPr>
          <a:xfrm>
            <a:off x="6271725" y="496550"/>
            <a:ext cx="2091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chemeClr val="dk2"/>
                </a:solidFill>
              </a:rPr>
              <a:t>ПЕРЕПРОИЗВОДСТВО</a:t>
            </a:r>
            <a:endParaRPr sz="12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solidFill>
                  <a:schemeClr val="dk2"/>
                </a:solidFill>
              </a:rPr>
              <a:t>Частая печать и дублирование документов</a:t>
            </a:r>
            <a:endParaRPr sz="1200" i="1">
              <a:solidFill>
                <a:schemeClr val="dk2"/>
              </a:solidFill>
            </a:endParaRPr>
          </a:p>
        </p:txBody>
      </p:sp>
      <p:sp>
        <p:nvSpPr>
          <p:cNvPr id="169" name="Google Shape;169;p28"/>
          <p:cNvSpPr/>
          <p:nvPr/>
        </p:nvSpPr>
        <p:spPr>
          <a:xfrm rot="874872">
            <a:off x="5203645" y="3606669"/>
            <a:ext cx="2807525" cy="88808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8"/>
          <p:cNvSpPr txBox="1"/>
          <p:nvPr/>
        </p:nvSpPr>
        <p:spPr>
          <a:xfrm>
            <a:off x="6226376" y="2644900"/>
            <a:ext cx="21363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2"/>
                </a:solidFill>
              </a:rPr>
              <a:t>ТРАНСПОРТИРОВКА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solidFill>
                  <a:schemeClr val="dk2"/>
                </a:solidFill>
              </a:rPr>
              <a:t>Постоянное движение по кабинету: рабочее место-папки/шкафы/коллеги</a:t>
            </a:r>
            <a:endParaRPr sz="1200" i="1">
              <a:solidFill>
                <a:schemeClr val="dk2"/>
              </a:solidFill>
            </a:endParaRPr>
          </a:p>
        </p:txBody>
      </p:sp>
      <p:sp>
        <p:nvSpPr>
          <p:cNvPr id="171" name="Google Shape;171;p28"/>
          <p:cNvSpPr/>
          <p:nvPr/>
        </p:nvSpPr>
        <p:spPr>
          <a:xfrm rot="-8572624">
            <a:off x="1193450" y="486701"/>
            <a:ext cx="2499804" cy="87954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8"/>
          <p:cNvSpPr txBox="1"/>
          <p:nvPr/>
        </p:nvSpPr>
        <p:spPr>
          <a:xfrm>
            <a:off x="3072000" y="44950"/>
            <a:ext cx="3000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2"/>
                </a:solidFill>
              </a:rPr>
              <a:t>ЛИШНИЕ ДВИЖЕНИЯ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solidFill>
                  <a:schemeClr val="dk2"/>
                </a:solidFill>
              </a:rPr>
              <a:t>Неструктурированность рабочего пространства, порождающая повторные проверки, усиливающие риск ошибок при введении данных</a:t>
            </a:r>
            <a:endParaRPr sz="1200" i="1">
              <a:solidFill>
                <a:schemeClr val="dk2"/>
              </a:solidFill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143225" y="1594975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2"/>
                </a:solidFill>
              </a:rPr>
              <a:t>ЛИШНЯЯ ОБРАБОТКА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solidFill>
                  <a:schemeClr val="dk2"/>
                </a:solidFill>
              </a:rPr>
              <a:t>Большое количество сотрудников и отделов, которые постоянно перепроверяют документы</a:t>
            </a:r>
            <a:endParaRPr/>
          </a:p>
        </p:txBody>
      </p:sp>
      <p:sp>
        <p:nvSpPr>
          <p:cNvPr id="174" name="Google Shape;174;p28"/>
          <p:cNvSpPr/>
          <p:nvPr/>
        </p:nvSpPr>
        <p:spPr>
          <a:xfrm rot="10800000">
            <a:off x="457654" y="2426604"/>
            <a:ext cx="2807400" cy="888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780700" y="3875475"/>
            <a:ext cx="3000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2"/>
                </a:solidFill>
              </a:rPr>
              <a:t>ПОТЕРЯ ИНТЕЛЛЕКТА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solidFill>
                  <a:schemeClr val="dk2"/>
                </a:solidFill>
              </a:rPr>
              <a:t>Происходит из-за отвлечения на созвоны, не связанные с первоначальным набором компетенций</a:t>
            </a:r>
            <a:endParaRPr sz="1200" i="1">
              <a:solidFill>
                <a:schemeClr val="dk2"/>
              </a:solidFill>
            </a:endParaRPr>
          </a:p>
        </p:txBody>
      </p:sp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 l="17164" t="4022" r="4813" b="12858"/>
          <a:stretch/>
        </p:blipFill>
        <p:spPr>
          <a:xfrm>
            <a:off x="8077700" y="1311575"/>
            <a:ext cx="869400" cy="84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 rotWithShape="1">
          <a:blip r:embed="rId4">
            <a:alphaModFix/>
          </a:blip>
          <a:srcRect l="24835" t="6934" r="2075" b="5843"/>
          <a:stretch/>
        </p:blipFill>
        <p:spPr>
          <a:xfrm>
            <a:off x="7386766" y="3929625"/>
            <a:ext cx="975900" cy="954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5">
            <a:alphaModFix/>
          </a:blip>
          <a:srcRect l="8340" t="31715" r="68914" b="32277"/>
          <a:stretch/>
        </p:blipFill>
        <p:spPr>
          <a:xfrm>
            <a:off x="1194586" y="-145950"/>
            <a:ext cx="897300" cy="888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9" name="Google Shape;179;p28"/>
          <p:cNvSpPr/>
          <p:nvPr/>
        </p:nvSpPr>
        <p:spPr>
          <a:xfrm rot="6683910">
            <a:off x="3116445" y="3874144"/>
            <a:ext cx="1647790" cy="80489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 rotWithShape="1">
          <a:blip r:embed="rId6">
            <a:alphaModFix/>
          </a:blip>
          <a:srcRect l="8395" t="31206" r="69004" b="31747"/>
          <a:stretch/>
        </p:blipFill>
        <p:spPr>
          <a:xfrm>
            <a:off x="70125" y="2466800"/>
            <a:ext cx="869400" cy="84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1" name="Google Shape;181;p28"/>
          <p:cNvPicPr preferRelativeResize="0"/>
          <p:nvPr/>
        </p:nvPicPr>
        <p:blipFill rotWithShape="1">
          <a:blip r:embed="rId7">
            <a:alphaModFix/>
          </a:blip>
          <a:srcRect l="30056" t="13519" r="31722" b="19751"/>
          <a:stretch/>
        </p:blipFill>
        <p:spPr>
          <a:xfrm>
            <a:off x="3265050" y="4283697"/>
            <a:ext cx="869400" cy="859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82" name="Google Shape;182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57438" y="1509025"/>
            <a:ext cx="2429100" cy="19482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/>
        </p:nvSpPr>
        <p:spPr>
          <a:xfrm>
            <a:off x="302715" y="248794"/>
            <a:ext cx="8679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solidFill>
                  <a:schemeClr val="dk1"/>
                </a:solidFill>
              </a:rPr>
              <a:t>БОЛИ ППС</a:t>
            </a:r>
            <a:endParaRPr sz="2300" dirty="0">
              <a:solidFill>
                <a:schemeClr val="dk1"/>
              </a:solidFill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0" y="1291350"/>
            <a:ext cx="3251100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Постоянные зависания программы:</a:t>
            </a:r>
            <a:endParaRPr sz="1200" dirty="0">
              <a:solidFill>
                <a:schemeClr val="dk2"/>
              </a:solidFill>
            </a:endParaRPr>
          </a:p>
          <a:p>
            <a:pPr marL="6286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- “Загрузка Паруса (50 чек)</a:t>
            </a:r>
            <a:endParaRPr sz="1200" dirty="0">
              <a:solidFill>
                <a:schemeClr val="dk2"/>
              </a:solidFill>
            </a:endParaRPr>
          </a:p>
          <a:p>
            <a:pPr marL="6286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“Контрагенты” (3 минуты)</a:t>
            </a:r>
            <a:endParaRPr sz="1200" dirty="0">
              <a:solidFill>
                <a:schemeClr val="dk2"/>
              </a:solidFill>
            </a:endParaRPr>
          </a:p>
          <a:p>
            <a:pPr marL="6286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Сложная система доступа к тем или иным функциям при необходимости введения правок</a:t>
            </a:r>
            <a:endParaRPr sz="1200" dirty="0">
              <a:solidFill>
                <a:schemeClr val="dk2"/>
              </a:solidFill>
            </a:endParaRPr>
          </a:p>
          <a:p>
            <a:pPr marL="6286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Перегруженный интерфейс, многоступенчатое исполнение функций</a:t>
            </a:r>
            <a:endParaRPr sz="1200" dirty="0">
              <a:solidFill>
                <a:schemeClr val="dk2"/>
              </a:solidFill>
            </a:endParaRPr>
          </a:p>
          <a:p>
            <a:pPr marL="6286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Отстутствие выпадающего списка должностей проректора 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endParaRPr lang="ru"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Система отягащает работу и дублирует функционал сотрудников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4435048" y="1291350"/>
            <a:ext cx="36618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Привлечение специалистов для выяснения проблем (устаревшее ПО, перегруженные сервера и т.д.)</a:t>
            </a:r>
            <a:endParaRPr sz="1200" dirty="0">
              <a:solidFill>
                <a:schemeClr val="dk2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2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Сократить путь к редактированию данных сотрудников через главное меню базы Парус Сотрудника. Добавить подсказки, стандартные для всех в базовой версии.</a:t>
            </a:r>
            <a:endParaRPr sz="1200" dirty="0">
              <a:solidFill>
                <a:schemeClr val="dk2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Сделать дизайн программы интуитивно-понятным для новичков</a:t>
            </a:r>
            <a:endParaRPr sz="1200" dirty="0">
              <a:solidFill>
                <a:schemeClr val="dk2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Привлечь айти-разработчиков для добавления строки выбора ректора и быстрого поиска данных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endParaRPr lang="ru"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Char char="•"/>
            </a:pPr>
            <a:r>
              <a:rPr lang="ru" sz="1200" dirty="0">
                <a:solidFill>
                  <a:schemeClr val="dk2"/>
                </a:solidFill>
              </a:rPr>
              <a:t>Доработать систему, обьяснить ценность ее внедрения и чем может помочь программа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3486899" y="1430114"/>
            <a:ext cx="1085100" cy="4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9"/>
          <p:cNvSpPr/>
          <p:nvPr/>
        </p:nvSpPr>
        <p:spPr>
          <a:xfrm>
            <a:off x="3486897" y="2169557"/>
            <a:ext cx="1085100" cy="4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9"/>
          <p:cNvSpPr/>
          <p:nvPr/>
        </p:nvSpPr>
        <p:spPr>
          <a:xfrm>
            <a:off x="3486899" y="2908984"/>
            <a:ext cx="1085100" cy="4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9"/>
          <p:cNvSpPr/>
          <p:nvPr/>
        </p:nvSpPr>
        <p:spPr>
          <a:xfrm>
            <a:off x="3486899" y="3559989"/>
            <a:ext cx="1085100" cy="4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7388" y="0"/>
            <a:ext cx="103662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93;p29">
            <a:extLst>
              <a:ext uri="{FF2B5EF4-FFF2-40B4-BE49-F238E27FC236}">
                <a16:creationId xmlns:a16="http://schemas.microsoft.com/office/drawing/2014/main" id="{A7EF8995-E960-4DB3-8D75-0B14486E48F4}"/>
              </a:ext>
            </a:extLst>
          </p:cNvPr>
          <p:cNvSpPr/>
          <p:nvPr/>
        </p:nvSpPr>
        <p:spPr>
          <a:xfrm>
            <a:off x="3486897" y="4336173"/>
            <a:ext cx="1085100" cy="4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25" y="389125"/>
            <a:ext cx="7982525" cy="450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9700"/>
            <a:ext cx="9144001" cy="45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>
            <a:spLocks noGrp="1"/>
          </p:cNvSpPr>
          <p:nvPr>
            <p:ph type="title"/>
          </p:nvPr>
        </p:nvSpPr>
        <p:spPr>
          <a:xfrm>
            <a:off x="166400" y="-46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IDF0 “Трудоустройство сотрудника”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>
            <a:spLocks noGrp="1"/>
          </p:cNvSpPr>
          <p:nvPr>
            <p:ph type="title"/>
          </p:nvPr>
        </p:nvSpPr>
        <p:spPr>
          <a:xfrm>
            <a:off x="166400" y="-46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BPMN “Трудоустройство сотрудника” ДО (общая) </a:t>
            </a:r>
            <a:endParaRPr dirty="0"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1063275"/>
            <a:ext cx="8076913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87;p29">
            <a:extLst>
              <a:ext uri="{FF2B5EF4-FFF2-40B4-BE49-F238E27FC236}">
                <a16:creationId xmlns:a16="http://schemas.microsoft.com/office/drawing/2014/main" id="{1B7DB2D9-FAE3-42FE-9340-1410805978A2}"/>
              </a:ext>
            </a:extLst>
          </p:cNvPr>
          <p:cNvSpPr txBox="1"/>
          <p:nvPr/>
        </p:nvSpPr>
        <p:spPr>
          <a:xfrm>
            <a:off x="166400" y="438464"/>
            <a:ext cx="86790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</a:rPr>
              <a:t>Проблема: большое количество ручных операций, лишняя транспортировка документов и хождение сотрудников между отделами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D8047-64D8-4B90-B412-3B7BF6748DD3}"/>
              </a:ext>
            </a:extLst>
          </p:cNvPr>
          <p:cNvSpPr txBox="1"/>
          <p:nvPr/>
        </p:nvSpPr>
        <p:spPr>
          <a:xfrm>
            <a:off x="3390856" y="2582512"/>
            <a:ext cx="2071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000" dirty="0">
                <a:solidFill>
                  <a:srgbClr val="FF0000"/>
                </a:solidFill>
              </a:rPr>
              <a:t>Ручная операция</a:t>
            </a:r>
            <a:endParaRPr lang="ru-RU" sz="1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>
            <a:spLocks noGrp="1"/>
          </p:cNvSpPr>
          <p:nvPr>
            <p:ph type="title"/>
          </p:nvPr>
        </p:nvSpPr>
        <p:spPr>
          <a:xfrm>
            <a:off x="1664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BPMN “Трудоустройство сотрудника ч.1” ДО</a:t>
            </a:r>
            <a:endParaRPr dirty="0"/>
          </a:p>
        </p:txBody>
      </p:sp>
      <p:pic>
        <p:nvPicPr>
          <p:cNvPr id="229" name="Google Shape;2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4538"/>
            <a:ext cx="8839199" cy="36544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FF20CD-0502-456C-A811-6304D70A3210}"/>
              </a:ext>
            </a:extLst>
          </p:cNvPr>
          <p:cNvSpPr txBox="1"/>
          <p:nvPr/>
        </p:nvSpPr>
        <p:spPr>
          <a:xfrm>
            <a:off x="4243387" y="2978646"/>
            <a:ext cx="2071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000" dirty="0">
                <a:solidFill>
                  <a:srgbClr val="FF0000"/>
                </a:solidFill>
              </a:rPr>
              <a:t>Ручная операция</a:t>
            </a:r>
            <a:endParaRPr lang="ru-RU" sz="1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>
            <a:spLocks noGrp="1"/>
          </p:cNvSpPr>
          <p:nvPr>
            <p:ph type="title"/>
          </p:nvPr>
        </p:nvSpPr>
        <p:spPr>
          <a:xfrm>
            <a:off x="1664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BPMN “Трудоустройство сотрудника ч.2” ДО</a:t>
            </a:r>
            <a:endParaRPr/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0" cy="3868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5660080C-95D1-48A8-8F01-0826C235C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2338"/>
            <a:ext cx="8289375" cy="101863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ru-RU" sz="1200" dirty="0"/>
              <a:t>Решение: Создание анкеты для соискателей, которая будет подвязана к Госуслугам (возможность подгрузить автоматически данные с Госуслуг)</a:t>
            </a:r>
          </a:p>
          <a:p>
            <a:pPr marL="114300" indent="0">
              <a:buNone/>
            </a:pPr>
            <a:endParaRPr lang="ru-RU" sz="1200" dirty="0"/>
          </a:p>
          <a:p>
            <a:pPr marL="114300" indent="0">
              <a:buNone/>
            </a:pPr>
            <a:r>
              <a:rPr lang="ru-RU" sz="1200" dirty="0"/>
              <a:t>Сотрудникам необходимо будет лишь перепроверить данные и скопировать их в Парус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568046-4819-4317-AD9F-5ECD7AEC9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569"/>
            <a:ext cx="9144000" cy="3843931"/>
          </a:xfrm>
          <a:prstGeom prst="rect">
            <a:avLst/>
          </a:prstGeom>
        </p:spPr>
      </p:pic>
      <p:sp>
        <p:nvSpPr>
          <p:cNvPr id="8" name="Текст 2">
            <a:extLst>
              <a:ext uri="{FF2B5EF4-FFF2-40B4-BE49-F238E27FC236}">
                <a16:creationId xmlns:a16="http://schemas.microsoft.com/office/drawing/2014/main" id="{BB4E9DC6-6D1C-4667-BEE6-9A3EBE3B4722}"/>
              </a:ext>
            </a:extLst>
          </p:cNvPr>
          <p:cNvSpPr txBox="1">
            <a:spLocks/>
          </p:cNvSpPr>
          <p:nvPr/>
        </p:nvSpPr>
        <p:spPr>
          <a:xfrm>
            <a:off x="5700713" y="997101"/>
            <a:ext cx="3443287" cy="30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ru-RU" sz="1100" dirty="0"/>
              <a:t>*Пример анкеты при трудоустройстве в Б1</a:t>
            </a:r>
          </a:p>
        </p:txBody>
      </p:sp>
    </p:spTree>
    <p:extLst>
      <p:ext uri="{BB962C8B-B14F-4D97-AF65-F5344CB8AC3E}">
        <p14:creationId xmlns:p14="http://schemas.microsoft.com/office/powerpoint/2010/main" val="2697011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>
            <a:spLocks noGrp="1"/>
          </p:cNvSpPr>
          <p:nvPr>
            <p:ph type="title"/>
          </p:nvPr>
        </p:nvSpPr>
        <p:spPr>
          <a:xfrm>
            <a:off x="311700" y="232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BPMN “Трудоустройство сотрудника” ПОСЛЕ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175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>
            <a:spLocks noGrp="1"/>
          </p:cNvSpPr>
          <p:nvPr>
            <p:ph type="title"/>
          </p:nvPr>
        </p:nvSpPr>
        <p:spPr>
          <a:xfrm>
            <a:off x="311700" y="232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BPMN “Трудоустройство сотрудника ч.1” ПОСЛЕ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7450"/>
            <a:ext cx="8839202" cy="39133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Стрелка: вниз 1">
            <a:extLst>
              <a:ext uri="{FF2B5EF4-FFF2-40B4-BE49-F238E27FC236}">
                <a16:creationId xmlns:a16="http://schemas.microsoft.com/office/drawing/2014/main" id="{E1216E20-4E39-4956-B586-A711659981D8}"/>
              </a:ext>
            </a:extLst>
          </p:cNvPr>
          <p:cNvSpPr/>
          <p:nvPr/>
        </p:nvSpPr>
        <p:spPr>
          <a:xfrm>
            <a:off x="5343525" y="2800350"/>
            <a:ext cx="85725" cy="2143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>
            <a:spLocks noGrp="1"/>
          </p:cNvSpPr>
          <p:nvPr>
            <p:ph type="title"/>
          </p:nvPr>
        </p:nvSpPr>
        <p:spPr>
          <a:xfrm>
            <a:off x="311700" y="232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BPMN “Трудоустройство сотрудника ч.2” ПОСЛЕ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38"/>
          <p:cNvPicPr preferRelativeResize="0"/>
          <p:nvPr/>
        </p:nvPicPr>
        <p:blipFill rotWithShape="1">
          <a:blip r:embed="rId3">
            <a:alphaModFix/>
          </a:blip>
          <a:srcRect r="2638"/>
          <a:stretch/>
        </p:blipFill>
        <p:spPr>
          <a:xfrm>
            <a:off x="1003175" y="938950"/>
            <a:ext cx="6242924" cy="403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11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850" y="1556875"/>
            <a:ext cx="4444150" cy="168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9"/>
          <p:cNvSpPr txBox="1">
            <a:spLocks noGrp="1"/>
          </p:cNvSpPr>
          <p:nvPr>
            <p:ph type="title"/>
          </p:nvPr>
        </p:nvSpPr>
        <p:spPr>
          <a:xfrm rot="-5400000">
            <a:off x="5568000" y="1090875"/>
            <a:ext cx="6422100" cy="7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Движение документов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78881"/>
            <a:ext cx="88201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1"/>
          <p:cNvSpPr txBox="1">
            <a:spLocks noGrp="1"/>
          </p:cNvSpPr>
          <p:nvPr>
            <p:ph type="title"/>
          </p:nvPr>
        </p:nvSpPr>
        <p:spPr>
          <a:xfrm>
            <a:off x="228150" y="2018287"/>
            <a:ext cx="8744400" cy="346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/>
              <a:t>Блок-схема “Заявление на материальную ответственность”</a:t>
            </a:r>
            <a:endParaRPr sz="1200" dirty="0"/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484524" y="3612693"/>
            <a:ext cx="263251" cy="26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73;p41">
            <a:extLst>
              <a:ext uri="{FF2B5EF4-FFF2-40B4-BE49-F238E27FC236}">
                <a16:creationId xmlns:a16="http://schemas.microsoft.com/office/drawing/2014/main" id="{0099B0B1-60D1-4DDC-9619-189B5980A998}"/>
              </a:ext>
            </a:extLst>
          </p:cNvPr>
          <p:cNvSpPr txBox="1">
            <a:spLocks/>
          </p:cNvSpPr>
          <p:nvPr/>
        </p:nvSpPr>
        <p:spPr>
          <a:xfrm>
            <a:off x="199800" y="256162"/>
            <a:ext cx="8744400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200" dirty="0"/>
              <a:t>Решения: </a:t>
            </a:r>
          </a:p>
          <a:p>
            <a:r>
              <a:rPr lang="ru-RU" sz="1200" dirty="0"/>
              <a:t>1. Согласование ставки с УТИЗ по почте (Яндекс Мессенджер). </a:t>
            </a:r>
          </a:p>
          <a:p>
            <a:r>
              <a:rPr lang="ru-RU" sz="1200" dirty="0"/>
              <a:t>Пример: В компании </a:t>
            </a:r>
            <a:r>
              <a:rPr lang="ru-RU" sz="1200" dirty="0" err="1"/>
              <a:t>Сибур</a:t>
            </a:r>
            <a:r>
              <a:rPr lang="ru-RU" sz="1200" dirty="0"/>
              <a:t> Холдинг активно применяется данный формат согласования, когда необходимо согласовать повышенную ставку или что-либо для клиента с участием руководителя.</a:t>
            </a:r>
          </a:p>
          <a:p>
            <a:endParaRPr lang="ru-RU" sz="1200" dirty="0"/>
          </a:p>
          <a:p>
            <a:r>
              <a:rPr lang="ru-RU" sz="1200" dirty="0"/>
              <a:t>2. Сотрудник канцелярии в отделе кадров или сотрудник кадров с возможностью ставить печати вместо канцелярии.</a:t>
            </a:r>
          </a:p>
          <a:p>
            <a:endParaRPr lang="ru-RU" sz="1200" dirty="0"/>
          </a:p>
          <a:p>
            <a:r>
              <a:rPr lang="ru-RU" sz="1200" dirty="0"/>
              <a:t>3. Отправлять все приказы в бухгалтерию по почте/ скайпу. Пример: отдел по материальной-ответственности в рамках бухгалтерии КФУ, который просит отправлять им приказы по почте/скайпу, что говорит о такой возможности.</a:t>
            </a:r>
          </a:p>
          <a:p>
            <a:endParaRPr lang="ru-RU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75" y="1457850"/>
            <a:ext cx="4646925" cy="17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0"/>
          <p:cNvSpPr txBox="1">
            <a:spLocks noGrp="1"/>
          </p:cNvSpPr>
          <p:nvPr>
            <p:ph type="title"/>
          </p:nvPr>
        </p:nvSpPr>
        <p:spPr>
          <a:xfrm rot="-5400000">
            <a:off x="5646075" y="1222925"/>
            <a:ext cx="6422100" cy="7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Движение документов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75" y="1433377"/>
            <a:ext cx="8902267" cy="371012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3"/>
          <p:cNvSpPr txBox="1">
            <a:spLocks noGrp="1"/>
          </p:cNvSpPr>
          <p:nvPr>
            <p:ph type="title"/>
          </p:nvPr>
        </p:nvSpPr>
        <p:spPr>
          <a:xfrm>
            <a:off x="241650" y="10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IDEF0 “Процесс оформления отпусков” ДО</a:t>
            </a:r>
            <a:endParaRPr/>
          </a:p>
        </p:txBody>
      </p:sp>
      <p:cxnSp>
        <p:nvCxnSpPr>
          <p:cNvPr id="289" name="Google Shape;289;p43"/>
          <p:cNvCxnSpPr/>
          <p:nvPr/>
        </p:nvCxnSpPr>
        <p:spPr>
          <a:xfrm>
            <a:off x="7552250" y="3504750"/>
            <a:ext cx="393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0" name="Google Shape;290;p43"/>
          <p:cNvSpPr txBox="1"/>
          <p:nvPr/>
        </p:nvSpPr>
        <p:spPr>
          <a:xfrm>
            <a:off x="7999325" y="3273900"/>
            <a:ext cx="105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>
                <a:solidFill>
                  <a:schemeClr val="dk2"/>
                </a:solidFill>
              </a:rPr>
              <a:t>Отпуск оформлен</a:t>
            </a:r>
            <a:endParaRPr sz="900" b="1">
              <a:solidFill>
                <a:schemeClr val="dk2"/>
              </a:solidFill>
            </a:endParaRPr>
          </a:p>
        </p:txBody>
      </p:sp>
      <p:sp>
        <p:nvSpPr>
          <p:cNvPr id="291" name="Google Shape;291;p43"/>
          <p:cNvSpPr txBox="1"/>
          <p:nvPr/>
        </p:nvSpPr>
        <p:spPr>
          <a:xfrm>
            <a:off x="9849175" y="3026275"/>
            <a:ext cx="481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" name="Google Shape;288;p43">
            <a:extLst>
              <a:ext uri="{FF2B5EF4-FFF2-40B4-BE49-F238E27FC236}">
                <a16:creationId xmlns:a16="http://schemas.microsoft.com/office/drawing/2014/main" id="{8F0DEDFA-5F91-430A-ACD1-4429FA71205C}"/>
              </a:ext>
            </a:extLst>
          </p:cNvPr>
          <p:cNvSpPr txBox="1">
            <a:spLocks/>
          </p:cNvSpPr>
          <p:nvPr/>
        </p:nvSpPr>
        <p:spPr>
          <a:xfrm>
            <a:off x="358024" y="726230"/>
            <a:ext cx="8520600" cy="66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/>
              <a:t>Проблема: много ручных операций, сотрудники могут не отвечать на счет подтверждение  отпуска, ручной подсчет дней компенсации отпуска при увольнении сотрудника, слишком много этапов от начала оформления до конца.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>
            <a:spLocks noGrp="1"/>
          </p:cNvSpPr>
          <p:nvPr>
            <p:ph type="title"/>
          </p:nvPr>
        </p:nvSpPr>
        <p:spPr>
          <a:xfrm>
            <a:off x="261381" y="131081"/>
            <a:ext cx="7971300" cy="6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Решение 1: программа Vacation Solution</a:t>
            </a:r>
            <a:endParaRPr dirty="0"/>
          </a:p>
        </p:txBody>
      </p:sp>
      <p:pic>
        <p:nvPicPr>
          <p:cNvPr id="4" name="Google Shape;320;p47">
            <a:extLst>
              <a:ext uri="{FF2B5EF4-FFF2-40B4-BE49-F238E27FC236}">
                <a16:creationId xmlns:a16="http://schemas.microsoft.com/office/drawing/2014/main" id="{8A9BB31B-659A-4DDA-8020-55C50B109F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" y="846676"/>
            <a:ext cx="6798470" cy="15821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0A2BED-7C4A-4977-ACFA-1B925B058121}"/>
              </a:ext>
            </a:extLst>
          </p:cNvPr>
          <p:cNvSpPr txBox="1"/>
          <p:nvPr/>
        </p:nvSpPr>
        <p:spPr>
          <a:xfrm>
            <a:off x="435769" y="2321718"/>
            <a:ext cx="3886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Что будет в программе:</a:t>
            </a:r>
          </a:p>
          <a:p>
            <a:endParaRPr lang="ru-RU" sz="1200" dirty="0"/>
          </a:p>
          <a:p>
            <a:pPr marL="342900" indent="-342900">
              <a:buAutoNum type="arabicPeriod"/>
            </a:pPr>
            <a:r>
              <a:rPr lang="ru-RU" sz="1200" dirty="0"/>
              <a:t>Вся информация по отпускам сотрудников, остатке </a:t>
            </a:r>
            <a:r>
              <a:rPr lang="ru-RU" sz="1200" dirty="0" err="1"/>
              <a:t>неотгуленных</a:t>
            </a:r>
            <a:r>
              <a:rPr lang="ru-RU" sz="1200" dirty="0"/>
              <a:t> дней, период отпусков.</a:t>
            </a:r>
          </a:p>
          <a:p>
            <a:pPr marL="342900" indent="-342900">
              <a:buAutoNum type="arabicPeriod"/>
            </a:pPr>
            <a:r>
              <a:rPr lang="ru-RU" sz="1200" dirty="0"/>
              <a:t>Возможность согласования отпусков руководителями отпусков прямо в программе.</a:t>
            </a:r>
          </a:p>
          <a:p>
            <a:pPr marL="342900" indent="-342900">
              <a:buAutoNum type="arabicPeriod"/>
            </a:pPr>
            <a:r>
              <a:rPr lang="ru-RU" sz="1200" dirty="0"/>
              <a:t>Автоматическое напоминание об отпуске за 10 дней до отпуска с возможностью его переноса после согласования</a:t>
            </a:r>
          </a:p>
          <a:p>
            <a:pPr marL="342900" indent="-342900">
              <a:buAutoNum type="arabicPeriod"/>
            </a:pPr>
            <a:r>
              <a:rPr lang="ru-RU" sz="1200" dirty="0"/>
              <a:t>Автоматическая выгрузка отчетов за период для бухгалтерии и отдела кадров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5FD9E-4E83-4D2F-BA9B-B3676BC1BF79}"/>
              </a:ext>
            </a:extLst>
          </p:cNvPr>
          <p:cNvSpPr txBox="1"/>
          <p:nvPr/>
        </p:nvSpPr>
        <p:spPr>
          <a:xfrm>
            <a:off x="4652963" y="2307431"/>
            <a:ext cx="426243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Благодаря программе:</a:t>
            </a:r>
          </a:p>
          <a:p>
            <a:endParaRPr lang="ru-RU" sz="1200" dirty="0"/>
          </a:p>
          <a:p>
            <a:pPr marL="228600" indent="-228600">
              <a:buAutoNum type="arabicPeriod"/>
            </a:pPr>
            <a:r>
              <a:rPr lang="ru-RU" sz="1200" dirty="0"/>
              <a:t>Отпадет необходимость в бумажных карточках по отпуску</a:t>
            </a:r>
          </a:p>
          <a:p>
            <a:pPr marL="228600" indent="-228600">
              <a:buAutoNum type="arabicPeriod"/>
            </a:pPr>
            <a:r>
              <a:rPr lang="ru-RU" sz="1200" dirty="0"/>
              <a:t>Не будет необходимости в ручной подтверждении отпуска и отдельном заявлении о его переносе.</a:t>
            </a:r>
          </a:p>
          <a:p>
            <a:pPr marL="228600" indent="-228600">
              <a:buAutoNum type="arabicPeriod"/>
            </a:pPr>
            <a:r>
              <a:rPr lang="ru-RU" sz="1200" dirty="0"/>
              <a:t>Уменьшится количество используемой бумаги.</a:t>
            </a:r>
          </a:p>
          <a:p>
            <a:pPr marL="228600" indent="-228600">
              <a:buAutoNum type="arabicPeriod"/>
            </a:pPr>
            <a:r>
              <a:rPr lang="ru-RU" sz="1200" dirty="0"/>
              <a:t>Вместо подсчета остатка отпускных дней при увольнении вручную, сотруднику отдела кадров будет достаточно просто зайти в эту программу и выбрать необходимого сотрудника.</a:t>
            </a:r>
          </a:p>
          <a:p>
            <a:pPr marL="228600" indent="-228600">
              <a:buAutoNum type="arabicPeriod"/>
            </a:pPr>
            <a:r>
              <a:rPr lang="ru-RU" sz="1200" dirty="0"/>
              <a:t>Значительно упростится процесс.</a:t>
            </a:r>
          </a:p>
          <a:p>
            <a:pPr marL="228600" indent="-228600">
              <a:buAutoNum type="arabicPeriod"/>
            </a:pPr>
            <a:r>
              <a:rPr lang="ru-RU" sz="1200" dirty="0"/>
              <a:t>Отпадет риск потери документов.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975" y="77850"/>
            <a:ext cx="6451599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4"/>
          <p:cNvSpPr txBox="1"/>
          <p:nvPr/>
        </p:nvSpPr>
        <p:spPr>
          <a:xfrm rot="-5400284">
            <a:off x="-964315" y="2060174"/>
            <a:ext cx="36279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2"/>
                </a:solidFill>
              </a:rPr>
              <a:t>Стоимость подписки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5"/>
          <p:cNvSpPr txBox="1">
            <a:spLocks noGrp="1"/>
          </p:cNvSpPr>
          <p:nvPr>
            <p:ph type="title"/>
          </p:nvPr>
        </p:nvSpPr>
        <p:spPr>
          <a:xfrm>
            <a:off x="535780" y="212700"/>
            <a:ext cx="829651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940" dirty="0"/>
              <a:t>Решение 2. Создание своей программы автоматизации: </a:t>
            </a:r>
            <a:endParaRPr sz="2940" dirty="0"/>
          </a:p>
        </p:txBody>
      </p:sp>
      <p:graphicFrame>
        <p:nvGraphicFramePr>
          <p:cNvPr id="364" name="Google Shape;364;p55"/>
          <p:cNvGraphicFramePr/>
          <p:nvPr/>
        </p:nvGraphicFramePr>
        <p:xfrm>
          <a:off x="1651575" y="1187725"/>
          <a:ext cx="6115050" cy="3649850"/>
        </p:xfrm>
        <a:graphic>
          <a:graphicData uri="http://schemas.openxmlformats.org/drawingml/2006/table">
            <a:tbl>
              <a:tblPr>
                <a:noFill/>
                <a:tableStyleId>{419341B2-4E14-4A4F-AE47-46B9B86B8279}</a:tableStyleId>
              </a:tblPr>
              <a:tblGrid>
                <a:gridCol w="21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66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Модуль/Функциональность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Разработка (чел.-час)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Тестирование (чел.-час)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Документация (чел.-час)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Итого (чел.-час)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Аутентификация/Авторизация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40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20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70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Личный кабинет сотрудника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80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40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20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140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Календарь отпусков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120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60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210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Согласование отпусков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100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50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25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175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Управление справочниками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60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15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105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Отчетность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80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40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20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140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Интеграция с кадр. системой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160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80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40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280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Администрирование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60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15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105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ИТОГО: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700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350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175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1225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6"/>
          <p:cNvSpPr txBox="1"/>
          <p:nvPr/>
        </p:nvSpPr>
        <p:spPr>
          <a:xfrm>
            <a:off x="513525" y="376624"/>
            <a:ext cx="7951500" cy="453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chemeClr val="dk1"/>
                </a:solidFill>
              </a:rPr>
              <a:t>Расчет стоимости разработки: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Стоимость разработки = Общие трудозатраты (чел.-часы) * Стоимость человеко-часа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Стоимость разработки = 1225 чел.-час * 2000 руб./час = </a:t>
            </a:r>
            <a:r>
              <a:rPr lang="ru" b="1" dirty="0">
                <a:solidFill>
                  <a:schemeClr val="dk1"/>
                </a:solidFill>
              </a:rPr>
              <a:t>2 450 000 руб.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chemeClr val="dk1"/>
                </a:solidFill>
              </a:rPr>
              <a:t>IV. Дополнительные расходы:</a:t>
            </a:r>
            <a:endParaRPr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b="1" dirty="0">
                <a:solidFill>
                  <a:schemeClr val="dk1"/>
                </a:solidFill>
              </a:rPr>
              <a:t>Дизайн:</a:t>
            </a:r>
            <a:r>
              <a:rPr lang="ru" dirty="0">
                <a:solidFill>
                  <a:schemeClr val="dk1"/>
                </a:solidFill>
              </a:rPr>
              <a:t> Разработка UI/UX дизайна (от 100 000 руб.)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b="1" dirty="0">
                <a:solidFill>
                  <a:schemeClr val="dk1"/>
                </a:solidFill>
              </a:rPr>
              <a:t>Тестирование (не включенное в трудозатраты разработчиков):</a:t>
            </a:r>
            <a:r>
              <a:rPr lang="ru" dirty="0">
                <a:solidFill>
                  <a:schemeClr val="dk1"/>
                </a:solidFill>
              </a:rPr>
              <a:t> Независимое тестирование (от 50 000 руб.)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b="1" dirty="0">
                <a:solidFill>
                  <a:schemeClr val="dk1"/>
                </a:solidFill>
              </a:rPr>
              <a:t>Сервер и инфраструктура:</a:t>
            </a:r>
            <a:r>
              <a:rPr lang="ru" dirty="0">
                <a:solidFill>
                  <a:schemeClr val="dk1"/>
                </a:solidFill>
              </a:rPr>
              <a:t> Хостинг, домен, SSL-сертификат (от 20 000 руб./год)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b="1" dirty="0">
                <a:solidFill>
                  <a:schemeClr val="dk1"/>
                </a:solidFill>
              </a:rPr>
              <a:t>Лицензии на ПО (если необходимо):</a:t>
            </a:r>
            <a:r>
              <a:rPr lang="ru" dirty="0">
                <a:solidFill>
                  <a:schemeClr val="dk1"/>
                </a:solidFill>
              </a:rPr>
              <a:t> Базы данных, фреймворки и т.д.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b="1" dirty="0">
                <a:solidFill>
                  <a:schemeClr val="dk1"/>
                </a:solidFill>
              </a:rPr>
              <a:t>Техническая поддержка: ДИС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endParaRPr lang="ru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chemeClr val="dk1"/>
                </a:solidFill>
              </a:rPr>
              <a:t> Итоговая стоимость:</a:t>
            </a:r>
            <a:endParaRPr lang="ru-RU" sz="14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400" b="1" dirty="0">
                <a:solidFill>
                  <a:schemeClr val="dk1"/>
                </a:solidFill>
              </a:rPr>
              <a:t>Примерная стоимость разработки (с интеграцией и дизайном):</a:t>
            </a:r>
            <a:r>
              <a:rPr lang="ru-RU" sz="1400" dirty="0">
                <a:solidFill>
                  <a:schemeClr val="dk1"/>
                </a:solidFill>
              </a:rPr>
              <a:t> ~ 3 000 000 руб.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2902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9"/>
          <p:cNvSpPr txBox="1"/>
          <p:nvPr/>
        </p:nvSpPr>
        <p:spPr>
          <a:xfrm>
            <a:off x="4129089" y="1015056"/>
            <a:ext cx="4714874" cy="227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chemeClr val="dk2"/>
                </a:solidFill>
              </a:rPr>
              <a:t>Ручной подсчет компенсации после нахождения нужной карточки-примерно 1,5-2 минуты.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chemeClr val="dk2"/>
                </a:solidFill>
              </a:rPr>
              <a:t>В пиковые периоды у отдела ППС на 1 сотрудника может быть примерно 100 увольнений в день.</a:t>
            </a:r>
            <a:endParaRPr sz="17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chemeClr val="dk2"/>
                </a:solidFill>
              </a:rPr>
              <a:t>100*2=200 минут/д или 3 часа 20 минут/д</a:t>
            </a:r>
            <a:endParaRPr sz="17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50" y="619125"/>
            <a:ext cx="8859750" cy="452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5"/>
          <p:cNvSpPr txBox="1">
            <a:spLocks noGrp="1"/>
          </p:cNvSpPr>
          <p:nvPr>
            <p:ph type="title"/>
          </p:nvPr>
        </p:nvSpPr>
        <p:spPr>
          <a:xfrm>
            <a:off x="128850" y="4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BPMN “Оформление отпусков” ДО</a:t>
            </a:r>
            <a:endParaRPr/>
          </a:p>
        </p:txBody>
      </p:sp>
      <p:sp>
        <p:nvSpPr>
          <p:cNvPr id="309" name="Google Shape;309;p45"/>
          <p:cNvSpPr txBox="1"/>
          <p:nvPr/>
        </p:nvSpPr>
        <p:spPr>
          <a:xfrm>
            <a:off x="290750" y="3012900"/>
            <a:ext cx="5509975" cy="21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dk2"/>
                </a:solidFill>
              </a:rPr>
              <a:t>23 минуты сотрудник потратил на подтверждение отпусков на май и формирование приказа 1 департамента.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dk2"/>
                </a:solidFill>
              </a:rPr>
              <a:t>Сотрудник ответственен за 5 департаментов.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dk2"/>
                </a:solidFill>
              </a:rPr>
              <a:t>Высвобождение времени на 1 сотрудника после внедрения программы отпусков: 23*5*12 мес=1 380 минут в год или 23 часа или 2,875 раб. дня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3D033-7FA7-454B-BECE-6F15830250E1}"/>
              </a:ext>
            </a:extLst>
          </p:cNvPr>
          <p:cNvSpPr txBox="1"/>
          <p:nvPr/>
        </p:nvSpPr>
        <p:spPr>
          <a:xfrm>
            <a:off x="5638562" y="3167955"/>
            <a:ext cx="3214688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После внедрения программы данный процесс полностью уйдет!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8"/>
          <p:cNvSpPr txBox="1">
            <a:spLocks noGrp="1"/>
          </p:cNvSpPr>
          <p:nvPr>
            <p:ph type="title"/>
          </p:nvPr>
        </p:nvSpPr>
        <p:spPr>
          <a:xfrm>
            <a:off x="237150" y="107425"/>
            <a:ext cx="8520600" cy="6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Срок окупаемости проекта</a:t>
            </a:r>
            <a:endParaRPr/>
          </a:p>
        </p:txBody>
      </p:sp>
      <p:pic>
        <p:nvPicPr>
          <p:cNvPr id="380" name="Google Shape;38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0000"/>
            <a:ext cx="8839200" cy="580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37100"/>
            <a:ext cx="8839200" cy="58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8"/>
          <p:cNvSpPr txBox="1"/>
          <p:nvPr/>
        </p:nvSpPr>
        <p:spPr>
          <a:xfrm>
            <a:off x="152400" y="2190050"/>
            <a:ext cx="4186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23 часа в год один сотрудник тратит на подтверждение отпуска * 21 сотрудников * (45 000/165ч)=131 727 руб. в год экономия на счет отсутствия необходимости сотрудникам ППС подтверждать отпуска</a:t>
            </a:r>
            <a:endParaRPr sz="900"/>
          </a:p>
        </p:txBody>
      </p:sp>
      <p:sp>
        <p:nvSpPr>
          <p:cNvPr id="383" name="Google Shape;383;p58"/>
          <p:cNvSpPr txBox="1"/>
          <p:nvPr/>
        </p:nvSpPr>
        <p:spPr>
          <a:xfrm>
            <a:off x="4338900" y="2142900"/>
            <a:ext cx="46524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В отделе по работе с ППС: 11 сотрудников. Допустим, пиковый период, когда необходимо уволить 100 сотрудников в день, продолжается две недели.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2 минуты-подсчет компенсации 1 сотрудника.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11*100*2 мин.=2 200 мин.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Для отдела по работе с админ. персоналом персоналу возьмем ср. значение в виде 2-х увольнений на 1 сотрудника в день.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2*10 человек*247 раб. дн.= 4 940 мин. в год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</p:txBody>
      </p:sp>
      <p:sp>
        <p:nvSpPr>
          <p:cNvPr id="384" name="Google Shape;384;p58"/>
          <p:cNvSpPr txBox="1"/>
          <p:nvPr/>
        </p:nvSpPr>
        <p:spPr>
          <a:xfrm>
            <a:off x="322350" y="4315000"/>
            <a:ext cx="8668800" cy="554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(4 940+2 200)*272 руб/ч+131 727 руб=2 073 807 руб. экономии в год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Срок окупаемости разработки программы: 3 000 000/2 073 807=1,447 или 1 год и 5 мес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>
            <a:spLocks noGrp="1"/>
          </p:cNvSpPr>
          <p:nvPr>
            <p:ph type="title"/>
          </p:nvPr>
        </p:nvSpPr>
        <p:spPr>
          <a:xfrm>
            <a:off x="241650" y="10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IDEF0 “Процесс оформления отпусков” ПОСЛЕ</a:t>
            </a:r>
            <a:endParaRPr dirty="0"/>
          </a:p>
        </p:txBody>
      </p:sp>
      <p:cxnSp>
        <p:nvCxnSpPr>
          <p:cNvPr id="297" name="Google Shape;297;p44"/>
          <p:cNvCxnSpPr/>
          <p:nvPr/>
        </p:nvCxnSpPr>
        <p:spPr>
          <a:xfrm>
            <a:off x="7552250" y="3504750"/>
            <a:ext cx="393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8" name="Google Shape;298;p44"/>
          <p:cNvSpPr txBox="1"/>
          <p:nvPr/>
        </p:nvSpPr>
        <p:spPr>
          <a:xfrm>
            <a:off x="7999325" y="3273900"/>
            <a:ext cx="105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>
                <a:solidFill>
                  <a:schemeClr val="dk2"/>
                </a:solidFill>
              </a:rPr>
              <a:t>Отпуск оформлен</a:t>
            </a:r>
            <a:endParaRPr sz="900" b="1">
              <a:solidFill>
                <a:schemeClr val="dk2"/>
              </a:solidFill>
            </a:endParaRPr>
          </a:p>
        </p:txBody>
      </p:sp>
      <p:sp>
        <p:nvSpPr>
          <p:cNvPr id="299" name="Google Shape;299;p44"/>
          <p:cNvSpPr txBox="1"/>
          <p:nvPr/>
        </p:nvSpPr>
        <p:spPr>
          <a:xfrm>
            <a:off x="9849175" y="3026275"/>
            <a:ext cx="481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300" name="Google Shape;3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075" y="1224116"/>
            <a:ext cx="8419725" cy="3799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44"/>
          <p:cNvCxnSpPr/>
          <p:nvPr/>
        </p:nvCxnSpPr>
        <p:spPr>
          <a:xfrm>
            <a:off x="7276525" y="3617550"/>
            <a:ext cx="393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2" name="Google Shape;302;p44"/>
          <p:cNvSpPr txBox="1"/>
          <p:nvPr/>
        </p:nvSpPr>
        <p:spPr>
          <a:xfrm>
            <a:off x="7704450" y="3386700"/>
            <a:ext cx="105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>
                <a:solidFill>
                  <a:schemeClr val="dk2"/>
                </a:solidFill>
              </a:rPr>
              <a:t>Отпуск оформлен</a:t>
            </a:r>
            <a:endParaRPr sz="9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9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IDEF0 “Согласование</a:t>
            </a:r>
            <a:r>
              <a:rPr lang="en-US" dirty="0"/>
              <a:t> </a:t>
            </a:r>
            <a:r>
              <a:rPr lang="ru-RU" dirty="0"/>
              <a:t>приказов на мероприятия</a:t>
            </a:r>
            <a:r>
              <a:rPr lang="ru" dirty="0"/>
              <a:t>”</a:t>
            </a:r>
            <a:endParaRPr dirty="0"/>
          </a:p>
        </p:txBody>
      </p:sp>
      <p:pic>
        <p:nvPicPr>
          <p:cNvPr id="390" name="Google Shape;39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198" cy="4026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IDEF0 “Согласование приказов на мероприятия ч.1”</a:t>
            </a:r>
            <a:endParaRPr dirty="0"/>
          </a:p>
        </p:txBody>
      </p:sp>
      <p:pic>
        <p:nvPicPr>
          <p:cNvPr id="396" name="Google Shape;39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75" y="572700"/>
            <a:ext cx="7777037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IDEF0 “Согласование приказов на мероприятия ч.2”</a:t>
            </a:r>
            <a:endParaRPr dirty="0"/>
          </a:p>
        </p:txBody>
      </p:sp>
      <p:pic>
        <p:nvPicPr>
          <p:cNvPr id="402" name="Google Shape;40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650025"/>
            <a:ext cx="8181975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2"/>
          <p:cNvSpPr txBox="1">
            <a:spLocks noGrp="1"/>
          </p:cNvSpPr>
          <p:nvPr>
            <p:ph type="title"/>
          </p:nvPr>
        </p:nvSpPr>
        <p:spPr>
          <a:xfrm>
            <a:off x="311700" y="237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BPMN “Согласование приказов на мероприятия ч.1” ДО</a:t>
            </a:r>
            <a:endParaRPr dirty="0"/>
          </a:p>
        </p:txBody>
      </p:sp>
      <p:pic>
        <p:nvPicPr>
          <p:cNvPr id="408" name="Google Shape;40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2" cy="3814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3"/>
          <p:cNvSpPr txBox="1">
            <a:spLocks noGrp="1"/>
          </p:cNvSpPr>
          <p:nvPr>
            <p:ph type="title"/>
          </p:nvPr>
        </p:nvSpPr>
        <p:spPr>
          <a:xfrm>
            <a:off x="152400" y="83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BPMN “Согласование приказов на мероприятия ч.2” ДО</a:t>
            </a:r>
            <a:endParaRPr dirty="0"/>
          </a:p>
        </p:txBody>
      </p:sp>
      <p:pic>
        <p:nvPicPr>
          <p:cNvPr id="414" name="Google Shape;41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5349"/>
            <a:ext cx="8991600" cy="420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4"/>
          <p:cNvSpPr txBox="1">
            <a:spLocks noGrp="1"/>
          </p:cNvSpPr>
          <p:nvPr>
            <p:ph type="title"/>
          </p:nvPr>
        </p:nvSpPr>
        <p:spPr>
          <a:xfrm>
            <a:off x="152400" y="83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BPMN “Согласование приказов на мероприятия ч.3” ДО</a:t>
            </a:r>
            <a:endParaRPr dirty="0"/>
          </a:p>
        </p:txBody>
      </p:sp>
      <p:pic>
        <p:nvPicPr>
          <p:cNvPr id="420" name="Google Shape;42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5349"/>
            <a:ext cx="8991600" cy="420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64"/>
          <p:cNvPicPr preferRelativeResize="0"/>
          <p:nvPr/>
        </p:nvPicPr>
        <p:blipFill rotWithShape="1">
          <a:blip r:embed="rId4">
            <a:alphaModFix/>
          </a:blip>
          <a:srcRect t="11598"/>
          <a:stretch/>
        </p:blipFill>
        <p:spPr>
          <a:xfrm>
            <a:off x="0" y="785349"/>
            <a:ext cx="9144001" cy="411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40E20-FBC3-4B61-5FC0-B18177F9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51" y="-19815"/>
            <a:ext cx="8520600" cy="87081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Проблемы процесса согласования приказов на мероприятия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6810F1-4A73-44C6-5D4C-B2FB86B7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3" y="1540734"/>
            <a:ext cx="2496123" cy="2341968"/>
          </a:xfrm>
          <a:prstGeom prst="rect">
            <a:avLst/>
          </a:prstGeom>
        </p:spPr>
      </p:pic>
      <p:sp>
        <p:nvSpPr>
          <p:cNvPr id="8" name="Блок-схема: узел 7">
            <a:extLst>
              <a:ext uri="{FF2B5EF4-FFF2-40B4-BE49-F238E27FC236}">
                <a16:creationId xmlns:a16="http://schemas.microsoft.com/office/drawing/2014/main" id="{99389689-B618-CAC3-FF72-398DB3B1D4D7}"/>
              </a:ext>
            </a:extLst>
          </p:cNvPr>
          <p:cNvSpPr/>
          <p:nvPr/>
        </p:nvSpPr>
        <p:spPr>
          <a:xfrm>
            <a:off x="272030" y="649770"/>
            <a:ext cx="483754" cy="468351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3AA59-6125-5D6E-37D9-54E8B476803E}"/>
              </a:ext>
            </a:extLst>
          </p:cNvPr>
          <p:cNvSpPr txBox="1"/>
          <p:nvPr/>
        </p:nvSpPr>
        <p:spPr>
          <a:xfrm>
            <a:off x="801513" y="628765"/>
            <a:ext cx="14496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Перепроверка правильности согласования</a:t>
            </a:r>
          </a:p>
        </p:txBody>
      </p:sp>
      <p:sp>
        <p:nvSpPr>
          <p:cNvPr id="10" name="Блок-схема: узел 9">
            <a:extLst>
              <a:ext uri="{FF2B5EF4-FFF2-40B4-BE49-F238E27FC236}">
                <a16:creationId xmlns:a16="http://schemas.microsoft.com/office/drawing/2014/main" id="{3D7A85F2-3929-2E8D-AF33-B53CC1E65521}"/>
              </a:ext>
            </a:extLst>
          </p:cNvPr>
          <p:cNvSpPr/>
          <p:nvPr/>
        </p:nvSpPr>
        <p:spPr>
          <a:xfrm>
            <a:off x="2733235" y="1109252"/>
            <a:ext cx="483754" cy="468351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1B2A2C-3737-0649-4585-F84B72D3F41F}"/>
              </a:ext>
            </a:extLst>
          </p:cNvPr>
          <p:cNvSpPr txBox="1"/>
          <p:nvPr/>
        </p:nvSpPr>
        <p:spPr>
          <a:xfrm>
            <a:off x="3277520" y="1188029"/>
            <a:ext cx="27134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У 2 специалиста нет доступа к ЭДО, при необходимости правок, нужно обращаться к согласовывавшему специалисту и просить сканы персональных документов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97125EE-17F3-58A2-B2DB-FAD885F0C0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84"/>
          <a:stretch/>
        </p:blipFill>
        <p:spPr>
          <a:xfrm>
            <a:off x="3139785" y="2563687"/>
            <a:ext cx="2238825" cy="2518656"/>
          </a:xfrm>
          <a:prstGeom prst="rect">
            <a:avLst/>
          </a:prstGeom>
        </p:spPr>
      </p:pic>
      <p:sp>
        <p:nvSpPr>
          <p:cNvPr id="15" name="Блок-схема: узел 14">
            <a:extLst>
              <a:ext uri="{FF2B5EF4-FFF2-40B4-BE49-F238E27FC236}">
                <a16:creationId xmlns:a16="http://schemas.microsoft.com/office/drawing/2014/main" id="{0F7263D6-A3B7-9301-A68A-091A8EF2591F}"/>
              </a:ext>
            </a:extLst>
          </p:cNvPr>
          <p:cNvSpPr/>
          <p:nvPr/>
        </p:nvSpPr>
        <p:spPr>
          <a:xfrm>
            <a:off x="5888357" y="719678"/>
            <a:ext cx="483754" cy="468351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DCF96-983D-6AA4-2680-317E58F697D7}"/>
              </a:ext>
            </a:extLst>
          </p:cNvPr>
          <p:cNvSpPr txBox="1"/>
          <p:nvPr/>
        </p:nvSpPr>
        <p:spPr>
          <a:xfrm>
            <a:off x="6404958" y="644618"/>
            <a:ext cx="26237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Для сверки 2 специалистом договора с данными в системе необходимо открывать «Парус», реестр </a:t>
            </a:r>
            <a:r>
              <a:rPr lang="ru-RU" dirty="0" err="1"/>
              <a:t>гос</a:t>
            </a:r>
            <a:r>
              <a:rPr lang="ru-RU" dirty="0"/>
              <a:t> контрактов, выгрузить лист согласования, хотя у первого специалиста всё необходимое уже открыто и есть доступ к ЭДО на случай исправления персональных данных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484879E-16D2-1461-9862-52A4582231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297"/>
          <a:stretch/>
        </p:blipFill>
        <p:spPr>
          <a:xfrm>
            <a:off x="5496724" y="3129883"/>
            <a:ext cx="3647276" cy="165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649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5"/>
          <p:cNvSpPr txBox="1">
            <a:spLocks noGrp="1"/>
          </p:cNvSpPr>
          <p:nvPr>
            <p:ph type="title"/>
          </p:nvPr>
        </p:nvSpPr>
        <p:spPr>
          <a:xfrm>
            <a:off x="311700" y="109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BPMN “Согласование ч.1” ПОСЛЕ</a:t>
            </a:r>
            <a:endParaRPr/>
          </a:p>
        </p:txBody>
      </p:sp>
      <p:pic>
        <p:nvPicPr>
          <p:cNvPr id="427" name="Google Shape;42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621032"/>
            <a:ext cx="8839202" cy="37487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8153C28F-76E3-F564-A8E4-4E8769023052}"/>
              </a:ext>
            </a:extLst>
          </p:cNvPr>
          <p:cNvCxnSpPr>
            <a:cxnSpLocks/>
          </p:cNvCxnSpPr>
          <p:nvPr/>
        </p:nvCxnSpPr>
        <p:spPr>
          <a:xfrm>
            <a:off x="7865327" y="1055649"/>
            <a:ext cx="669073" cy="108538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0CB1DD-C0EC-6693-274A-978C51D0745C}"/>
              </a:ext>
            </a:extLst>
          </p:cNvPr>
          <p:cNvSpPr txBox="1"/>
          <p:nvPr/>
        </p:nvSpPr>
        <p:spPr>
          <a:xfrm>
            <a:off x="6110868" y="205546"/>
            <a:ext cx="2535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В данном случае этот же специалист мониторит корректность данных в системе «Парус»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7F2A26-7F1A-A0E4-607C-4CD142356F56}"/>
              </a:ext>
            </a:extLst>
          </p:cNvPr>
          <p:cNvSpPr txBox="1"/>
          <p:nvPr/>
        </p:nvSpPr>
        <p:spPr>
          <a:xfrm>
            <a:off x="5334001" y="3830531"/>
            <a:ext cx="3122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Почему ему это сделать проще?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37C44-1C3C-7CCB-1408-C2B39E0E5537}"/>
              </a:ext>
            </a:extLst>
          </p:cNvPr>
          <p:cNvSpPr txBox="1"/>
          <p:nvPr/>
        </p:nvSpPr>
        <p:spPr>
          <a:xfrm>
            <a:off x="4716967" y="4076740"/>
            <a:ext cx="4356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Все системы и необходимые для проверки документы уже открыты, так же есть доступ к ЭДО, сразу можно исправить в соответствии с персональными документами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6"/>
          <p:cNvSpPr txBox="1">
            <a:spLocks noGrp="1"/>
          </p:cNvSpPr>
          <p:nvPr>
            <p:ph type="title"/>
          </p:nvPr>
        </p:nvSpPr>
        <p:spPr>
          <a:xfrm>
            <a:off x="311700" y="109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BPMN “Согласование ч.2” ПОСЛЕ</a:t>
            </a:r>
            <a:endParaRPr/>
          </a:p>
        </p:txBody>
      </p:sp>
      <p:pic>
        <p:nvPicPr>
          <p:cNvPr id="433" name="Google Shape;43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3" y="1154719"/>
            <a:ext cx="9060875" cy="3212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1246DF18-C352-487D-5A85-BCF1AE88A80B}"/>
              </a:ext>
            </a:extLst>
          </p:cNvPr>
          <p:cNvCxnSpPr>
            <a:cxnSpLocks/>
          </p:cNvCxnSpPr>
          <p:nvPr/>
        </p:nvCxnSpPr>
        <p:spPr>
          <a:xfrm flipH="1">
            <a:off x="2483005" y="1999785"/>
            <a:ext cx="3070302" cy="147939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DE7CE4-B971-E6CD-0280-EA1D7583ADA9}"/>
              </a:ext>
            </a:extLst>
          </p:cNvPr>
          <p:cNvSpPr txBox="1"/>
          <p:nvPr/>
        </p:nvSpPr>
        <p:spPr>
          <a:xfrm>
            <a:off x="5605881" y="1387793"/>
            <a:ext cx="32264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И только в случае необходимости создания нового контрагента (при его отсутствии в системе) задача делегируется 2 специалисту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1856100" cy="3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SIPOC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/>
              <a:t>процесс сверки персональных документов с договором</a:t>
            </a:r>
            <a:endParaRPr sz="1650"/>
          </a:p>
        </p:txBody>
      </p:sp>
      <p:pic>
        <p:nvPicPr>
          <p:cNvPr id="439" name="Google Shape;439;p67" title="imagTT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800" y="108188"/>
            <a:ext cx="6785902" cy="45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8"/>
          <p:cNvSpPr txBox="1">
            <a:spLocks noGrp="1"/>
          </p:cNvSpPr>
          <p:nvPr>
            <p:ph type="title"/>
          </p:nvPr>
        </p:nvSpPr>
        <p:spPr>
          <a:xfrm>
            <a:off x="311700" y="1154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Процесс “Согласование”</a:t>
            </a:r>
            <a:endParaRPr/>
          </a:p>
        </p:txBody>
      </p:sp>
      <p:sp>
        <p:nvSpPr>
          <p:cNvPr id="445" name="Google Shape;445;p68"/>
          <p:cNvSpPr txBox="1">
            <a:spLocks noGrp="1"/>
          </p:cNvSpPr>
          <p:nvPr>
            <p:ph type="body" idx="1"/>
          </p:nvPr>
        </p:nvSpPr>
        <p:spPr>
          <a:xfrm>
            <a:off x="184850" y="3697774"/>
            <a:ext cx="2989200" cy="14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Причины:</a:t>
            </a:r>
            <a:endParaRPr sz="1200"/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ru" sz="1200"/>
              <a:t>Дублирование файлов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/>
              <a:t>Излишнее дробление одной операции по специалистам</a:t>
            </a:r>
            <a:endParaRPr sz="1200"/>
          </a:p>
        </p:txBody>
      </p:sp>
      <p:sp>
        <p:nvSpPr>
          <p:cNvPr id="446" name="Google Shape;446;p68"/>
          <p:cNvSpPr txBox="1">
            <a:spLocks noGrp="1"/>
          </p:cNvSpPr>
          <p:nvPr>
            <p:ph type="body" idx="1"/>
          </p:nvPr>
        </p:nvSpPr>
        <p:spPr>
          <a:xfrm>
            <a:off x="4265976" y="3362773"/>
            <a:ext cx="3723300" cy="17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Решение: </a:t>
            </a:r>
            <a:endParaRPr/>
          </a:p>
          <a:p>
            <a:pPr marL="457200" lvl="0" indent="-308610" algn="l" rtl="0">
              <a:spcBef>
                <a:spcPts val="1200"/>
              </a:spcBef>
              <a:spcAft>
                <a:spcPts val="0"/>
              </a:spcAft>
              <a:buSzPct val="100000"/>
              <a:buChar char="+"/>
            </a:pPr>
            <a:r>
              <a:rPr lang="ru"/>
              <a:t>Специалист в доступом в ЭДО сразу проверяет наличие контрагента в системе</a:t>
            </a:r>
            <a:endParaRPr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lang="ru"/>
              <a:t>Передача согласования следующему специалисту только при отсутствии контрагента в системе</a:t>
            </a:r>
            <a:endParaRPr/>
          </a:p>
        </p:txBody>
      </p:sp>
      <p:sp>
        <p:nvSpPr>
          <p:cNvPr id="447" name="Google Shape;447;p68"/>
          <p:cNvSpPr txBox="1"/>
          <p:nvPr/>
        </p:nvSpPr>
        <p:spPr>
          <a:xfrm>
            <a:off x="525339" y="777073"/>
            <a:ext cx="230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2"/>
                </a:solidFill>
              </a:rPr>
              <a:t>Было: 11 минут/заявка</a:t>
            </a:r>
            <a:r>
              <a:rPr lang="ru" sz="1800" dirty="0">
                <a:solidFill>
                  <a:schemeClr val="dk2"/>
                </a:solidFill>
              </a:rPr>
              <a:t> 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448" name="Google Shape;448;p68"/>
          <p:cNvSpPr txBox="1"/>
          <p:nvPr/>
        </p:nvSpPr>
        <p:spPr>
          <a:xfrm>
            <a:off x="4935521" y="752331"/>
            <a:ext cx="23082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2"/>
                </a:solidFill>
              </a:rPr>
              <a:t>Стало: 9 минут/заявка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449" name="Google Shape;44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40" y="1329839"/>
            <a:ext cx="3141612" cy="2094336"/>
          </a:xfrm>
          <a:prstGeom prst="cloud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82000"/>
              </a:srgbClr>
            </a:outerShdw>
          </a:effectLst>
        </p:spPr>
      </p:pic>
      <p:pic>
        <p:nvPicPr>
          <p:cNvPr id="450" name="Google Shape;45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5526" y="1184038"/>
            <a:ext cx="2384208" cy="2385936"/>
          </a:xfrm>
          <a:prstGeom prst="cloud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</p:pic>
      <p:cxnSp>
        <p:nvCxnSpPr>
          <p:cNvPr id="451" name="Google Shape;451;p68"/>
          <p:cNvCxnSpPr/>
          <p:nvPr/>
        </p:nvCxnSpPr>
        <p:spPr>
          <a:xfrm flipH="1">
            <a:off x="3638320" y="1240869"/>
            <a:ext cx="14400" cy="386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cxnSp>
        <p:nvCxnSpPr>
          <p:cNvPr id="452" name="Google Shape;452;p68"/>
          <p:cNvCxnSpPr/>
          <p:nvPr/>
        </p:nvCxnSpPr>
        <p:spPr>
          <a:xfrm flipH="1">
            <a:off x="3947212" y="2716567"/>
            <a:ext cx="24300" cy="2385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pic>
        <p:nvPicPr>
          <p:cNvPr id="453" name="Google Shape;45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388" y="0"/>
            <a:ext cx="103662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9"/>
          <p:cNvSpPr txBox="1"/>
          <p:nvPr/>
        </p:nvSpPr>
        <p:spPr>
          <a:xfrm>
            <a:off x="204450" y="408925"/>
            <a:ext cx="5037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</a:rPr>
              <a:t>Несбалансированный процесс - оператор 1 согласует только сканы документов со сканом договора, оператору 2 необходимо открывать все документы уже для сверки с системой и, если понадобится, создавать нового контрагента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459" name="Google Shape;459;p69" title="Рису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50" y="2027598"/>
            <a:ext cx="4780699" cy="28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9" title="Рисунок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7925" y="1889175"/>
            <a:ext cx="3833675" cy="2960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" name="Google Shape;461;p69"/>
          <p:cNvCxnSpPr/>
          <p:nvPr/>
        </p:nvCxnSpPr>
        <p:spPr>
          <a:xfrm>
            <a:off x="5466600" y="2698475"/>
            <a:ext cx="35250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2" name="Google Shape;462;p69"/>
          <p:cNvSpPr txBox="1"/>
          <p:nvPr/>
        </p:nvSpPr>
        <p:spPr>
          <a:xfrm>
            <a:off x="7897900" y="2379300"/>
            <a:ext cx="1682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0000"/>
                </a:solidFill>
              </a:rPr>
              <a:t>время такта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63" name="Google Shape;463;p69"/>
          <p:cNvSpPr txBox="1"/>
          <p:nvPr/>
        </p:nvSpPr>
        <p:spPr>
          <a:xfrm>
            <a:off x="5659350" y="472825"/>
            <a:ext cx="294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761D"/>
                </a:solidFill>
              </a:rPr>
              <a:t>Время такта = 8*60-60/45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464" name="Google Shape;464;p69"/>
          <p:cNvSpPr txBox="1"/>
          <p:nvPr/>
        </p:nvSpPr>
        <p:spPr>
          <a:xfrm>
            <a:off x="5577900" y="934525"/>
            <a:ext cx="341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761D"/>
                </a:solidFill>
              </a:rPr>
              <a:t>= 9,33 минут на операцию согласования</a:t>
            </a:r>
            <a:endParaRPr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70" title="Рисунок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0450"/>
            <a:ext cx="4886752" cy="308065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70"/>
          <p:cNvSpPr txBox="1"/>
          <p:nvPr/>
        </p:nvSpPr>
        <p:spPr>
          <a:xfrm>
            <a:off x="152400" y="334375"/>
            <a:ext cx="5376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</a:rPr>
              <a:t>Сбалансированный процесс - оператор 1 сразу сверяет с данные с системой “Парус”, так как все документы уже открыты и он имеет доступ к ЭДО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</a:rPr>
              <a:t>Данные будут передаваться оператору 2 только при необходимости внесения сотрудника в систему с нуля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471" name="Google Shape;471;p70" title="Рисунок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6275" y="1902775"/>
            <a:ext cx="3835325" cy="29787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" name="Google Shape;472;p70"/>
          <p:cNvCxnSpPr/>
          <p:nvPr/>
        </p:nvCxnSpPr>
        <p:spPr>
          <a:xfrm>
            <a:off x="5443800" y="2325750"/>
            <a:ext cx="2875200" cy="21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3" name="Google Shape;473;p70"/>
          <p:cNvSpPr txBox="1"/>
          <p:nvPr/>
        </p:nvSpPr>
        <p:spPr>
          <a:xfrm>
            <a:off x="7147650" y="1902775"/>
            <a:ext cx="223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</a:rPr>
              <a:t>время такта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815807" y="-1"/>
            <a:ext cx="6732300" cy="7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Квадрант решений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Проблема: Сложная система документооборота</a:t>
            </a:r>
            <a:endParaRPr sz="1800"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501019" y="1107775"/>
            <a:ext cx="2849931" cy="20137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 sz="1100" dirty="0"/>
              <a:t>Оптимизация работы канцелярии (внедрение сотрудника в отдел ППС)</a:t>
            </a:r>
            <a:endParaRPr sz="11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 sz="1100" dirty="0"/>
              <a:t>Введение электронных печатей и подписей для отделов (в первую очередь для бухгалтерии) 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 sz="1100" dirty="0"/>
              <a:t>Проведение обучения с сотрудниками по принятияю изменений</a:t>
            </a:r>
            <a:endParaRPr sz="1100" dirty="0"/>
          </a:p>
        </p:txBody>
      </p:sp>
      <p:sp>
        <p:nvSpPr>
          <p:cNvPr id="206" name="Google Shape;206;p31"/>
          <p:cNvSpPr txBox="1">
            <a:spLocks noGrp="1"/>
          </p:cNvSpPr>
          <p:nvPr>
            <p:ph type="body" idx="2"/>
          </p:nvPr>
        </p:nvSpPr>
        <p:spPr>
          <a:xfrm>
            <a:off x="4328175" y="1155463"/>
            <a:ext cx="2802000" cy="15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 sz="1100"/>
              <a:t>Внедрение системы по отпуску для автоматизации процессов уведомления и согласования срока.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 sz="1100"/>
              <a:t>Подвязка системы Госуслуги/Анкеты в гугл формах и системы Парус Сотрудники</a:t>
            </a:r>
            <a:endParaRPr sz="1100"/>
          </a:p>
        </p:txBody>
      </p:sp>
      <p:pic>
        <p:nvPicPr>
          <p:cNvPr id="207" name="Google Shape;20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7388" y="0"/>
            <a:ext cx="103662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 txBox="1">
            <a:spLocks noGrp="1"/>
          </p:cNvSpPr>
          <p:nvPr>
            <p:ph type="body" idx="1"/>
          </p:nvPr>
        </p:nvSpPr>
        <p:spPr>
          <a:xfrm>
            <a:off x="1142346" y="3670653"/>
            <a:ext cx="2208600" cy="12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100"/>
              <a:t>Не рассматриваем</a:t>
            </a:r>
            <a:endParaRPr sz="1100"/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4949369" y="3670653"/>
            <a:ext cx="2208600" cy="12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100"/>
              <a:t>Не рассматриваем</a:t>
            </a:r>
            <a:endParaRPr sz="1100"/>
          </a:p>
        </p:txBody>
      </p:sp>
      <p:cxnSp>
        <p:nvCxnSpPr>
          <p:cNvPr id="210" name="Google Shape;210;p31"/>
          <p:cNvCxnSpPr/>
          <p:nvPr/>
        </p:nvCxnSpPr>
        <p:spPr>
          <a:xfrm>
            <a:off x="3708982" y="1340141"/>
            <a:ext cx="8100" cy="370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31"/>
          <p:cNvCxnSpPr/>
          <p:nvPr/>
        </p:nvCxnSpPr>
        <p:spPr>
          <a:xfrm flipH="1">
            <a:off x="282911" y="3121521"/>
            <a:ext cx="7618800" cy="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1868</Words>
  <Application>Microsoft Office PowerPoint</Application>
  <PresentationFormat>Экран (16:9)</PresentationFormat>
  <Paragraphs>257</Paragraphs>
  <Slides>53</Slides>
  <Notes>50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57" baseType="lpstr">
      <vt:lpstr>Arial</vt:lpstr>
      <vt:lpstr>Times New Roman</vt:lpstr>
      <vt:lpstr>Wingdings</vt:lpstr>
      <vt:lpstr>Simple Light</vt:lpstr>
      <vt:lpstr>УПРАВЛЕНИЕ КАДРАМИ: Отдел по работе с профессорско-преподавательским составом (ППС)</vt:lpstr>
      <vt:lpstr>Описание отдела ППС</vt:lpstr>
      <vt:lpstr>Презентация PowerPoint</vt:lpstr>
      <vt:lpstr>Должностные обязанности ведущего специалиста ППС</vt:lpstr>
      <vt:lpstr>Должностные обязанности специалиста 1 категории</vt:lpstr>
      <vt:lpstr>Должностные обязанности руководителя ППС</vt:lpstr>
      <vt:lpstr>Фактически:</vt:lpstr>
      <vt:lpstr>Презентация PowerPoint</vt:lpstr>
      <vt:lpstr>Презентация PowerPoint</vt:lpstr>
      <vt:lpstr>Презентация PowerPoint</vt:lpstr>
      <vt:lpstr>Фото рабочего места</vt:lpstr>
      <vt:lpstr>Паспорт проекта</vt:lpstr>
      <vt:lpstr>Паспорт проекта</vt:lpstr>
      <vt:lpstr>Паспорт проекта</vt:lpstr>
      <vt:lpstr>ПРОБЛЕМНЫЕ ЗОНЫ ППС КФУ</vt:lpstr>
      <vt:lpstr>Презентация PowerPoint</vt:lpstr>
      <vt:lpstr>Презентация PowerPoint</vt:lpstr>
      <vt:lpstr>Презентация PowerPoint</vt:lpstr>
      <vt:lpstr>IDF0 “Трудоустройство сотрудника”</vt:lpstr>
      <vt:lpstr>BPMN “Трудоустройство сотрудника” ДО (общая) </vt:lpstr>
      <vt:lpstr>BPMN “Трудоустройство сотрудника ч.1” ДО</vt:lpstr>
      <vt:lpstr>BPMN “Трудоустройство сотрудника ч.2” ДО</vt:lpstr>
      <vt:lpstr>Презентация PowerPoint</vt:lpstr>
      <vt:lpstr>BPMN “Трудоустройство сотрудника” ПОСЛЕ </vt:lpstr>
      <vt:lpstr>BPMN “Трудоустройство сотрудника ч.1” ПОСЛЕ </vt:lpstr>
      <vt:lpstr>BPMN “Трудоустройство сотрудника ч.2” ПОСЛЕ </vt:lpstr>
      <vt:lpstr>Движение документов</vt:lpstr>
      <vt:lpstr>Блок-схема “Заявление на материальную ответственность”</vt:lpstr>
      <vt:lpstr>Движение документов</vt:lpstr>
      <vt:lpstr>IDEF0 “Процесс оформления отпусков” ДО</vt:lpstr>
      <vt:lpstr>Решение 1: программа Vacation Solution</vt:lpstr>
      <vt:lpstr>Презентация PowerPoint</vt:lpstr>
      <vt:lpstr>Решение 2. Создание своей программы автоматизации: </vt:lpstr>
      <vt:lpstr>Презентация PowerPoint</vt:lpstr>
      <vt:lpstr>Презентация PowerPoint</vt:lpstr>
      <vt:lpstr>BPMN “Оформление отпусков” ДО</vt:lpstr>
      <vt:lpstr>Срок окупаемости проекта</vt:lpstr>
      <vt:lpstr>IDEF0 “Процесс оформления отпусков” ПОСЛЕ</vt:lpstr>
      <vt:lpstr>IDEF0 “Согласование приказов на мероприятия”</vt:lpstr>
      <vt:lpstr>IDEF0 “Согласование приказов на мероприятия ч.1”</vt:lpstr>
      <vt:lpstr>IDEF0 “Согласование приказов на мероприятия ч.2”</vt:lpstr>
      <vt:lpstr>BPMN “Согласование приказов на мероприятия ч.1” ДО</vt:lpstr>
      <vt:lpstr>BPMN “Согласование приказов на мероприятия ч.2” ДО</vt:lpstr>
      <vt:lpstr>BPMN “Согласование приказов на мероприятия ч.3” ДО</vt:lpstr>
      <vt:lpstr>Проблемы процесса согласования приказов на мероприятия</vt:lpstr>
      <vt:lpstr>BPMN “Согласование ч.1” ПОСЛЕ</vt:lpstr>
      <vt:lpstr>BPMN “Согласование ч.2” ПОСЛЕ</vt:lpstr>
      <vt:lpstr>SIPOC  процесс сверки персональных документов с договором</vt:lpstr>
      <vt:lpstr>Процесс “Согласование”</vt:lpstr>
      <vt:lpstr>Презентация PowerPoint</vt:lpstr>
      <vt:lpstr>Презентация PowerPoint</vt:lpstr>
      <vt:lpstr>Квадрант решений Проблема: Сложная система документооборота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КАДРАМИ: Отдел по работе с профессорско-преподавательским составом (ППС)</dc:title>
  <dc:creator>Лейсан</dc:creator>
  <cp:lastModifiedBy>Ляйсан</cp:lastModifiedBy>
  <cp:revision>22</cp:revision>
  <dcterms:modified xsi:type="dcterms:W3CDTF">2025-04-29T17:18:34Z</dcterms:modified>
</cp:coreProperties>
</file>