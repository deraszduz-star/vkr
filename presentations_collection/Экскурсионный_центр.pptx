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1" r:id="rId5"/>
    <p:sldId id="271" r:id="rId6"/>
    <p:sldId id="283" r:id="rId7"/>
    <p:sldId id="281" r:id="rId8"/>
    <p:sldId id="284" r:id="rId9"/>
    <p:sldId id="282" r:id="rId10"/>
    <p:sldId id="286" r:id="rId11"/>
    <p:sldId id="287" r:id="rId12"/>
    <p:sldId id="288" r:id="rId13"/>
    <p:sldId id="291" r:id="rId14"/>
    <p:sldId id="266" r:id="rId15"/>
    <p:sldId id="296" r:id="rId16"/>
    <p:sldId id="272" r:id="rId17"/>
    <p:sldId id="262" r:id="rId18"/>
    <p:sldId id="273" r:id="rId19"/>
    <p:sldId id="268" r:id="rId20"/>
    <p:sldId id="294" r:id="rId21"/>
    <p:sldId id="295" r:id="rId22"/>
    <p:sldId id="275" r:id="rId23"/>
    <p:sldId id="276" r:id="rId24"/>
    <p:sldId id="289" r:id="rId25"/>
    <p:sldId id="277" r:id="rId26"/>
    <p:sldId id="278" r:id="rId27"/>
    <p:sldId id="279" r:id="rId28"/>
    <p:sldId id="263" r:id="rId29"/>
    <p:sldId id="292" r:id="rId30"/>
    <p:sldId id="293" r:id="rId31"/>
    <p:sldId id="270" r:id="rId3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9429" autoAdjust="0"/>
  </p:normalViewPr>
  <p:slideViewPr>
    <p:cSldViewPr showGuides="1">
      <p:cViewPr>
        <p:scale>
          <a:sx n="97" d="100"/>
          <a:sy n="97" d="100"/>
        </p:scale>
        <p:origin x="-1042" y="-341"/>
      </p:cViewPr>
      <p:guideLst>
        <p:guide orient="horz" pos="150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Согласно поручению</a:t>
            </a:r>
            <a:r>
              <a:rPr lang="ru-RU" baseline="0" dirty="0"/>
              <a:t> ректора по рекомендациям по использованию фирменного стиля, мы разослали всем руководителям подразделений письмо с просьбой предоставить нам обратную связь в виде предложений по изменению и корректировкам связанными с использованием фирменного стиля в презентациях.</a:t>
            </a:r>
            <a:endParaRPr lang="ru-RU" baseline="0" dirty="0"/>
          </a:p>
          <a:p>
            <a:r>
              <a:rPr lang="ru-RU" baseline="0" dirty="0"/>
              <a:t>Все полученные рекомендации мы разбили на три категории:</a:t>
            </a:r>
            <a:endParaRPr lang="ru-RU" baseline="0" dirty="0"/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оформлению презентации;</a:t>
            </a:r>
            <a:endParaRPr lang="ru-RU" baseline="0" dirty="0"/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внедрению новых единых стилеобразующих элементов;</a:t>
            </a:r>
            <a:endParaRPr lang="ru-RU" baseline="0" dirty="0"/>
          </a:p>
          <a:p>
            <a:pPr marL="228600" indent="-228600">
              <a:buAutoNum type="arabicParenR"/>
            </a:pPr>
            <a:r>
              <a:rPr lang="ru-RU" baseline="0" dirty="0"/>
              <a:t>Предложения по структуре презентаций.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Итак, перейдем к первому пункту – оформление.</a:t>
            </a:r>
            <a:endParaRPr lang="ru-RU" baseline="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</a:t>
            </a:r>
            <a:r>
              <a:rPr lang="ru-RU" baseline="0" dirty="0"/>
              <a:t> переосмысления структуры слайда, у нас появилось предложение сделать горизонтальный формат оформления, который визуально дает возможность визуально разграничить поле навигации-тематики и дать больше маневра для представления контента на слайде.</a:t>
            </a:r>
            <a:endParaRPr lang="ru-RU" baseline="0" dirty="0"/>
          </a:p>
          <a:p>
            <a:endParaRPr lang="ru-RU" baseline="0" dirty="0"/>
          </a:p>
          <a:p>
            <a:r>
              <a:rPr lang="ru-RU" baseline="0" dirty="0"/>
              <a:t>След. Слайд</a:t>
            </a:r>
            <a:endParaRPr lang="ru-RU" baseline="0" dirty="0"/>
          </a:p>
          <a:p>
            <a:endParaRPr lang="ru-RU" baseline="0" dirty="0"/>
          </a:p>
          <a:p>
            <a:r>
              <a:rPr lang="ru-RU" baseline="0" dirty="0"/>
              <a:t>Обращаю ваше внимание, что версию в сером цвете также предусмотрели.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ru-RU" sz="1200" dirty="0">
                <a:latin typeface="PT Sans" panose="020B0503020203020204" pitchFamily="34" charset="-52"/>
              </a:rPr>
              <a:t>Перейдем ко второй категории предложений от подразделений.</a:t>
            </a:r>
            <a:endParaRPr lang="ru-RU" sz="1200" dirty="0">
              <a:latin typeface="PT Sans" panose="020B0503020203020204" pitchFamily="34" charset="-52"/>
            </a:endParaRPr>
          </a:p>
          <a:p>
            <a:pPr marL="0" lvl="0" indent="0">
              <a:buNone/>
              <a:defRPr/>
            </a:pPr>
            <a:r>
              <a:rPr lang="ru-RU" sz="1200" dirty="0">
                <a:latin typeface="PT Sans" panose="020B0503020203020204" pitchFamily="34" charset="-52"/>
              </a:rPr>
              <a:t>Исходя</a:t>
            </a:r>
            <a:r>
              <a:rPr lang="ru-RU" sz="1200" baseline="0" dirty="0">
                <a:latin typeface="PT Sans" panose="020B0503020203020204" pitchFamily="34" charset="-52"/>
              </a:rPr>
              <a:t> из запросов подразделений мы определили, что есть потребность в создании сопроводительных графических элементов таких как:</a:t>
            </a:r>
            <a:endParaRPr lang="ru-RU" sz="1200" dirty="0">
              <a:latin typeface="PT Sans" panose="020B0503020203020204" pitchFamily="34" charset="-52"/>
            </a:endParaRPr>
          </a:p>
          <a:p>
            <a:pPr marL="228600" lvl="0" indent="-228600">
              <a:buAutoNum type="arabicPeriod"/>
              <a:defRPr/>
            </a:pPr>
            <a:endParaRPr lang="ru-RU" sz="1200" dirty="0">
              <a:latin typeface="PT Sans" panose="020B0503020203020204" pitchFamily="34" charset="-52"/>
            </a:endParaRPr>
          </a:p>
          <a:p>
            <a:pPr marL="228600" lvl="0" indent="-228600">
              <a:buAutoNum type="arabicPeriod"/>
              <a:defRPr/>
            </a:pPr>
            <a:r>
              <a:rPr lang="ru-RU" sz="1200" dirty="0">
                <a:latin typeface="PT Sans" panose="020B0503020203020204" pitchFamily="34" charset="-52"/>
              </a:rPr>
              <a:t>Пиктограммы</a:t>
            </a:r>
            <a:endParaRPr lang="ru-RU" sz="1200" dirty="0">
              <a:latin typeface="PT Sans" panose="020B0503020203020204" pitchFamily="34" charset="-52"/>
            </a:endParaRPr>
          </a:p>
          <a:p>
            <a:pPr marL="228600" lvl="0" indent="-228600">
              <a:buAutoNum type="arabicPeriod"/>
              <a:defRPr/>
            </a:pPr>
            <a:r>
              <a:rPr lang="ru-RU" sz="1200" dirty="0">
                <a:latin typeface="PT Sans" panose="020B0503020203020204" pitchFamily="34" charset="-52"/>
              </a:rPr>
              <a:t>Представление предметных рейтингов</a:t>
            </a:r>
            <a:endParaRPr lang="ru-RU" sz="1200" dirty="0">
              <a:latin typeface="PT Sans" panose="020B0503020203020204" pitchFamily="34" charset="-52"/>
            </a:endParaRPr>
          </a:p>
          <a:p>
            <a:pPr marL="228600" lvl="0" indent="-228600">
              <a:buAutoNum type="arabicPeriod"/>
              <a:defRPr/>
            </a:pPr>
            <a:r>
              <a:rPr lang="ru-RU" sz="1200" dirty="0">
                <a:latin typeface="PT Sans" panose="020B0503020203020204" pitchFamily="34" charset="-52"/>
              </a:rPr>
              <a:t>Фотографии</a:t>
            </a:r>
            <a:endParaRPr lang="en-US" sz="1200" dirty="0">
              <a:latin typeface="PT Sans" panose="020B0503020203020204" pitchFamily="34" charset="-52"/>
            </a:endParaRPr>
          </a:p>
          <a:p>
            <a:pPr marL="0" indent="0">
              <a:buNone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На данном слайде представляем вам 3 вида пиктограмм, которые </a:t>
            </a:r>
            <a:r>
              <a:rPr lang="ru-RU" baseline="0" dirty="0" err="1"/>
              <a:t>отрисованы</a:t>
            </a:r>
            <a:r>
              <a:rPr lang="ru-RU" baseline="0" dirty="0"/>
              <a:t> в разных цветах, приемах графики и подойдут для разных стилей представления информации. В последующем мы разместим ссылку на архив пиктограмм на все случаи жизни.</a:t>
            </a:r>
            <a:endParaRPr lang="ru-RU" baseline="0" dirty="0"/>
          </a:p>
          <a:p>
            <a:pPr marL="0" indent="0">
              <a:buNone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След. слайд</a:t>
            </a: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</a:t>
            </a:r>
            <a:r>
              <a:rPr lang="ru-RU" baseline="0" dirty="0"/>
              <a:t> переосмысления структуры слайда, у нас появилось предложение сделать горизонтальный формат оформления, который визуально дает возможность визуально разграничить поле навигации-тематики и дать больше маневра для представления контента на слайде.</a:t>
            </a:r>
            <a:endParaRPr lang="ru-RU" baseline="0" dirty="0"/>
          </a:p>
          <a:p>
            <a:endParaRPr lang="ru-RU" baseline="0" dirty="0"/>
          </a:p>
          <a:p>
            <a:r>
              <a:rPr lang="ru-RU" baseline="0" dirty="0"/>
              <a:t>След. Слайд</a:t>
            </a:r>
            <a:endParaRPr lang="ru-RU" baseline="0" dirty="0"/>
          </a:p>
          <a:p>
            <a:endParaRPr lang="ru-RU" baseline="0" dirty="0"/>
          </a:p>
          <a:p>
            <a:r>
              <a:rPr lang="ru-RU" baseline="0" dirty="0"/>
              <a:t>Обращаю ваше внимание, что версию в сером цвете также предусмотрели.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</a:t>
            </a:r>
            <a:r>
              <a:rPr lang="ru-RU" baseline="0" dirty="0"/>
              <a:t> переосмысления структуры слайда, у нас появилось предложение сделать горизонтальный формат оформления, который визуально дает возможность визуально разграничить поле навигации-тематики и дать больше маневра для представления контента на слайде.</a:t>
            </a:r>
            <a:endParaRPr lang="ru-RU" baseline="0" dirty="0"/>
          </a:p>
          <a:p>
            <a:endParaRPr lang="ru-RU" baseline="0" dirty="0"/>
          </a:p>
          <a:p>
            <a:r>
              <a:rPr lang="ru-RU" baseline="0" dirty="0"/>
              <a:t>След. Слайд</a:t>
            </a:r>
            <a:endParaRPr lang="ru-RU" baseline="0" dirty="0"/>
          </a:p>
          <a:p>
            <a:endParaRPr lang="ru-RU" baseline="0" dirty="0"/>
          </a:p>
          <a:p>
            <a:r>
              <a:rPr lang="ru-RU" baseline="0" dirty="0"/>
              <a:t>Обращаю ваше внимание, что версию в сером цвете также предусмотрели.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" y="824927"/>
            <a:ext cx="3347865" cy="76925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486150" y="771525"/>
            <a:ext cx="5657850" cy="9531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УСОВЕРШЕНСТВОВАНИЕ</a:t>
            </a:r>
            <a:endParaRPr lang="en-US" altLang="en-US" sz="14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r>
              <a:rPr lang="en-US" altLang="en-US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ПРОЦЕССА</a:t>
            </a:r>
            <a:r>
              <a:rPr lang="en-US" altLang="ru-RU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ru-RU" altLang="en-US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ПРИНЯТИЯ ЗАЯВОК НА ЭКСКУРСИИ </a:t>
            </a:r>
            <a:endParaRPr lang="en-US" altLang="en-US" sz="14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r>
              <a:rPr lang="en-US" altLang="en-US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В</a:t>
            </a:r>
            <a:r>
              <a:rPr lang="en-US" altLang="ru-RU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ЭКСКУРСИОННОМ ЦЕНТРЕ МУЗЕЯ ИСТОРИИ КАЗАНСКОГО УНИВЕРСИТЕТА</a:t>
            </a:r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4113" y="3579247"/>
            <a:ext cx="533446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2"/>
                </a:solidFill>
                <a:latin typeface="PT Sans" panose="020B0503020203020204" pitchFamily="34" charset="-52"/>
              </a:rPr>
              <a:t>Низамутдинова Айсылу</a:t>
            </a:r>
            <a:endParaRPr lang="ru-RU" sz="1400" b="1" dirty="0">
              <a:solidFill>
                <a:schemeClr val="tx2"/>
              </a:solidFill>
              <a:latin typeface="PT Sans" panose="020B0503020203020204" pitchFamily="34" charset="-52"/>
            </a:endParaRPr>
          </a:p>
          <a:p>
            <a:r>
              <a:rPr lang="ru-RU" sz="1400" b="1" dirty="0">
                <a:solidFill>
                  <a:schemeClr val="tx2"/>
                </a:solidFill>
                <a:latin typeface="PT Sans" panose="020B0503020203020204" pitchFamily="34" charset="-52"/>
              </a:rPr>
              <a:t>Сабурова Вероника</a:t>
            </a:r>
            <a:endParaRPr lang="ru-RU" sz="1400" b="1" dirty="0">
              <a:solidFill>
                <a:schemeClr val="tx2"/>
              </a:solidFill>
              <a:latin typeface="PT Sans" panose="020B0503020203020204" pitchFamily="34" charset="-52"/>
            </a:endParaRPr>
          </a:p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подготовили студентки 4 курса группы 14.6-112</a:t>
            </a:r>
            <a:endParaRPr lang="ru-RU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200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059582"/>
            <a:ext cx="1728192" cy="330491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918845"/>
            <a:ext cx="317500" cy="567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331898" y="123229"/>
            <a:ext cx="734481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ЗАДАЧИ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И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ФУНКЦИИ</a:t>
            </a:r>
            <a:r>
              <a:rPr lang="ru-RU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ПОДРАЗДЕЛЕНИЯ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ru-RU" altLang="en-US" sz="1600" b="1" dirty="0">
                <a:solidFill>
                  <a:schemeClr val="tx2"/>
                </a:solidFill>
                <a:latin typeface="PT Sans" panose="020B0503020203020204" pitchFamily="34" charset="-52"/>
              </a:rPr>
              <a:t>ДИРЕКЦИИ КФУ</a:t>
            </a:r>
            <a:endParaRPr lang="ru-RU" altLang="en-US" sz="1600" b="1" dirty="0">
              <a:solidFill>
                <a:schemeClr val="tx2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graphicFrame>
        <p:nvGraphicFramePr>
          <p:cNvPr id="11" name="Таблица 10"/>
          <p:cNvGraphicFramePr/>
          <p:nvPr>
            <p:custDataLst>
              <p:tags r:id="rId3"/>
            </p:custDataLst>
          </p:nvPr>
        </p:nvGraphicFramePr>
        <p:xfrm>
          <a:off x="1036320" y="550545"/>
          <a:ext cx="7920990" cy="438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790"/>
                <a:gridCol w="1428750"/>
                <a:gridCol w="4743450"/>
              </a:tblGrid>
              <a:tr h="542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Должность</a:t>
                      </a:r>
                      <a:endParaRPr lang="ru-RU" alt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Задачи</a:t>
                      </a:r>
                      <a:endParaRPr lang="ru-RU" alt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Функции</a:t>
                      </a:r>
                      <a:endParaRPr lang="ru-RU" alt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227393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b="1">
                          <a:solidFill>
                            <a:schemeClr val="tx2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Экскурсионный центр</a:t>
                      </a:r>
                      <a:endParaRPr lang="ru-RU" altLang="en-US" sz="1600" b="1">
                        <a:solidFill>
                          <a:schemeClr val="tx2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Организация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сопровождение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посетителей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экскурсионных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</a:t>
                      </a:r>
                      <a:endParaRPr lang="en-US" altLang="en-US" sz="12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Осуществляет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работу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организации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приему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одиночных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посетителей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организованных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Центре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экскурсий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Формирует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экскурсионные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группы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соответствии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поступившими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заказами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Осуществляет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связь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музеями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формированию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расписания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экскурсионного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обслуживания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Регулирует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количество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человек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составе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организованных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Оформляет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заказы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одиночное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посещение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Осуществляет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работу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эффективному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культурному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обслуживанию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посетителей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созданию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для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них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комфортных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условий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131508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Информационная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медиаподдержка</a:t>
                      </a:r>
                      <a:endParaRPr lang="en-US" altLang="en-US" sz="12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Готовит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заметки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музейных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предметах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музейных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коллекциях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мероприятиях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для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публикации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интернет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ресурсах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социальных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сетях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Дирекции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Распространяет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информацию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режиме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работы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Дирекции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мероприятиях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проводимых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музеями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Дирекции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Разрабатывает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новые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методы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продвижения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социальных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сетях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сети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Интернет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2</a:t>
            </a:r>
            <a:endParaRPr lang="ru-RU" altLang="en-US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331898" y="267374"/>
            <a:ext cx="734481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ЗАДАЧИ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И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ФУНКЦИИ</a:t>
            </a:r>
            <a:r>
              <a:rPr lang="ru-RU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ПОДРАЗДЕЛЕНИЯ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ru-RU" altLang="en-US" sz="1600" b="1" dirty="0">
                <a:solidFill>
                  <a:schemeClr val="tx2"/>
                </a:solidFill>
                <a:latin typeface="PT Sans" panose="020B0503020203020204" pitchFamily="34" charset="-52"/>
              </a:rPr>
              <a:t>ДИРЕКЦИИ КФУ</a:t>
            </a:r>
            <a:endParaRPr lang="ru-RU" altLang="en-US" sz="1600" b="1" dirty="0">
              <a:solidFill>
                <a:schemeClr val="tx2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graphicFrame>
        <p:nvGraphicFramePr>
          <p:cNvPr id="11" name="Таблица 10"/>
          <p:cNvGraphicFramePr/>
          <p:nvPr>
            <p:custDataLst>
              <p:tags r:id="rId3"/>
            </p:custDataLst>
          </p:nvPr>
        </p:nvGraphicFramePr>
        <p:xfrm>
          <a:off x="1043305" y="843280"/>
          <a:ext cx="7920990" cy="355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790"/>
                <a:gridCol w="1505585"/>
                <a:gridCol w="4666615"/>
              </a:tblGrid>
              <a:tr h="558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Должность</a:t>
                      </a:r>
                      <a:endParaRPr lang="ru-RU" alt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Задачи</a:t>
                      </a:r>
                      <a:endParaRPr lang="ru-RU" alt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Функции</a:t>
                      </a:r>
                      <a:endParaRPr lang="ru-RU" alt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122174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600" b="1">
                          <a:solidFill>
                            <a:schemeClr val="tx2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Экскурсионный центр</a:t>
                      </a:r>
                      <a:endParaRPr lang="ru-RU" altLang="en-US" sz="1600" b="1">
                        <a:solidFill>
                          <a:schemeClr val="tx2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Финансовый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учёт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и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кассовые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операции</a:t>
                      </a:r>
                      <a:endParaRPr lang="en-US" altLang="en-US" sz="12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Осуществляет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операции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приему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хранению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денежных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средств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обязательным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соблюдением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правил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обеспечивающих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их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сохранность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Ведет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основе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приходных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расходных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документов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кассовую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книгу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сверяет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фактическое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наличие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денежных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сумм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книжным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остатком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Ведет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отчетность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реализованных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заказах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экскурсионные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услуги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6127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Участие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мероприятиях</a:t>
                      </a:r>
                      <a:endParaRPr lang="en-US" altLang="en-US" sz="12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Участвует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проведении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мероприятий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музеев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</a:tr>
              <a:tr h="106997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Соблюдение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законодательства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внутренней</a:t>
                      </a:r>
                      <a:r>
                        <a:rPr lang="en-US" altLang="ru-RU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документации</a:t>
                      </a:r>
                      <a:endParaRPr lang="en-US" altLang="en-US" sz="12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процессе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работы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соблюдает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требования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действующего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законодательства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Российской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Федерации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Устава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Правил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внутреннего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распорядка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локальных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актов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выполняет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приказы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распоряжения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ректора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(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проректора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)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распоряжения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(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поручения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)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непосредственного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руководителя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а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также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иные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обязанности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предусмотренные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действующим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законодательством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РФ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локальными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нормативными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актами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КФУ</a:t>
                      </a:r>
                      <a:endParaRPr lang="en-US" alt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3</a:t>
            </a:r>
            <a:endParaRPr lang="ru-RU" altLang="en-US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4</a:t>
            </a:r>
            <a:endParaRPr lang="en-US" altLang="ru-RU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217170"/>
          <a:ext cx="7773035" cy="460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2974340"/>
              </a:tblGrid>
              <a:tr h="274320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9:00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9:10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Проверка почты,ответы на письма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9:10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9:13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Проважает студента через охранника на 2 этаж к сотруднику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9:13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9:21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Звонок,консультация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9:21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9:28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7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Звонит другой рабочий телефон повторно,сотрудник перезванивает,так как до этого разговаривала с клиентом через другой телефон.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Звонок,консультация. Чтобы ответить на вопрос,достает папку из своего стола,чтобы найти информацию и продиктовать клиенту. Параллельно слушает и сортирует письма на почте. После зашла сотрудник,чтобы что-то спросить,но деваушка разговаривает до сих пор телефону.(сотрудник пока ушёл)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9:28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Отвечает на мои вопросы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9:32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Заходит еще раз сотрудник,отдает письма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9:32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30 секунд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C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отрудник позвонил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кому-то на счёт того,чтобы узнать есть ли такой-то человек 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на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данный момент в музее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30 cекунд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Скидывает на номер почту,той женщине,что звонила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5</a:t>
            </a:r>
            <a:endParaRPr lang="en-US" altLang="ru-RU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201930"/>
          <a:ext cx="7773035" cy="4895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2974340"/>
              </a:tblGrid>
              <a:tr h="2749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Заходит другой сотрудник,чтобы взять эти письма,которые принесли в экскурсионный центр ,их фотографирует,параллельно заходят клиенты,спрашивают что-то за экскурсию и уходят.Сотрудник,который пришел за документами и до сих пор стоит в центре и фотографирует и параллельно задает вопросы сотруднику экскурсионного центра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минута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После поиска эксурсионного центра в здании заходит клиент в центр,делиться своими мыслями о том,что вас сложно найти,тем самым работник тратит своё время на объяснение ,что нас действительно не видно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минута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Звонок.Звонит та женщина ,что ждала почту,которую должен был отправить сотрудник,девушка не могла отправить из-за того что были другие задачи в моменте,и женщина перезванивала,чтоб узнать сколько ей еще сообщения ждать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9:39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Звонок,консультирование.Записывает в ексель-таблицу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9:42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Этот номер,который искала и записывала,это номер в бухгалтерию,звонит туда.Не взяли трубку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минута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Отвечает в ватцапе сообщения(очень шумно за стенами центра и это очень громко слышно)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Пришёл новый номер телефона с почты и звонит(кому-то звонит чтобы связвться с бухгалтерией-сбросили. Звонит с другого,что бы что-то...(не услышала из-за громкого шума за стенами)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6</a:t>
            </a:r>
            <a:endParaRPr lang="en-US" altLang="ru-RU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123190"/>
          <a:ext cx="7773035" cy="480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599565"/>
                <a:gridCol w="2974340"/>
              </a:tblGrid>
              <a:tr h="274955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9:46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Закрываем отдел и идёт в отдел учёта,чтобы решить вопросы по поводу группы,которые не оплатили.Идём обратно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Отвечает в ватцапе на сообщения клиентов и записывает их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Почта,просмотр в эксель расписаний.Берет какую-то папку из соседнего стола(встает чтоб взять акт).Заходит в таблицу с счетом оферты и смотрит таблицу с документами,взявшие из стола. Это акты, которые нужно отдать экскурсии,которая прийдет ,чтоб понятно было, что экскурсия состоялась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9:57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10:08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Почта,разбор писем и ответ на письма.Вк,разбор,просмотр публикаций.сообщений в ВК,отзывы,редактирование постов. Поиск сравнение в телеграмме и в ВК.Что-то смотрит на сайте КФУ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10:08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10:10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Заходит клиент,проконсультироваться по поводу музея.Звонит ,чтобы узнать,воз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ь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мут ли человека на свободное посещение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10:10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10:44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34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Заполнение программы с счетами.Почта,письма.Что-то ищет в телефоне.Заходит в аутлук (не получается зайти,так как неправильный пароль,пробует снова) Заполнение таблицы.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10:44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10:53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9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Пришли клиенты-3 человека.Берут аудиогид,объясняет про работу данного устройства,пока другие клиенты ждут.Звонит экскурсоводу,сказать,чтоб забрали клиентов.Ждут экскурсовода,девушка другого клиента консультирует.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7</a:t>
            </a:r>
            <a:endParaRPr lang="en-US" altLang="ru-RU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267335"/>
          <a:ext cx="777303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642110"/>
                <a:gridCol w="2931795"/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10:53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10:56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к.К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онсультирование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10:56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11:00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Заполнение сайта КФУ 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11:00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11:15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Просмотр соц.сетей и проверка публикаций в таблице на опубликование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11:15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11:18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минуты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.К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онсультирование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11:18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11:48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30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Просмотр соц.сетей и проверка публикаций в таблице на опубликование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11:48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12:00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12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звонка подряд, консультирование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12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12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мин.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Ответ на сообщения в тг 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мин.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Оффлайн консультация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 минут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Работа с ваучерами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мин. 30 сек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 реестр безналичной оплаты вносится информация об оплате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Оформления акта оказания услуг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8</a:t>
            </a:r>
            <a:endParaRPr lang="en-US" altLang="ru-RU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267335"/>
          <a:ext cx="7773035" cy="4679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642110"/>
                <a:gridCol w="2931795"/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20 сек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Распечатка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акта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оказанию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услуг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Оформление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акта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аферты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:1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20 сек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Распечатка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документа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endParaRPr lang="en-US" alt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 30 сек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тел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.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отмена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брони,</a:t>
                      </a:r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в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ынесение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из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таблицы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8 мин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абота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ваучерами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:20</a:t>
                      </a:r>
                      <a:endParaRPr lang="en-US" alt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13:21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 </a:t>
                      </a:r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мин 30 сек</a:t>
                      </a:r>
                      <a:endParaRPr 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</a:pP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апись в таблицу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ctr" fontAlgn="ctr"/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:24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13:28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4 </a:t>
                      </a:r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мин</a:t>
                      </a:r>
                      <a:endParaRPr 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Работа с ваучерами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:29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13:30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мин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Замена бумаги в принтере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:30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13:35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 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мин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Р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абота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  <a:sym typeface="+mn-ea"/>
                        </a:rPr>
                        <a:t>ваучерами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  <a:p>
                      <a:pPr algn="ctr" fontAlgn="ctr"/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:35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:35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30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сек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Консультация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r>
                        <a:rPr lang="en-US" alt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:36</a:t>
                      </a:r>
                      <a:endParaRPr lang="en-US" alt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13:37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 </a:t>
                      </a:r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мин</a:t>
                      </a:r>
                      <a:endParaRPr 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сотрудника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музея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истории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уточнить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есть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ли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запись,</a:t>
                      </a:r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п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роверка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таблице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0170" y="3867785"/>
            <a:ext cx="6464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9</a:t>
            </a:r>
            <a:endParaRPr lang="en-US" altLang="ru-RU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267335"/>
          <a:ext cx="777303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642110"/>
                <a:gridCol w="2931795"/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12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Подошёл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экскурсовод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сел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ждёт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студентов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экскурсию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:1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35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Подошёл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сотрудник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бухгалтерии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уточнить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об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оплате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;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7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Проверка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оплаты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реестре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:1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коллеге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уточнить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групп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Поход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бухгатерию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Проверка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распечатнных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документов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ваучерам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Расклеивание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стикеров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на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документы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52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через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тг</a:t>
                      </a:r>
                      <a:endParaRPr lang="en-US" alt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13.54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13.57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Поход в ректорскую зону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13:57</a:t>
                      </a:r>
                      <a:endParaRPr lang="en-US" alt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13:58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2 </a:t>
                      </a:r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мин</a:t>
                      </a:r>
                      <a:endParaRPr 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Звонок,</a:t>
                      </a:r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р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едактирование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таблицы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записи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:00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14:01</a:t>
                      </a:r>
                      <a:endParaRPr 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мин и 30 сек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Запись по телефону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-16510" y="4083685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ru-RU" sz="54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10</a:t>
            </a:r>
            <a:endParaRPr lang="en-US" altLang="ru-RU" sz="54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115695" y="267335"/>
          <a:ext cx="777303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642110"/>
                <a:gridCol w="2931795"/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000"/>
                        <a:t>14</a:t>
                      </a:r>
                      <a:r>
                        <a:rPr lang="en-US" sz="1000"/>
                        <a:t>:03</a:t>
                      </a:r>
                      <a:endParaRPr lang="en-US" sz="1000"/>
                    </a:p>
                  </a:txBody>
                  <a:tcPr marL="23177" marR="23177" marT="15557" marB="15557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14:04</a:t>
                      </a:r>
                      <a:endParaRPr lang="en-US" sz="1000"/>
                    </a:p>
                  </a:txBody>
                  <a:tcPr marL="23177" marR="23177" marT="15557" marB="15557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1 </a:t>
                      </a:r>
                      <a:r>
                        <a:rPr lang="ru-RU" sz="1000"/>
                        <a:t>мин</a:t>
                      </a:r>
                      <a:endParaRPr lang="ru-RU" sz="1000"/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Подошли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клиенты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оплатили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посещение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 vMerge="1">
                  <a:tcPr marL="23177" marR="23177" marT="15557" marB="15557" anchor="ctr"/>
                </a:tc>
                <a:tc vMerge="1">
                  <a:tcPr marL="23177" marR="23177" marT="15557" marB="15557" anchor="ctr"/>
                </a:tc>
                <a:tc vMerge="1"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сотрудникам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музея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Ответы в тг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Прос</a:t>
                      </a:r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мот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 почты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6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Вышла в уборную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49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Публикование графика работры музея в мае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35 сек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Поиск скрипта для публикации в вк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 дизайнеру, т.к из-за формата нельзя опубликовать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14:46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14:48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2 </a:t>
                      </a:r>
                      <a:r>
                        <a:rPr lang="ru-RU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мин</a:t>
                      </a:r>
                      <a:endParaRPr lang="ru-RU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Подошли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клиенты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музей,</a:t>
                      </a:r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плата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2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Обслуживание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людей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без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записи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</a:t>
                      </a:r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:</a:t>
                      </a:r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Звонок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музей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,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спросить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возможности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принять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людей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905" y="4083685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11</a:t>
            </a:r>
            <a:endParaRPr lang="ru-RU" altLang="en-US" sz="54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094105" y="473075"/>
          <a:ext cx="7773035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565"/>
                <a:gridCol w="1599565"/>
                <a:gridCol w="1642110"/>
                <a:gridCol w="2931795"/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НАЧАЛО</a:t>
                      </a:r>
                      <a:r>
                        <a:rPr lang="en-US" altLang="ru-RU" sz="1000"/>
                        <a:t> </a:t>
                      </a:r>
                      <a:r>
                        <a:rPr lang="en-US" altLang="en-US" sz="1000"/>
                        <a:t>ОПЕРАЦИИ</a:t>
                      </a:r>
                      <a:r>
                        <a:rPr lang="en-US" altLang="ru-RU" sz="1000"/>
                        <a:t>              </a:t>
                      </a:r>
                      <a:endParaRPr lang="en-US" altLang="ru-RU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en-US" altLang="en-US" sz="1000"/>
                        <a:t>К</a:t>
                      </a:r>
                      <a:r>
                        <a:rPr lang="ru-RU" altLang="en-US" sz="1000"/>
                        <a:t>ОНЕЦ ОПЕРАЦИИ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ВРЕМЯ НА</a:t>
                      </a:r>
                      <a:r>
                        <a:rPr lang="en-US" altLang="ru-RU" sz="1000"/>
                        <a:t> </a:t>
                      </a:r>
                      <a:r>
                        <a:rPr lang="ru-RU" altLang="en-US" sz="1000"/>
                        <a:t>ОПЕРАЦИЮ</a:t>
                      </a:r>
                      <a:endParaRPr lang="ru-RU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  <a:buNone/>
                      </a:pPr>
                      <a:r>
                        <a:rPr lang="ru-RU" altLang="en-US" sz="1000"/>
                        <a:t>КОММЕНТАРИЙ</a:t>
                      </a:r>
                      <a:endParaRPr lang="ru-RU" altLang="en-US" sz="100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14.55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14.59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4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Оплата группы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15.03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15.04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Оплата группы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15.03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15.06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Размен денег в бухшалтерии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15.08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15.09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Просмотр новой картинки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15.11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15.12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мин.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Публиковка поста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15.13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15.14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 мин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Публиковка в тг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15.15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15.20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5 </a:t>
                      </a:r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мин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Рассылка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сотрудникам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музейных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занятиях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15.20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15.23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Ответы в тг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15.29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15.32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Разговор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с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заведующим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музея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поводу</a:t>
                      </a:r>
                      <a:r>
                        <a:rPr lang="en-US" alt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записей</a:t>
                      </a:r>
                      <a:endParaRPr lang="en-US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15.37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15.40</a:t>
                      </a:r>
                      <a:endParaRPr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3 мин</a:t>
                      </a:r>
                      <a:endParaRPr lang="ru-RU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altLang="en-US" sz="1000"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Оплата группы</a:t>
                      </a:r>
                      <a:endParaRPr lang="ru-RU" altLang="en-US" sz="1000"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23177" marR="23177" marT="15557" marB="1555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475537" y="132109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SIPOC</a:t>
            </a:r>
            <a:endParaRPr lang="en-US" altLang="ru-RU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82245"/>
            <a:ext cx="263525" cy="471805"/>
          </a:xfrm>
          <a:prstGeom prst="rect">
            <a:avLst/>
          </a:prstGeom>
        </p:spPr>
      </p:pic>
      <p:sp>
        <p:nvSpPr>
          <p:cNvPr id="4" name="Пятиугольник 3"/>
          <p:cNvSpPr/>
          <p:nvPr/>
        </p:nvSpPr>
        <p:spPr>
          <a:xfrm>
            <a:off x="323850" y="1131570"/>
            <a:ext cx="1672590" cy="503555"/>
          </a:xfrm>
          <a:prstGeom prst="homePlat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200">
                <a:latin typeface="Times New Roman" panose="02020603050405020304" charset="0"/>
                <a:cs typeface="Times New Roman" panose="02020603050405020304" charset="0"/>
              </a:rPr>
              <a:t>ПОСТАВЩИКИ</a:t>
            </a:r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Угол 5"/>
          <p:cNvSpPr/>
          <p:nvPr/>
        </p:nvSpPr>
        <p:spPr>
          <a:xfrm>
            <a:off x="2150110" y="1132205"/>
            <a:ext cx="1511935" cy="50292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200">
                <a:latin typeface="Times New Roman" panose="02020603050405020304" charset="0"/>
                <a:cs typeface="Times New Roman" panose="02020603050405020304" charset="0"/>
              </a:rPr>
              <a:t>ВХОДЫ</a:t>
            </a:r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Угол 14"/>
          <p:cNvSpPr/>
          <p:nvPr/>
        </p:nvSpPr>
        <p:spPr>
          <a:xfrm>
            <a:off x="3850005" y="1132205"/>
            <a:ext cx="1511935" cy="50292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200">
                <a:latin typeface="Times New Roman" panose="02020603050405020304" charset="0"/>
                <a:cs typeface="Times New Roman" panose="02020603050405020304" charset="0"/>
              </a:rPr>
              <a:t>ПРОЦЕСС</a:t>
            </a:r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Угол 15"/>
          <p:cNvSpPr/>
          <p:nvPr/>
        </p:nvSpPr>
        <p:spPr>
          <a:xfrm>
            <a:off x="5580380" y="1132205"/>
            <a:ext cx="1663700" cy="50292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000">
                <a:latin typeface="Times New Roman" panose="02020603050405020304" charset="0"/>
                <a:cs typeface="Times New Roman" panose="02020603050405020304" charset="0"/>
              </a:rPr>
              <a:t>РЕЗУЛЬТАТЫ</a:t>
            </a:r>
            <a:endParaRPr lang="ru-RU" altLang="en-US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Угол 16"/>
          <p:cNvSpPr/>
          <p:nvPr/>
        </p:nvSpPr>
        <p:spPr>
          <a:xfrm>
            <a:off x="7452360" y="1132205"/>
            <a:ext cx="1511935" cy="50292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200">
                <a:latin typeface="Times New Roman" panose="02020603050405020304" charset="0"/>
                <a:cs typeface="Times New Roman" panose="02020603050405020304" charset="0"/>
              </a:rPr>
              <a:t>КЛИЕНТЫ</a:t>
            </a:r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23215" y="1851660"/>
            <a:ext cx="1513205" cy="28079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indent="0" algn="l">
              <a:buFont typeface="Arial" panose="020B0604020202020204" pitchFamily="34" charset="0"/>
              <a:buNone/>
            </a:pPr>
            <a:endParaRPr lang="en-US" altLang="en-US" sz="1400"/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altLang="en-US" sz="1400"/>
              <a:t>-Институты КФУ</a:t>
            </a:r>
            <a:endParaRPr lang="ru-RU" altLang="en-US" sz="1400"/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ru-RU" altLang="en-US" sz="1400"/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altLang="en-US" sz="1400"/>
              <a:t>-Туроператоры</a:t>
            </a:r>
            <a:endParaRPr lang="ru-RU" altLang="en-US" sz="1400"/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ru-RU" altLang="en-US" sz="1400"/>
          </a:p>
          <a:p>
            <a:pPr algn="l">
              <a:lnSpc>
                <a:spcPct val="100000"/>
              </a:lnSpc>
            </a:pPr>
            <a:r>
              <a:rPr lang="ru-RU" altLang="en-US" sz="1400"/>
              <a:t>-Другие учебные организации</a:t>
            </a:r>
            <a:endParaRPr lang="ru-RU" altLang="en-US" sz="1400"/>
          </a:p>
          <a:p>
            <a:pPr algn="l">
              <a:lnSpc>
                <a:spcPct val="100000"/>
              </a:lnSpc>
            </a:pPr>
            <a:endParaRPr lang="ru-RU" altLang="en-US" sz="1400"/>
          </a:p>
          <a:p>
            <a:pPr algn="l">
              <a:lnSpc>
                <a:spcPct val="100000"/>
              </a:lnSpc>
            </a:pPr>
            <a:r>
              <a:rPr lang="ru-RU" altLang="en-US" sz="1400"/>
              <a:t>-Частные лица</a:t>
            </a:r>
            <a:endParaRPr lang="ru-RU" altLang="en-US" sz="1400"/>
          </a:p>
        </p:txBody>
      </p:sp>
      <p:sp>
        <p:nvSpPr>
          <p:cNvPr id="19" name="Прямоугольник 18"/>
          <p:cNvSpPr/>
          <p:nvPr/>
        </p:nvSpPr>
        <p:spPr>
          <a:xfrm>
            <a:off x="2120900" y="1851660"/>
            <a:ext cx="1368425" cy="280797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altLang="ru-RU" sz="1400"/>
              <a:t>-Распоряжения</a:t>
            </a:r>
            <a:endParaRPr lang="ru-RU" altLang="ru-RU" sz="1400"/>
          </a:p>
          <a:p>
            <a:pPr algn="l"/>
            <a:endParaRPr lang="ru-RU" altLang="ru-RU" sz="1400"/>
          </a:p>
          <a:p>
            <a:pPr algn="l"/>
            <a:r>
              <a:rPr lang="ru-RU" altLang="ru-RU" sz="1400"/>
              <a:t>-Приказы</a:t>
            </a:r>
            <a:endParaRPr lang="ru-RU" altLang="ru-RU" sz="1400"/>
          </a:p>
          <a:p>
            <a:pPr algn="l"/>
            <a:endParaRPr lang="ru-RU" altLang="ru-RU" sz="1400"/>
          </a:p>
          <a:p>
            <a:pPr algn="l"/>
            <a:r>
              <a:rPr lang="ru-RU" altLang="ru-RU" sz="1400"/>
              <a:t>-Лично</a:t>
            </a:r>
            <a:endParaRPr lang="ru-RU" altLang="ru-RU" sz="1400"/>
          </a:p>
          <a:p>
            <a:pPr algn="l"/>
            <a:endParaRPr lang="ru-RU" altLang="ru-RU" sz="1400"/>
          </a:p>
          <a:p>
            <a:pPr algn="l"/>
            <a:r>
              <a:rPr lang="ru-RU" altLang="ru-RU" sz="1400"/>
              <a:t>-Мессенджеры</a:t>
            </a:r>
            <a:endParaRPr lang="ru-RU" altLang="ru-RU" sz="1400"/>
          </a:p>
        </p:txBody>
      </p:sp>
      <p:sp>
        <p:nvSpPr>
          <p:cNvPr id="20" name="Прямоугольник 19"/>
          <p:cNvSpPr/>
          <p:nvPr/>
        </p:nvSpPr>
        <p:spPr>
          <a:xfrm>
            <a:off x="3871595" y="1851660"/>
            <a:ext cx="1368425" cy="28079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altLang="en-US" sz="1200"/>
              <a:t>-</a:t>
            </a:r>
            <a:r>
              <a:rPr lang="ru-RU" altLang="en-US" sz="1000"/>
              <a:t>Принятие звонков или запросов в мессенджере или на почту</a:t>
            </a:r>
            <a:endParaRPr lang="ru-RU" altLang="en-US" sz="1000"/>
          </a:p>
          <a:p>
            <a:pPr algn="l"/>
            <a:endParaRPr lang="ru-RU" altLang="en-US" sz="1000"/>
          </a:p>
          <a:p>
            <a:pPr algn="l"/>
            <a:r>
              <a:rPr lang="ru-RU" altLang="en-US" sz="1000"/>
              <a:t>-Проверка занятости даты</a:t>
            </a:r>
            <a:endParaRPr lang="ru-RU" altLang="en-US" sz="1000"/>
          </a:p>
          <a:p>
            <a:pPr algn="l"/>
            <a:endParaRPr lang="ru-RU" altLang="en-US" sz="1000"/>
          </a:p>
          <a:p>
            <a:pPr algn="l"/>
            <a:r>
              <a:rPr lang="ru-RU" altLang="en-US" sz="1000"/>
              <a:t>-Занесение информации в таблицу</a:t>
            </a:r>
            <a:endParaRPr lang="ru-RU" altLang="en-US" sz="1000"/>
          </a:p>
          <a:p>
            <a:pPr algn="l"/>
            <a:endParaRPr lang="ru-RU" altLang="en-US" sz="1000"/>
          </a:p>
          <a:p>
            <a:pPr algn="l"/>
            <a:r>
              <a:rPr lang="ru-RU" altLang="en-US" sz="1000"/>
              <a:t>-Оповещение экскурсовода</a:t>
            </a:r>
            <a:endParaRPr lang="ru-RU" altLang="en-US" sz="1000"/>
          </a:p>
          <a:p>
            <a:pPr algn="l"/>
            <a:endParaRPr lang="ru-RU" altLang="en-US" sz="1000"/>
          </a:p>
          <a:p>
            <a:pPr algn="l"/>
            <a:r>
              <a:rPr lang="ru-RU" altLang="en-US" sz="1000"/>
              <a:t>-Принятие оплаты</a:t>
            </a:r>
            <a:endParaRPr lang="ru-RU" altLang="en-US" sz="1000"/>
          </a:p>
        </p:txBody>
      </p:sp>
      <p:sp>
        <p:nvSpPr>
          <p:cNvPr id="21" name="Прямоугольник 20"/>
          <p:cNvSpPr/>
          <p:nvPr/>
        </p:nvSpPr>
        <p:spPr>
          <a:xfrm>
            <a:off x="5580380" y="1851660"/>
            <a:ext cx="1663065" cy="280797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altLang="en-US" sz="1400"/>
              <a:t>-Проведение эксурсий</a:t>
            </a:r>
            <a:endParaRPr lang="ru-RU" altLang="en-US" sz="1400"/>
          </a:p>
          <a:p>
            <a:pPr algn="l"/>
            <a:endParaRPr lang="ru-RU" altLang="en-US" sz="1400"/>
          </a:p>
          <a:p>
            <a:pPr algn="l"/>
            <a:r>
              <a:rPr lang="ru-RU" altLang="en-US" sz="1400"/>
              <a:t>-Деньги</a:t>
            </a:r>
            <a:endParaRPr lang="ru-RU" altLang="en-US" sz="1400"/>
          </a:p>
          <a:p>
            <a:pPr algn="l"/>
            <a:endParaRPr lang="ru-RU" altLang="en-US" sz="1400"/>
          </a:p>
          <a:p>
            <a:pPr algn="l"/>
            <a:r>
              <a:rPr lang="ru-RU" altLang="en-US" sz="1400"/>
              <a:t>-Сформированное расписание</a:t>
            </a:r>
            <a:endParaRPr lang="ru-RU" altLang="en-US" sz="1400"/>
          </a:p>
        </p:txBody>
      </p:sp>
      <p:sp>
        <p:nvSpPr>
          <p:cNvPr id="22" name="Прямоугольник 21"/>
          <p:cNvSpPr/>
          <p:nvPr/>
        </p:nvSpPr>
        <p:spPr>
          <a:xfrm>
            <a:off x="7513955" y="1851660"/>
            <a:ext cx="1450340" cy="28079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altLang="en-US" sz="1200"/>
              <a:t>-Министерство Образования</a:t>
            </a:r>
            <a:endParaRPr lang="ru-RU" altLang="en-US" sz="1200"/>
          </a:p>
          <a:p>
            <a:pPr algn="l"/>
            <a:endParaRPr lang="ru-RU" altLang="en-US" sz="1200"/>
          </a:p>
          <a:p>
            <a:pPr algn="l"/>
            <a:r>
              <a:rPr lang="ru-RU" altLang="en-US" sz="1200"/>
              <a:t>-Граждане</a:t>
            </a:r>
            <a:endParaRPr lang="ru-RU" altLang="en-US" sz="1200"/>
          </a:p>
          <a:p>
            <a:pPr algn="l"/>
            <a:endParaRPr lang="ru-RU" altLang="en-US" sz="1200"/>
          </a:p>
          <a:p>
            <a:pPr algn="l"/>
            <a:r>
              <a:rPr lang="ru-RU" altLang="en-US" sz="1200"/>
              <a:t>-Студенты университета</a:t>
            </a:r>
            <a:endParaRPr lang="ru-RU" altLang="en-US" sz="1200"/>
          </a:p>
          <a:p>
            <a:pPr algn="l"/>
            <a:endParaRPr lang="ru-RU" altLang="en-US" sz="1200"/>
          </a:p>
          <a:p>
            <a:pPr algn="l"/>
            <a:r>
              <a:rPr lang="ru-RU" altLang="en-US" sz="1200"/>
              <a:t>-Сотрудники подразделений</a:t>
            </a:r>
            <a:endParaRPr lang="ru-RU" altLang="en-US" sz="1200"/>
          </a:p>
          <a:p>
            <a:pPr algn="l"/>
            <a:endParaRPr lang="ru-RU" altLang="en-US" sz="1200"/>
          </a:p>
          <a:p>
            <a:pPr algn="l"/>
            <a:r>
              <a:rPr lang="ru-RU" altLang="en-US" sz="1200"/>
              <a:t>-</a:t>
            </a:r>
            <a:r>
              <a:rPr lang="en-US" altLang="en-US" sz="1200"/>
              <a:t>Организации</a:t>
            </a:r>
            <a:endParaRPr lang="en-US" altLang="en-US" sz="1200"/>
          </a:p>
          <a:p>
            <a:pPr algn="l"/>
            <a:r>
              <a:rPr lang="en-US" altLang="ru-RU" sz="1200"/>
              <a:t>(</a:t>
            </a:r>
            <a:r>
              <a:rPr lang="en-US" altLang="en-US" sz="1200"/>
              <a:t>конференции</a:t>
            </a:r>
            <a:r>
              <a:rPr lang="en-US" altLang="ru-RU" sz="1200"/>
              <a:t>, </a:t>
            </a:r>
            <a:r>
              <a:rPr lang="en-US" altLang="en-US" sz="1200"/>
              <a:t>выставки</a:t>
            </a:r>
            <a:r>
              <a:rPr lang="en-US" altLang="ru-RU" sz="1200"/>
              <a:t>,</a:t>
            </a:r>
            <a:endParaRPr lang="en-US" altLang="ru-RU" sz="1200"/>
          </a:p>
          <a:p>
            <a:pPr algn="l"/>
            <a:r>
              <a:rPr lang="en-US" altLang="en-US" sz="1200"/>
              <a:t>форумы</a:t>
            </a:r>
            <a:r>
              <a:rPr lang="en-US" altLang="ru-RU" sz="1200"/>
              <a:t>)</a:t>
            </a:r>
            <a:endParaRPr lang="en-US" altLang="ru-RU" sz="1200"/>
          </a:p>
        </p:txBody>
      </p:sp>
      <p:sp>
        <p:nvSpPr>
          <p:cNvPr id="23" name="Прямоугольник 22"/>
          <p:cNvSpPr/>
          <p:nvPr/>
        </p:nvSpPr>
        <p:spPr>
          <a:xfrm>
            <a:off x="8316596" y="0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12</a:t>
            </a:r>
            <a:endParaRPr lang="ru-RU" altLang="en-US" sz="48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05"/>
            <a:ext cx="9144000" cy="65278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475537" y="72419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ПАСПОРТ ПРОЕКТА</a:t>
            </a:r>
            <a:endParaRPr lang="ru-RU" altLang="en-US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2" y="195333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55" y="12255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316596" y="-86360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13</a:t>
            </a:r>
            <a:endParaRPr lang="ru-RU" altLang="en-US" sz="48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8" name="Таблица 7"/>
          <p:cNvGraphicFramePr/>
          <p:nvPr>
            <p:custDataLst>
              <p:tags r:id="rId3"/>
            </p:custDataLst>
          </p:nvPr>
        </p:nvGraphicFramePr>
        <p:xfrm>
          <a:off x="1331595" y="743585"/>
          <a:ext cx="6620510" cy="4051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980"/>
                <a:gridCol w="5510530"/>
              </a:tblGrid>
              <a:tr h="33528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Times New Roman" panose="02020603050405020304"/>
                          <a:ea typeface="Times New Roman" panose="02020603050405020304"/>
                        </a:rPr>
                        <a:t>Цель</a:t>
                      </a:r>
                      <a:endParaRPr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800"/>
                        <a:t>Сократить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время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обработки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одной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заявки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и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повысить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общую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эффективность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процесса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записи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на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экскурсии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путём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внедрения</a:t>
                      </a:r>
                      <a:r>
                        <a:rPr lang="en-US" altLang="ru-RU" sz="800"/>
                        <a:t> </a:t>
                      </a:r>
                      <a:r>
                        <a:rPr lang="en-US" altLang="en-US" sz="800"/>
                        <a:t>автоматизации</a:t>
                      </a:r>
                      <a:endParaRPr lang="en-US" altLang="en-US" sz="800"/>
                    </a:p>
                  </a:txBody>
                  <a:tcPr/>
                </a:tc>
              </a:tr>
              <a:tr h="29337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Times New Roman" panose="02020603050405020304"/>
                          <a:ea typeface="Times New Roman" panose="02020603050405020304"/>
                        </a:rPr>
                        <a:t>Описание </a:t>
                      </a:r>
                      <a:endParaRPr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В рамках проекта планируется автоматизировать процесс записи на экскурсии через чат-бот, включающий: проверку свободных слотов, сбор данных клиента и автоматическое внесение в таблицу/систему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44005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Times New Roman" panose="02020603050405020304"/>
                          <a:ea typeface="Times New Roman" panose="02020603050405020304"/>
                        </a:rPr>
                        <a:t>Обоснование </a:t>
                      </a:r>
                      <a:endParaRPr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800">
                          <a:latin typeface="Times New Roman" panose="02020603050405020304"/>
                          <a:ea typeface="Times New Roman" panose="02020603050405020304"/>
                        </a:rPr>
                        <a:t>Т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екущее время записи одного клиента 90–120 секунд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,c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реднее количество обращений в день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до 100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 c 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автоматизацией время снижается до 10 секунд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э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кономия 1 ч. 23 мин. в день → 31 ч. в месяц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с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тоимость часа сотрудника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300 рублей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 э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кономический эффект 9300 рублей в месяц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35814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Times New Roman" panose="02020603050405020304"/>
                          <a:ea typeface="Times New Roman" panose="02020603050405020304"/>
                        </a:rPr>
                        <a:t>Этапы</a:t>
                      </a:r>
                      <a:r>
                        <a:rPr sz="1100" b="1"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r>
                        <a:rPr sz="1100" b="1">
                          <a:latin typeface="Times New Roman" panose="02020603050405020304"/>
                          <a:ea typeface="Times New Roman" panose="02020603050405020304"/>
                        </a:rPr>
                        <a:t>проекта</a:t>
                      </a:r>
                      <a:endParaRPr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29337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sz="900" b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SIPOC, описать проблему  что где когда,должностные инструкции, ШДС, положение дирекции музеев,разработка паспорта проекта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19685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sz="900" b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Выход на Гембу,подробное описание дня сотрудника (замеры)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16065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endParaRPr sz="900" b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Анализ данных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19177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0"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endParaRPr sz="900" b="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Совершенствование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184150"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 b="1">
                          <a:latin typeface="Times New Roman" panose="02020603050405020304"/>
                          <a:ea typeface="Times New Roman" panose="02020603050405020304"/>
                        </a:rPr>
                        <a:t>Конкретизация</a:t>
                      </a:r>
                      <a:endParaRPr sz="10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 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28956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Сроки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24 марта - 5 апреля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29337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Риски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Технические сбои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altLang="en-US" sz="900">
                          <a:latin typeface="Times New Roman" panose="02020603050405020304"/>
                          <a:ea typeface="Times New Roman" panose="02020603050405020304"/>
                        </a:rPr>
                        <a:t>о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шибки при синхронизации расписаний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т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ребование законодательства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п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оддержка в случае возникновения проблем с системой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28956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Заказчики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Проректор по административной работе Прохоров С.Ю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288290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Кураторы 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Якупов А.Г., Садриев А.Р., Лукишина Л.В.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288925"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Результаты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Ученический результат</a:t>
                      </a:r>
                      <a:r>
                        <a:rPr lang="en-US" sz="900">
                          <a:latin typeface="Times New Roman" panose="02020603050405020304"/>
                          <a:ea typeface="Times New Roman" panose="02020603050405020304"/>
                        </a:rPr>
                        <a:t>,</a:t>
                      </a:r>
                      <a:r>
                        <a:rPr lang="ru-RU" sz="900">
                          <a:latin typeface="Times New Roman" panose="02020603050405020304"/>
                          <a:ea typeface="Times New Roman" panose="02020603050405020304"/>
                        </a:rPr>
                        <a:t>ре</a:t>
                      </a:r>
                      <a:r>
                        <a:rPr sz="900">
                          <a:latin typeface="Times New Roman" panose="02020603050405020304"/>
                          <a:ea typeface="Times New Roman" panose="02020603050405020304"/>
                        </a:rPr>
                        <a:t>зультат сокращение времени</a:t>
                      </a:r>
                      <a:endParaRPr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547664" y="132109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800" b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IDEF</a:t>
            </a:r>
            <a:r>
              <a:rPr lang="ru-RU" altLang="ru-RU" sz="2800" b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0</a:t>
            </a:r>
            <a:endParaRPr lang="en-US" altLang="ru-RU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8224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316596" y="-20955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14</a:t>
            </a:r>
            <a:endParaRPr lang="ru-RU" altLang="en-US" sz="48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40" y="869153"/>
            <a:ext cx="6687141" cy="4271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59205" y="411480"/>
            <a:ext cx="7531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ПРОЦЕСС ЗАПИСИ И ВНЕСЕНИЕ В ТАБЛИЦУ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42" name="Рисунок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graphicFrame>
        <p:nvGraphicFramePr>
          <p:cNvPr id="3" name="Таблица 2"/>
          <p:cNvGraphicFramePr/>
          <p:nvPr>
            <p:custDataLst>
              <p:tags r:id="rId3"/>
            </p:custDataLst>
          </p:nvPr>
        </p:nvGraphicFramePr>
        <p:xfrm>
          <a:off x="1548130" y="843280"/>
          <a:ext cx="6684010" cy="3914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1617345"/>
                <a:gridCol w="1546225"/>
              </a:tblGrid>
              <a:tr h="306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 dirty="0"/>
                        <a:t>ОПЕРАЦИЯ</a:t>
                      </a:r>
                      <a:endParaRPr lang="ru-RU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/>
                        <a:t>ЗАМЕР 1</a:t>
                      </a:r>
                      <a:endParaRPr lang="ru-RU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/>
                        <a:t>ЗАМЕР 2</a:t>
                      </a:r>
                      <a:endParaRPr lang="ru-RU" altLang="en-US" sz="1400"/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200" dirty="0"/>
                        <a:t>Открытие </a:t>
                      </a:r>
                      <a:r>
                        <a:rPr lang="en-US" altLang="ru-RU" sz="1200" dirty="0" smtClean="0"/>
                        <a:t>Telegram</a:t>
                      </a:r>
                      <a:r>
                        <a:rPr lang="ru-RU" altLang="ru-RU" sz="1200" dirty="0" smtClean="0"/>
                        <a:t>,</a:t>
                      </a:r>
                      <a:r>
                        <a:rPr lang="ru-RU" altLang="ru-RU" sz="1200" baseline="0" dirty="0" smtClean="0"/>
                        <a:t> </a:t>
                      </a:r>
                      <a:r>
                        <a:rPr lang="en-US" altLang="ru-RU" sz="1200" baseline="0" dirty="0" smtClean="0"/>
                        <a:t>WhatsApp</a:t>
                      </a:r>
                      <a:endParaRPr lang="ru-RU" alt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4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200"/>
                        <a:t>Ответ клиенту на запрос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20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21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200"/>
                        <a:t>Согласование времени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15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20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200"/>
                        <a:t>Переход в таблицу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15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15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200"/>
                        <a:t>Поиск свободного времени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15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20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4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en-US" sz="1200" dirty="0"/>
                        <a:t>Если нет подходящего времени</a:t>
                      </a:r>
                      <a:r>
                        <a:rPr lang="en-US" altLang="en-US" sz="1200" dirty="0"/>
                        <a:t>,</a:t>
                      </a:r>
                      <a:r>
                        <a:rPr lang="ru-RU" altLang="en-US" sz="1200" dirty="0" smtClean="0"/>
                        <a:t>возвращаемся </a:t>
                      </a:r>
                      <a:r>
                        <a:rPr lang="ru-RU" altLang="en-US" sz="1200" dirty="0"/>
                        <a:t>в </a:t>
                      </a:r>
                      <a:r>
                        <a:rPr lang="en-US" altLang="ru-RU" sz="1200" dirty="0"/>
                        <a:t>Telegram</a:t>
                      </a:r>
                      <a:r>
                        <a:rPr lang="en-US" altLang="ru-RU" sz="1200" dirty="0" smtClean="0"/>
                        <a:t>, WhatsApp,</a:t>
                      </a:r>
                      <a:r>
                        <a:rPr lang="en-US" altLang="ru-RU" sz="1200" baseline="0" dirty="0" smtClean="0"/>
                        <a:t> </a:t>
                      </a:r>
                      <a:r>
                        <a:rPr lang="ru-RU" altLang="ru-RU" sz="1200" dirty="0" smtClean="0"/>
                        <a:t>предлагаем </a:t>
                      </a:r>
                      <a:r>
                        <a:rPr lang="ru-RU" altLang="ru-RU" sz="1200" dirty="0"/>
                        <a:t>другое время</a:t>
                      </a:r>
                      <a:endParaRPr lang="ru-RU" alt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altLang="ru-RU" sz="1200"/>
                        <a:t>После подтверждения времени</a:t>
                      </a:r>
                      <a:r>
                        <a:rPr lang="en-US" altLang="ru-RU" sz="1200"/>
                        <a:t>,</a:t>
                      </a:r>
                      <a:r>
                        <a:rPr lang="ru-RU" altLang="ru-RU" sz="1200"/>
                        <a:t>переходим обратно в таблицу и заполняем</a:t>
                      </a:r>
                      <a:r>
                        <a:rPr lang="en-US" altLang="ru-RU" sz="1200"/>
                        <a:t> </a:t>
                      </a:r>
                      <a:r>
                        <a:rPr lang="ru-RU" altLang="en-US" sz="1200"/>
                        <a:t>её</a:t>
                      </a: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20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altLang="en-US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15 сек</a:t>
                      </a:r>
                      <a:endParaRPr lang="ru-RU" altLang="en-US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-50165" y="4083685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15</a:t>
            </a:r>
            <a:endParaRPr lang="ru-RU" altLang="en-US" sz="54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36195" y="-20320"/>
            <a:ext cx="9144000" cy="1712595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707765" y="843280"/>
            <a:ext cx="22256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4000" b="1" dirty="0">
                <a:solidFill>
                  <a:schemeClr val="bg1"/>
                </a:solidFill>
                <a:latin typeface="PT Sans" panose="020B0503020203020204" pitchFamily="34" charset="-52"/>
              </a:rPr>
              <a:t>BPMN</a:t>
            </a:r>
            <a:endParaRPr lang="en-US" altLang="ru-RU" sz="40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687" y="39281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90" y="26733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244841" y="66040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16</a:t>
            </a:r>
            <a:endParaRPr lang="ru-RU" altLang="en-US" sz="48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pic>
        <p:nvPicPr>
          <p:cNvPr id="8" name="Изображение 7" descr="diagram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15" y="2248535"/>
            <a:ext cx="9071610" cy="22167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115998" y="-20281"/>
            <a:ext cx="7344816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400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r>
              <a:rPr lang="en-US" altLang="ru-RU" sz="3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DMAIC</a:t>
            </a:r>
            <a:endParaRPr lang="en-US" altLang="ru-RU" sz="36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187450" y="771525"/>
            <a:ext cx="620395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b="1" dirty="0">
                <a:latin typeface="PT Sans" panose="020B0503020203020204" pitchFamily="34" charset="-52"/>
              </a:rPr>
              <a:t>DEFINE</a:t>
            </a:r>
            <a:r>
              <a:rPr lang="ru-RU" altLang="en-US" sz="1600" b="1" dirty="0">
                <a:latin typeface="PT Sans" panose="020B0503020203020204" pitchFamily="34" charset="-52"/>
              </a:rPr>
              <a:t> (Определение)</a:t>
            </a:r>
            <a:endParaRPr lang="ru-RU" altLang="en-US" sz="1600" b="1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ru-RU" altLang="en-US" sz="16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600" b="1" dirty="0">
                <a:solidFill>
                  <a:srgbClr val="C00000"/>
                </a:solidFill>
                <a:latin typeface="PT Sans" panose="020B0503020203020204" pitchFamily="34" charset="-52"/>
              </a:rPr>
              <a:t>Проблема</a:t>
            </a:r>
            <a:r>
              <a:rPr lang="en-US" altLang="ru-RU" sz="1600" b="1" dirty="0">
                <a:solidFill>
                  <a:srgbClr val="C00000"/>
                </a:solidFill>
                <a:latin typeface="PT Sans" panose="020B0503020203020204" pitchFamily="34" charset="-52"/>
              </a:rPr>
              <a:t>:</a:t>
            </a:r>
            <a:r>
              <a:rPr lang="ru-RU" altLang="en-US" sz="1600" dirty="0">
                <a:latin typeface="PT Sans" panose="020B0503020203020204" pitchFamily="34" charset="-52"/>
              </a:rPr>
              <a:t> </a:t>
            </a:r>
            <a:endParaRPr lang="ru-RU" altLang="en-US" sz="16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ru-RU" altLang="en-US" sz="16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600" dirty="0">
                <a:latin typeface="PT Sans" panose="020B0503020203020204" pitchFamily="34" charset="-52"/>
              </a:rPr>
              <a:t>Запись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одного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клиента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на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экскурсию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занимает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много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времени</a:t>
            </a:r>
            <a:r>
              <a:rPr lang="en-US" altLang="ru-RU" sz="1600" dirty="0">
                <a:latin typeface="PT Sans" panose="020B0503020203020204" pitchFamily="34" charset="-52"/>
              </a:rPr>
              <a:t>, </a:t>
            </a:r>
            <a:r>
              <a:rPr lang="en-US" altLang="en-US" sz="1600" dirty="0">
                <a:latin typeface="PT Sans" panose="020B0503020203020204" pitchFamily="34" charset="-52"/>
              </a:rPr>
              <a:t>что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при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потоке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до</a:t>
            </a:r>
            <a:r>
              <a:rPr lang="en-US" altLang="ru-RU" sz="1600" dirty="0">
                <a:latin typeface="PT Sans" panose="020B0503020203020204" pitchFamily="34" charset="-52"/>
              </a:rPr>
              <a:t> 100 </a:t>
            </a:r>
            <a:r>
              <a:rPr lang="en-US" altLang="en-US" sz="1600" dirty="0">
                <a:latin typeface="PT Sans" panose="020B0503020203020204" pitchFamily="34" charset="-52"/>
              </a:rPr>
              <a:t>обращений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в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день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существенно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снижает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общую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эффективность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работы</a:t>
            </a:r>
            <a:r>
              <a:rPr lang="ru-RU" altLang="en-US" sz="1600" dirty="0">
                <a:latin typeface="PT Sans" panose="020B0503020203020204" pitchFamily="34" charset="-52"/>
              </a:rPr>
              <a:t>.</a:t>
            </a:r>
            <a:endParaRPr lang="en-US" altLang="ru-RU" sz="16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6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600" b="1" dirty="0">
                <a:solidFill>
                  <a:srgbClr val="00B050"/>
                </a:solidFill>
                <a:latin typeface="PT Sans" panose="020B0503020203020204" pitchFamily="34" charset="-52"/>
              </a:rPr>
              <a:t>Цель</a:t>
            </a:r>
            <a:r>
              <a:rPr lang="en-US" altLang="ru-RU" sz="1600" b="1" dirty="0">
                <a:solidFill>
                  <a:srgbClr val="00B050"/>
                </a:solidFill>
                <a:latin typeface="PT Sans" panose="020B0503020203020204" pitchFamily="34" charset="-52"/>
              </a:rPr>
              <a:t>: </a:t>
            </a:r>
            <a:r>
              <a:rPr lang="en-US" altLang="en-US" sz="1600" dirty="0">
                <a:latin typeface="PT Sans" panose="020B0503020203020204" pitchFamily="34" charset="-52"/>
              </a:rPr>
              <a:t>Сократить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время</a:t>
            </a:r>
            <a:r>
              <a:rPr lang="ru-RU" altLang="en-US" sz="1600" dirty="0">
                <a:latin typeface="PT Sans" panose="020B0503020203020204" pitchFamily="34" charset="-52"/>
              </a:rPr>
              <a:t> данного процесса.</a:t>
            </a:r>
            <a:endParaRPr lang="ru-RU" altLang="en-US" sz="1600" dirty="0">
              <a:latin typeface="PT Sans" panose="020B0503020203020204" pitchFamily="34" charset="-52"/>
            </a:endParaRPr>
          </a:p>
        </p:txBody>
      </p:sp>
      <p:pic>
        <p:nvPicPr>
          <p:cNvPr id="3076" name="Picture 4" descr="C:\Users\MSShafigullin\Desktop\2020\Презентация КФУ\Пиктограммы и иконки\1772916-school-and-education\1772916-school-and-education\png\036-astronomy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73"/>
          <a:stretch>
            <a:fillRect/>
          </a:stretch>
        </p:blipFill>
        <p:spPr bwMode="auto">
          <a:xfrm>
            <a:off x="7343140" y="51435"/>
            <a:ext cx="180086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1" y="40119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 dirty="0" smtClean="0">
                <a:ln w="15875">
                  <a:solidFill>
                    <a:schemeClr val="accent1"/>
                  </a:solidFill>
                </a:ln>
                <a:noFill/>
                <a:effectLst/>
              </a:rPr>
              <a:t>17</a:t>
            </a:r>
            <a:endParaRPr lang="ru-RU" altLang="en-US" sz="54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87450" y="3359785"/>
            <a:ext cx="619760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en-US" sz="1600" b="1" dirty="0">
                <a:latin typeface="PT Sans" panose="020B0503020203020204" pitchFamily="34" charset="-52"/>
              </a:rPr>
              <a:t>MEASURE (</a:t>
            </a:r>
            <a:r>
              <a:rPr lang="ru-RU" sz="1600" b="1" dirty="0">
                <a:latin typeface="PT Sans" panose="020B0503020203020204" pitchFamily="34" charset="-52"/>
              </a:rPr>
              <a:t>Измерение)</a:t>
            </a:r>
            <a:endParaRPr lang="ru-RU" sz="1600" b="1" dirty="0">
              <a:latin typeface="PT Sans" panose="020B0503020203020204" pitchFamily="34" charset="-52"/>
            </a:endParaRPr>
          </a:p>
          <a:p>
            <a:pPr lvl="0" algn="l">
              <a:defRPr/>
            </a:pPr>
            <a:endParaRPr lang="ru-RU" altLang="en-US" sz="1600" dirty="0">
              <a:latin typeface="PT Sans" panose="020B0503020203020204" pitchFamily="34" charset="-52"/>
            </a:endParaRPr>
          </a:p>
          <a:p>
            <a:pPr lvl="0" algn="l">
              <a:defRPr/>
            </a:pPr>
            <a:r>
              <a:rPr lang="en-US" altLang="en-US" sz="16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Текущее</a:t>
            </a:r>
            <a:r>
              <a:rPr lang="en-US" altLang="ru-RU" sz="16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состояние</a:t>
            </a:r>
            <a:r>
              <a:rPr lang="en-US" altLang="ru-RU" sz="16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:</a:t>
            </a:r>
            <a:r>
              <a:rPr lang="ru-RU" altLang="en-US" sz="1600" b="1" dirty="0">
                <a:solidFill>
                  <a:schemeClr val="accent1">
                    <a:lumMod val="50000"/>
                  </a:schemeClr>
                </a:solidFill>
                <a:latin typeface="PT Sans" panose="020B0503020203020204" pitchFamily="34" charset="-52"/>
              </a:rPr>
              <a:t> </a:t>
            </a:r>
            <a:endParaRPr lang="ru-RU" altLang="en-US" sz="1600" b="1" dirty="0">
              <a:solidFill>
                <a:schemeClr val="accent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lvl="0" algn="l">
              <a:defRPr/>
            </a:pPr>
            <a:endParaRPr lang="ru-RU" altLang="en-US" sz="1600" dirty="0">
              <a:latin typeface="PT Sans" panose="020B0503020203020204" pitchFamily="34" charset="-52"/>
            </a:endParaRPr>
          </a:p>
          <a:p>
            <a:pPr lvl="0" algn="l">
              <a:defRPr/>
            </a:pPr>
            <a:r>
              <a:rPr lang="ru-RU" altLang="en-US" sz="1600" dirty="0">
                <a:latin typeface="PT Sans" panose="020B0503020203020204" pitchFamily="34" charset="-52"/>
              </a:rPr>
              <a:t>Консультация и запись одного клиента из 100 </a:t>
            </a:r>
            <a:r>
              <a:rPr lang="en-US" altLang="en-US" sz="1600" dirty="0">
                <a:latin typeface="PT Sans" panose="020B0503020203020204" pitchFamily="34" charset="-52"/>
              </a:rPr>
              <a:t>занимает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ru-RU" altLang="en-US" sz="1600" dirty="0">
                <a:latin typeface="PT Sans" panose="020B0503020203020204" pitchFamily="34" charset="-52"/>
              </a:rPr>
              <a:t>в среднем 90-120</a:t>
            </a:r>
            <a:r>
              <a:rPr lang="en-US" altLang="ru-RU" sz="1600" dirty="0">
                <a:latin typeface="PT Sans" panose="020B0503020203020204" pitchFamily="34" charset="-52"/>
              </a:rPr>
              <a:t> </a:t>
            </a:r>
            <a:r>
              <a:rPr lang="en-US" altLang="en-US" sz="1600" dirty="0">
                <a:latin typeface="PT Sans" panose="020B0503020203020204" pitchFamily="34" charset="-52"/>
              </a:rPr>
              <a:t>секунд</a:t>
            </a:r>
            <a:r>
              <a:rPr lang="ru-RU" altLang="en-US" sz="1600" dirty="0">
                <a:latin typeface="PT Sans" panose="020B0503020203020204" pitchFamily="34" charset="-52"/>
              </a:rPr>
              <a:t>.</a:t>
            </a:r>
            <a:endParaRPr lang="ru-RU" altLang="en-US" sz="1600" dirty="0">
              <a:latin typeface="PT Sans" panose="020B0503020203020204" pitchFamily="34" charset="-52"/>
            </a:endParaRPr>
          </a:p>
        </p:txBody>
      </p:sp>
      <p:pic>
        <p:nvPicPr>
          <p:cNvPr id="14" name="Изображение 13" descr="pobeda80_logo_sontou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05"/>
            <a:ext cx="9144000" cy="808355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475537" y="132109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MUDA</a:t>
            </a:r>
            <a:r>
              <a:rPr lang="ru-RU" altLang="en-US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ru-RU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(Потери)</a:t>
            </a:r>
            <a:endParaRPr lang="ru-RU" altLang="ru-RU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8224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316596" y="-20955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 dirty="0" smtClean="0">
                <a:ln w="15875">
                  <a:solidFill>
                    <a:schemeClr val="accent1"/>
                  </a:solidFill>
                </a:ln>
                <a:noFill/>
                <a:effectLst/>
              </a:rPr>
              <a:t>18</a:t>
            </a:r>
            <a:endParaRPr lang="ru-RU" altLang="en-US" sz="48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810260"/>
            <a:ext cx="8068310" cy="4438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1. ОЖИДАНИЕ (</a:t>
            </a:r>
            <a:r>
              <a:rPr lang="ru-RU" sz="1600" b="1" dirty="0" err="1">
                <a:latin typeface="Times New Roman" panose="02020603050405020304" charset="0"/>
                <a:cs typeface="Times New Roman" panose="02020603050405020304" charset="0"/>
              </a:rPr>
              <a:t>Waiting</a:t>
            </a:r>
            <a:r>
              <a:rPr lang="ru-RU" sz="1600" b="1" dirty="0" smtClean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ru-RU" sz="16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600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Потери:</a:t>
            </a:r>
            <a:endParaRPr lang="ru-RU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Клиент долго не подтверждает заявку (30 мин – 24 ч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 smtClean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Причина</a:t>
            </a:r>
            <a:r>
              <a:rPr lang="ru-RU" sz="14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Нет 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автоматических напоминаний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клиенту;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Отсутствие 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предварительной блокировки даты.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 smtClean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Решение:</a:t>
            </a:r>
            <a:endParaRPr lang="ru-RU" sz="1400" b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SMS/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email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-уведомления с кнопкой "Подтвердить".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600" b="1" dirty="0" smtClean="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ТРАНСПОРТИРОВКА (</a:t>
            </a:r>
            <a:r>
              <a:rPr lang="ru-RU" sz="1600" b="1" dirty="0" err="1">
                <a:latin typeface="Times New Roman" panose="02020603050405020304" charset="0"/>
                <a:cs typeface="Times New Roman" panose="02020603050405020304" charset="0"/>
              </a:rPr>
              <a:t>Transportation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ru-RU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Потери:</a:t>
            </a:r>
            <a:endParaRPr lang="ru-RU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Ручной 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перенос данных из мессенджеров/почты в таблицу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Причина</a:t>
            </a:r>
            <a:r>
              <a:rPr lang="ru-RU" sz="1400" b="1" dirty="0" smtClean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Нет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системы CRM, которую можно было бы интегрировать с ботами.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ru-RU" sz="1400" b="1" dirty="0" smtClean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Единая система (например, 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Google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Forms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 → 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Google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Sheets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);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Автоматические уведомления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экскурсоводу о группе 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в 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Telegram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475537" y="132109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MUDA</a:t>
            </a:r>
            <a:r>
              <a:rPr lang="ru-RU" altLang="en-US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ru-RU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(Потери)</a:t>
            </a:r>
            <a:endParaRPr lang="ru-RU" altLang="ru-RU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8224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316596" y="-20955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 dirty="0" smtClean="0">
                <a:ln w="15875">
                  <a:solidFill>
                    <a:schemeClr val="accent1"/>
                  </a:solidFill>
                </a:ln>
                <a:noFill/>
                <a:effectLst/>
              </a:rPr>
              <a:t>19</a:t>
            </a:r>
            <a:endParaRPr lang="ru-RU" altLang="en-US" sz="48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022" y="834588"/>
            <a:ext cx="9073008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ДВИЖЕНИЯ (</a:t>
            </a:r>
            <a:r>
              <a:rPr lang="ru-RU" sz="1600" b="1" dirty="0" err="1">
                <a:latin typeface="Times New Roman" panose="02020603050405020304" charset="0"/>
                <a:cs typeface="Times New Roman" panose="02020603050405020304" charset="0"/>
              </a:rPr>
              <a:t>Motion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ru-RU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Потери</a:t>
            </a:r>
            <a:r>
              <a:rPr lang="ru-RU" sz="1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Поиск информации по клиенту в разных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чатах/файлах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Переключение между окнами (почта, таблица, мессенджеры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).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Причина</a:t>
            </a:r>
            <a:r>
              <a:rPr lang="ru-RU" sz="1400" b="1" dirty="0" smtClean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Данные разрознены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ru-RU" sz="1400" b="1" dirty="0" smtClean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Единое окно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CRM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Чат-бот с поиском по базе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sz="1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7. ДЕФЕКТЫ (</a:t>
            </a:r>
            <a:r>
              <a:rPr lang="ru-RU" sz="1600" b="1" dirty="0" err="1">
                <a:latin typeface="Times New Roman" panose="02020603050405020304" charset="0"/>
                <a:cs typeface="Times New Roman" panose="02020603050405020304" charset="0"/>
              </a:rPr>
              <a:t>Defects</a:t>
            </a:r>
            <a:r>
              <a:rPr lang="ru-RU" sz="16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ru-RU" sz="1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Потери</a:t>
            </a:r>
            <a:r>
              <a:rPr lang="ru-RU" sz="1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Ошибки в датах из-за ручного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ввода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Потеря заявок в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сообщениях.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Причина</a:t>
            </a:r>
            <a:r>
              <a:rPr lang="ru-RU" sz="1400" b="1" dirty="0" smtClean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Нет </a:t>
            </a:r>
            <a:r>
              <a:rPr lang="ru-RU" sz="1400" dirty="0" err="1">
                <a:latin typeface="Times New Roman" panose="02020603050405020304" charset="0"/>
                <a:cs typeface="Times New Roman" panose="02020603050405020304" charset="0"/>
              </a:rPr>
              <a:t>валидации</a:t>
            </a:r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 данных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ru-RU" sz="1400" b="1" dirty="0" smtClean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ru-RU" sz="1400" b="1" dirty="0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sz="1400" dirty="0">
                <a:latin typeface="Times New Roman" panose="02020603050405020304" charset="0"/>
                <a:cs typeface="Times New Roman" panose="02020603050405020304" charset="0"/>
              </a:rPr>
              <a:t>Форма с обязательными полями и </a:t>
            </a:r>
            <a:r>
              <a:rPr lang="ru-RU" sz="1400" dirty="0" smtClean="0">
                <a:latin typeface="Times New Roman" panose="02020603050405020304" charset="0"/>
                <a:cs typeface="Times New Roman" panose="02020603050405020304" charset="0"/>
              </a:rPr>
              <a:t>календарём</a:t>
            </a:r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115695" y="2427605"/>
            <a:ext cx="30816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0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АНАЛИЗ</a:t>
            </a:r>
            <a:endParaRPr lang="ru-RU" sz="40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algn="l"/>
            <a:r>
              <a:rPr lang="ru-RU" sz="40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5 ПОЧЕМУ</a:t>
            </a:r>
            <a:r>
              <a:rPr lang="en-US" sz="40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?</a:t>
            </a:r>
            <a:endParaRPr lang="en-US" sz="40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25401" y="40881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 dirty="0">
                <a:ln w="15875">
                  <a:solidFill>
                    <a:schemeClr val="accent1"/>
                  </a:solidFill>
                </a:ln>
                <a:noFill/>
                <a:effectLst/>
              </a:rPr>
              <a:t>20</a:t>
            </a:r>
            <a:endParaRPr lang="ru-RU" altLang="en-US" sz="54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003800" y="123190"/>
            <a:ext cx="3375025" cy="593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DMAIC</a:t>
            </a:r>
            <a:endParaRPr lang="en-US" altLang="en-US" sz="4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224280" y="49530"/>
            <a:ext cx="1637665" cy="61150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Почему</a:t>
            </a:r>
            <a:r>
              <a:rPr lang="en-US" altLang="ru-RU" sz="800" b="1"/>
              <a:t> </a:t>
            </a:r>
            <a:endParaRPr lang="en-US" altLang="ru-RU" sz="800" b="1"/>
          </a:p>
          <a:p>
            <a:pPr algn="ctr"/>
            <a:r>
              <a:rPr lang="en-US" altLang="en-US" sz="800"/>
              <a:t>руководство</a:t>
            </a:r>
            <a:r>
              <a:rPr lang="en-US" altLang="ru-RU" sz="800"/>
              <a:t> </a:t>
            </a:r>
            <a:r>
              <a:rPr lang="en-US" altLang="en-US" sz="800"/>
              <a:t>не</a:t>
            </a:r>
            <a:r>
              <a:rPr lang="en-US" altLang="ru-RU" sz="800"/>
              <a:t> </a:t>
            </a:r>
            <a:r>
              <a:rPr lang="en-US" altLang="en-US" sz="800"/>
              <a:t>хочет</a:t>
            </a:r>
            <a:r>
              <a:rPr lang="en-US" altLang="ru-RU" sz="800"/>
              <a:t> </a:t>
            </a:r>
            <a:r>
              <a:rPr lang="en-US" altLang="en-US" sz="800"/>
              <a:t>автоматизировать</a:t>
            </a:r>
            <a:r>
              <a:rPr lang="en-US" altLang="ru-RU" sz="800"/>
              <a:t> </a:t>
            </a:r>
            <a:r>
              <a:rPr lang="en-US" altLang="en-US" sz="800"/>
              <a:t>процесс</a:t>
            </a:r>
            <a:r>
              <a:rPr lang="en-US" altLang="ru-RU" sz="800"/>
              <a:t>?</a:t>
            </a:r>
            <a:r>
              <a:rPr lang="en-US" altLang="ru-RU" sz="500"/>
              <a:t> </a:t>
            </a:r>
            <a:endParaRPr lang="en-US" altLang="ru-RU" sz="50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5796280" y="873125"/>
            <a:ext cx="30054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Проблема</a:t>
            </a:r>
            <a:r>
              <a:rPr lang="en-US" altLang="ru-RU" sz="14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ru-RU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Руководство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видит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необходимости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автоматизировать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процесс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принятия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заявок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так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как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явных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конкурентов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нет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но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автоматизация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могла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бы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значительно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упростить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работу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сотрудников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224280" y="727710"/>
            <a:ext cx="1637665" cy="77787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Потому</a:t>
            </a:r>
            <a:r>
              <a:rPr lang="en-US" altLang="ru-RU" sz="1200" b="1"/>
              <a:t> </a:t>
            </a:r>
            <a:r>
              <a:rPr lang="en-US" altLang="en-US" sz="1200" b="1"/>
              <a:t>что</a:t>
            </a:r>
            <a:r>
              <a:rPr lang="en-US" altLang="ru-RU" sz="1000" b="1"/>
              <a:t> </a:t>
            </a:r>
            <a:endParaRPr lang="en-US" altLang="ru-RU" sz="1000" b="1"/>
          </a:p>
          <a:p>
            <a:pPr algn="ctr"/>
            <a:r>
              <a:rPr lang="en-US" altLang="en-US" sz="700"/>
              <a:t>считает</a:t>
            </a:r>
            <a:r>
              <a:rPr lang="en-US" altLang="ru-RU" sz="700"/>
              <a:t>, </a:t>
            </a:r>
            <a:r>
              <a:rPr lang="en-US" altLang="en-US" sz="700"/>
              <a:t>что</a:t>
            </a:r>
            <a:r>
              <a:rPr lang="en-US" altLang="ru-RU" sz="700"/>
              <a:t> </a:t>
            </a:r>
            <a:r>
              <a:rPr lang="en-US" altLang="en-US" sz="700"/>
              <a:t>раз</a:t>
            </a:r>
            <a:r>
              <a:rPr lang="en-US" altLang="ru-RU" sz="700"/>
              <a:t> </a:t>
            </a:r>
            <a:r>
              <a:rPr lang="en-US" altLang="en-US" sz="700"/>
              <a:t>нет</a:t>
            </a:r>
            <a:r>
              <a:rPr lang="en-US" altLang="ru-RU" sz="700"/>
              <a:t> </a:t>
            </a:r>
            <a:r>
              <a:rPr lang="en-US" altLang="en-US" sz="700"/>
              <a:t>давления</a:t>
            </a:r>
            <a:r>
              <a:rPr lang="en-US" altLang="ru-RU" sz="700"/>
              <a:t> </a:t>
            </a:r>
            <a:r>
              <a:rPr lang="en-US" altLang="en-US" sz="700"/>
              <a:t>со</a:t>
            </a:r>
            <a:r>
              <a:rPr lang="en-US" altLang="ru-RU" sz="700"/>
              <a:t> </a:t>
            </a:r>
            <a:r>
              <a:rPr lang="en-US" altLang="en-US" sz="700"/>
              <a:t>стороны</a:t>
            </a:r>
            <a:r>
              <a:rPr lang="en-US" altLang="ru-RU" sz="700"/>
              <a:t> </a:t>
            </a:r>
            <a:r>
              <a:rPr lang="en-US" altLang="en-US" sz="700"/>
              <a:t>конкурентов</a:t>
            </a:r>
            <a:r>
              <a:rPr lang="en-US" altLang="ru-RU" sz="700"/>
              <a:t>, </a:t>
            </a:r>
            <a:r>
              <a:rPr lang="en-US" altLang="en-US" sz="700"/>
              <a:t>то</a:t>
            </a:r>
            <a:r>
              <a:rPr lang="en-US" altLang="ru-RU" sz="700"/>
              <a:t> </a:t>
            </a:r>
            <a:r>
              <a:rPr lang="en-US" altLang="en-US" sz="700"/>
              <a:t>и</a:t>
            </a:r>
            <a:r>
              <a:rPr lang="en-US" altLang="ru-RU" sz="700"/>
              <a:t> </a:t>
            </a:r>
            <a:r>
              <a:rPr lang="en-US" altLang="en-US" sz="700"/>
              <a:t>менять</a:t>
            </a:r>
            <a:r>
              <a:rPr lang="en-US" altLang="ru-RU" sz="700"/>
              <a:t> </a:t>
            </a:r>
            <a:r>
              <a:rPr lang="en-US" altLang="en-US" sz="700"/>
              <a:t>ничего</a:t>
            </a:r>
            <a:r>
              <a:rPr lang="en-US" altLang="ru-RU" sz="700"/>
              <a:t> </a:t>
            </a:r>
            <a:r>
              <a:rPr lang="en-US" altLang="en-US" sz="700"/>
              <a:t>не</a:t>
            </a:r>
            <a:r>
              <a:rPr lang="en-US" altLang="ru-RU" sz="700"/>
              <a:t> </a:t>
            </a:r>
            <a:r>
              <a:rPr lang="en-US" altLang="en-US" sz="700"/>
              <a:t>нужно</a:t>
            </a:r>
            <a:endParaRPr lang="en-US" altLang="en-US" sz="70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987675" y="741045"/>
            <a:ext cx="1242060" cy="75692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b="1"/>
              <a:t>Почему</a:t>
            </a:r>
            <a:r>
              <a:rPr lang="en-US" altLang="ru-RU" sz="1400" b="1"/>
              <a:t> </a:t>
            </a:r>
            <a:endParaRPr lang="en-US" altLang="ru-RU" sz="1400" b="1"/>
          </a:p>
          <a:p>
            <a:pPr algn="ctr"/>
            <a:r>
              <a:rPr lang="en-US" altLang="en-US" sz="1200"/>
              <a:t>они</a:t>
            </a:r>
            <a:r>
              <a:rPr lang="en-US" altLang="ru-RU" sz="1200"/>
              <a:t> </a:t>
            </a:r>
            <a:r>
              <a:rPr lang="en-US" altLang="en-US" sz="1200"/>
              <a:t>не</a:t>
            </a:r>
            <a:r>
              <a:rPr lang="en-US" altLang="ru-RU" sz="1200"/>
              <a:t> </a:t>
            </a:r>
            <a:r>
              <a:rPr lang="en-US" altLang="en-US" sz="1200"/>
              <a:t>видят</a:t>
            </a:r>
            <a:r>
              <a:rPr lang="en-US" altLang="ru-RU" sz="1200"/>
              <a:t> </a:t>
            </a:r>
            <a:r>
              <a:rPr lang="en-US" altLang="en-US" sz="1200"/>
              <a:t>пользы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бизнеса</a:t>
            </a:r>
            <a:r>
              <a:rPr lang="en-US" altLang="ru-RU" sz="1200"/>
              <a:t>?</a:t>
            </a:r>
            <a:endParaRPr lang="en-US" altLang="ru-RU" sz="120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987675" y="1563370"/>
            <a:ext cx="124206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Потому</a:t>
            </a:r>
            <a:r>
              <a:rPr lang="en-US" altLang="ru-RU" sz="1200" b="1"/>
              <a:t> </a:t>
            </a:r>
            <a:r>
              <a:rPr lang="en-US" altLang="en-US" sz="1200" b="1"/>
              <a:t>что</a:t>
            </a:r>
            <a:r>
              <a:rPr lang="en-US" altLang="ru-RU" sz="900" b="1"/>
              <a:t> </a:t>
            </a:r>
            <a:endParaRPr lang="en-US" altLang="ru-RU" sz="900" b="1"/>
          </a:p>
          <a:p>
            <a:pPr algn="ctr"/>
            <a:r>
              <a:rPr lang="en-US" altLang="en-US" sz="700"/>
              <a:t>не</a:t>
            </a:r>
            <a:r>
              <a:rPr lang="en-US" altLang="ru-RU" sz="700"/>
              <a:t> </a:t>
            </a:r>
            <a:r>
              <a:rPr lang="en-US" altLang="en-US" sz="700"/>
              <a:t>понимают</a:t>
            </a:r>
            <a:r>
              <a:rPr lang="en-US" altLang="ru-RU" sz="700"/>
              <a:t>, </a:t>
            </a:r>
            <a:r>
              <a:rPr lang="en-US" altLang="en-US" sz="700"/>
              <a:t>как</a:t>
            </a:r>
            <a:r>
              <a:rPr lang="en-US" altLang="ru-RU" sz="700"/>
              <a:t> </a:t>
            </a:r>
            <a:r>
              <a:rPr lang="en-US" altLang="en-US" sz="700"/>
              <a:t>автоматизация</a:t>
            </a:r>
            <a:r>
              <a:rPr lang="en-US" altLang="ru-RU" sz="700"/>
              <a:t> </a:t>
            </a:r>
            <a:r>
              <a:rPr lang="en-US" altLang="en-US" sz="700"/>
              <a:t>повлияет</a:t>
            </a:r>
            <a:r>
              <a:rPr lang="en-US" altLang="ru-RU" sz="700"/>
              <a:t> </a:t>
            </a:r>
            <a:r>
              <a:rPr lang="en-US" altLang="en-US" sz="700"/>
              <a:t>на</a:t>
            </a:r>
            <a:r>
              <a:rPr lang="en-US" altLang="ru-RU" sz="700"/>
              <a:t> </a:t>
            </a:r>
            <a:r>
              <a:rPr lang="en-US" altLang="en-US" sz="700"/>
              <a:t>эффективность</a:t>
            </a:r>
            <a:r>
              <a:rPr lang="en-US" altLang="ru-RU" sz="700"/>
              <a:t> </a:t>
            </a:r>
            <a:r>
              <a:rPr lang="en-US" altLang="en-US" sz="700"/>
              <a:t>и</a:t>
            </a:r>
            <a:r>
              <a:rPr lang="en-US" altLang="ru-RU" sz="700"/>
              <a:t> </a:t>
            </a:r>
            <a:r>
              <a:rPr lang="en-US" altLang="en-US" sz="700"/>
              <a:t>мотивацию</a:t>
            </a:r>
            <a:r>
              <a:rPr lang="en-US" altLang="ru-RU" sz="700"/>
              <a:t> </a:t>
            </a:r>
            <a:r>
              <a:rPr lang="en-US" altLang="en-US" sz="700"/>
              <a:t>персонала</a:t>
            </a:r>
            <a:endParaRPr lang="en-US" altLang="en-US" sz="70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356100" y="1563370"/>
            <a:ext cx="124206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Почему</a:t>
            </a:r>
            <a:r>
              <a:rPr lang="en-US" altLang="ru-RU" sz="1000"/>
              <a:t> </a:t>
            </a:r>
            <a:endParaRPr lang="en-US" altLang="ru-RU" sz="1000"/>
          </a:p>
          <a:p>
            <a:pPr algn="ctr"/>
            <a:r>
              <a:rPr lang="en-US" altLang="en-US" sz="1000"/>
              <a:t>не</a:t>
            </a:r>
            <a:r>
              <a:rPr lang="en-US" altLang="ru-RU" sz="1000"/>
              <a:t> </a:t>
            </a:r>
            <a:r>
              <a:rPr lang="en-US" altLang="en-US" sz="1000"/>
              <a:t>учитывается</a:t>
            </a:r>
            <a:r>
              <a:rPr lang="en-US" altLang="ru-RU" sz="1000"/>
              <a:t> </a:t>
            </a:r>
            <a:r>
              <a:rPr lang="en-US" altLang="en-US" sz="1000"/>
              <a:t>нагрузка</a:t>
            </a:r>
            <a:r>
              <a:rPr lang="en-US" altLang="ru-RU" sz="1000"/>
              <a:t> </a:t>
            </a:r>
            <a:r>
              <a:rPr lang="en-US" altLang="en-US" sz="1000"/>
              <a:t>на</a:t>
            </a:r>
            <a:r>
              <a:rPr lang="en-US" altLang="ru-RU" sz="1000"/>
              <a:t> </a:t>
            </a:r>
            <a:r>
              <a:rPr lang="en-US" altLang="en-US" sz="1000"/>
              <a:t>персонала</a:t>
            </a:r>
            <a:r>
              <a:rPr lang="en-US" altLang="ru-RU" sz="1000"/>
              <a:t>? </a:t>
            </a:r>
            <a:endParaRPr lang="en-US" altLang="ru-RU" sz="100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356100" y="2413000"/>
            <a:ext cx="124206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Потому</a:t>
            </a:r>
            <a:r>
              <a:rPr lang="en-US" altLang="ru-RU" sz="1200" b="1"/>
              <a:t> </a:t>
            </a:r>
            <a:r>
              <a:rPr lang="en-US" altLang="en-US" sz="1200" b="1"/>
              <a:t>что</a:t>
            </a:r>
            <a:r>
              <a:rPr lang="en-US" altLang="ru-RU" sz="1200" b="1"/>
              <a:t> </a:t>
            </a:r>
            <a:endParaRPr lang="en-US" altLang="ru-RU" sz="1200" b="1"/>
          </a:p>
          <a:p>
            <a:pPr algn="ctr"/>
            <a:r>
              <a:rPr lang="en-US" altLang="en-US" sz="700"/>
              <a:t>сотрудники</a:t>
            </a:r>
            <a:r>
              <a:rPr lang="en-US" altLang="ru-RU" sz="700"/>
              <a:t> </a:t>
            </a:r>
            <a:r>
              <a:rPr lang="en-US" altLang="en-US" sz="700"/>
              <a:t>не</a:t>
            </a:r>
            <a:r>
              <a:rPr lang="en-US" altLang="ru-RU" sz="700"/>
              <a:t> </a:t>
            </a:r>
            <a:r>
              <a:rPr lang="en-US" altLang="en-US" sz="700"/>
              <a:t>жалуются</a:t>
            </a:r>
            <a:r>
              <a:rPr lang="en-US" altLang="ru-RU" sz="700"/>
              <a:t> </a:t>
            </a:r>
            <a:r>
              <a:rPr lang="en-US" altLang="en-US" sz="700"/>
              <a:t>открыто</a:t>
            </a:r>
            <a:r>
              <a:rPr lang="en-US" altLang="ru-RU" sz="700"/>
              <a:t>, </a:t>
            </a:r>
            <a:r>
              <a:rPr lang="en-US" altLang="en-US" sz="700"/>
              <a:t>а</a:t>
            </a:r>
            <a:r>
              <a:rPr lang="en-US" altLang="ru-RU" sz="700"/>
              <a:t> </a:t>
            </a:r>
            <a:r>
              <a:rPr lang="en-US" altLang="en-US" sz="700"/>
              <a:t>руководство</a:t>
            </a:r>
            <a:r>
              <a:rPr lang="en-US" altLang="ru-RU" sz="700"/>
              <a:t> </a:t>
            </a:r>
            <a:r>
              <a:rPr lang="en-US" altLang="en-US" sz="700"/>
              <a:t>не</a:t>
            </a:r>
            <a:r>
              <a:rPr lang="en-US" altLang="ru-RU" sz="700"/>
              <a:t> </a:t>
            </a:r>
            <a:r>
              <a:rPr lang="en-US" altLang="en-US" sz="700"/>
              <a:t>анализирует</a:t>
            </a:r>
            <a:r>
              <a:rPr lang="en-US" altLang="ru-RU" sz="700"/>
              <a:t> </a:t>
            </a:r>
            <a:r>
              <a:rPr lang="en-US" altLang="en-US" sz="700"/>
              <a:t>их</a:t>
            </a:r>
            <a:r>
              <a:rPr lang="en-US" altLang="ru-RU" sz="700"/>
              <a:t> </a:t>
            </a:r>
            <a:r>
              <a:rPr lang="en-US" altLang="en-US" sz="700"/>
              <a:t>рабочую</a:t>
            </a:r>
            <a:r>
              <a:rPr lang="en-US" altLang="ru-RU" sz="700"/>
              <a:t> </a:t>
            </a:r>
            <a:r>
              <a:rPr lang="en-US" altLang="en-US" sz="700"/>
              <a:t>загруженность</a:t>
            </a:r>
            <a:endParaRPr lang="en-US" altLang="en-US" sz="70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5723890" y="2413000"/>
            <a:ext cx="124206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400" b="1"/>
              <a:t>Почему</a:t>
            </a:r>
            <a:r>
              <a:rPr lang="en-US" altLang="ru-RU" sz="1000"/>
              <a:t> </a:t>
            </a:r>
            <a:r>
              <a:rPr lang="en-US" altLang="en-US" sz="1000"/>
              <a:t>сотрудники</a:t>
            </a:r>
            <a:r>
              <a:rPr lang="en-US" altLang="ru-RU" sz="1000"/>
              <a:t> </a:t>
            </a:r>
            <a:r>
              <a:rPr lang="en-US" altLang="en-US" sz="1000"/>
              <a:t>не</a:t>
            </a:r>
            <a:r>
              <a:rPr lang="en-US" altLang="ru-RU" sz="1000"/>
              <a:t> </a:t>
            </a:r>
            <a:r>
              <a:rPr lang="en-US" altLang="en-US" sz="1000"/>
              <a:t>жалуются</a:t>
            </a:r>
            <a:r>
              <a:rPr lang="en-US" altLang="ru-RU" sz="1000"/>
              <a:t>?</a:t>
            </a:r>
            <a:endParaRPr lang="en-US" altLang="ru-RU" sz="100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723890" y="3291840"/>
            <a:ext cx="124206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Потому</a:t>
            </a:r>
            <a:r>
              <a:rPr lang="en-US" altLang="ru-RU" sz="1200" b="1"/>
              <a:t> </a:t>
            </a:r>
            <a:r>
              <a:rPr lang="en-US" altLang="en-US" sz="1200" b="1"/>
              <a:t>что</a:t>
            </a:r>
            <a:r>
              <a:rPr lang="en-US" altLang="ru-RU" sz="1200" b="1"/>
              <a:t> </a:t>
            </a:r>
            <a:endParaRPr lang="en-US" altLang="ru-RU" sz="1200" b="1"/>
          </a:p>
          <a:p>
            <a:pPr algn="ctr"/>
            <a:r>
              <a:rPr lang="en-US" altLang="en-US" sz="800"/>
              <a:t>привыкли</a:t>
            </a:r>
            <a:r>
              <a:rPr lang="en-US" altLang="ru-RU" sz="800"/>
              <a:t> </a:t>
            </a:r>
            <a:r>
              <a:rPr lang="en-US" altLang="en-US" sz="800"/>
              <a:t>к</a:t>
            </a:r>
            <a:r>
              <a:rPr lang="en-US" altLang="ru-RU" sz="800"/>
              <a:t> </a:t>
            </a:r>
            <a:r>
              <a:rPr lang="en-US" altLang="en-US" sz="800"/>
              <a:t>рутинной</a:t>
            </a:r>
            <a:r>
              <a:rPr lang="en-US" altLang="ru-RU" sz="800"/>
              <a:t> </a:t>
            </a:r>
            <a:r>
              <a:rPr lang="en-US" altLang="en-US" sz="800"/>
              <a:t>работе</a:t>
            </a:r>
            <a:r>
              <a:rPr lang="en-US" altLang="ru-RU" sz="800"/>
              <a:t> </a:t>
            </a:r>
            <a:r>
              <a:rPr lang="en-US" altLang="en-US" sz="800"/>
              <a:t>или</a:t>
            </a:r>
            <a:r>
              <a:rPr lang="en-US" altLang="ru-RU" sz="800"/>
              <a:t> </a:t>
            </a:r>
            <a:r>
              <a:rPr lang="en-US" altLang="en-US" sz="800"/>
              <a:t>боятся</a:t>
            </a:r>
            <a:r>
              <a:rPr lang="en-US" altLang="ru-RU" sz="800"/>
              <a:t>, </a:t>
            </a:r>
            <a:r>
              <a:rPr lang="en-US" altLang="en-US" sz="800"/>
              <a:t>что</a:t>
            </a:r>
            <a:r>
              <a:rPr lang="en-US" altLang="ru-RU" sz="800"/>
              <a:t> </a:t>
            </a:r>
            <a:r>
              <a:rPr lang="en-US" altLang="en-US" sz="800"/>
              <a:t>их</a:t>
            </a:r>
            <a:r>
              <a:rPr lang="en-US" altLang="ru-RU" sz="800"/>
              <a:t> </a:t>
            </a:r>
            <a:r>
              <a:rPr lang="en-US" altLang="en-US" sz="800"/>
              <a:t>заменят</a:t>
            </a:r>
            <a:r>
              <a:rPr lang="en-US" altLang="ru-RU" sz="800"/>
              <a:t> </a:t>
            </a:r>
            <a:r>
              <a:rPr lang="en-US" altLang="en-US" sz="800"/>
              <a:t>автоматизацией</a:t>
            </a:r>
            <a:endParaRPr lang="en-US" altLang="en-US" sz="80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7092315" y="3291840"/>
            <a:ext cx="164084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Почему</a:t>
            </a:r>
            <a:r>
              <a:rPr lang="en-US" altLang="ru-RU" sz="1200" b="1"/>
              <a:t> </a:t>
            </a:r>
            <a:endParaRPr lang="en-US" altLang="ru-RU" sz="1200" b="1"/>
          </a:p>
          <a:p>
            <a:pPr algn="ctr"/>
            <a:r>
              <a:rPr lang="en-US" altLang="en-US" sz="800"/>
              <a:t>руководство</a:t>
            </a:r>
            <a:r>
              <a:rPr lang="en-US" altLang="ru-RU" sz="800"/>
              <a:t> </a:t>
            </a:r>
            <a:r>
              <a:rPr lang="en-US" altLang="en-US" sz="800"/>
              <a:t>не</a:t>
            </a:r>
            <a:r>
              <a:rPr lang="en-US" altLang="ru-RU" sz="800"/>
              <a:t> </a:t>
            </a:r>
            <a:r>
              <a:rPr lang="en-US" altLang="en-US" sz="800"/>
              <a:t>иницирует</a:t>
            </a:r>
            <a:r>
              <a:rPr lang="en-US" altLang="ru-RU" sz="800"/>
              <a:t> </a:t>
            </a:r>
            <a:r>
              <a:rPr lang="en-US" altLang="en-US" sz="800"/>
              <a:t>изменения</a:t>
            </a:r>
            <a:r>
              <a:rPr lang="en-US" altLang="ru-RU" sz="800"/>
              <a:t> </a:t>
            </a:r>
            <a:r>
              <a:rPr lang="en-US" altLang="en-US" sz="800"/>
              <a:t>без</a:t>
            </a:r>
            <a:r>
              <a:rPr lang="en-US" altLang="ru-RU" sz="800"/>
              <a:t> </a:t>
            </a:r>
            <a:r>
              <a:rPr lang="en-US" altLang="en-US" sz="800"/>
              <a:t>жалоб</a:t>
            </a:r>
            <a:r>
              <a:rPr lang="en-US" altLang="ru-RU" sz="800"/>
              <a:t>?</a:t>
            </a:r>
            <a:endParaRPr lang="en-US" altLang="ru-RU" sz="80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7092315" y="4156075"/>
            <a:ext cx="1640840" cy="762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b="1"/>
              <a:t>Потому</a:t>
            </a:r>
            <a:r>
              <a:rPr lang="en-US" altLang="ru-RU" sz="1200" b="1"/>
              <a:t> </a:t>
            </a:r>
            <a:r>
              <a:rPr lang="en-US" altLang="en-US" sz="1200" b="1"/>
              <a:t>что</a:t>
            </a:r>
            <a:r>
              <a:rPr lang="en-US" altLang="ru-RU" sz="1200" b="1"/>
              <a:t> </a:t>
            </a:r>
            <a:endParaRPr lang="en-US" altLang="ru-RU" sz="1200" b="1"/>
          </a:p>
          <a:p>
            <a:pPr algn="ctr"/>
            <a:r>
              <a:rPr lang="en-US" altLang="en-US" sz="700"/>
              <a:t>нет</a:t>
            </a:r>
            <a:r>
              <a:rPr lang="en-US" altLang="ru-RU" sz="700"/>
              <a:t> </a:t>
            </a:r>
            <a:r>
              <a:rPr lang="en-US" altLang="en-US" sz="700"/>
              <a:t>культуры</a:t>
            </a:r>
            <a:r>
              <a:rPr lang="en-US" altLang="ru-RU" sz="700"/>
              <a:t> </a:t>
            </a:r>
            <a:r>
              <a:rPr lang="en-US" altLang="en-US" sz="700"/>
              <a:t>постоянного</a:t>
            </a:r>
            <a:r>
              <a:rPr lang="en-US" altLang="ru-RU" sz="700"/>
              <a:t> </a:t>
            </a:r>
            <a:r>
              <a:rPr lang="en-US" altLang="en-US" sz="700"/>
              <a:t>улучшения</a:t>
            </a:r>
            <a:r>
              <a:rPr lang="en-US" altLang="ru-RU" sz="700"/>
              <a:t> </a:t>
            </a:r>
            <a:r>
              <a:rPr lang="en-US" altLang="en-US" sz="700"/>
              <a:t>процессов</a:t>
            </a:r>
            <a:r>
              <a:rPr lang="en-US" altLang="ru-RU" sz="700"/>
              <a:t> (</a:t>
            </a:r>
            <a:r>
              <a:rPr lang="en-US" altLang="en-US" sz="700"/>
              <a:t>оптимизируют</a:t>
            </a:r>
            <a:r>
              <a:rPr lang="en-US" altLang="ru-RU" sz="700"/>
              <a:t> </a:t>
            </a:r>
            <a:r>
              <a:rPr lang="en-US" altLang="en-US" sz="700"/>
              <a:t>только</a:t>
            </a:r>
            <a:r>
              <a:rPr lang="en-US" altLang="ru-RU" sz="700"/>
              <a:t> </a:t>
            </a:r>
            <a:r>
              <a:rPr lang="en-US" altLang="en-US" sz="700"/>
              <a:t>при</a:t>
            </a:r>
            <a:r>
              <a:rPr lang="en-US" altLang="ru-RU" sz="700"/>
              <a:t> </a:t>
            </a:r>
            <a:r>
              <a:rPr lang="en-US" altLang="en-US" sz="700"/>
              <a:t>явных</a:t>
            </a:r>
            <a:r>
              <a:rPr lang="en-US" altLang="ru-RU" sz="700"/>
              <a:t> </a:t>
            </a:r>
            <a:r>
              <a:rPr lang="en-US" altLang="en-US" sz="700"/>
              <a:t>проблемах</a:t>
            </a:r>
            <a:r>
              <a:rPr lang="en-US" altLang="ru-RU" sz="700"/>
              <a:t>).</a:t>
            </a:r>
            <a:endParaRPr lang="en-US" altLang="ru-RU" sz="700"/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1188720" y="3811270"/>
            <a:ext cx="60890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>
                <a:solidFill>
                  <a:schemeClr val="accent6"/>
                </a:solidFill>
                <a:latin typeface="Times New Roman" panose="02020603050405020304" charset="0"/>
                <a:cs typeface="Times New Roman" panose="02020603050405020304" charset="0"/>
              </a:rPr>
              <a:t>П</a:t>
            </a:r>
            <a:r>
              <a:rPr lang="ru-RU" altLang="en-US" sz="1400" b="1">
                <a:solidFill>
                  <a:schemeClr val="accent6"/>
                </a:solidFill>
                <a:latin typeface="Times New Roman" panose="02020603050405020304" charset="0"/>
                <a:cs typeface="Times New Roman" panose="02020603050405020304" charset="0"/>
              </a:rPr>
              <a:t>ервопричина</a:t>
            </a:r>
            <a:endParaRPr lang="ru-RU" altLang="en-US" sz="1400" b="1">
              <a:solidFill>
                <a:schemeClr val="accent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Отсутствие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культуры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постоянного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улучшения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процессов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компании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приводит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недостаточной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инициативе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руководства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изменениях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автоматизации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что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свою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очередь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препятствует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повышению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эффективности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улучшению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мотивации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сотрудников</a:t>
            </a:r>
            <a:endParaRPr lang="en-US" altLang="ru-RU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25401" y="40881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 dirty="0" smtClean="0">
                <a:ln w="15875">
                  <a:solidFill>
                    <a:schemeClr val="accent1"/>
                  </a:solidFill>
                </a:ln>
                <a:noFill/>
                <a:effectLst/>
              </a:rPr>
              <a:t>21</a:t>
            </a:r>
            <a:endParaRPr lang="ru-RU" altLang="en-US" sz="54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67360" y="195580"/>
            <a:ext cx="2801620" cy="882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DMAIC</a:t>
            </a:r>
            <a:endParaRPr lang="en-US" altLang="en-US" sz="40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71550" y="987425"/>
            <a:ext cx="31356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IMPROVE </a:t>
            </a:r>
            <a:r>
              <a:rPr lang="ru-RU" altLang="en-US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(Улучшение)</a:t>
            </a:r>
            <a:endParaRPr lang="ru-RU" altLang="en-US" sz="1600" b="1" dirty="0">
              <a:solidFill>
                <a:schemeClr val="accent1"/>
              </a:solidFill>
              <a:latin typeface="PT Sans" panose="020B0503020203020204" pitchFamily="34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71550" y="1563370"/>
            <a:ext cx="8007985" cy="126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1400" b="1" dirty="0">
                <a:solidFill>
                  <a:srgbClr val="00B050"/>
                </a:solidFill>
                <a:latin typeface="PT Sans" panose="020B0503020203020204" pitchFamily="34" charset="-52"/>
              </a:rPr>
              <a:t>Предлагаемое</a:t>
            </a:r>
            <a:r>
              <a:rPr lang="en-US" altLang="ru-RU" sz="1400" b="1" dirty="0">
                <a:solidFill>
                  <a:srgbClr val="00B050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400" b="1" dirty="0">
                <a:solidFill>
                  <a:srgbClr val="00B050"/>
                </a:solidFill>
                <a:latin typeface="PT Sans" panose="020B0503020203020204" pitchFamily="34" charset="-52"/>
              </a:rPr>
              <a:t>решение</a:t>
            </a:r>
            <a:r>
              <a:rPr lang="en-US" altLang="ru-RU" sz="1400" b="1" dirty="0">
                <a:solidFill>
                  <a:srgbClr val="00B050"/>
                </a:solidFill>
                <a:latin typeface="PT Sans" panose="020B0503020203020204" pitchFamily="34" charset="-52"/>
              </a:rPr>
              <a:t>:</a:t>
            </a:r>
            <a:endParaRPr lang="en-US" altLang="ru-RU" sz="1400" b="1" dirty="0">
              <a:solidFill>
                <a:srgbClr val="00B050"/>
              </a:solidFill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400" b="1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ru-RU" altLang="en-US" sz="1200" dirty="0">
                <a:latin typeface="PT Sans" panose="020B0503020203020204" pitchFamily="34" charset="-52"/>
              </a:rPr>
              <a:t>В</a:t>
            </a:r>
            <a:r>
              <a:rPr lang="en-US" altLang="en-US" sz="1200" dirty="0">
                <a:latin typeface="PT Sans" panose="020B0503020203020204" pitchFamily="34" charset="-52"/>
              </a:rPr>
              <a:t>недрение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автоматизации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процесса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принятия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заявок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для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оптимизации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рабочих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процессов</a:t>
            </a:r>
            <a:r>
              <a:rPr lang="en-US" altLang="ru-RU" sz="1200" dirty="0">
                <a:latin typeface="PT Sans" panose="020B0503020203020204" pitchFamily="34" charset="-52"/>
              </a:rPr>
              <a:t>, </a:t>
            </a:r>
            <a:r>
              <a:rPr lang="en-US" altLang="en-US" sz="1200" dirty="0">
                <a:latin typeface="PT Sans" panose="020B0503020203020204" pitchFamily="34" charset="-52"/>
              </a:rPr>
              <a:t>повышения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производительности</a:t>
            </a:r>
            <a:r>
              <a:rPr lang="ru-RU" altLang="en-US" sz="1200" dirty="0">
                <a:latin typeface="PT Sans" panose="020B0503020203020204" pitchFamily="34" charset="-52"/>
              </a:rPr>
              <a:t>.</a:t>
            </a:r>
            <a:endParaRPr lang="en-US" altLang="ru-RU" sz="1400" b="1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400" b="1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000" dirty="0">
              <a:latin typeface="PT Sans" panose="020B0503020203020204" pitchFamily="34" charset="-52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71550" y="2715895"/>
            <a:ext cx="8007985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О</a:t>
            </a:r>
            <a:r>
              <a:rPr lang="ru-RU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ценка</a:t>
            </a:r>
            <a:r>
              <a:rPr lang="en-US" altLang="ru-RU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экономическ</a:t>
            </a:r>
            <a:r>
              <a:rPr lang="ru-RU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ого</a:t>
            </a:r>
            <a:r>
              <a:rPr lang="en-US" altLang="ru-RU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эффект</a:t>
            </a:r>
            <a:r>
              <a:rPr lang="ru-RU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а</a:t>
            </a:r>
            <a:endParaRPr lang="ru-RU" altLang="en-US" sz="1400" b="1" dirty="0">
              <a:solidFill>
                <a:schemeClr val="tx2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  <a:p>
            <a:pPr lvl="0">
              <a:defRPr/>
            </a:pPr>
            <a:endParaRPr lang="ru-RU" altLang="en-US" sz="1600" b="1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ru-RU" altLang="en-US" sz="1200" dirty="0">
                <a:latin typeface="PT Sans" panose="020B0503020203020204" pitchFamily="34" charset="-52"/>
              </a:rPr>
              <a:t>Предположим </a:t>
            </a:r>
            <a:r>
              <a:rPr lang="en-US" altLang="en-US" sz="1200" dirty="0">
                <a:latin typeface="PT Sans" panose="020B0503020203020204" pitchFamily="34" charset="-52"/>
              </a:rPr>
              <a:t>,</a:t>
            </a:r>
            <a:r>
              <a:rPr lang="ru-RU" altLang="en-US" sz="1200" dirty="0">
                <a:latin typeface="PT Sans" panose="020B0503020203020204" pitchFamily="34" charset="-52"/>
              </a:rPr>
              <a:t>что п</a:t>
            </a:r>
            <a:r>
              <a:rPr lang="en-US" altLang="en-US" sz="1200" dirty="0">
                <a:latin typeface="PT Sans" panose="020B0503020203020204" pitchFamily="34" charset="-52"/>
              </a:rPr>
              <a:t>ри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ручной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обработке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заявок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время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на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одну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заявку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составляет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ru-RU" altLang="en-US" sz="1200" dirty="0">
                <a:latin typeface="PT Sans" panose="020B0503020203020204" pitchFamily="34" charset="-52"/>
              </a:rPr>
              <a:t>1 минуту</a:t>
            </a:r>
            <a:r>
              <a:rPr lang="en-US" altLang="ru-RU" sz="1200" dirty="0">
                <a:latin typeface="PT Sans" panose="020B0503020203020204" pitchFamily="34" charset="-52"/>
              </a:rPr>
              <a:t>.</a:t>
            </a: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200" dirty="0">
                <a:latin typeface="PT Sans" panose="020B0503020203020204" pitchFamily="34" charset="-52"/>
              </a:rPr>
              <a:t>С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автоматизацией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время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снижается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до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ru-RU" altLang="en-US" sz="1200" dirty="0">
                <a:latin typeface="PT Sans" panose="020B0503020203020204" pitchFamily="34" charset="-52"/>
              </a:rPr>
              <a:t>10 секунд</a:t>
            </a:r>
            <a:r>
              <a:rPr lang="en-US" altLang="ru-RU" sz="1200" dirty="0">
                <a:latin typeface="PT Sans" panose="020B0503020203020204" pitchFamily="34" charset="-52"/>
              </a:rPr>
              <a:t>.</a:t>
            </a: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200" dirty="0">
                <a:latin typeface="PT Sans" panose="020B0503020203020204" pitchFamily="34" charset="-52"/>
              </a:rPr>
              <a:t>Примерный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экономический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эффект</a:t>
            </a:r>
            <a:r>
              <a:rPr lang="en-US" altLang="ru-RU" sz="1200" dirty="0">
                <a:latin typeface="PT Sans" panose="020B0503020203020204" pitchFamily="34" charset="-52"/>
              </a:rPr>
              <a:t>: </a:t>
            </a:r>
            <a:r>
              <a:rPr lang="en-US" altLang="en-US" sz="1200" dirty="0">
                <a:latin typeface="PT Sans" panose="020B0503020203020204" pitchFamily="34" charset="-52"/>
              </a:rPr>
              <a:t>если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компании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ежедневно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обрабатывается</a:t>
            </a:r>
            <a:r>
              <a:rPr lang="en-US" altLang="ru-RU" sz="1200" dirty="0">
                <a:latin typeface="PT Sans" panose="020B0503020203020204" pitchFamily="34" charset="-52"/>
              </a:rPr>
              <a:t> 100 </a:t>
            </a:r>
            <a:r>
              <a:rPr lang="en-US" altLang="en-US" sz="1200" dirty="0">
                <a:latin typeface="PT Sans" panose="020B0503020203020204" pitchFamily="34" charset="-52"/>
              </a:rPr>
              <a:t>заявок</a:t>
            </a:r>
            <a:r>
              <a:rPr lang="en-US" altLang="ru-RU" sz="1200" dirty="0">
                <a:latin typeface="PT Sans" panose="020B0503020203020204" pitchFamily="34" charset="-52"/>
              </a:rPr>
              <a:t>, </a:t>
            </a:r>
            <a:r>
              <a:rPr lang="en-US" altLang="en-US" sz="1200" dirty="0">
                <a:latin typeface="PT Sans" panose="020B0503020203020204" pitchFamily="34" charset="-52"/>
              </a:rPr>
              <a:t>то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время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экономится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на</a:t>
            </a:r>
            <a:r>
              <a:rPr lang="en-US" altLang="ru-RU" sz="1200" dirty="0">
                <a:latin typeface="PT Sans" panose="020B0503020203020204" pitchFamily="34" charset="-52"/>
              </a:rPr>
              <a:t> 1</a:t>
            </a:r>
            <a:r>
              <a:rPr lang="ru-RU" altLang="en-US" sz="1200" dirty="0">
                <a:latin typeface="PT Sans" panose="020B0503020203020204" pitchFamily="34" charset="-52"/>
              </a:rPr>
              <a:t> час и 23 </a:t>
            </a:r>
            <a:r>
              <a:rPr lang="en-US" altLang="en-US" sz="1200" dirty="0">
                <a:latin typeface="PT Sans" panose="020B0503020203020204" pitchFamily="34" charset="-52"/>
              </a:rPr>
              <a:t>минут</a:t>
            </a:r>
            <a:r>
              <a:rPr lang="ru-RU" altLang="en-US" sz="1200" dirty="0">
                <a:latin typeface="PT Sans" panose="020B0503020203020204" pitchFamily="34" charset="-52"/>
              </a:rPr>
              <a:t>ы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день</a:t>
            </a:r>
            <a:r>
              <a:rPr lang="en-US" altLang="ru-RU" sz="1200" dirty="0">
                <a:latin typeface="PT Sans" panose="020B0503020203020204" pitchFamily="34" charset="-52"/>
              </a:rPr>
              <a:t>, </a:t>
            </a:r>
            <a:r>
              <a:rPr lang="en-US" altLang="en-US" sz="1200" dirty="0">
                <a:latin typeface="PT Sans" panose="020B0503020203020204" pitchFamily="34" charset="-52"/>
              </a:rPr>
              <a:t>или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ru-RU" altLang="en-US" sz="1200" dirty="0">
                <a:latin typeface="PT Sans" panose="020B0503020203020204" pitchFamily="34" charset="-52"/>
              </a:rPr>
              <a:t>31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час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месяц</a:t>
            </a:r>
            <a:r>
              <a:rPr lang="en-US" altLang="ru-RU" sz="1200" dirty="0">
                <a:latin typeface="PT Sans" panose="020B0503020203020204" pitchFamily="34" charset="-52"/>
              </a:rPr>
              <a:t>.</a:t>
            </a: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200" dirty="0">
                <a:latin typeface="PT Sans" panose="020B0503020203020204" pitchFamily="34" charset="-52"/>
              </a:rPr>
              <a:t>Если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стоимость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рабочего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часа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сотрудника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составляет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ru-RU" altLang="en-US" sz="1200" dirty="0">
                <a:latin typeface="PT Sans" panose="020B0503020203020204" pitchFamily="34" charset="-52"/>
              </a:rPr>
              <a:t>300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рублей</a:t>
            </a:r>
            <a:r>
              <a:rPr lang="en-US" altLang="ru-RU" sz="1200" dirty="0">
                <a:latin typeface="PT Sans" panose="020B0503020203020204" pitchFamily="34" charset="-52"/>
              </a:rPr>
              <a:t>, </a:t>
            </a:r>
            <a:r>
              <a:rPr lang="en-US" altLang="en-US" sz="1200" dirty="0">
                <a:latin typeface="PT Sans" panose="020B0503020203020204" pitchFamily="34" charset="-52"/>
              </a:rPr>
              <a:t>экономия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составит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ru-RU" altLang="en-US" sz="1200" dirty="0">
                <a:latin typeface="PT Sans" panose="020B0503020203020204" pitchFamily="34" charset="-52"/>
              </a:rPr>
              <a:t>9 300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рублей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месяц</a:t>
            </a:r>
            <a:r>
              <a:rPr lang="en-US" altLang="ru-RU" sz="1200" dirty="0">
                <a:latin typeface="PT Sans" panose="020B0503020203020204" pitchFamily="34" charset="-52"/>
              </a:rPr>
              <a:t>. </a:t>
            </a: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400" b="1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000" dirty="0">
              <a:latin typeface="PT Sans" panose="020B0503020203020204" pitchFamily="34" charset="-5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25401" y="40881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 dirty="0" smtClean="0">
                <a:ln w="15875">
                  <a:solidFill>
                    <a:schemeClr val="accent1"/>
                  </a:solidFill>
                </a:ln>
                <a:noFill/>
                <a:effectLst/>
              </a:rPr>
              <a:t>22</a:t>
            </a:r>
            <a:endParaRPr lang="ru-RU" altLang="en-US" sz="54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67360" y="51435"/>
            <a:ext cx="2801620" cy="882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DMAIC</a:t>
            </a:r>
            <a:endParaRPr lang="en-US" altLang="en-US" sz="40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71550" y="771525"/>
            <a:ext cx="313563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altLang="en-US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С</a:t>
            </a:r>
            <a:r>
              <a:rPr lang="en-US" altLang="en-US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ONTROL </a:t>
            </a:r>
            <a:r>
              <a:rPr lang="ru-RU" altLang="en-US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(</a:t>
            </a:r>
            <a:r>
              <a:rPr lang="ru-RU" altLang="ru-RU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Контроль</a:t>
            </a:r>
            <a:r>
              <a:rPr lang="ru-RU" altLang="en-US" sz="1600" b="1" dirty="0">
                <a:solidFill>
                  <a:schemeClr val="accent1"/>
                </a:solidFill>
                <a:latin typeface="PT Sans" panose="020B0503020203020204" pitchFamily="34" charset="-52"/>
              </a:rPr>
              <a:t>)</a:t>
            </a:r>
            <a:endParaRPr lang="ru-RU" altLang="en-US" sz="1600" b="1" dirty="0">
              <a:solidFill>
                <a:schemeClr val="accent1"/>
              </a:solidFill>
              <a:latin typeface="PT Sans" panose="020B0503020203020204" pitchFamily="34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71550" y="3291840"/>
            <a:ext cx="8007985" cy="1691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b="1" dirty="0">
                <a:latin typeface="PT Sans" panose="020B0503020203020204" pitchFamily="34" charset="-52"/>
              </a:rPr>
              <a:t>Мониторинг</a:t>
            </a:r>
            <a:endParaRPr lang="en-US" altLang="en-US" b="1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en-US" sz="1600" b="1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200" dirty="0">
                <a:latin typeface="PT Sans" panose="020B0503020203020204" pitchFamily="34" charset="-52"/>
              </a:rPr>
              <a:t>Время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обработки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заявок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200" dirty="0">
                <a:latin typeface="PT Sans" panose="020B0503020203020204" pitchFamily="34" charset="-52"/>
              </a:rPr>
              <a:t>Количество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ошибок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процессе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обработки</a:t>
            </a: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200" dirty="0"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lang="en-US" altLang="en-US" sz="1200" dirty="0">
                <a:latin typeface="PT Sans" panose="020B0503020203020204" pitchFamily="34" charset="-52"/>
              </a:rPr>
              <a:t>Производительность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сотруднико</a:t>
            </a:r>
            <a:r>
              <a:rPr lang="ru-RU" altLang="en-US" sz="1200" dirty="0">
                <a:latin typeface="PT Sans" panose="020B0503020203020204" pitchFamily="34" charset="-52"/>
              </a:rPr>
              <a:t>в</a:t>
            </a:r>
            <a:r>
              <a:rPr lang="en-US" altLang="ru-RU" sz="1200" dirty="0">
                <a:latin typeface="PT Sans" panose="020B0503020203020204" pitchFamily="34" charset="-52"/>
              </a:rPr>
              <a:t> (</a:t>
            </a:r>
            <a:r>
              <a:rPr lang="en-US" altLang="en-US" sz="1200" dirty="0">
                <a:latin typeface="PT Sans" panose="020B0503020203020204" pitchFamily="34" charset="-52"/>
              </a:rPr>
              <a:t>по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количеству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решенных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заявок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за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единицу</a:t>
            </a:r>
            <a:r>
              <a:rPr lang="en-US" altLang="ru-RU" sz="1200" dirty="0">
                <a:latin typeface="PT Sans" panose="020B0503020203020204" pitchFamily="34" charset="-52"/>
              </a:rPr>
              <a:t> </a:t>
            </a:r>
            <a:r>
              <a:rPr lang="en-US" altLang="en-US" sz="1200" dirty="0">
                <a:latin typeface="PT Sans" panose="020B0503020203020204" pitchFamily="34" charset="-52"/>
              </a:rPr>
              <a:t>времени</a:t>
            </a:r>
            <a:r>
              <a:rPr lang="en-US" altLang="ru-RU" sz="1000" dirty="0">
                <a:latin typeface="PT Sans" panose="020B0503020203020204" pitchFamily="34" charset="-52"/>
              </a:rPr>
              <a:t>)</a:t>
            </a:r>
            <a:endParaRPr lang="en-US" altLang="ru-RU" sz="1000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000" dirty="0">
              <a:latin typeface="PT Sans" panose="020B0503020203020204" pitchFamily="34" charset="-52"/>
            </a:endParaRPr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>
          <a:xfrm>
            <a:off x="982980" y="1995805"/>
            <a:ext cx="2188845" cy="1113155"/>
          </a:xfrm>
          <a:prstGeom prst="round2Same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 algn="l">
              <a:buFont typeface="Arial" panose="020B0604020202020204" pitchFamily="34" charset="0"/>
              <a:buChar char="•"/>
              <a:defRPr/>
            </a:pP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Оцен</a:t>
            </a:r>
            <a:r>
              <a:rPr lang="ru-RU" altLang="en-US" sz="1000" b="1" dirty="0">
                <a:latin typeface="PT Sans" panose="020B0503020203020204" pitchFamily="34" charset="-52"/>
                <a:sym typeface="+mn-ea"/>
              </a:rPr>
              <a:t>иваем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и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анализ</a:t>
            </a:r>
            <a:r>
              <a:rPr lang="ru-RU" altLang="en-US" sz="1000" b="1" dirty="0">
                <a:latin typeface="PT Sans" panose="020B0503020203020204" pitchFamily="34" charset="-52"/>
                <a:sym typeface="+mn-ea"/>
              </a:rPr>
              <a:t>ируем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текущ</a:t>
            </a:r>
            <a:r>
              <a:rPr lang="ru-RU" altLang="en-US" sz="1000" b="1" dirty="0">
                <a:latin typeface="PT Sans" panose="020B0503020203020204" pitchFamily="34" charset="-52"/>
                <a:sym typeface="+mn-ea"/>
              </a:rPr>
              <a:t>ий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процесс</a:t>
            </a:r>
            <a:endParaRPr lang="en-US" altLang="en-US" sz="1000" b="1" dirty="0">
              <a:latin typeface="PT Sans" panose="020B0503020203020204" pitchFamily="34" charset="-52"/>
              <a:sym typeface="+mn-ea"/>
            </a:endParaRPr>
          </a:p>
          <a:p>
            <a:pPr lvl="0" algn="l">
              <a:defRPr/>
            </a:pPr>
            <a:endParaRPr lang="en-US" altLang="ru-RU" sz="1600" b="1" dirty="0">
              <a:latin typeface="PT Sans" panose="020B0503020203020204" pitchFamily="34" charset="-52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  <a:defRPr/>
            </a:pPr>
            <a:r>
              <a:rPr lang="ru-RU" altLang="en-US" sz="1000" b="1" dirty="0">
                <a:latin typeface="PT Sans" panose="020B0503020203020204" pitchFamily="34" charset="-52"/>
                <a:sym typeface="+mn-ea"/>
              </a:rPr>
              <a:t>Далее и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дентифицируем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ключевые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шаги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,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которые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можно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автоматизировать</a:t>
            </a:r>
            <a:endParaRPr lang="en-US" altLang="en-US" sz="1000" b="1" dirty="0">
              <a:latin typeface="PT Sans" panose="020B0503020203020204" pitchFamily="34" charset="-52"/>
              <a:sym typeface="+mn-ea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>
          <a:xfrm>
            <a:off x="3347720" y="1854200"/>
            <a:ext cx="3424555" cy="1254760"/>
          </a:xfrm>
          <a:prstGeom prst="round2Same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 algn="l">
              <a:buFont typeface="Arial" panose="020B0604020202020204" pitchFamily="34" charset="0"/>
              <a:buChar char="•"/>
              <a:defRPr/>
            </a:pP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Выбор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или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разработка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программного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решения</a:t>
            </a:r>
            <a:endParaRPr lang="en-US" altLang="en-US" sz="1000" b="1" dirty="0">
              <a:latin typeface="PT Sans" panose="020B0503020203020204" pitchFamily="34" charset="-52"/>
              <a:sym typeface="+mn-ea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  <a:defRPr/>
            </a:pPr>
            <a:endParaRPr lang="en-US" altLang="ru-RU" sz="1000" b="1" dirty="0">
              <a:latin typeface="PT Sans" panose="020B0503020203020204" pitchFamily="34" charset="-52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  <a:defRPr/>
            </a:pP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Подбираем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оптимальное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решение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(</a:t>
            </a:r>
            <a:r>
              <a:rPr lang="ru-RU" altLang="en-US" sz="1000" b="1" dirty="0">
                <a:latin typeface="PT Sans" panose="020B0503020203020204" pitchFamily="34" charset="-52"/>
                <a:sym typeface="+mn-ea"/>
              </a:rPr>
              <a:t>ПО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)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для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автоматизации</a:t>
            </a:r>
            <a:endParaRPr lang="en-US" altLang="ru-RU" sz="1000" b="1" dirty="0">
              <a:latin typeface="PT Sans" panose="020B0503020203020204" pitchFamily="34" charset="-52"/>
            </a:endParaRPr>
          </a:p>
          <a:p>
            <a:pPr lvl="0" algn="l">
              <a:defRPr/>
            </a:pPr>
            <a:endParaRPr lang="en-US" altLang="ru-RU" sz="1000" b="1" dirty="0">
              <a:latin typeface="PT Sans" panose="020B0503020203020204" pitchFamily="34" charset="-52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  <a:defRPr/>
            </a:pP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Разрабатываем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план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интеграции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с</a:t>
            </a:r>
            <a:r>
              <a:rPr lang="ru-RU" altLang="en-US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существующими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системами</a:t>
            </a:r>
            <a:endParaRPr lang="en-US" altLang="en-US" sz="1000" b="1" dirty="0">
              <a:latin typeface="PT Sans" panose="020B0503020203020204" pitchFamily="34" charset="-52"/>
              <a:sym typeface="+mn-ea"/>
            </a:endParaRPr>
          </a:p>
        </p:txBody>
      </p:sp>
      <p:sp>
        <p:nvSpPr>
          <p:cNvPr id="13" name="Прямоугольник с двумя скругленными соседними углами 12"/>
          <p:cNvSpPr/>
          <p:nvPr/>
        </p:nvSpPr>
        <p:spPr>
          <a:xfrm>
            <a:off x="6948170" y="1590675"/>
            <a:ext cx="1974850" cy="1518285"/>
          </a:xfrm>
          <a:prstGeom prst="round2Same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Тестируем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автоматизированную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систему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endParaRPr lang="en-US" altLang="ru-RU" sz="1000" b="1" dirty="0">
              <a:latin typeface="PT Sans" panose="020B0503020203020204" pitchFamily="34" charset="-52"/>
            </a:endParaRPr>
          </a:p>
          <a:p>
            <a:pPr lvl="0">
              <a:defRPr/>
            </a:pPr>
            <a:endParaRPr lang="en-US" altLang="ru-RU" sz="1000" b="1" dirty="0">
              <a:latin typeface="PT Sans" panose="020B0503020203020204" pitchFamily="34" charset="-52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Оценка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первых</a:t>
            </a:r>
            <a:r>
              <a:rPr lang="en-US" altLang="ru-RU" sz="1000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sz="1000" b="1" dirty="0">
                <a:latin typeface="PT Sans" panose="020B0503020203020204" pitchFamily="34" charset="-52"/>
                <a:sym typeface="+mn-ea"/>
              </a:rPr>
              <a:t>результатов</a:t>
            </a:r>
            <a:endParaRPr lang="en-US" altLang="en-US" sz="1000" b="1" dirty="0">
              <a:latin typeface="PT Sans" panose="020B0503020203020204" pitchFamily="34" charset="-52"/>
              <a:sym typeface="+mn-ea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982980" y="1142365"/>
            <a:ext cx="3207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latin typeface="PT Sans" panose="020B0503020203020204" pitchFamily="34" charset="-52"/>
                <a:sym typeface="+mn-ea"/>
              </a:rPr>
              <a:t>План</a:t>
            </a:r>
            <a:r>
              <a:rPr lang="en-US" altLang="ru-RU" b="1" dirty="0">
                <a:latin typeface="PT Sans" panose="020B0503020203020204" pitchFamily="34" charset="-52"/>
                <a:sym typeface="+mn-ea"/>
              </a:rPr>
              <a:t> </a:t>
            </a:r>
            <a:r>
              <a:rPr lang="en-US" altLang="en-US" b="1" dirty="0">
                <a:latin typeface="PT Sans" panose="020B0503020203020204" pitchFamily="34" charset="-52"/>
                <a:sym typeface="+mn-ea"/>
              </a:rPr>
              <a:t>внедрения:</a:t>
            </a:r>
            <a:endParaRPr lang="en-US" altLang="en-US" b="1" dirty="0">
              <a:latin typeface="PT Sans" panose="020B0503020203020204" pitchFamily="34" charset="-52"/>
            </a:endParaRPr>
          </a:p>
          <a:p>
            <a:endParaRPr lang="ru-RU" altLang="en-US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971550" y="1563370"/>
            <a:ext cx="2202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sym typeface="+mn-ea"/>
              </a:rPr>
              <a:t>1 </a:t>
            </a:r>
            <a:r>
              <a:rPr lang="ru-RU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sym typeface="+mn-ea"/>
              </a:rPr>
              <a:t>ЭТАП</a:t>
            </a:r>
            <a:endParaRPr lang="ru-RU" altLang="en-US" b="1" dirty="0">
              <a:solidFill>
                <a:schemeClr val="tx2">
                  <a:lumMod val="60000"/>
                  <a:lumOff val="40000"/>
                </a:schemeClr>
              </a:solidFill>
              <a:latin typeface="PT Sans" panose="020B0503020203020204" pitchFamily="34" charset="-52"/>
              <a:sym typeface="+mn-ea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3275965" y="1419225"/>
            <a:ext cx="3421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sym typeface="+mn-ea"/>
              </a:rPr>
              <a:t>2 ЭТАП</a:t>
            </a:r>
            <a:endParaRPr lang="ru-RU" altLang="en-US" b="1" dirty="0">
              <a:solidFill>
                <a:schemeClr val="tx2">
                  <a:lumMod val="60000"/>
                  <a:lumOff val="40000"/>
                </a:schemeClr>
              </a:solidFill>
              <a:latin typeface="PT Sans" panose="020B0503020203020204" pitchFamily="34" charset="-52"/>
              <a:sym typeface="+mn-ea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6948170" y="1142365"/>
            <a:ext cx="198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sym typeface="+mn-ea"/>
              </a:rPr>
              <a:t>3</a:t>
            </a:r>
            <a:r>
              <a:rPr lang="en-US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sym typeface="+mn-ea"/>
              </a:rPr>
              <a:t> </a:t>
            </a:r>
            <a:r>
              <a:rPr lang="ru-RU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sym typeface="+mn-ea"/>
              </a:rPr>
              <a:t>ЭТАП</a:t>
            </a:r>
            <a:endParaRPr lang="ru-RU" altLang="en-US" b="1" dirty="0">
              <a:solidFill>
                <a:schemeClr val="tx2">
                  <a:lumMod val="60000"/>
                  <a:lumOff val="40000"/>
                </a:schemeClr>
              </a:solidFill>
              <a:latin typeface="PT Sans" panose="020B0503020203020204" pitchFamily="34" charset="-5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05"/>
            <a:ext cx="9144000" cy="132588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0" y="772160"/>
            <a:ext cx="91446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BPMN </a:t>
            </a:r>
            <a:r>
              <a:rPr lang="en-US" altLang="en-US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ОПТИМИЗИРОВАННАЯ</a:t>
            </a:r>
            <a:endParaRPr lang="en-US" altLang="en-US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077" y="267723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5" y="195580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244206" y="-20955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 dirty="0" smtClean="0">
                <a:ln w="15875">
                  <a:solidFill>
                    <a:schemeClr val="accent1"/>
                  </a:solidFill>
                </a:ln>
                <a:noFill/>
                <a:effectLst/>
              </a:rPr>
              <a:t>23</a:t>
            </a:r>
            <a:endParaRPr lang="ru-RU" altLang="en-US" sz="4800" b="1" dirty="0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pic>
        <p:nvPicPr>
          <p:cNvPr id="6" name="Изображение 5" descr="diagram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460" y="1779905"/>
            <a:ext cx="8603615" cy="30372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195627" y="182274"/>
            <a:ext cx="73448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ЗАТРАТЫ</a:t>
            </a:r>
            <a:r>
              <a:rPr lang="en-US" altLang="ru-RU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ru-RU" altLang="en-US" sz="2800" b="1" dirty="0">
                <a:solidFill>
                  <a:schemeClr val="bg1"/>
                </a:solidFill>
                <a:latin typeface="PT Sans" panose="020B0503020203020204" pitchFamily="34" charset="-52"/>
              </a:rPr>
              <a:t>НА РАЗРАБОТКУ</a:t>
            </a:r>
            <a:endParaRPr lang="ru-RU" altLang="en-US" sz="28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8224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244206" y="-20955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24</a:t>
            </a:r>
            <a:endParaRPr lang="ru-RU" altLang="en-US" sz="48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4" name="Таблица 3"/>
          <p:cNvGraphicFramePr/>
          <p:nvPr/>
        </p:nvGraphicFramePr>
        <p:xfrm>
          <a:off x="1385570" y="1203325"/>
          <a:ext cx="6398895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Вариант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Описание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Стоимость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Разработка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через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фриланс</a:t>
                      </a:r>
                      <a:r>
                        <a:rPr lang="en-US" altLang="ru-RU"/>
                        <a:t> </a:t>
                      </a:r>
                      <a:endParaRPr lang="en-US" altLang="ru-RU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(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заказ</a:t>
                      </a:r>
                      <a:r>
                        <a:rPr lang="en-US" altLang="ru-RU"/>
                        <a:t>)</a:t>
                      </a:r>
                      <a:endParaRPr lang="en-US" alt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Заказать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фрилансеру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разработку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простого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бота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записью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таблицу</a:t>
                      </a:r>
                      <a:r>
                        <a:rPr lang="en-US" altLang="ru-RU"/>
                        <a:t> (Telegram Bot API + Google Sheets API)</a:t>
                      </a:r>
                      <a:endParaRPr lang="en-US" alt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от</a:t>
                      </a:r>
                      <a:r>
                        <a:rPr lang="en-US" altLang="ru-RU"/>
                        <a:t> 8 000 </a:t>
                      </a:r>
                      <a:r>
                        <a:rPr lang="en-US" altLang="en-US"/>
                        <a:t>до</a:t>
                      </a:r>
                      <a:r>
                        <a:rPr lang="en-US" altLang="ru-RU"/>
                        <a:t> 1</a:t>
                      </a:r>
                      <a:r>
                        <a:rPr lang="ru-RU" altLang="en-US"/>
                        <a:t>0</a:t>
                      </a:r>
                      <a:r>
                        <a:rPr lang="en-US" altLang="ru-RU"/>
                        <a:t> 000 </a:t>
                      </a:r>
                      <a:r>
                        <a:rPr lang="en-US" altLang="en-US"/>
                        <a:t>₽</a:t>
                      </a:r>
                      <a:r>
                        <a:rPr lang="en-US" altLang="ru-RU"/>
                        <a:t> (</a:t>
                      </a:r>
                      <a:r>
                        <a:rPr lang="en-US" altLang="en-US"/>
                        <a:t>разовая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оплата</a:t>
                      </a:r>
                      <a:r>
                        <a:rPr lang="en-US" altLang="ru-RU"/>
                        <a:t>) </a:t>
                      </a:r>
                      <a:endParaRPr lang="en-US" altLang="ru-RU"/>
                    </a:p>
                    <a:p>
                      <a:pPr algn="ctr">
                        <a:buNone/>
                      </a:pPr>
                      <a:endParaRPr lang="en-US" altLang="ru-RU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+ 500 </a:t>
                      </a:r>
                      <a:r>
                        <a:rPr lang="en-US" altLang="en-US"/>
                        <a:t>₽</a:t>
                      </a:r>
                      <a:r>
                        <a:rPr lang="en-US" altLang="ru-RU"/>
                        <a:t>/</a:t>
                      </a:r>
                      <a:r>
                        <a:rPr lang="en-US" altLang="en-US"/>
                        <a:t>мес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хостинг</a:t>
                      </a:r>
                      <a:endParaRPr lang="en-US" altLang="en-US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Таблица 5"/>
          <p:cNvGraphicFramePr/>
          <p:nvPr/>
        </p:nvGraphicFramePr>
        <p:xfrm>
          <a:off x="2484120" y="3796030"/>
          <a:ext cx="4265930" cy="451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</a:tblGrid>
              <a:tr h="451485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Показатель</a:t>
                      </a:r>
                      <a:endParaRPr sz="18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Значение</a:t>
                      </a:r>
                      <a:endParaRPr lang="en-US" altLang="en-US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Таблица 8"/>
          <p:cNvGraphicFramePr/>
          <p:nvPr/>
        </p:nvGraphicFramePr>
        <p:xfrm>
          <a:off x="1417320" y="4227830"/>
          <a:ext cx="639953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Стоимость</a:t>
                      </a:r>
                      <a:r>
                        <a:rPr lang="en-US" altLang="ru-RU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создания</a:t>
                      </a:r>
                      <a:r>
                        <a:rPr lang="en-US" altLang="ru-RU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и</a:t>
                      </a:r>
                      <a:r>
                        <a:rPr lang="en-US" altLang="ru-RU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поддержки</a:t>
                      </a:r>
                      <a:r>
                        <a:rPr lang="en-US" altLang="ru-RU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бота</a:t>
                      </a:r>
                      <a:r>
                        <a:rPr lang="en-US" altLang="ru-RU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на</a:t>
                      </a:r>
                      <a:r>
                        <a:rPr lang="en-US" altLang="ru-RU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1 </a:t>
                      </a:r>
                      <a:r>
                        <a:rPr lang="en-US" altLang="en-US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год</a:t>
                      </a:r>
                      <a:endParaRPr lang="en-US" altLang="en-US" sz="16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ru-RU" sz="24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14 000 </a:t>
                      </a:r>
                      <a:r>
                        <a:rPr lang="en-US" altLang="en-US" sz="24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₽</a:t>
                      </a:r>
                      <a:endParaRPr lang="en-US" altLang="en-US" sz="24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793547" y="102264"/>
            <a:ext cx="734481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СОВОКУПНЫЙ</a:t>
            </a:r>
            <a:r>
              <a:rPr lang="en-US" altLang="ru-RU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ЭКОНОМИЧЕСКИЙ</a:t>
            </a:r>
            <a:r>
              <a:rPr lang="en-US" altLang="ru-RU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ЭФФЕКТ</a:t>
            </a:r>
            <a:endParaRPr lang="en-US" altLang="en-US" sz="2000" b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PT Sans" panose="020B0503020203020204" pitchFamily="34" charset="-52"/>
              </a:rPr>
              <a:t>УСОВЕРШЕНСТВОВАНИЯ</a:t>
            </a:r>
            <a:endParaRPr lang="en-US" altLang="en-US" sz="2000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82245"/>
            <a:ext cx="263525" cy="47180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8244206" y="-20955"/>
            <a:ext cx="8013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48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25</a:t>
            </a:r>
            <a:endParaRPr lang="ru-RU" altLang="en-US" sz="48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graphicFrame>
        <p:nvGraphicFramePr>
          <p:cNvPr id="3" name="Таблица 2"/>
          <p:cNvGraphicFramePr/>
          <p:nvPr>
            <p:custDataLst>
              <p:tags r:id="rId3"/>
            </p:custDataLst>
          </p:nvPr>
        </p:nvGraphicFramePr>
        <p:xfrm>
          <a:off x="827405" y="1059180"/>
          <a:ext cx="7570470" cy="3760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745"/>
                <a:gridCol w="3768725"/>
              </a:tblGrid>
              <a:tr h="626745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Показатель</a:t>
                      </a:r>
                      <a:endParaRPr sz="18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Значение</a:t>
                      </a:r>
                      <a:endParaRPr sz="1800" b="1"/>
                    </a:p>
                  </a:txBody>
                  <a:tcPr marL="0" marR="0" marT="0" marB="0" anchor="ctr"/>
                </a:tc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Экономия времени в день</a:t>
                      </a:r>
                      <a:endParaRPr sz="11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2"/>
                          </a:solidFill>
                        </a:rPr>
                        <a:t>1 час 23 минуты</a:t>
                      </a:r>
                      <a:endParaRPr sz="1100" b="1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Экономия времени в месяц</a:t>
                      </a:r>
                      <a:endParaRPr sz="11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2"/>
                          </a:solidFill>
                        </a:rPr>
                        <a:t>31 час</a:t>
                      </a:r>
                      <a:endParaRPr sz="1100" b="1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Экономия в месяц</a:t>
                      </a:r>
                      <a:r>
                        <a:rPr lang="ru-RU" sz="1100" b="1"/>
                        <a:t> (300 руб</a:t>
                      </a:r>
                      <a:r>
                        <a:rPr lang="en-US" sz="1100" b="1"/>
                        <a:t>/</a:t>
                      </a:r>
                      <a:r>
                        <a:rPr lang="ru-RU" sz="1100" b="1"/>
                        <a:t>час)</a:t>
                      </a:r>
                      <a:endParaRPr lang="ru-RU" sz="11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2"/>
                          </a:solidFill>
                        </a:rPr>
                        <a:t>9 300 ₽</a:t>
                      </a:r>
                      <a:endParaRPr sz="1100" b="1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Экономия в год</a:t>
                      </a:r>
                      <a:endParaRPr sz="11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2"/>
                          </a:solidFill>
                        </a:rPr>
                        <a:t>111 600 ₽</a:t>
                      </a:r>
                      <a:endParaRPr sz="1100" b="1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626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100" b="1"/>
                        <a:t>Чистая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экономия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в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год</a:t>
                      </a:r>
                      <a:r>
                        <a:rPr lang="en-US" altLang="ru-RU" sz="1100" b="1"/>
                        <a:t> (</a:t>
                      </a:r>
                      <a:r>
                        <a:rPr lang="en-US" altLang="en-US" sz="1100" b="1"/>
                        <a:t>после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вычета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затрат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на</a:t>
                      </a:r>
                      <a:r>
                        <a:rPr lang="en-US" altLang="ru-RU" sz="1100" b="1"/>
                        <a:t> </a:t>
                      </a:r>
                      <a:r>
                        <a:rPr lang="en-US" altLang="en-US" sz="1100" b="1"/>
                        <a:t>бота</a:t>
                      </a:r>
                      <a:r>
                        <a:rPr lang="ru-RU" altLang="en-US" sz="1100" b="1"/>
                        <a:t> </a:t>
                      </a:r>
                      <a:r>
                        <a:rPr lang="en-US" altLang="ru-RU" sz="1100" b="1"/>
                        <a:t>)</a:t>
                      </a:r>
                      <a:endParaRPr lang="en-US" altLang="ru-RU" sz="11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ru-RU" sz="1100" b="1">
                          <a:solidFill>
                            <a:schemeClr val="tx2"/>
                          </a:solidFill>
                        </a:rPr>
                        <a:t>97 600 </a:t>
                      </a:r>
                      <a:r>
                        <a:rPr lang="en-US" altLang="en-US" sz="1100" b="1">
                          <a:solidFill>
                            <a:schemeClr val="tx2"/>
                          </a:solidFill>
                        </a:rPr>
                        <a:t>₽</a:t>
                      </a:r>
                      <a:endParaRPr lang="en-US" altLang="en-US" sz="1100" b="1">
                        <a:solidFill>
                          <a:schemeClr val="tx2"/>
                        </a:solidFill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115695" y="267335"/>
            <a:ext cx="784542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ЧТО МОЖНО ЕЩЕ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 </a:t>
            </a:r>
            <a:r>
              <a:rPr lang="ru-RU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ИЗМЕНИТ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Ь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?</a:t>
            </a:r>
            <a:endParaRPr lang="ru-RU" sz="16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algn="ctr"/>
            <a:endParaRPr lang="en-US" altLang="en-US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pPr algn="ctr"/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Предложение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по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обмену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помещений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экскурсионного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центра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и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KFU Store</a:t>
            </a:r>
            <a:endParaRPr lang="en-US" altLang="ru-RU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Изображение 4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25400" y="40881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26</a:t>
            </a:r>
            <a:endParaRPr lang="ru-RU" altLang="en-US" sz="54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6156325" y="1347470"/>
            <a:ext cx="2640330" cy="2854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настоящее</a:t>
            </a:r>
            <a:r>
              <a:rPr lang="en-US" altLang="ru-RU" sz="1200"/>
              <a:t> </a:t>
            </a:r>
            <a:r>
              <a:rPr lang="en-US" altLang="en-US" sz="1200"/>
              <a:t>время</a:t>
            </a:r>
            <a:r>
              <a:rPr lang="en-US" altLang="ru-RU" sz="1200"/>
              <a:t> </a:t>
            </a:r>
            <a:r>
              <a:rPr lang="en-US" altLang="en-US" sz="1200"/>
              <a:t>экскурсионный</a:t>
            </a:r>
            <a:r>
              <a:rPr lang="en-US" altLang="ru-RU" sz="1200"/>
              <a:t> </a:t>
            </a:r>
            <a:r>
              <a:rPr lang="en-US" altLang="en-US" sz="1200"/>
              <a:t>центр</a:t>
            </a:r>
            <a:r>
              <a:rPr lang="en-US" altLang="ru-RU" sz="1200"/>
              <a:t> </a:t>
            </a:r>
            <a:r>
              <a:rPr lang="en-US" altLang="en-US" sz="1200"/>
              <a:t>расположен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глубине</a:t>
            </a:r>
            <a:r>
              <a:rPr lang="en-US" altLang="ru-RU" sz="1200"/>
              <a:t> </a:t>
            </a:r>
            <a:r>
              <a:rPr lang="en-US" altLang="en-US" sz="1200"/>
              <a:t>здания</a:t>
            </a:r>
            <a:r>
              <a:rPr lang="en-US" altLang="ru-RU" sz="1200"/>
              <a:t>,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многие</a:t>
            </a:r>
            <a:r>
              <a:rPr lang="en-US" altLang="ru-RU" sz="1200"/>
              <a:t> </a:t>
            </a:r>
            <a:r>
              <a:rPr lang="en-US" altLang="en-US" sz="1200"/>
              <a:t>посетители</a:t>
            </a:r>
            <a:r>
              <a:rPr lang="en-US" altLang="ru-RU" sz="1200"/>
              <a:t> </a:t>
            </a:r>
            <a:r>
              <a:rPr lang="en-US" altLang="en-US" sz="1200"/>
              <a:t>испытывают</a:t>
            </a:r>
            <a:r>
              <a:rPr lang="en-US" altLang="ru-RU" sz="1200"/>
              <a:t> </a:t>
            </a:r>
            <a:r>
              <a:rPr lang="en-US" altLang="en-US" sz="1200"/>
              <a:t>трудности</a:t>
            </a:r>
            <a:r>
              <a:rPr lang="en-US" altLang="ru-RU" sz="1200"/>
              <a:t> </a:t>
            </a:r>
            <a:r>
              <a:rPr lang="en-US" altLang="en-US" sz="1200"/>
              <a:t>с</a:t>
            </a:r>
            <a:r>
              <a:rPr lang="en-US" altLang="ru-RU" sz="1200"/>
              <a:t> </a:t>
            </a:r>
            <a:r>
              <a:rPr lang="en-US" altLang="en-US" sz="1200"/>
              <a:t>его</a:t>
            </a:r>
            <a:r>
              <a:rPr lang="en-US" altLang="ru-RU" sz="1200"/>
              <a:t> </a:t>
            </a:r>
            <a:r>
              <a:rPr lang="en-US" altLang="en-US" sz="1200"/>
              <a:t>поиском</a:t>
            </a:r>
            <a:r>
              <a:rPr lang="en-US" altLang="ru-RU" sz="1200"/>
              <a:t>.</a:t>
            </a:r>
            <a:endParaRPr lang="en-US" altLang="ru-RU" sz="1200"/>
          </a:p>
          <a:p>
            <a:endParaRPr lang="en-US" altLang="ru-RU" sz="1200"/>
          </a:p>
          <a:p>
            <a:endParaRPr lang="en-US" altLang="ru-RU" sz="1200"/>
          </a:p>
          <a:p>
            <a:r>
              <a:rPr lang="ru-RU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то</a:t>
            </a:r>
            <a:r>
              <a:rPr lang="en-US" altLang="ru-RU" sz="1200"/>
              <a:t> </a:t>
            </a:r>
            <a:r>
              <a:rPr lang="en-US" altLang="en-US" sz="1200"/>
              <a:t>же</a:t>
            </a:r>
            <a:r>
              <a:rPr lang="en-US" altLang="ru-RU" sz="1200"/>
              <a:t> </a:t>
            </a:r>
            <a:r>
              <a:rPr lang="en-US" altLang="en-US" sz="1200"/>
              <a:t>время</a:t>
            </a:r>
            <a:r>
              <a:rPr lang="en-US" altLang="ru-RU" sz="1200"/>
              <a:t>, KFU Store </a:t>
            </a:r>
            <a:r>
              <a:rPr lang="en-US" altLang="en-US" sz="1200"/>
              <a:t>находится</a:t>
            </a:r>
            <a:r>
              <a:rPr lang="en-US" altLang="ru-RU" sz="1200"/>
              <a:t> </a:t>
            </a:r>
            <a:r>
              <a:rPr lang="en-US" altLang="en-US" sz="1200"/>
              <a:t>ближе</a:t>
            </a:r>
            <a:r>
              <a:rPr lang="en-US" altLang="ru-RU" sz="1200"/>
              <a:t> </a:t>
            </a:r>
            <a:r>
              <a:rPr lang="en-US" altLang="en-US" sz="1200"/>
              <a:t>ко</a:t>
            </a:r>
            <a:r>
              <a:rPr lang="en-US" altLang="ru-RU" sz="1200"/>
              <a:t> </a:t>
            </a:r>
            <a:r>
              <a:rPr lang="en-US" altLang="en-US" sz="1200"/>
              <a:t>входу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музей</a:t>
            </a:r>
            <a:r>
              <a:rPr lang="en-US" altLang="ru-RU" sz="1200"/>
              <a:t>, </a:t>
            </a:r>
            <a:r>
              <a:rPr lang="en-US" altLang="en-US" sz="1200"/>
              <a:t>что</a:t>
            </a:r>
            <a:r>
              <a:rPr lang="en-US" altLang="ru-RU" sz="1200"/>
              <a:t> </a:t>
            </a:r>
            <a:r>
              <a:rPr lang="en-US" altLang="en-US" sz="1200"/>
              <a:t>делает</a:t>
            </a:r>
            <a:r>
              <a:rPr lang="en-US" altLang="ru-RU" sz="1200"/>
              <a:t> </a:t>
            </a:r>
            <a:r>
              <a:rPr lang="en-US" altLang="en-US" sz="1200"/>
              <a:t>его</a:t>
            </a:r>
            <a:r>
              <a:rPr lang="en-US" altLang="ru-RU" sz="1200"/>
              <a:t> </a:t>
            </a:r>
            <a:r>
              <a:rPr lang="en-US" altLang="en-US" sz="1200"/>
              <a:t>более</a:t>
            </a:r>
            <a:r>
              <a:rPr lang="en-US" altLang="ru-RU" sz="1200"/>
              <a:t> </a:t>
            </a:r>
            <a:r>
              <a:rPr lang="en-US" altLang="en-US" sz="1200"/>
              <a:t>заметным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доступным</a:t>
            </a:r>
            <a:r>
              <a:rPr lang="en-US" altLang="ru-RU" sz="1200"/>
              <a:t>. </a:t>
            </a:r>
            <a:endParaRPr lang="en-US" altLang="ru-RU" sz="1200"/>
          </a:p>
          <a:p>
            <a:endParaRPr lang="en-US" altLang="ru-RU" sz="1200"/>
          </a:p>
          <a:p>
            <a:endParaRPr lang="en-US" altLang="ru-RU" sz="1200"/>
          </a:p>
          <a:p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повышения</a:t>
            </a:r>
            <a:r>
              <a:rPr lang="en-US" altLang="ru-RU" sz="1200"/>
              <a:t> </a:t>
            </a:r>
            <a:r>
              <a:rPr lang="en-US" altLang="en-US" sz="1200"/>
              <a:t>удобства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оптимизации</a:t>
            </a:r>
            <a:r>
              <a:rPr lang="en-US" altLang="ru-RU" sz="1200"/>
              <a:t> </a:t>
            </a:r>
            <a:r>
              <a:rPr lang="en-US" altLang="en-US" sz="1200"/>
              <a:t>пространственного</a:t>
            </a:r>
            <a:r>
              <a:rPr lang="en-US" altLang="ru-RU" sz="1200"/>
              <a:t> </a:t>
            </a:r>
            <a:r>
              <a:rPr lang="en-US" altLang="en-US" sz="1200"/>
              <a:t>размещения</a:t>
            </a:r>
            <a:r>
              <a:rPr lang="en-US" altLang="ru-RU" sz="1200"/>
              <a:t> </a:t>
            </a:r>
            <a:r>
              <a:rPr lang="en-US" altLang="en-US" sz="1200"/>
              <a:t>предлагается</a:t>
            </a:r>
            <a:r>
              <a:rPr lang="en-US" altLang="ru-RU" sz="1200"/>
              <a:t> </a:t>
            </a:r>
            <a:r>
              <a:rPr lang="en-US" altLang="en-US" sz="1200"/>
              <a:t>рассмотреть</a:t>
            </a:r>
            <a:r>
              <a:rPr lang="en-US" altLang="ru-RU" sz="1200"/>
              <a:t> </a:t>
            </a:r>
            <a:r>
              <a:rPr lang="en-US" altLang="en-US" sz="1200"/>
              <a:t>возможность</a:t>
            </a:r>
            <a:r>
              <a:rPr lang="en-US" altLang="ru-RU" sz="1200"/>
              <a:t> </a:t>
            </a:r>
            <a:r>
              <a:rPr lang="en-US" altLang="en-US" sz="1200" b="1"/>
              <a:t>поменять</a:t>
            </a:r>
            <a:r>
              <a:rPr lang="en-US" altLang="ru-RU" sz="1200" b="1"/>
              <a:t> </a:t>
            </a:r>
            <a:r>
              <a:rPr lang="en-US" altLang="en-US" sz="1200" b="1"/>
              <a:t>местами</a:t>
            </a:r>
            <a:r>
              <a:rPr lang="en-US" altLang="ru-RU" sz="1200" b="1"/>
              <a:t> </a:t>
            </a:r>
            <a:r>
              <a:rPr lang="en-US" altLang="en-US" sz="1200" b="1"/>
              <a:t>экскурсионный</a:t>
            </a:r>
            <a:r>
              <a:rPr lang="en-US" altLang="ru-RU" sz="1200" b="1"/>
              <a:t> </a:t>
            </a:r>
            <a:r>
              <a:rPr lang="en-US" altLang="en-US" sz="1200" b="1"/>
              <a:t>центр</a:t>
            </a:r>
            <a:r>
              <a:rPr lang="en-US" altLang="ru-RU" sz="1200" b="1"/>
              <a:t> </a:t>
            </a:r>
            <a:r>
              <a:rPr lang="en-US" altLang="en-US" sz="1200" b="1"/>
              <a:t>и</a:t>
            </a:r>
            <a:r>
              <a:rPr lang="en-US" altLang="ru-RU" sz="1200" b="1"/>
              <a:t> KFU Store.</a:t>
            </a:r>
            <a:endParaRPr lang="en-US" altLang="ru-RU" sz="1200" b="1"/>
          </a:p>
        </p:txBody>
      </p:sp>
      <p:pic>
        <p:nvPicPr>
          <p:cNvPr id="2" name="Изображение 1" descr="12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95" y="1347470"/>
            <a:ext cx="2392680" cy="3190240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8" name="Прямое соединение 7"/>
          <p:cNvCxnSpPr/>
          <p:nvPr/>
        </p:nvCxnSpPr>
        <p:spPr>
          <a:xfrm>
            <a:off x="1633220" y="2670810"/>
            <a:ext cx="0" cy="7543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Прямое соединение 8"/>
          <p:cNvCxnSpPr/>
          <p:nvPr/>
        </p:nvCxnSpPr>
        <p:spPr>
          <a:xfrm>
            <a:off x="1625600" y="2686050"/>
            <a:ext cx="685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ое соединение 11"/>
          <p:cNvCxnSpPr/>
          <p:nvPr/>
        </p:nvCxnSpPr>
        <p:spPr>
          <a:xfrm>
            <a:off x="2303780" y="2678430"/>
            <a:ext cx="0" cy="723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Прямоугольник с двумя скругленными соседними углами 13"/>
          <p:cNvSpPr/>
          <p:nvPr/>
        </p:nvSpPr>
        <p:spPr>
          <a:xfrm>
            <a:off x="1547495" y="4034155"/>
            <a:ext cx="1296035" cy="503555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sz="1200"/>
              <a:t>Экскурсионный центр</a:t>
            </a:r>
            <a:endParaRPr lang="ru-RU" altLang="en-US" sz="1200"/>
          </a:p>
        </p:txBody>
      </p:sp>
      <p:pic>
        <p:nvPicPr>
          <p:cNvPr id="15" name="Изображение 14" descr="1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620" y="1347470"/>
            <a:ext cx="2412365" cy="32169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305" y="51435"/>
            <a:ext cx="784542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ЧТО МОЖНО ЕЩЕ ИЗМЕНИТЬ</a:t>
            </a:r>
            <a:r>
              <a:rPr lang="en-US" alt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?</a:t>
            </a:r>
            <a:endParaRPr lang="ru-RU" sz="16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algn="ctr"/>
            <a:endParaRPr lang="en-US" altLang="en-US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pPr algn="ctr"/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Предложение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по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обмену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помещений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экскурсионного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центра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и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KFU Store</a:t>
            </a:r>
            <a:endParaRPr lang="en-US" altLang="ru-RU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Изображение 4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25400" y="40881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27</a:t>
            </a:r>
            <a:endParaRPr lang="ru-RU" altLang="en-US" sz="54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971550" y="1059815"/>
            <a:ext cx="4771390" cy="2854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altLang="en-US" sz="1200"/>
              <a:t>У </a:t>
            </a:r>
            <a:r>
              <a:rPr lang="en-US" altLang="en-US" sz="1200"/>
              <a:t>помещения</a:t>
            </a:r>
            <a:r>
              <a:rPr lang="en-US" altLang="ru-RU" sz="1200"/>
              <a:t> KFU Store </a:t>
            </a:r>
            <a:r>
              <a:rPr lang="en-US" altLang="en-US" sz="1200"/>
              <a:t>более</a:t>
            </a:r>
            <a:r>
              <a:rPr lang="en-US" altLang="ru-RU" sz="1200"/>
              <a:t> </a:t>
            </a:r>
            <a:r>
              <a:rPr lang="en-US" altLang="en-US" sz="1200"/>
              <a:t>подходящие</a:t>
            </a:r>
            <a:r>
              <a:rPr lang="en-US" altLang="ru-RU" sz="1200"/>
              <a:t> </a:t>
            </a:r>
            <a:r>
              <a:rPr lang="en-US" altLang="en-US" sz="1200"/>
              <a:t>условия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работы</a:t>
            </a:r>
            <a:r>
              <a:rPr lang="en-US" altLang="ru-RU" sz="1200"/>
              <a:t> </a:t>
            </a:r>
            <a:r>
              <a:rPr lang="en-US" altLang="en-US" sz="1200"/>
              <a:t>экскурсионного</a:t>
            </a:r>
            <a:r>
              <a:rPr lang="en-US" altLang="ru-RU" sz="1200"/>
              <a:t> </a:t>
            </a:r>
            <a:r>
              <a:rPr lang="en-US" altLang="en-US" sz="1200"/>
              <a:t>центра</a:t>
            </a:r>
            <a:r>
              <a:rPr lang="en-US" altLang="ru-RU" sz="1200"/>
              <a:t>: </a:t>
            </a:r>
            <a:r>
              <a:rPr lang="en-US" altLang="en-US" sz="1200"/>
              <a:t>оно</a:t>
            </a:r>
            <a:r>
              <a:rPr lang="en-US" altLang="ru-RU" sz="1200"/>
              <a:t> </a:t>
            </a:r>
            <a:r>
              <a:rPr lang="en-US" altLang="en-US" sz="1200"/>
              <a:t>просторнее</a:t>
            </a:r>
            <a:r>
              <a:rPr lang="en-US" altLang="ru-RU" sz="1200"/>
              <a:t>, </a:t>
            </a:r>
            <a:r>
              <a:rPr lang="en-US" altLang="en-US" sz="1200"/>
              <a:t>имеет</a:t>
            </a:r>
            <a:r>
              <a:rPr lang="en-US" altLang="ru-RU" sz="1200"/>
              <a:t> </a:t>
            </a:r>
            <a:r>
              <a:rPr lang="en-US" altLang="en-US" sz="1200"/>
              <a:t>выполненный</a:t>
            </a:r>
            <a:r>
              <a:rPr lang="en-US" altLang="ru-RU" sz="1200"/>
              <a:t> </a:t>
            </a:r>
            <a:r>
              <a:rPr lang="en-US" altLang="en-US" sz="1200"/>
              <a:t>ремонт</a:t>
            </a:r>
            <a:r>
              <a:rPr lang="en-US" altLang="ru-RU" sz="1200"/>
              <a:t>, </a:t>
            </a:r>
            <a:r>
              <a:rPr lang="en-US" altLang="en-US" sz="1200"/>
              <a:t>а</a:t>
            </a:r>
            <a:r>
              <a:rPr lang="en-US" altLang="ru-RU" sz="1200"/>
              <a:t> </a:t>
            </a:r>
            <a:r>
              <a:rPr lang="en-US" altLang="en-US" sz="1200"/>
              <a:t>также</a:t>
            </a:r>
            <a:r>
              <a:rPr lang="en-US" altLang="ru-RU" sz="1200"/>
              <a:t> </a:t>
            </a:r>
            <a:r>
              <a:rPr lang="en-US" altLang="en-US" sz="1200"/>
              <a:t>позволяет</a:t>
            </a:r>
            <a:r>
              <a:rPr lang="en-US" altLang="ru-RU" sz="1200"/>
              <a:t> </a:t>
            </a:r>
            <a:r>
              <a:rPr lang="en-US" altLang="en-US" sz="1200"/>
              <a:t>организовать</a:t>
            </a:r>
            <a:r>
              <a:rPr lang="en-US" altLang="ru-RU" sz="1200"/>
              <a:t> </a:t>
            </a:r>
            <a:r>
              <a:rPr lang="en-US" altLang="en-US" sz="1200"/>
              <a:t>более</a:t>
            </a:r>
            <a:r>
              <a:rPr lang="en-US" altLang="ru-RU" sz="1200"/>
              <a:t> </a:t>
            </a:r>
            <a:r>
              <a:rPr lang="en-US" altLang="en-US" sz="1200"/>
              <a:t>комфортные</a:t>
            </a:r>
            <a:r>
              <a:rPr lang="en-US" altLang="ru-RU" sz="1200"/>
              <a:t> </a:t>
            </a:r>
            <a:r>
              <a:rPr lang="en-US" altLang="en-US" sz="1200"/>
              <a:t>условия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сотрудников</a:t>
            </a:r>
            <a:r>
              <a:rPr lang="en-US" altLang="ru-RU" sz="1200"/>
              <a:t>. </a:t>
            </a:r>
            <a:endParaRPr lang="en-US" altLang="ru-RU" sz="1200"/>
          </a:p>
          <a:p>
            <a:endParaRPr lang="en-US" altLang="ru-RU" sz="1200"/>
          </a:p>
          <a:p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текущем</a:t>
            </a:r>
            <a:r>
              <a:rPr lang="en-US" altLang="ru-RU" sz="1200"/>
              <a:t> </a:t>
            </a:r>
            <a:r>
              <a:rPr lang="en-US" altLang="en-US" sz="1200"/>
              <a:t>помещении</a:t>
            </a:r>
            <a:r>
              <a:rPr lang="en-US" altLang="ru-RU" sz="1200"/>
              <a:t> </a:t>
            </a:r>
            <a:r>
              <a:rPr lang="en-US" altLang="en-US" sz="1200"/>
              <a:t>экскурсионного</a:t>
            </a:r>
            <a:r>
              <a:rPr lang="en-US" altLang="ru-RU" sz="1200"/>
              <a:t> </a:t>
            </a:r>
            <a:r>
              <a:rPr lang="en-US" altLang="en-US" sz="1200"/>
              <a:t>центра</a:t>
            </a:r>
            <a:r>
              <a:rPr lang="en-US" altLang="ru-RU" sz="1200"/>
              <a:t> </a:t>
            </a:r>
            <a:r>
              <a:rPr lang="en-US" altLang="en-US" sz="1200"/>
              <a:t>места</a:t>
            </a:r>
            <a:r>
              <a:rPr lang="en-US" altLang="ru-RU" sz="1200"/>
              <a:t> </a:t>
            </a:r>
            <a:r>
              <a:rPr lang="en-US" altLang="en-US" sz="1200"/>
              <a:t>крайне</a:t>
            </a:r>
            <a:r>
              <a:rPr lang="en-US" altLang="ru-RU" sz="1200"/>
              <a:t> </a:t>
            </a:r>
            <a:r>
              <a:rPr lang="en-US" altLang="en-US" sz="1200"/>
              <a:t>мало</a:t>
            </a:r>
            <a:r>
              <a:rPr lang="ru-RU" altLang="en-US" sz="1200"/>
              <a:t>.</a:t>
            </a:r>
            <a:endParaRPr lang="en-US" altLang="ru-RU" sz="1200"/>
          </a:p>
          <a:p>
            <a:endParaRPr lang="en-US" altLang="ru-RU" sz="1200"/>
          </a:p>
          <a:p>
            <a:endParaRPr lang="en-US" altLang="ru-RU" sz="1200"/>
          </a:p>
          <a:p>
            <a:endParaRPr lang="en-US" altLang="ru-RU" sz="1200"/>
          </a:p>
        </p:txBody>
      </p:sp>
      <p:pic>
        <p:nvPicPr>
          <p:cNvPr id="3" name="Изображение 2" descr="ра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25" y="1059815"/>
            <a:ext cx="2757170" cy="3552190"/>
          </a:xfrm>
          <a:prstGeom prst="rect">
            <a:avLst/>
          </a:prstGeom>
        </p:spPr>
      </p:pic>
      <p:pic>
        <p:nvPicPr>
          <p:cNvPr id="8" name="Изображение 7" descr="раб2"/>
          <p:cNvPicPr>
            <a:picLocks noChangeAspect="1"/>
          </p:cNvPicPr>
          <p:nvPr/>
        </p:nvPicPr>
        <p:blipFill>
          <a:blip r:embed="rId4"/>
          <a:srcRect t="44802"/>
          <a:stretch>
            <a:fillRect/>
          </a:stretch>
        </p:blipFill>
        <p:spPr>
          <a:xfrm>
            <a:off x="1038225" y="2355850"/>
            <a:ext cx="2967990" cy="2184400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4132580" y="2283460"/>
            <a:ext cx="1719580" cy="2764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>
                <a:sym typeface="+mn-ea"/>
              </a:rPr>
              <a:t>У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двух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сотрудников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нет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личных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шкафчиков</a:t>
            </a:r>
            <a:r>
              <a:rPr lang="en-US" altLang="ru-RU" sz="1200">
                <a:sym typeface="+mn-ea"/>
              </a:rPr>
              <a:t> — </a:t>
            </a:r>
            <a:r>
              <a:rPr lang="en-US" altLang="en-US" sz="1200">
                <a:sym typeface="+mn-ea"/>
              </a:rPr>
              <a:t>их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вещи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вынужденно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размещаются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на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спинках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стульев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у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входа</a:t>
            </a:r>
            <a:r>
              <a:rPr lang="en-US" altLang="ru-RU" sz="1200">
                <a:sym typeface="+mn-ea"/>
              </a:rPr>
              <a:t>, </a:t>
            </a:r>
            <a:r>
              <a:rPr lang="en-US" altLang="en-US" sz="1200">
                <a:sym typeface="+mn-ea"/>
              </a:rPr>
              <a:t>что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создает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неудобства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и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мешает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проходу</a:t>
            </a:r>
            <a:r>
              <a:rPr lang="en-US" altLang="ru-RU" sz="1200">
                <a:sym typeface="+mn-ea"/>
              </a:rPr>
              <a:t>. </a:t>
            </a:r>
            <a:endParaRPr lang="en-US" altLang="ru-RU" sz="1200"/>
          </a:p>
          <a:p>
            <a:endParaRPr lang="en-US" altLang="ru-RU" sz="1200"/>
          </a:p>
          <a:p>
            <a:r>
              <a:rPr lang="en-US" altLang="en-US" sz="1200">
                <a:sym typeface="+mn-ea"/>
              </a:rPr>
              <a:t>Пространства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для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установки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шкафчиков</a:t>
            </a:r>
            <a:r>
              <a:rPr lang="en-US" altLang="ru-RU" sz="1200">
                <a:sym typeface="+mn-ea"/>
              </a:rPr>
              <a:t> </a:t>
            </a:r>
            <a:r>
              <a:rPr lang="en-US" altLang="en-US" sz="1200">
                <a:sym typeface="+mn-ea"/>
              </a:rPr>
              <a:t>нет</a:t>
            </a:r>
            <a:r>
              <a:rPr lang="en-US" altLang="ru-RU" sz="1200">
                <a:sym typeface="+mn-ea"/>
              </a:rPr>
              <a:t>.</a:t>
            </a:r>
            <a:endParaRPr lang="en-US" altLang="ru-RU" sz="1200"/>
          </a:p>
          <a:p>
            <a:endParaRPr lang="en-US" altLang="ru-RU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940" y="339090"/>
            <a:ext cx="784542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ЧТО МОЖНО ЕЩЕ ИЗМЕНИТЬ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?</a:t>
            </a:r>
            <a:endParaRPr lang="ru-RU" sz="16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pPr algn="ctr"/>
            <a:endParaRPr lang="en-US" altLang="en-US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pPr algn="ctr"/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Предложение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по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обмену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помещений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экскурсионного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центра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en-US" altLang="en-US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и</a:t>
            </a:r>
            <a:r>
              <a:rPr lang="en-US" altLang="ru-RU" sz="1600" b="1" dirty="0">
                <a:solidFill>
                  <a:srgbClr val="00549F"/>
                </a:solidFill>
                <a:latin typeface="PT Sans" panose="020B0503020203020204" pitchFamily="34" charset="-52"/>
              </a:rPr>
              <a:t> KFU Store</a:t>
            </a:r>
            <a:endParaRPr lang="en-US" altLang="ru-RU" sz="1600" b="1" dirty="0">
              <a:solidFill>
                <a:srgbClr val="00549F"/>
              </a:solidFill>
              <a:latin typeface="PT Sans" panose="020B0503020203020204" pitchFamily="34" charset="-52"/>
            </a:endParaRP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Изображение 4" descr="pobeda80_logo_sont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384300"/>
            <a:ext cx="342265" cy="61150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25400" y="4088130"/>
            <a:ext cx="87757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ru-RU" altLang="en-US" sz="54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28</a:t>
            </a:r>
            <a:endParaRPr lang="ru-RU" altLang="en-US" sz="54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043305" y="1471930"/>
            <a:ext cx="3520440" cy="2854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altLang="en-US" sz="1200"/>
              <a:t>В экскурсионном центре </a:t>
            </a:r>
            <a:r>
              <a:rPr lang="en-US" altLang="en-US" sz="1200"/>
              <a:t>использу</a:t>
            </a:r>
            <a:r>
              <a:rPr lang="ru-RU" altLang="en-US" sz="1200"/>
              <a:t>ется</a:t>
            </a:r>
            <a:r>
              <a:rPr lang="en-US" altLang="ru-RU" sz="1200"/>
              <a:t> </a:t>
            </a:r>
            <a:r>
              <a:rPr lang="en-US" altLang="en-US" sz="1200"/>
              <a:t>больш</a:t>
            </a:r>
            <a:r>
              <a:rPr lang="ru-RU" altLang="en-US" sz="1200"/>
              <a:t>ой</a:t>
            </a:r>
            <a:r>
              <a:rPr lang="en-US" altLang="ru-RU" sz="1200"/>
              <a:t> </a:t>
            </a:r>
            <a:r>
              <a:rPr lang="en-US" altLang="en-US" sz="1200"/>
              <a:t>шкаф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размещения</a:t>
            </a:r>
            <a:r>
              <a:rPr lang="en-US" altLang="ru-RU" sz="1200"/>
              <a:t> </a:t>
            </a:r>
            <a:r>
              <a:rPr lang="ru-RU" altLang="en-US" sz="1200"/>
              <a:t>музейных предметов</a:t>
            </a:r>
            <a:r>
              <a:rPr lang="en-US" altLang="ru-RU" sz="1200"/>
              <a:t>, </a:t>
            </a:r>
            <a:r>
              <a:rPr lang="en-US" altLang="en-US" sz="1200"/>
              <a:t>однако</a:t>
            </a:r>
            <a:r>
              <a:rPr lang="en-US" altLang="ru-RU" sz="1200"/>
              <a:t> </a:t>
            </a:r>
            <a:r>
              <a:rPr lang="en-US" altLang="en-US" sz="1200"/>
              <a:t>ассортимент</a:t>
            </a:r>
            <a:r>
              <a:rPr lang="en-US" altLang="ru-RU" sz="1200"/>
              <a:t> </a:t>
            </a:r>
            <a:r>
              <a:rPr lang="en-US" altLang="en-US" sz="1200"/>
              <a:t>ограничен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не</a:t>
            </a:r>
            <a:r>
              <a:rPr lang="en-US" altLang="ru-RU" sz="1200"/>
              <a:t> </a:t>
            </a:r>
            <a:r>
              <a:rPr lang="en-US" altLang="en-US" sz="1200"/>
              <a:t>заполняет</a:t>
            </a:r>
            <a:r>
              <a:rPr lang="en-US" altLang="ru-RU" sz="1200"/>
              <a:t> </a:t>
            </a:r>
            <a:r>
              <a:rPr lang="en-US" altLang="en-US" sz="1200"/>
              <a:t>доступный</a:t>
            </a:r>
            <a:r>
              <a:rPr lang="en-US" altLang="ru-RU" sz="1200"/>
              <a:t> </a:t>
            </a:r>
            <a:r>
              <a:rPr lang="en-US" altLang="en-US" sz="1200"/>
              <a:t>объем</a:t>
            </a:r>
            <a:r>
              <a:rPr lang="en-US" altLang="ru-RU" sz="1200"/>
              <a:t> </a:t>
            </a:r>
            <a:r>
              <a:rPr lang="en-US" altLang="en-US" sz="1200"/>
              <a:t>мебели</a:t>
            </a:r>
            <a:r>
              <a:rPr lang="en-US" altLang="ru-RU" sz="1200"/>
              <a:t>.</a:t>
            </a:r>
            <a:endParaRPr lang="en-US" altLang="ru-RU" sz="1200"/>
          </a:p>
          <a:p>
            <a:endParaRPr lang="en-US" altLang="ru-RU" sz="1200"/>
          </a:p>
          <a:p>
            <a:r>
              <a:rPr lang="en-US" altLang="ru-RU" sz="1200"/>
              <a:t> </a:t>
            </a:r>
            <a:r>
              <a:rPr lang="en-US" altLang="en-US" sz="1200"/>
              <a:t>Это</a:t>
            </a:r>
            <a:r>
              <a:rPr lang="en-US" altLang="ru-RU" sz="1200"/>
              <a:t> </a:t>
            </a:r>
            <a:r>
              <a:rPr lang="en-US" altLang="en-US" sz="1200"/>
              <a:t>пространство</a:t>
            </a:r>
            <a:r>
              <a:rPr lang="en-US" altLang="ru-RU" sz="1200"/>
              <a:t> </a:t>
            </a:r>
            <a:r>
              <a:rPr lang="en-US" altLang="en-US" sz="1200"/>
              <a:t>можно</a:t>
            </a:r>
            <a:r>
              <a:rPr lang="en-US" altLang="ru-RU" sz="1200"/>
              <a:t> </a:t>
            </a:r>
            <a:r>
              <a:rPr lang="en-US" altLang="en-US" sz="1200"/>
              <a:t>было</a:t>
            </a:r>
            <a:r>
              <a:rPr lang="en-US" altLang="ru-RU" sz="1200"/>
              <a:t> </a:t>
            </a:r>
            <a:r>
              <a:rPr lang="en-US" altLang="en-US" sz="1200"/>
              <a:t>бы</a:t>
            </a:r>
            <a:r>
              <a:rPr lang="en-US" altLang="ru-RU" sz="1200"/>
              <a:t> </a:t>
            </a:r>
            <a:r>
              <a:rPr lang="en-US" altLang="en-US" sz="1200"/>
              <a:t>рационально</a:t>
            </a:r>
            <a:r>
              <a:rPr lang="en-US" altLang="ru-RU" sz="1200"/>
              <a:t> </a:t>
            </a:r>
            <a:r>
              <a:rPr lang="en-US" altLang="en-US" sz="1200"/>
              <a:t>перераспределить</a:t>
            </a:r>
            <a:r>
              <a:rPr lang="en-US" altLang="ru-RU" sz="1200"/>
              <a:t>: </a:t>
            </a:r>
            <a:r>
              <a:rPr lang="en-US" altLang="en-US" sz="1200"/>
              <a:t>выделить</a:t>
            </a:r>
            <a:r>
              <a:rPr lang="en-US" altLang="ru-RU" sz="1200"/>
              <a:t> </a:t>
            </a:r>
            <a:r>
              <a:rPr lang="en-US" altLang="en-US" sz="1200"/>
              <a:t>отдельный</a:t>
            </a:r>
            <a:r>
              <a:rPr lang="en-US" altLang="ru-RU" sz="1200"/>
              <a:t> </a:t>
            </a:r>
            <a:r>
              <a:rPr lang="en-US" altLang="en-US" sz="1200"/>
              <a:t>шкаф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документов</a:t>
            </a:r>
            <a:r>
              <a:rPr lang="en-US" altLang="ru-RU" sz="1200"/>
              <a:t> </a:t>
            </a:r>
            <a:r>
              <a:rPr lang="en-US" altLang="en-US" sz="1200"/>
              <a:t>сотрудников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разместить</a:t>
            </a:r>
            <a:r>
              <a:rPr lang="en-US" altLang="ru-RU" sz="1200"/>
              <a:t> </a:t>
            </a:r>
            <a:r>
              <a:rPr lang="en-US" altLang="en-US" sz="1200"/>
              <a:t>личные</a:t>
            </a:r>
            <a:r>
              <a:rPr lang="en-US" altLang="ru-RU" sz="1200"/>
              <a:t> </a:t>
            </a:r>
            <a:r>
              <a:rPr lang="en-US" altLang="en-US" sz="1200"/>
              <a:t>вещи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более</a:t>
            </a:r>
            <a:r>
              <a:rPr lang="en-US" altLang="ru-RU" sz="1200"/>
              <a:t> </a:t>
            </a:r>
            <a:r>
              <a:rPr lang="en-US" altLang="en-US" sz="1200"/>
              <a:t>удобных</a:t>
            </a:r>
            <a:r>
              <a:rPr lang="en-US" altLang="ru-RU" sz="1200"/>
              <a:t> </a:t>
            </a:r>
            <a:r>
              <a:rPr lang="en-US" altLang="en-US" sz="1200"/>
              <a:t>условиях</a:t>
            </a:r>
            <a:r>
              <a:rPr lang="en-US" altLang="ru-RU" sz="1200"/>
              <a:t>.</a:t>
            </a:r>
            <a:endParaRPr lang="en-US" altLang="ru-RU" sz="1200"/>
          </a:p>
          <a:p>
            <a:endParaRPr lang="en-US" altLang="ru-RU" sz="1200"/>
          </a:p>
          <a:p>
            <a:endParaRPr lang="en-US" altLang="ru-RU" sz="1200"/>
          </a:p>
          <a:p>
            <a:r>
              <a:rPr lang="ru-RU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повышения</a:t>
            </a:r>
            <a:r>
              <a:rPr lang="en-US" altLang="ru-RU" sz="1200"/>
              <a:t> </a:t>
            </a:r>
            <a:r>
              <a:rPr lang="en-US" altLang="en-US" sz="1200"/>
              <a:t>узнаваемости</a:t>
            </a:r>
            <a:r>
              <a:rPr lang="en-US" altLang="ru-RU" sz="1200"/>
              <a:t> </a:t>
            </a:r>
            <a:r>
              <a:rPr lang="en-US" altLang="en-US" sz="1200"/>
              <a:t>экскурсионного</a:t>
            </a:r>
            <a:r>
              <a:rPr lang="en-US" altLang="ru-RU" sz="1200"/>
              <a:t> </a:t>
            </a:r>
            <a:r>
              <a:rPr lang="en-US" altLang="en-US" sz="1200"/>
              <a:t>центра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облегчения</a:t>
            </a:r>
            <a:r>
              <a:rPr lang="en-US" altLang="ru-RU" sz="1200"/>
              <a:t> </a:t>
            </a:r>
            <a:r>
              <a:rPr lang="en-US" altLang="en-US" sz="1200"/>
              <a:t>навигации</a:t>
            </a:r>
            <a:r>
              <a:rPr lang="en-US" altLang="ru-RU" sz="1200"/>
              <a:t> </a:t>
            </a:r>
            <a:r>
              <a:rPr lang="en-US" altLang="en-US" sz="1200"/>
              <a:t>посетителей</a:t>
            </a:r>
            <a:r>
              <a:rPr lang="en-US" altLang="ru-RU" sz="1200"/>
              <a:t>, </a:t>
            </a:r>
            <a:r>
              <a:rPr lang="en-US" altLang="en-US" sz="1200" b="1"/>
              <a:t>рекомендуется</a:t>
            </a:r>
            <a:r>
              <a:rPr lang="en-US" altLang="ru-RU" sz="1200" b="1"/>
              <a:t> </a:t>
            </a:r>
            <a:r>
              <a:rPr lang="en-US" altLang="en-US" sz="1200" b="1"/>
              <a:t>установить</a:t>
            </a:r>
            <a:r>
              <a:rPr lang="en-US" altLang="ru-RU" sz="1200" b="1"/>
              <a:t> </a:t>
            </a:r>
            <a:r>
              <a:rPr lang="en-US" altLang="en-US" sz="1200" b="1"/>
              <a:t>соответствующую</a:t>
            </a:r>
            <a:r>
              <a:rPr lang="en-US" altLang="ru-RU" sz="1200" b="1"/>
              <a:t> </a:t>
            </a:r>
            <a:r>
              <a:rPr lang="en-US" altLang="en-US" sz="1200" b="1"/>
              <a:t>вывеску</a:t>
            </a:r>
            <a:r>
              <a:rPr lang="en-US" altLang="ru-RU" sz="1200"/>
              <a:t> </a:t>
            </a:r>
            <a:r>
              <a:rPr lang="en-US" altLang="en-US" sz="1200"/>
              <a:t>возле</a:t>
            </a:r>
            <a:r>
              <a:rPr lang="en-US" altLang="ru-RU" sz="1200"/>
              <a:t> </a:t>
            </a:r>
            <a:r>
              <a:rPr lang="en-US" altLang="en-US" sz="1200"/>
              <a:t>его</a:t>
            </a:r>
            <a:r>
              <a:rPr lang="en-US" altLang="ru-RU" sz="1200"/>
              <a:t> </a:t>
            </a:r>
            <a:r>
              <a:rPr lang="en-US" altLang="en-US" sz="1200"/>
              <a:t>помещения</a:t>
            </a:r>
            <a:r>
              <a:rPr lang="en-US" altLang="ru-RU" sz="1200"/>
              <a:t>, </a:t>
            </a:r>
            <a:r>
              <a:rPr lang="en-US" altLang="en-US" sz="1200"/>
              <a:t>так</a:t>
            </a:r>
            <a:r>
              <a:rPr lang="en-US" altLang="ru-RU" sz="1200"/>
              <a:t> </a:t>
            </a:r>
            <a:r>
              <a:rPr lang="en-US" altLang="en-US" sz="1200"/>
              <a:t>как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настоящее</a:t>
            </a:r>
            <a:r>
              <a:rPr lang="en-US" altLang="ru-RU" sz="1200"/>
              <a:t> </a:t>
            </a:r>
            <a:r>
              <a:rPr lang="en-US" altLang="en-US" sz="1200"/>
              <a:t>время</a:t>
            </a:r>
            <a:r>
              <a:rPr lang="en-US" altLang="ru-RU" sz="1200"/>
              <a:t> </a:t>
            </a:r>
            <a:r>
              <a:rPr lang="en-US" altLang="en-US" sz="1200"/>
              <a:t>ее</a:t>
            </a:r>
            <a:r>
              <a:rPr lang="en-US" altLang="ru-RU" sz="1200"/>
              <a:t> </a:t>
            </a:r>
            <a:r>
              <a:rPr lang="en-US" altLang="en-US" sz="1200"/>
              <a:t>нет</a:t>
            </a:r>
            <a:r>
              <a:rPr lang="en-US" altLang="ru-RU" sz="1200"/>
              <a:t>.</a:t>
            </a:r>
            <a:endParaRPr lang="en-US" altLang="ru-RU" sz="1200"/>
          </a:p>
          <a:p>
            <a:endParaRPr lang="en-US" altLang="ru-RU" sz="1200"/>
          </a:p>
          <a:p>
            <a:endParaRPr lang="en-US" altLang="ru-RU" sz="1200"/>
          </a:p>
        </p:txBody>
      </p:sp>
      <p:pic>
        <p:nvPicPr>
          <p:cNvPr id="2" name="Изображение 1" descr="проав"/>
          <p:cNvPicPr>
            <a:picLocks noChangeAspect="1"/>
          </p:cNvPicPr>
          <p:nvPr/>
        </p:nvPicPr>
        <p:blipFill>
          <a:blip r:embed="rId3"/>
          <a:srcRect l="16869" t="6487" r="9537" b="6964"/>
          <a:stretch>
            <a:fillRect/>
          </a:stretch>
        </p:blipFill>
        <p:spPr>
          <a:xfrm>
            <a:off x="4572000" y="1491615"/>
            <a:ext cx="1886585" cy="2959100"/>
          </a:xfrm>
          <a:prstGeom prst="rect">
            <a:avLst/>
          </a:prstGeom>
        </p:spPr>
      </p:pic>
      <p:pic>
        <p:nvPicPr>
          <p:cNvPr id="3" name="Изображение 2" descr="12345"/>
          <p:cNvPicPr>
            <a:picLocks noChangeAspect="1"/>
          </p:cNvPicPr>
          <p:nvPr/>
        </p:nvPicPr>
        <p:blipFill>
          <a:blip r:embed="rId4"/>
          <a:srcRect l="19756"/>
          <a:stretch>
            <a:fillRect/>
          </a:stretch>
        </p:blipFill>
        <p:spPr>
          <a:xfrm>
            <a:off x="6804025" y="1471930"/>
            <a:ext cx="1815465" cy="29787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>
            <a:fillRect/>
          </a:stretch>
        </p:blipFill>
        <p:spPr bwMode="auto">
          <a:xfrm>
            <a:off x="35560" y="178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67744" y="373815"/>
            <a:ext cx="525658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endParaRPr lang="ru-RU" dirty="0">
              <a:solidFill>
                <a:schemeClr val="lt1"/>
              </a:solidFill>
              <a:latin typeface="PT Sans" panose="020B0503020203020204" pitchFamily="34" charset="-52"/>
            </a:endParaRPr>
          </a:p>
        </p:txBody>
      </p:sp>
      <p:sp>
        <p:nvSpPr>
          <p:cNvPr id="7" name="Google Shape;898;g89d9307d70_13_164"/>
          <p:cNvSpPr txBox="1"/>
          <p:nvPr/>
        </p:nvSpPr>
        <p:spPr>
          <a:xfrm>
            <a:off x="2267744" y="2355726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 panose="020B0604020202020204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 panose="020B0604020202020204"/>
                <a:cs typeface="Arial" panose="020B0604020202020204"/>
                <a:sym typeface="Arial" panose="020B0604020202020204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 panose="020B0604020202020204"/>
                <a:cs typeface="Arial" panose="020B0604020202020204"/>
                <a:sym typeface="Arial" panose="020B0604020202020204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 panose="020B0604020202020204"/>
                <a:cs typeface="Arial" panose="020B0604020202020204"/>
                <a:sym typeface="Arial" panose="020B0604020202020204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 panose="020B0604020202020204"/>
                <a:cs typeface="Arial" panose="020B0604020202020204"/>
                <a:sym typeface="Arial" panose="020B0604020202020204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PT Sans" panose="020B0503020203020204" pitchFamily="34" charset="-52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67744" y="3363838"/>
            <a:ext cx="6552728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  <a:sym typeface="+mn-ea"/>
              </a:rPr>
              <a:t>Низамутдинова Айсылу</a:t>
            </a:r>
            <a:endParaRPr lang="ru-RU" sz="1400" b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  <a:sym typeface="+mn-ea"/>
              </a:rPr>
              <a:t>Сабурова Вероника</a:t>
            </a:r>
            <a:endParaRPr lang="ru-RU" sz="1400" b="1" dirty="0">
              <a:solidFill>
                <a:schemeClr val="bg1"/>
              </a:solidFill>
              <a:latin typeface="PT Sans" panose="020B0503020203020204" pitchFamily="34" charset="-52"/>
              <a:sym typeface="+mn-ea"/>
            </a:endParaRPr>
          </a:p>
          <a:p>
            <a:r>
              <a:rPr lang="ru-RU" sz="1400" b="1" dirty="0">
                <a:solidFill>
                  <a:schemeClr val="tx2">
                    <a:lumMod val="50000"/>
                  </a:schemeClr>
                </a:solidFill>
                <a:latin typeface="PT Sans" panose="020B0503020203020204" pitchFamily="34" charset="-52"/>
                <a:sym typeface="+mn-ea"/>
              </a:rPr>
              <a:t>подготовили студентки 4 курса группы 14.6-112</a:t>
            </a:r>
            <a:endParaRPr lang="ru-RU" sz="1400" b="1" dirty="0">
              <a:solidFill>
                <a:schemeClr val="tx2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ru-RU" sz="14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  <a:p>
            <a:endParaRPr lang="en-US" sz="120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  <p:pic>
        <p:nvPicPr>
          <p:cNvPr id="2" name="Изображение 1" descr="pobeda80_logo_sontou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830" y="537210"/>
            <a:ext cx="422910" cy="7550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3*338"/>
  <p:tag name="TABLE_ENDDRAG_RECT" val="80*43*623*338"/>
</p:tagLst>
</file>

<file path=ppt/tags/tag2.xml><?xml version="1.0" encoding="utf-8"?>
<p:tagLst xmlns:p="http://schemas.openxmlformats.org/presentationml/2006/main">
  <p:tag name="TABLE_ENDDRAG_ORIGIN_RECT" val="623*336"/>
  <p:tag name="TABLE_ENDDRAG_RECT" val="80*43*623*336"/>
</p:tagLst>
</file>

<file path=ppt/tags/tag3.xml><?xml version="1.0" encoding="utf-8"?>
<p:tagLst xmlns:p="http://schemas.openxmlformats.org/presentationml/2006/main">
  <p:tag name="TABLE_ENDDRAG_ORIGIN_RECT" val="521*302"/>
  <p:tag name="TABLE_ENDDRAG_RECT" val="42*100*521*302"/>
</p:tagLst>
</file>

<file path=ppt/tags/tag4.xml><?xml version="1.0" encoding="utf-8"?>
<p:tagLst xmlns:p="http://schemas.openxmlformats.org/presentationml/2006/main">
  <p:tag name="TABLE_ENDDRAG_ORIGIN_RECT" val="526*308"/>
  <p:tag name="TABLE_ENDDRAG_RECT" val="133*66*526*308"/>
</p:tagLst>
</file>

<file path=ppt/tags/tag5.xml><?xml version="1.0" encoding="utf-8"?>
<p:tagLst xmlns:p="http://schemas.openxmlformats.org/presentationml/2006/main">
  <p:tag name="TABLE_ENDDRAG_ORIGIN_RECT" val="596*246"/>
  <p:tag name="TABLE_ENDDRAG_RECT" val="62*95*596*246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16530</Words>
  <Application>WPS Presentation</Application>
  <PresentationFormat>Экран (16:9)</PresentationFormat>
  <Paragraphs>1244</Paragraphs>
  <Slides>29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SimSun</vt:lpstr>
      <vt:lpstr>Wingdings</vt:lpstr>
      <vt:lpstr>PT Sans</vt:lpstr>
      <vt:lpstr>Yu Gothic UI</vt:lpstr>
      <vt:lpstr>Times New Roman</vt:lpstr>
      <vt:lpstr>Arial</vt:lpstr>
      <vt:lpstr>Calibri</vt:lpstr>
      <vt:lpstr>Microsoft YaHei</vt:lpstr>
      <vt:lpstr>Arial Unicode MS</vt:lpstr>
      <vt:lpstr>Times New Roman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HP</cp:lastModifiedBy>
  <cp:revision>82</cp:revision>
  <dcterms:created xsi:type="dcterms:W3CDTF">2020-07-15T10:53:00Z</dcterms:created>
  <dcterms:modified xsi:type="dcterms:W3CDTF">2025-04-30T12:12:23Z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034934574454480298107FEC7B501A34_12</vt:lpwstr>
  </property>
  <property fmtid="{D5CDD505-2E9C-101B-9397-08002B2CF9AE}" pid="3" name="KSOProductBuildVer">
    <vt:lpwstr>1049-12.2.0.20795</vt:lpwstr>
  </property>
</Properties>
</file>