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5"/>
  </p:notesMasterIdLst>
  <p:sldIdLst>
    <p:sldId id="256" r:id="rId3"/>
    <p:sldId id="257" r:id="rId4"/>
    <p:sldId id="258" r:id="rId5"/>
    <p:sldId id="910" r:id="rId6"/>
    <p:sldId id="259" r:id="rId7"/>
    <p:sldId id="260" r:id="rId8"/>
    <p:sldId id="261" r:id="rId9"/>
    <p:sldId id="277" r:id="rId10"/>
    <p:sldId id="278" r:id="rId11"/>
    <p:sldId id="268" r:id="rId12"/>
    <p:sldId id="273" r:id="rId13"/>
    <p:sldId id="274" r:id="rId14"/>
    <p:sldId id="266" r:id="rId15"/>
    <p:sldId id="262" r:id="rId16"/>
    <p:sldId id="267" r:id="rId17"/>
    <p:sldId id="279" r:id="rId18"/>
    <p:sldId id="911" r:id="rId19"/>
    <p:sldId id="281" r:id="rId20"/>
    <p:sldId id="912" r:id="rId21"/>
    <p:sldId id="282" r:id="rId22"/>
    <p:sldId id="283" r:id="rId23"/>
    <p:sldId id="284" r:id="rId24"/>
    <p:sldId id="276" r:id="rId25"/>
    <p:sldId id="272" r:id="rId26"/>
    <p:sldId id="263" r:id="rId27"/>
    <p:sldId id="271" r:id="rId28"/>
    <p:sldId id="280" r:id="rId29"/>
    <p:sldId id="275" r:id="rId30"/>
    <p:sldId id="914" r:id="rId31"/>
    <p:sldId id="916" r:id="rId32"/>
    <p:sldId id="264" r:id="rId33"/>
    <p:sldId id="915" r:id="rId3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52" autoAdjust="0"/>
    <p:restoredTop sz="94660"/>
  </p:normalViewPr>
  <p:slideViewPr>
    <p:cSldViewPr snapToGrid="0">
      <p:cViewPr>
        <p:scale>
          <a:sx n="75" d="100"/>
          <a:sy n="75" d="100"/>
        </p:scale>
        <p:origin x="240" y="-1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B62F1-7655-4E40-AE7C-D51772ABF540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42FAD-704C-4F5D-A780-2C92FF9856C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727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6D78555B-AB32-409F-809E-ADCDDCA5818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2510" algn="l"/>
                <a:tab pos="906625" algn="l"/>
                <a:tab pos="1360739" algn="l"/>
                <a:tab pos="1814854" algn="l"/>
                <a:tab pos="2268968" algn="l"/>
                <a:tab pos="2723083" algn="l"/>
                <a:tab pos="3177197" algn="l"/>
                <a:tab pos="3631312" algn="l"/>
                <a:tab pos="4085426" algn="l"/>
                <a:tab pos="4539541" algn="l"/>
                <a:tab pos="4993655" algn="l"/>
                <a:tab pos="5447770" algn="l"/>
                <a:tab pos="5901884" algn="l"/>
                <a:tab pos="6355999" algn="l"/>
                <a:tab pos="6810113" algn="l"/>
                <a:tab pos="7264228" algn="l"/>
                <a:tab pos="7718342" algn="l"/>
                <a:tab pos="8174062" algn="l"/>
                <a:tab pos="8628177" algn="l"/>
                <a:tab pos="9082291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2510" algn="l"/>
                <a:tab pos="906625" algn="l"/>
                <a:tab pos="1360739" algn="l"/>
                <a:tab pos="1814854" algn="l"/>
                <a:tab pos="2268968" algn="l"/>
                <a:tab pos="2723083" algn="l"/>
                <a:tab pos="3177197" algn="l"/>
                <a:tab pos="3631312" algn="l"/>
                <a:tab pos="4085426" algn="l"/>
                <a:tab pos="4539541" algn="l"/>
                <a:tab pos="4993655" algn="l"/>
                <a:tab pos="5447770" algn="l"/>
                <a:tab pos="5901884" algn="l"/>
                <a:tab pos="6355999" algn="l"/>
                <a:tab pos="6810113" algn="l"/>
                <a:tab pos="7264228" algn="l"/>
                <a:tab pos="7718342" algn="l"/>
                <a:tab pos="8174062" algn="l"/>
                <a:tab pos="8628177" algn="l"/>
                <a:tab pos="9082291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2510" algn="l"/>
                <a:tab pos="906625" algn="l"/>
                <a:tab pos="1360739" algn="l"/>
                <a:tab pos="1814854" algn="l"/>
                <a:tab pos="2268968" algn="l"/>
                <a:tab pos="2723083" algn="l"/>
                <a:tab pos="3177197" algn="l"/>
                <a:tab pos="3631312" algn="l"/>
                <a:tab pos="4085426" algn="l"/>
                <a:tab pos="4539541" algn="l"/>
                <a:tab pos="4993655" algn="l"/>
                <a:tab pos="5447770" algn="l"/>
                <a:tab pos="5901884" algn="l"/>
                <a:tab pos="6355999" algn="l"/>
                <a:tab pos="6810113" algn="l"/>
                <a:tab pos="7264228" algn="l"/>
                <a:tab pos="7718342" algn="l"/>
                <a:tab pos="8174062" algn="l"/>
                <a:tab pos="8628177" algn="l"/>
                <a:tab pos="9082291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2510" algn="l"/>
                <a:tab pos="906625" algn="l"/>
                <a:tab pos="1360739" algn="l"/>
                <a:tab pos="1814854" algn="l"/>
                <a:tab pos="2268968" algn="l"/>
                <a:tab pos="2723083" algn="l"/>
                <a:tab pos="3177197" algn="l"/>
                <a:tab pos="3631312" algn="l"/>
                <a:tab pos="4085426" algn="l"/>
                <a:tab pos="4539541" algn="l"/>
                <a:tab pos="4993655" algn="l"/>
                <a:tab pos="5447770" algn="l"/>
                <a:tab pos="5901884" algn="l"/>
                <a:tab pos="6355999" algn="l"/>
                <a:tab pos="6810113" algn="l"/>
                <a:tab pos="7264228" algn="l"/>
                <a:tab pos="7718342" algn="l"/>
                <a:tab pos="8174062" algn="l"/>
                <a:tab pos="8628177" algn="l"/>
                <a:tab pos="9082291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2510" algn="l"/>
                <a:tab pos="906625" algn="l"/>
                <a:tab pos="1360739" algn="l"/>
                <a:tab pos="1814854" algn="l"/>
                <a:tab pos="2268968" algn="l"/>
                <a:tab pos="2723083" algn="l"/>
                <a:tab pos="3177197" algn="l"/>
                <a:tab pos="3631312" algn="l"/>
                <a:tab pos="4085426" algn="l"/>
                <a:tab pos="4539541" algn="l"/>
                <a:tab pos="4993655" algn="l"/>
                <a:tab pos="5447770" algn="l"/>
                <a:tab pos="5901884" algn="l"/>
                <a:tab pos="6355999" algn="l"/>
                <a:tab pos="6810113" algn="l"/>
                <a:tab pos="7264228" algn="l"/>
                <a:tab pos="7718342" algn="l"/>
                <a:tab pos="8174062" algn="l"/>
                <a:tab pos="8628177" algn="l"/>
                <a:tab pos="9082291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41758" indent="-231069" defTabSz="45411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2510" algn="l"/>
                <a:tab pos="906625" algn="l"/>
                <a:tab pos="1360739" algn="l"/>
                <a:tab pos="1814854" algn="l"/>
                <a:tab pos="2268968" algn="l"/>
                <a:tab pos="2723083" algn="l"/>
                <a:tab pos="3177197" algn="l"/>
                <a:tab pos="3631312" algn="l"/>
                <a:tab pos="4085426" algn="l"/>
                <a:tab pos="4539541" algn="l"/>
                <a:tab pos="4993655" algn="l"/>
                <a:tab pos="5447770" algn="l"/>
                <a:tab pos="5901884" algn="l"/>
                <a:tab pos="6355999" algn="l"/>
                <a:tab pos="6810113" algn="l"/>
                <a:tab pos="7264228" algn="l"/>
                <a:tab pos="7718342" algn="l"/>
                <a:tab pos="8174062" algn="l"/>
                <a:tab pos="8628177" algn="l"/>
                <a:tab pos="9082291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3003895" indent="-231069" defTabSz="45411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2510" algn="l"/>
                <a:tab pos="906625" algn="l"/>
                <a:tab pos="1360739" algn="l"/>
                <a:tab pos="1814854" algn="l"/>
                <a:tab pos="2268968" algn="l"/>
                <a:tab pos="2723083" algn="l"/>
                <a:tab pos="3177197" algn="l"/>
                <a:tab pos="3631312" algn="l"/>
                <a:tab pos="4085426" algn="l"/>
                <a:tab pos="4539541" algn="l"/>
                <a:tab pos="4993655" algn="l"/>
                <a:tab pos="5447770" algn="l"/>
                <a:tab pos="5901884" algn="l"/>
                <a:tab pos="6355999" algn="l"/>
                <a:tab pos="6810113" algn="l"/>
                <a:tab pos="7264228" algn="l"/>
                <a:tab pos="7718342" algn="l"/>
                <a:tab pos="8174062" algn="l"/>
                <a:tab pos="8628177" algn="l"/>
                <a:tab pos="9082291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66033" indent="-231069" defTabSz="45411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2510" algn="l"/>
                <a:tab pos="906625" algn="l"/>
                <a:tab pos="1360739" algn="l"/>
                <a:tab pos="1814854" algn="l"/>
                <a:tab pos="2268968" algn="l"/>
                <a:tab pos="2723083" algn="l"/>
                <a:tab pos="3177197" algn="l"/>
                <a:tab pos="3631312" algn="l"/>
                <a:tab pos="4085426" algn="l"/>
                <a:tab pos="4539541" algn="l"/>
                <a:tab pos="4993655" algn="l"/>
                <a:tab pos="5447770" algn="l"/>
                <a:tab pos="5901884" algn="l"/>
                <a:tab pos="6355999" algn="l"/>
                <a:tab pos="6810113" algn="l"/>
                <a:tab pos="7264228" algn="l"/>
                <a:tab pos="7718342" algn="l"/>
                <a:tab pos="8174062" algn="l"/>
                <a:tab pos="8628177" algn="l"/>
                <a:tab pos="9082291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928171" indent="-231069" defTabSz="45411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2510" algn="l"/>
                <a:tab pos="906625" algn="l"/>
                <a:tab pos="1360739" algn="l"/>
                <a:tab pos="1814854" algn="l"/>
                <a:tab pos="2268968" algn="l"/>
                <a:tab pos="2723083" algn="l"/>
                <a:tab pos="3177197" algn="l"/>
                <a:tab pos="3631312" algn="l"/>
                <a:tab pos="4085426" algn="l"/>
                <a:tab pos="4539541" algn="l"/>
                <a:tab pos="4993655" algn="l"/>
                <a:tab pos="5447770" algn="l"/>
                <a:tab pos="5901884" algn="l"/>
                <a:tab pos="6355999" algn="l"/>
                <a:tab pos="6810113" algn="l"/>
                <a:tab pos="7264228" algn="l"/>
                <a:tab pos="7718342" algn="l"/>
                <a:tab pos="8174062" algn="l"/>
                <a:tab pos="8628177" algn="l"/>
                <a:tab pos="9082291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452510" algn="l"/>
                <a:tab pos="906625" algn="l"/>
                <a:tab pos="1360739" algn="l"/>
                <a:tab pos="1814854" algn="l"/>
                <a:tab pos="2268968" algn="l"/>
                <a:tab pos="2723083" algn="l"/>
                <a:tab pos="3177197" algn="l"/>
                <a:tab pos="3631312" algn="l"/>
                <a:tab pos="4085426" algn="l"/>
                <a:tab pos="4539541" algn="l"/>
                <a:tab pos="4993655" algn="l"/>
                <a:tab pos="5447770" algn="l"/>
                <a:tab pos="5901884" algn="l"/>
                <a:tab pos="6355999" algn="l"/>
                <a:tab pos="6810113" algn="l"/>
                <a:tab pos="7264228" algn="l"/>
                <a:tab pos="7718342" algn="l"/>
                <a:tab pos="8174062" algn="l"/>
                <a:tab pos="8628177" algn="l"/>
                <a:tab pos="9082291" algn="l"/>
              </a:tabLst>
              <a:defRPr/>
            </a:pPr>
            <a:fld id="{41EF1063-DAC8-4065-81FB-2A73FC3A920F}" type="slidenum">
              <a:rPr kumimoji="0" lang="ru-RU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452510" algn="l"/>
                  <a:tab pos="906625" algn="l"/>
                  <a:tab pos="1360739" algn="l"/>
                  <a:tab pos="1814854" algn="l"/>
                  <a:tab pos="2268968" algn="l"/>
                  <a:tab pos="2723083" algn="l"/>
                  <a:tab pos="3177197" algn="l"/>
                  <a:tab pos="3631312" algn="l"/>
                  <a:tab pos="4085426" algn="l"/>
                  <a:tab pos="4539541" algn="l"/>
                  <a:tab pos="4993655" algn="l"/>
                  <a:tab pos="5447770" algn="l"/>
                  <a:tab pos="5901884" algn="l"/>
                  <a:tab pos="6355999" algn="l"/>
                  <a:tab pos="6810113" algn="l"/>
                  <a:tab pos="7264228" algn="l"/>
                  <a:tab pos="7718342" algn="l"/>
                  <a:tab pos="8174062" algn="l"/>
                  <a:tab pos="8628177" algn="l"/>
                  <a:tab pos="9082291" algn="l"/>
                </a:tabLst>
                <a:defRPr/>
              </a:pPr>
              <a:t>4</a:t>
            </a:fld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6627" name="Rectangle 1">
            <a:extLst>
              <a:ext uri="{FF2B5EF4-FFF2-40B4-BE49-F238E27FC236}">
                <a16:creationId xmlns:a16="http://schemas.microsoft.com/office/drawing/2014/main" id="{84713F07-2663-45EB-8E74-2B954FD086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0813" y="1360488"/>
            <a:ext cx="6527800" cy="367188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1B63B9BF-B7CE-4E84-B063-B20A47E82B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-217419"/>
            <a:ext cx="1595" cy="4365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  <a:tabLst>
                <a:tab pos="0" algn="l"/>
                <a:tab pos="452510" algn="l"/>
                <a:tab pos="906625" algn="l"/>
                <a:tab pos="1360739" algn="l"/>
                <a:tab pos="1814854" algn="l"/>
                <a:tab pos="2268968" algn="l"/>
                <a:tab pos="2723083" algn="l"/>
                <a:tab pos="3177197" algn="l"/>
                <a:tab pos="3631312" algn="l"/>
                <a:tab pos="4085426" algn="l"/>
                <a:tab pos="4539541" algn="l"/>
                <a:tab pos="4993655" algn="l"/>
                <a:tab pos="5447770" algn="l"/>
                <a:tab pos="5901884" algn="l"/>
                <a:tab pos="6355999" algn="l"/>
                <a:tab pos="6810113" algn="l"/>
                <a:tab pos="7264228" algn="l"/>
                <a:tab pos="7718342" algn="l"/>
                <a:tab pos="8174062" algn="l"/>
                <a:tab pos="8628177" algn="l"/>
                <a:tab pos="9082291" algn="l"/>
              </a:tabLst>
            </a:pPr>
            <a:endParaRPr lang="ru-RU" altLang="ru-RU" sz="200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6629" name="Text Box 3">
            <a:extLst>
              <a:ext uri="{FF2B5EF4-FFF2-40B4-BE49-F238E27FC236}">
                <a16:creationId xmlns:a16="http://schemas.microsoft.com/office/drawing/2014/main" id="{1079CD6F-6052-4A95-BB9D-2B2E43B4D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595" cy="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990" tIns="45495" rIns="90990" bIns="45495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fld id="{2802B144-A3BD-4614-A2BC-741EEB57DB42}" type="slidenum">
              <a:rPr kumimoji="0" lang="ru-RU" alt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Microsoft YaHei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/>
              </a:pPr>
              <a:t>4</a:t>
            </a:fld>
            <a:endParaRPr kumimoji="0" lang="ru-RU" alt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2974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46427-46DC-C9E0-F6CC-95369AED5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05C146-18ED-501E-7DAA-138C8A87A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30D93F-35A8-76EA-5CC1-A3C34FD12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C937-83C3-4EA8-83CF-544EE59F31D7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384149-C975-CCDD-15CA-2FF42EC0A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156CA8-07D3-2853-C6D4-85BCB2178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63D1-B725-4483-A46F-F4A8A0375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409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5B5632-73E2-B2A3-B2C8-53178CB96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E0BD83-B2B3-7FAB-638A-06A78E7E1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724A05-8744-3A24-5C83-E3E7943AF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C937-83C3-4EA8-83CF-544EE59F31D7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D74E8A-F728-89AF-6DCC-126044499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7EE545-1D67-EA5A-A479-362545AB1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63D1-B725-4483-A46F-F4A8A0375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886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15480-2FFA-BBEE-F374-0DE124280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65D6EA-EF95-2B5A-2773-92999996E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81D875-4F1C-566B-6745-5754C77DB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C937-83C3-4EA8-83CF-544EE59F31D7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37DF68-A465-FD86-C34F-946990BC9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2648EF-C611-17C2-A531-F83F637D6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63D1-B725-4483-A46F-F4A8A0375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24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CCCAD-0857-3D5D-E23D-791E6C4A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9A4E2A-1900-1134-0CDA-09C1CEB61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F17BA25-043A-9179-6B04-5FE159296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AD783E-5ABF-95DC-2511-B19F304C2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C937-83C3-4EA8-83CF-544EE59F31D7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82C50C-6431-7FBD-4331-78FDB8DD4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BFC485-0B33-73B7-6B14-581E1EAD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63D1-B725-4483-A46F-F4A8A0375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196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B6811-CDFE-EB86-CF73-B46CCA32D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D101EC-FB66-800A-C804-67D4DD869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87D752-74EC-FFA7-7148-F11D8689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128F19-7489-90F5-8258-0F9BBF648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C725B2E-3DDE-F465-0943-EE596CF7BB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D6D60ED-5D03-307A-1827-81363115A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C937-83C3-4EA8-83CF-544EE59F31D7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FCD1AD6-1707-1B7E-C4D7-217A5FF30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E587CAB-0791-99AC-8A62-A5965BBF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63D1-B725-4483-A46F-F4A8A0375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060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B05F73-ABDE-9160-269D-F7B0EE7B2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D9E2E99-57FC-7BA9-AECC-608BE2A4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C937-83C3-4EA8-83CF-544EE59F31D7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DAECD0F-6937-D8C8-F43E-7D1FCD00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9D997CF-13F7-E32B-953E-83B92E36B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63D1-B725-4483-A46F-F4A8A0375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00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C3A6737-0B00-2726-DFC5-1602C5861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C937-83C3-4EA8-83CF-544EE59F31D7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8E43F2D-2E47-B3B9-CE70-C1071F00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3282EF-75E4-78D8-973A-1EAFA7DC0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63D1-B725-4483-A46F-F4A8A0375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891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2AC185-02B9-46FC-0235-4F77CF461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68B130-DB5F-6680-3B4E-53D0CA007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127DB4-135A-4ABC-E214-E7B3E9D87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8CEAA2-363B-8052-E607-A1AE4FB42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C937-83C3-4EA8-83CF-544EE59F31D7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DFFDE3-8ABD-2B75-7648-78343D6F4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C30D52-6FE9-4B7A-4453-3CF2068A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63D1-B725-4483-A46F-F4A8A0375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406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FCBFD3-23F9-A113-2C64-75CBC16B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BF3A035-B6E4-69C0-9818-C68A44AF2D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8E698A2-1094-4B51-520C-4175AB4A22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0D6941-B88F-822B-4D28-6423AF56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C937-83C3-4EA8-83CF-544EE59F31D7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849EF8-7B07-D194-A615-9E8A06607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A51712-D39F-7844-788D-49BC3200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63D1-B725-4483-A46F-F4A8A0375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640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B6CBF9-766F-0905-154B-FB971D977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97C265-9843-468E-2F98-8B11C73A6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FF4292-B1B8-1C2F-0A57-C9367159D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C937-83C3-4EA8-83CF-544EE59F31D7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A2543B-0D3F-AC45-02BB-9E2DC9B5B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3657E7-1AE7-0169-C40F-04FD74806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63D1-B725-4483-A46F-F4A8A0375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02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1989D9-3992-A995-A0E6-FBCAC0BC5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607E29E-4348-1439-13D2-2105F2C79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F68ABA-43E8-9F56-2451-6FD7E52DF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C937-83C3-4EA8-83CF-544EE59F31D7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086F3-2B53-D2E5-B151-2FADE8D5D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89498F-9884-89F6-F604-343049DA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A63D1-B725-4483-A46F-F4A8A0375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780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EA231C-4899-4C93-BB7C-1FBE30BA1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3AF50F9-829C-4121-A444-83DC0C80A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67EC13-9F44-4E8B-9FA8-BA021A33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D710-73B3-4D8E-898E-9873F2E5DB98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F4D8EC-C8EA-48E8-8664-D13FCF555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E8A974-54B1-47EF-B0F5-DF91C28C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253C-1236-4532-A8C0-6DCED82C14F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843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CD69C0-77E9-4A79-BDA8-EFAF1491C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466D49-66C8-477E-B7A4-FAF1A6D47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6EAE2D-1C48-4279-976B-35E283CF0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D710-73B3-4D8E-898E-9873F2E5DB98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29C794-2C13-4885-9765-8B5186578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7D8C1B-EDB5-4D9A-B4D2-FD7C20F02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253C-1236-4532-A8C0-6DCED82C14F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7067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99A84-D452-47C3-A580-7777A5DB5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9AE5E6-BC55-4FD9-B513-25EE63029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5583B2-5C59-4671-ADB1-60BFF8E5F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D710-73B3-4D8E-898E-9873F2E5DB98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2CBE46-AF56-4F2D-A9B4-E0B4D2D86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E1D16D-9C27-4538-B925-372AB5BF6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253C-1236-4532-A8C0-6DCED82C14F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959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8BBBF8-7EF9-415A-82F5-D2642B8EB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2F9B05-AF1A-4F2F-A17A-890438B9B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9CCFB06-FBF8-4A7F-AF4C-265B8233C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3845E8-855C-4291-8BE5-246AAD609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D710-73B3-4D8E-898E-9873F2E5DB98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906D8C-8BFD-4692-B730-B584A226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D76D84-2D0A-43C3-9DB5-C83567F38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253C-1236-4532-A8C0-6DCED82C14F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521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B12173-0FD8-47D9-B700-564F7ED03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3D73F1-BECC-4049-B9C2-3DCDEF273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46CEBE-CC54-4EC8-9ABE-CF6790B70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F3F133F-F142-4397-A69F-5FA06D7458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4E38183-51AF-410C-BD60-31FFC724F5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FFC0186-D258-4B51-83CC-62AB676FB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D710-73B3-4D8E-898E-9873F2E5DB98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34C18C2-D5AD-465B-9D52-313EC9648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887FE92-BBD9-4DA6-A966-7D1433B2B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253C-1236-4532-A8C0-6DCED82C14F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2440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F1A71-9AF7-4FE7-9DFE-F4D45066A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46D32AE-3A6C-4569-B7A3-C098AA466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D710-73B3-4D8E-898E-9873F2E5DB98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328343-32EE-4C5A-A781-0ADCF5DF7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B80282-39B5-44B4-8C5B-0277E7EB2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253C-1236-4532-A8C0-6DCED82C14F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9199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211DFAE-BCF6-44F2-86A0-5750D0680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D710-73B3-4D8E-898E-9873F2E5DB98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C7C8EFD-4D5A-4261-AF25-4AAABE0CA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EDBC3F-CCE4-4C32-88A3-6E3A5B771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253C-1236-4532-A8C0-6DCED82C14F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8037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82A8C5-04AC-42D2-9899-2CB6C90BE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DCC0B2-3704-4804-AEDD-C3BB54278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D28491-D07F-48F1-882C-F479CC26A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0A6789-CB4D-4BD3-BB1E-0EB580D05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D710-73B3-4D8E-898E-9873F2E5DB98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652461-B49C-47C4-8964-6884ABCD8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523889-FBD0-44EB-B2CC-874BFC10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253C-1236-4532-A8C0-6DCED82C14F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5117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4660C1-EC7A-4CDF-A21C-FE6952BB6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D9E2FE6-8409-4391-BEC1-DF26F5F2BB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09445E-5874-421F-8AA4-7D033CAD2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539443-9422-41AF-9A95-84F7B50E7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D710-73B3-4D8E-898E-9873F2E5DB98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E4B538-9178-411D-8E3A-BB910B842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88B488-372D-4980-B44B-3A039A9F8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253C-1236-4532-A8C0-6DCED82C14F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24851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5FCDB2-1C10-42B5-B0D4-FDC99FB08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CF3851-B885-4E35-A4B8-1AD865CE7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EB53D7-89A4-4847-B83A-A6E0E4D7A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D710-73B3-4D8E-898E-9873F2E5DB98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72247B-A6B5-45F1-818B-1B39B0BFC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17F2A8-823C-462A-903F-45001E61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253C-1236-4532-A8C0-6DCED82C14F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9776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28AA188-6D62-438A-809B-5A5859CC2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F17B42-1D06-45FF-989E-C88A15278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21E87B-1BB2-4FEB-8D76-32E222503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D710-73B3-4D8E-898E-9873F2E5DB98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FD9220-6156-48F3-BFCE-E6497C4C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66E257-BDA8-4CF6-B0C0-C3E90E2F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253C-1236-4532-A8C0-6DCED82C14F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430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3802" y="1122364"/>
            <a:ext cx="9139635" cy="23844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B6CBE3-D1E1-4049-9C3F-0E5506EED97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15.12.20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9D2707-8CCE-49AF-9930-58AEF7BF6827}"/>
              </a:ext>
            </a:extLst>
          </p:cNvPr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776CBC-CF9A-408E-992F-99D2245D7A7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07889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57A12-7E2F-9B4B-CC7E-245296308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2EAAFC-284B-CBE0-7FC9-E324EE139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0B23C2-DFB7-5ACD-5AF4-463079865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2C937-83C3-4EA8-83CF-544EE59F31D7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D98A9C-E17C-4824-D8F3-D84DB1F0F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4F3CD2-668D-C236-16B0-98FEED1D2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A63D1-B725-4483-A46F-F4A8A0375C6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51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8A967-B4E1-43B2-8F56-2ED2BDFE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5C5D19-565E-42B9-9EF9-5F4234803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AA3EB1-BABF-4D30-9C3C-17FD639AB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0D710-73B3-4D8E-898E-9873F2E5DB98}" type="datetimeFigureOut">
              <a:rPr lang="ru-RU" smtClean="0"/>
              <a:pPr/>
              <a:t>15.05.2025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9C8C3C-241D-4851-99B4-BEF5047A7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AE4E47-9687-4876-8D7F-CAA43E7F9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5253C-1236-4532-A8C0-6DCED82C14F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287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AE508-108A-E69C-1FEC-C87E30443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32434"/>
            <a:ext cx="9144000" cy="1978605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 отдела кадров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студентов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3E3F5C-E52A-F5B1-0284-28F38753E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5735637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курса 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14.1-120 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Сафин К.Д. </a:t>
            </a:r>
          </a:p>
        </p:txBody>
      </p:sp>
    </p:spTree>
    <p:extLst>
      <p:ext uri="{BB962C8B-B14F-4D97-AF65-F5344CB8AC3E}">
        <p14:creationId xmlns:p14="http://schemas.microsoft.com/office/powerpoint/2010/main" val="4111369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41E7CA-B20E-C344-0D84-943F8AC7F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Общее описание </a:t>
            </a:r>
            <a:r>
              <a:rPr lang="ru-RU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подразделения и выбранного процесса.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167A59-AD71-31FC-0F88-B6A66B701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Сотрудники отдела кадров для студентов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ведут всю кадровую документацию, связанную с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обучаю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щимися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Оформляют приказы о зачислении, переводе, отчислении.</a:t>
            </a:r>
          </a:p>
          <a:p>
            <a:pPr lvl="1" algn="l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Контролируют наличие необходимых документов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Архивариус или документовед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Отвечает за хранение личных дел выпускников и отчисленных студентов.</a:t>
            </a:r>
          </a:p>
          <a:p>
            <a:pPr lvl="1" algn="l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Уничтожает дела по истечении сроков хранения (обычно 75 лет).</a:t>
            </a:r>
          </a:p>
        </p:txBody>
      </p:sp>
    </p:spTree>
    <p:extLst>
      <p:ext uri="{BB962C8B-B14F-4D97-AF65-F5344CB8AC3E}">
        <p14:creationId xmlns:p14="http://schemas.microsoft.com/office/powerpoint/2010/main" val="3684267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C82637-E31E-FE9A-4C80-5CF4D79DC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Какие документы входят в личное дело студента?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240F3F-353A-E642-7459-1F3CCF0E1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Заявление о поступлении.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Копия паспорта и документов об образовании (аттестат, диплом).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Фотографии.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Приказ о зачислении.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Договор на обучение (для платников).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Академические справки (при переводе).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Медицинская справка (форма 086/у).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Другие документы (например, согласие на обработку персональных данных).</a:t>
            </a:r>
          </a:p>
        </p:txBody>
      </p:sp>
    </p:spTree>
    <p:extLst>
      <p:ext uri="{BB962C8B-B14F-4D97-AF65-F5344CB8AC3E}">
        <p14:creationId xmlns:p14="http://schemas.microsoft.com/office/powerpoint/2010/main" val="605908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C5176F8-F0DF-4C69-9080-C9F726872742}"/>
              </a:ext>
            </a:extLst>
          </p:cNvPr>
          <p:cNvSpPr/>
          <p:nvPr/>
        </p:nvSpPr>
        <p:spPr>
          <a:xfrm>
            <a:off x="339124" y="862352"/>
            <a:ext cx="11484068" cy="1373095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5FCA1FF4-2FBE-4760-B48C-7BF7B5331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808" y="899871"/>
            <a:ext cx="2305566" cy="1330121"/>
          </a:xfrm>
          <a:prstGeom prst="rect">
            <a:avLst/>
          </a:prstGeom>
          <a:solidFill>
            <a:srgbClr val="E8EDF1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altLang="ru-RU" sz="1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ОБЩАЯ</a:t>
            </a:r>
            <a:r>
              <a:rPr kumimoji="0" lang="ru-RU" alt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ИНФОРМАЦИЯ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1C92712-6229-4CE9-910E-9A2DA3C7E788}"/>
              </a:ext>
            </a:extLst>
          </p:cNvPr>
          <p:cNvSpPr/>
          <p:nvPr/>
        </p:nvSpPr>
        <p:spPr>
          <a:xfrm>
            <a:off x="2775300" y="1061902"/>
            <a:ext cx="6096000" cy="1200329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Наименование образовательной организации: </a:t>
            </a:r>
            <a:r>
              <a:rPr lang="ru-RU" sz="1200" b="1" i="0" dirty="0">
                <a:solidFill>
                  <a:srgbClr val="333333"/>
                </a:solidFill>
                <a:effectLst/>
                <a:latin typeface="Times New Roman" pitchFamily="18" charset="0"/>
                <a:cs typeface="Times New Roman" pitchFamily="18" charset="0"/>
              </a:rPr>
              <a:t>ФГАОУ ВО КФУ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Адрес: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Республика Татарстан,  г. Казань, ул. Бутлерова ,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Границы процесса: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Дата начала проекта: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05.04.2025</a:t>
            </a: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Дата окончания проекта: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05.04.2026</a:t>
            </a: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48A77E0-3210-4A14-BEB6-B1AE88CD42C2}"/>
              </a:ext>
            </a:extLst>
          </p:cNvPr>
          <p:cNvSpPr/>
          <p:nvPr/>
        </p:nvSpPr>
        <p:spPr>
          <a:xfrm>
            <a:off x="339124" y="2399819"/>
            <a:ext cx="11484068" cy="1029538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AutoShape 2">
            <a:extLst>
              <a:ext uri="{FF2B5EF4-FFF2-40B4-BE49-F238E27FC236}">
                <a16:creationId xmlns:a16="http://schemas.microsoft.com/office/drawing/2014/main" id="{D24BF432-9F4F-4D9F-9F2E-00518FDBC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807" y="2424900"/>
            <a:ext cx="2305567" cy="999436"/>
          </a:xfrm>
          <a:prstGeom prst="rect">
            <a:avLst/>
          </a:prstGeom>
          <a:solidFill>
            <a:srgbClr val="E8EDF1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ОБОСНОВАНИЕ ВЫБОРА ПРОЦЕССА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4758101-109D-49D6-B9AE-61D146F66BAE}"/>
              </a:ext>
            </a:extLst>
          </p:cNvPr>
          <p:cNvSpPr/>
          <p:nvPr/>
        </p:nvSpPr>
        <p:spPr>
          <a:xfrm>
            <a:off x="2775300" y="2503820"/>
            <a:ext cx="90060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Низкая удовлетворенность потребителей (студентов) сроками обработки заявлений.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Большие временные потери при логистике:</a:t>
            </a:r>
            <a:r>
              <a:rPr kumimoji="0" lang="ru-RU" sz="12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рассмотрение заявлений , оформление приказа и передача </a:t>
            </a: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тестовых документов в бумажном формате</a:t>
            </a:r>
            <a:r>
              <a:rPr kumimoji="0" lang="ru-RU" sz="12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(от 3 до 30 дней).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Расширение цифровых технологий документооборота.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C9AF230-2BC2-4B13-B761-1F4AD0E9A1F4}"/>
              </a:ext>
            </a:extLst>
          </p:cNvPr>
          <p:cNvSpPr/>
          <p:nvPr/>
        </p:nvSpPr>
        <p:spPr>
          <a:xfrm>
            <a:off x="326925" y="3527468"/>
            <a:ext cx="11484068" cy="1292396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D466F13A-286A-40DF-892D-A47589451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51" y="3538543"/>
            <a:ext cx="2340078" cy="1247583"/>
          </a:xfrm>
          <a:prstGeom prst="rect">
            <a:avLst/>
          </a:prstGeom>
          <a:solidFill>
            <a:srgbClr val="E8EDF1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altLang="ru-RU" sz="1400" b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ЦЕЛИ</a:t>
            </a:r>
            <a:r>
              <a:rPr kumimoji="0" lang="ru-RU" altLang="ru-RU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ПРОЕКТА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F7BE5B0-42BA-49C6-887E-F1B87D69B017}"/>
              </a:ext>
            </a:extLst>
          </p:cNvPr>
          <p:cNvSpPr/>
          <p:nvPr/>
        </p:nvSpPr>
        <p:spPr>
          <a:xfrm>
            <a:off x="334306" y="4317535"/>
            <a:ext cx="106629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13E7568-8D55-48F6-BE52-F92F89333CBE}"/>
              </a:ext>
            </a:extLst>
          </p:cNvPr>
          <p:cNvSpPr/>
          <p:nvPr/>
        </p:nvSpPr>
        <p:spPr>
          <a:xfrm>
            <a:off x="334306" y="4989691"/>
            <a:ext cx="11484068" cy="968438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AutoShape 2">
            <a:extLst>
              <a:ext uri="{FF2B5EF4-FFF2-40B4-BE49-F238E27FC236}">
                <a16:creationId xmlns:a16="http://schemas.microsoft.com/office/drawing/2014/main" id="{028946D2-69AE-4F66-BBC2-9EEFCD43D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179" y="5014772"/>
            <a:ext cx="2322822" cy="943357"/>
          </a:xfrm>
          <a:prstGeom prst="rect">
            <a:avLst/>
          </a:prstGeom>
          <a:solidFill>
            <a:srgbClr val="E8EDF1"/>
          </a:solidFill>
          <a:ln>
            <a:noFill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ЭФФЕКТЫ 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ПРОЕКТА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6B4070F-3C72-4D28-89B3-68FE90E00C48}"/>
              </a:ext>
            </a:extLst>
          </p:cNvPr>
          <p:cNvSpPr/>
          <p:nvPr/>
        </p:nvSpPr>
        <p:spPr>
          <a:xfrm>
            <a:off x="2775300" y="5255617"/>
            <a:ext cx="893443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Сокращение материальных затрат на приобретение бумаги и тонера.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Сокращение временных затрат при работе с документами и приказами</a:t>
            </a:r>
            <a:r>
              <a:rPr kumimoji="0" lang="ru-RU" sz="12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(до 3х рабочих дней).</a:t>
            </a: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342900" lvl="0" indent="-342900">
              <a:buFont typeface="+mj-lt"/>
              <a:buAutoNum type="arabicPeriod"/>
              <a:defRPr/>
            </a:pPr>
            <a:r>
              <a:rPr lang="ru-RU" sz="1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Повышение удовлетворенности потребителей (студентов) сроками обработки заявлений.</a:t>
            </a:r>
            <a:endParaRPr kumimoji="0" lang="ru-RU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9033199-5E80-4A74-B2B3-752FB0AB5470}"/>
              </a:ext>
            </a:extLst>
          </p:cNvPr>
          <p:cNvSpPr/>
          <p:nvPr/>
        </p:nvSpPr>
        <p:spPr>
          <a:xfrm>
            <a:off x="167148" y="159642"/>
            <a:ext cx="1186753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ru-RU" altLang="ru-RU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ПАСПОРТ ПРОЕКТА «</a:t>
            </a:r>
            <a:r>
              <a:rPr lang="ru-RU" altLang="ru-RU" sz="2000" b="1" u="sng" dirty="0">
                <a:latin typeface="Times New Roman" pitchFamily="18" charset="0"/>
                <a:cs typeface="Times New Roman" pitchFamily="18" charset="0"/>
              </a:rPr>
              <a:t>О</a:t>
            </a:r>
            <a:r>
              <a:rPr kumimoji="0" lang="ru-RU" sz="2000" b="1" i="0" u="sng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птимизация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документооборота</a:t>
            </a:r>
            <a:r>
              <a:rPr kumimoji="0" lang="ru-RU" altLang="ru-RU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»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776298" y="3942833"/>
            <a:ext cx="881527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Внедрение новых возможностей современных технологий для оптимизации процессов документооборота.</a:t>
            </a:r>
          </a:p>
        </p:txBody>
      </p:sp>
    </p:spTree>
    <p:extLst>
      <p:ext uri="{BB962C8B-B14F-4D97-AF65-F5344CB8AC3E}">
        <p14:creationId xmlns:p14="http://schemas.microsoft.com/office/powerpoint/2010/main" val="40337678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EC313-64EF-52CE-AE6D-BC7F08758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DMAIC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54E300-D258-3D79-0857-BC33AAAA8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DMAIC – это подход, используемый в управлении производством. Он позволяет последовательно решать проблемы и совершенствовать бизнес-процессы с помощью статистики и данных. Причем эта самая последовательность основывается на строго определенных этапах.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054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D241A-0C4C-B2DC-A48F-E4506D369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ru-RU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04DD09-9301-6F6A-DC12-D75A79225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Студенты и сотрудники хотят чтобы процесс документооборота был быстрее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Ожидаемая выгода выражается в упрощении и ускорении документооборота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2554C73-862E-5BE8-2507-6419272E9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50" y="3840480"/>
            <a:ext cx="2993154" cy="2652395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3034BD-647C-5E3A-47F9-0EC98B600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663" y="3810000"/>
            <a:ext cx="8643257" cy="2702559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16509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BA2FA2-4095-55DB-32F7-886B1666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ru-RU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(</a:t>
            </a:r>
            <a:r>
              <a:rPr lang="ru-RU" i="0" dirty="0" err="1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  <a:r>
              <a:rPr lang="ru-RU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b="0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измерение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E14258-3129-08D9-9065-CF950CD50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гемба.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Рассказ и описание процессов на гемба.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Составление план-схемы процесса.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Составление диаграммы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Исикавы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40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31BE8-60D3-3F3B-8393-C146378D8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Рассказ и описание процессов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на гемба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277C94-0126-683C-EC03-92EB2064D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На проведение гемба в отделе кадров КФУ было отведено 6 часов. 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Во время проведения были получены данные о процессах, проходящих в отделе кадров, и времени затраченном на выполнение данных процессов. Данная информация была структурирована в формате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Googl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-таблицы.</a:t>
            </a:r>
          </a:p>
        </p:txBody>
      </p:sp>
    </p:spTree>
    <p:extLst>
      <p:ext uri="{BB962C8B-B14F-4D97-AF65-F5344CB8AC3E}">
        <p14:creationId xmlns:p14="http://schemas.microsoft.com/office/powerpoint/2010/main" val="3836434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073F7-8D1A-437F-C4D8-A526522C8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240" y="-348107"/>
            <a:ext cx="481584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Результаты гемба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9EB845-3062-F54D-9264-D21D65F27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Скрин гемба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9789A3-A419-7A08-C898-943F5BF98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6145"/>
            <a:ext cx="12192000" cy="636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310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D318C-D788-A30B-E650-C423BA835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План-схема процесса (общая)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E54ECFE-0F5F-C594-8054-A3D87731C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2599" y="2155370"/>
            <a:ext cx="12134747" cy="3666931"/>
          </a:xfrm>
        </p:spPr>
      </p:pic>
    </p:spTree>
    <p:extLst>
      <p:ext uri="{BB962C8B-B14F-4D97-AF65-F5344CB8AC3E}">
        <p14:creationId xmlns:p14="http://schemas.microsoft.com/office/powerpoint/2010/main" val="3230580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32095-F151-B1B5-6EB8-391E5CDF1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520" y="-103381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План-схема процесса (ч.1)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439E357-4BF5-92D9-853D-497B530566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480" y="1222182"/>
            <a:ext cx="10200640" cy="5550756"/>
          </a:xfrm>
        </p:spPr>
      </p:pic>
    </p:spTree>
    <p:extLst>
      <p:ext uri="{BB962C8B-B14F-4D97-AF65-F5344CB8AC3E}">
        <p14:creationId xmlns:p14="http://schemas.microsoft.com/office/powerpoint/2010/main" val="3394359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0E0DC7-F039-5AE9-DA1C-E07D968AE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5853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План-схема процесса (ч.2)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9FD2D7E7-A488-0394-4ABE-09FF89104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4640" y="883919"/>
            <a:ext cx="927100" cy="5995757"/>
          </a:xfr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C10465-E171-8331-DC3D-1EC8A4115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883920"/>
            <a:ext cx="8862060" cy="597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616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DC115141-B5BB-7298-A041-DE0CD94B3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065" y="865430"/>
            <a:ext cx="10353869" cy="599257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E86C1D-89E2-E548-033E-B38E3A1DED91}"/>
              </a:ext>
            </a:extLst>
          </p:cNvPr>
          <p:cNvSpPr txBox="1"/>
          <p:nvPr/>
        </p:nvSpPr>
        <p:spPr>
          <a:xfrm>
            <a:off x="919065" y="307910"/>
            <a:ext cx="10353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Исикавы</a:t>
            </a:r>
          </a:p>
        </p:txBody>
      </p:sp>
    </p:spTree>
    <p:extLst>
      <p:ext uri="{BB962C8B-B14F-4D97-AF65-F5344CB8AC3E}">
        <p14:creationId xmlns:p14="http://schemas.microsoft.com/office/powerpoint/2010/main" val="158100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DAA6A-0CB0-20F8-8BB0-94C16C90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(</a:t>
            </a:r>
            <a:r>
              <a:rPr lang="ru-RU" i="0" dirty="0" err="1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ru-RU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b="0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F28571-BBFE-0531-864A-73F20D1B2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Составление «5 почему».</a:t>
            </a:r>
          </a:p>
          <a:p>
            <a:pPr marL="0" indent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Нахождение проблем.</a:t>
            </a:r>
          </a:p>
          <a:p>
            <a:pPr marL="0" indent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Выявление критических проблем.</a:t>
            </a:r>
          </a:p>
          <a:p>
            <a:pPr marL="0" indent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Нахождение решений этих проблем.</a:t>
            </a:r>
          </a:p>
          <a:p>
            <a:pPr marL="0" indent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решения наиболее подходящего под наши запросы.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320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5DA353-9E0F-039F-D9AF-E8EFCDBA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«5 почему»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286105-5C7A-B646-1716-412D79D4F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1681"/>
            <a:ext cx="12192000" cy="277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359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583F8-48F7-593C-F694-DC29BE92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3600" b="1" dirty="0">
                <a:latin typeface="Times New Roman" pitchFamily="18" charset="0"/>
                <a:ea typeface="Microsoft YaHei" panose="020B0503020204020204" pitchFamily="34" charset="-122"/>
                <a:cs typeface="Times New Roman" pitchFamily="18" charset="0"/>
              </a:rPr>
              <a:t>ВЫЯВЛЕННЫЕ ПОТЕРИ/ПРОБЛЕМЫ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E28F1F-DAC5-696F-EBB1-E906418E4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Студент может неправильно заполнить заявление или не предоставить копии паспорта.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Деканат относит приказ на подписание к ректору или проректору, а после подписания забирает и относит в отдел кадров.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Транспортировка приказа производится вручную.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 отдел кадров приносят кипу бумаг которую работники разбирают между собой по институтам за которыми они закреплены.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Каждый раз личное дело студента приходится расшивать и сшивать.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Чтобы отнести или забрать личное дело студента из архива нужно выходить на улицу.</a:t>
            </a:r>
          </a:p>
        </p:txBody>
      </p:sp>
    </p:spTree>
    <p:extLst>
      <p:ext uri="{BB962C8B-B14F-4D97-AF65-F5344CB8AC3E}">
        <p14:creationId xmlns:p14="http://schemas.microsoft.com/office/powerpoint/2010/main" val="4257241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30EA750-8F61-EEA4-1A6D-B80D5518F0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4588491"/>
              </p:ext>
            </p:extLst>
          </p:nvPr>
        </p:nvGraphicFramePr>
        <p:xfrm>
          <a:off x="0" y="0"/>
          <a:ext cx="12192000" cy="6900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424">
                  <a:extLst>
                    <a:ext uri="{9D8B030D-6E8A-4147-A177-3AD203B41FA5}">
                      <a16:colId xmlns:a16="http://schemas.microsoft.com/office/drawing/2014/main" val="4074051797"/>
                    </a:ext>
                  </a:extLst>
                </a:gridCol>
                <a:gridCol w="3135086">
                  <a:extLst>
                    <a:ext uri="{9D8B030D-6E8A-4147-A177-3AD203B41FA5}">
                      <a16:colId xmlns:a16="http://schemas.microsoft.com/office/drawing/2014/main" val="2729579267"/>
                    </a:ext>
                  </a:extLst>
                </a:gridCol>
                <a:gridCol w="2892490">
                  <a:extLst>
                    <a:ext uri="{9D8B030D-6E8A-4147-A177-3AD203B41FA5}">
                      <a16:colId xmlns:a16="http://schemas.microsoft.com/office/drawing/2014/main" val="87787594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29746938"/>
                    </a:ext>
                  </a:extLst>
                </a:gridCol>
              </a:tblGrid>
              <a:tr h="3172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Проблемы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Первопричины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Решения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Вклад в достижение цели</a:t>
                      </a:r>
                      <a:endParaRPr lang="ru-RU" sz="1600" b="1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Calibri" panose="020F0502020204030204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032667"/>
                  </a:ext>
                </a:extLst>
              </a:tr>
              <a:tr h="8770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Студент может неправильно заполнить заявление или не предоставить копии паспорта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Человеческий фактор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Создать отдельный раздел с электронной подачей заявлений по форме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Минимизация человеческого фактора.</a:t>
                      </a:r>
                    </a:p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Экономия бумаги.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698416"/>
                  </a:ext>
                </a:extLst>
              </a:tr>
              <a:tr h="6234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Деканат относит приказ на подписание к ректору или проректору, а после подписания забирает и относит в отдел кадров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Формальность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Оформление доверенности подписи /электронной подписи на руководителя отдела кадров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Снижение нагрузки на ректора / проректора, ускорение процесса за счет исключения инстанции и необходимости ожидания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146007"/>
                  </a:ext>
                </a:extLst>
              </a:tr>
              <a:tr h="6234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Транспортировка приказа производится вручную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Устоявшие способы транспортировки документов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Внедрение электронного документооборота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Независимость от погодных условий и времени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461709"/>
                  </a:ext>
                </a:extLst>
              </a:tr>
              <a:tr h="6234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В отдел кадров приносят кипу бумаг которую работники разбирают между собой по институтам за которыми они закреплены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Большое количество документов и приказов на бумаге которые приносят в отдел кадров из разных институтов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Внедрение электронного документооборота</a:t>
                      </a:r>
                    </a:p>
                    <a:p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Ускорение процесса за счет электронного поиска в единой базе и автоматического распределения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281076"/>
                  </a:ext>
                </a:extLst>
              </a:tr>
              <a:tr h="6234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Каждый раз личное дело студента приходится расшивать и сшивать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Устоявшееся мнение о способах хранения документов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Вшивание одного файла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Отсутствие необходимости расшивания и сшивания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146877"/>
                  </a:ext>
                </a:extLst>
              </a:tr>
              <a:tr h="3379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Чтобы отнести или забрать личное дело студента из архива нужно выходить на улицу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Отсутствие прямого доступа к архиву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Обеспечение прямого доступа к архиву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itchFamily="18" charset="0"/>
                          <a:cs typeface="Times New Roman" pitchFamily="18" charset="0"/>
                        </a:rPr>
                        <a:t>Независимость от погодных условий, снижение времени на забор документов из архива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940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839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715284-F8C7-348F-4EDE-23DEA766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Временные затраты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5D86FA-175D-CB8C-A973-CB31A64FA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7783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По статистике 1 % студентов меняет фамилию за год.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 КФУ на 2025 год учатся 37 552 студентов.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Следовательно за год ФИО сменит 376 студентов.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Время на оформление приказа</a:t>
            </a:r>
          </a:p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0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Подготовка документа: </a:t>
            </a:r>
            <a:r>
              <a:rPr lang="ru-RU" b="1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20-30 минут</a:t>
            </a:r>
            <a:r>
              <a:rPr lang="ru-RU" b="0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0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Ожидание подписи ректора: ненормированное. В идеале – </a:t>
            </a:r>
            <a:r>
              <a:rPr lang="ru-RU" b="1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1-2 часа.</a:t>
            </a:r>
            <a:r>
              <a:rPr lang="ru-RU" b="0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Транспортировка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До проректора: 10 минут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До отдела кадров: 20 минут</a:t>
            </a:r>
            <a:endParaRPr lang="ru-RU" b="0" i="0" dirty="0">
              <a:solidFill>
                <a:srgbClr val="40404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Время на работу с архивом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0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Внесение изменений: </a:t>
            </a:r>
            <a:r>
              <a:rPr lang="ru-RU" b="1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30-60 минут</a:t>
            </a:r>
            <a:r>
              <a:rPr lang="ru-RU" b="0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1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Итого:</a:t>
            </a:r>
            <a:r>
              <a:rPr lang="ru-RU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 в идеале – 3 часа.</a:t>
            </a:r>
          </a:p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ru-RU" b="0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Если ректор занят, процесс может растянуться на более длительный срок, вплоть до нескольких дней.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661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254DE4-5FD8-1D0F-DE92-939794EE3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Ценное/неценное время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158CA22-5367-201F-6893-35DE4EB97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69137"/>
            <a:ext cx="10515600" cy="64310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3CD625-8FB5-3EDC-C662-57D6862BA69C}"/>
              </a:ext>
            </a:extLst>
          </p:cNvPr>
          <p:cNvSpPr txBox="1"/>
          <p:nvPr/>
        </p:nvSpPr>
        <p:spPr>
          <a:xfrm>
            <a:off x="874745" y="2025908"/>
            <a:ext cx="1044251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1) подача студентом заявления (5 минут)</a:t>
            </a:r>
          </a:p>
          <a:p>
            <a:pPr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2) ожидание проверки заявления и начала формирования приказа (1 час)</a:t>
            </a:r>
          </a:p>
          <a:p>
            <a:pPr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3) проверка заявления и формирование приказа (5 минут)</a:t>
            </a:r>
          </a:p>
          <a:p>
            <a:pPr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4) транспортировка документов и ожидание ректора/проректора (2 часа)</a:t>
            </a:r>
          </a:p>
          <a:p>
            <a:pPr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5) подписание документа (1 минута)</a:t>
            </a:r>
          </a:p>
          <a:p>
            <a:pPr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6) отнесение документа в отдел кадров (20 минут)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7) работа с документами в отделе кадров (20 минут)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ИТОГО: 3 часа 51 минута (291 минута)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Соотношение полезного/неполезного времени: 31/260</a:t>
            </a:r>
          </a:p>
        </p:txBody>
      </p:sp>
    </p:spTree>
    <p:extLst>
      <p:ext uri="{BB962C8B-B14F-4D97-AF65-F5344CB8AC3E}">
        <p14:creationId xmlns:p14="http://schemas.microsoft.com/office/powerpoint/2010/main" val="1189498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1A386-0EBE-D129-7182-F839CF6E8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Трудозатраты по процесс</a:t>
            </a: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A8EB2011-C847-C341-5B19-45326A6531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57383"/>
            <a:ext cx="10515600" cy="97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03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8255EF-0B62-309E-6BDA-006336A8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Выявление проблемных мест</a:t>
            </a:r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E6DDB3D0-2F80-C278-EFE5-EEAB18EDF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4031" y="1440973"/>
            <a:ext cx="9495984" cy="5167312"/>
          </a:xfr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F619F1-54EE-4636-0A4B-9A9ADEA7BAE3}"/>
              </a:ext>
            </a:extLst>
          </p:cNvPr>
          <p:cNvSpPr/>
          <p:nvPr/>
        </p:nvSpPr>
        <p:spPr>
          <a:xfrm>
            <a:off x="2894120" y="1553592"/>
            <a:ext cx="2982897" cy="26633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53CE26D-9047-B839-A542-D5233A7C15D2}"/>
              </a:ext>
            </a:extLst>
          </p:cNvPr>
          <p:cNvSpPr/>
          <p:nvPr/>
        </p:nvSpPr>
        <p:spPr>
          <a:xfrm>
            <a:off x="7254535" y="2885242"/>
            <a:ext cx="3365480" cy="36076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649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F862E6-5D9F-AD6A-55B4-409465E15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Выявление проблемных мест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63D5D9-18F7-BFA3-15C6-644F6E6E0D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776" r="258"/>
          <a:stretch/>
        </p:blipFill>
        <p:spPr>
          <a:xfrm>
            <a:off x="2491740" y="2620550"/>
            <a:ext cx="8839200" cy="2761488"/>
          </a:xfrm>
          <a:prstGeom prst="rect">
            <a:avLst/>
          </a:prstGeom>
        </p:spPr>
      </p:pic>
      <p:pic>
        <p:nvPicPr>
          <p:cNvPr id="5" name="Объект 6">
            <a:extLst>
              <a:ext uri="{FF2B5EF4-FFF2-40B4-BE49-F238E27FC236}">
                <a16:creationId xmlns:a16="http://schemas.microsoft.com/office/drawing/2014/main" id="{55203F61-B5F7-AB88-4CF3-028DDC7F31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7163" t="54210" r="-2550" b="883"/>
          <a:stretch/>
        </p:blipFill>
        <p:spPr>
          <a:xfrm>
            <a:off x="1695635" y="2620550"/>
            <a:ext cx="867126" cy="2761488"/>
          </a:xfr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293FB6E-C53F-9047-09CD-1ADA71051406}"/>
              </a:ext>
            </a:extLst>
          </p:cNvPr>
          <p:cNvSpPr/>
          <p:nvPr/>
        </p:nvSpPr>
        <p:spPr>
          <a:xfrm>
            <a:off x="2491740" y="3710867"/>
            <a:ext cx="2612920" cy="16711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266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96BFDC-63F3-5EF5-BADB-09C9090C8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Описание инициативы </a:t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и способы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05A92D-2D88-4C60-0A02-7682596E8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018723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Инициатива :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Оптимизация процесса документооборота связанного со сменой ФИО студента</a:t>
            </a:r>
          </a:p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Способы реализации: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Оформление доверенности подписи/электронной подписи по работе с документами связанными с сменой ФИО студента на руководителя отдела кадров.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Разработка раздела по подаче заявлений  в личном кабинете в виде заполнения электронной формы в рамках предмета студентов ИТИС.</a:t>
            </a:r>
          </a:p>
        </p:txBody>
      </p:sp>
    </p:spTree>
    <p:extLst>
      <p:ext uri="{BB962C8B-B14F-4D97-AF65-F5344CB8AC3E}">
        <p14:creationId xmlns:p14="http://schemas.microsoft.com/office/powerpoint/2010/main" val="536712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A07936-6AC8-304C-7F0E-B01CEF43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ru-RU" b="1" dirty="0">
                <a:solidFill>
                  <a:srgbClr val="0E0E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lang="ru-RU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0E0E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совершенствование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8F11C2-F961-A918-CAD0-589206FE5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6762"/>
            <a:ext cx="12192000" cy="26771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528D2A-92C3-78B5-DE8C-0193A0019C5E}"/>
              </a:ext>
            </a:extLst>
          </p:cNvPr>
          <p:cNvSpPr txBox="1"/>
          <p:nvPr/>
        </p:nvSpPr>
        <p:spPr>
          <a:xfrm>
            <a:off x="838200" y="1398300"/>
            <a:ext cx="6868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Новая план-схема процесса (общая)</a:t>
            </a:r>
          </a:p>
        </p:txBody>
      </p:sp>
    </p:spTree>
    <p:extLst>
      <p:ext uri="{BB962C8B-B14F-4D97-AF65-F5344CB8AC3E}">
        <p14:creationId xmlns:p14="http://schemas.microsoft.com/office/powerpoint/2010/main" val="3136837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AE388A-EBF1-E218-4327-7AE6C064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Новая план-схема (ч.1)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3D8AD8C-3261-2C75-416E-08E50D7E6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7823"/>
            <a:ext cx="12192000" cy="560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910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4B1AE-0DFF-CA0F-123C-036391820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92A571-DEFB-6FFD-B5CC-8DD9B0FEB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Новая план-схема (ч.2)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523C237B-F383-2F2D-790F-B9044EE98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399" y="1860626"/>
            <a:ext cx="10663229" cy="4222869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435AC31-F8E3-1A70-1AE6-2C11EDFE7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860626"/>
            <a:ext cx="914401" cy="422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921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A85CA-3190-C857-365F-291D28BC5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83"/>
            <a:ext cx="10515600" cy="812311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Сравнение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план-схем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86F0AD-BFF6-623D-3FEC-E2FFD0A4C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Вставить обе план схемы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6E16B2-4374-708C-1D30-4F1259796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80885"/>
            <a:ext cx="12192000" cy="2677115"/>
          </a:xfrm>
          <a:prstGeom prst="rect">
            <a:avLst/>
          </a:prstGeom>
        </p:spPr>
      </p:pic>
      <p:sp>
        <p:nvSpPr>
          <p:cNvPr id="6" name="Знак умножения 5">
            <a:extLst>
              <a:ext uri="{FF2B5EF4-FFF2-40B4-BE49-F238E27FC236}">
                <a16:creationId xmlns:a16="http://schemas.microsoft.com/office/drawing/2014/main" id="{132BA075-83FA-D0ED-4502-B8C25472DFFB}"/>
              </a:ext>
            </a:extLst>
          </p:cNvPr>
          <p:cNvSpPr/>
          <p:nvPr/>
        </p:nvSpPr>
        <p:spPr>
          <a:xfrm>
            <a:off x="2267339" y="2207284"/>
            <a:ext cx="979714" cy="4750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нак умножения 6">
            <a:extLst>
              <a:ext uri="{FF2B5EF4-FFF2-40B4-BE49-F238E27FC236}">
                <a16:creationId xmlns:a16="http://schemas.microsoft.com/office/drawing/2014/main" id="{81B73DC9-5BD1-6977-D170-20E46ABCAF03}"/>
              </a:ext>
            </a:extLst>
          </p:cNvPr>
          <p:cNvSpPr/>
          <p:nvPr/>
        </p:nvSpPr>
        <p:spPr>
          <a:xfrm>
            <a:off x="5159828" y="2847588"/>
            <a:ext cx="709126" cy="287498"/>
          </a:xfrm>
          <a:prstGeom prst="mathMultiply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нак умножения 7">
            <a:extLst>
              <a:ext uri="{FF2B5EF4-FFF2-40B4-BE49-F238E27FC236}">
                <a16:creationId xmlns:a16="http://schemas.microsoft.com/office/drawing/2014/main" id="{035A7202-ABBC-8BA5-CF46-C2E7BD982D49}"/>
              </a:ext>
            </a:extLst>
          </p:cNvPr>
          <p:cNvSpPr/>
          <p:nvPr/>
        </p:nvSpPr>
        <p:spPr>
          <a:xfrm>
            <a:off x="4330959" y="2218771"/>
            <a:ext cx="690465" cy="4750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816F89E-0AC0-FC53-9935-35249AA92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1646"/>
            <a:ext cx="12192000" cy="329254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B0E4A65-022B-2557-0E36-C777E766D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432" y="876794"/>
            <a:ext cx="3523681" cy="190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46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FB9C29-716B-1088-09D0-077FD8E10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Данная план-схема процесса позволяет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E76409-2509-D8FB-0E13-F1FEA4D7B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Упразднить подачу заявления в бумажном варианте.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Минимизировать ошибки при подаче заявления (с 10 до 2 в год).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Уменьшить количество инстанций с 4 до 3.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Установить временной лимит на выполнение задачи с неопределенного времени до 3 рабочих дней.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Подать заявление в любое удобное для студента время через личный кабинет студента.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Повысить удовлетворенность </a:t>
            </a:r>
            <a:r>
              <a:rPr lang="ru-RU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потребителей (студентов) сроками обработки заявлений.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608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6942-BC20-78E2-4263-65E999F46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062B38-719F-722A-8350-7FDF74328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Временные затраты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DF3899-EF30-59DD-60C6-C69BB463B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77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По статистике 1 % студентов меняет фамилию меняет фамилию за год.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 КФУ на 2025 год учатся 37 552 студентов.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Следовательно за год ФИО сменит 376 студентов.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1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Время на оформление приказа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0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Подготовка документа: 5 </a:t>
            </a:r>
            <a:r>
              <a:rPr lang="ru-RU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минут.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0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Ожидание подписи руководителя отдела кадров: 5 минут.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Транспортировка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До отдела кадров: 2 минуты</a:t>
            </a:r>
            <a:endParaRPr lang="ru-RU" b="0" i="0" dirty="0">
              <a:solidFill>
                <a:srgbClr val="40404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1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Время на работу с архивом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0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Внесение изменений: </a:t>
            </a:r>
            <a:r>
              <a:rPr lang="ru-RU" b="1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10 минут</a:t>
            </a:r>
            <a:r>
              <a:rPr lang="ru-RU" b="0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1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Итого:</a:t>
            </a:r>
            <a:r>
              <a:rPr lang="ru-RU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 17 минут.</a:t>
            </a:r>
          </a:p>
        </p:txBody>
      </p:sp>
    </p:spTree>
    <p:extLst>
      <p:ext uri="{BB962C8B-B14F-4D97-AF65-F5344CB8AC3E}">
        <p14:creationId xmlns:p14="http://schemas.microsoft.com/office/powerpoint/2010/main" val="728411078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F6942-BC20-78E2-4263-65E999F46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062B38-719F-722A-8350-7FDF74328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Временные затраты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DF3899-EF30-59DD-60C6-C69BB463B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77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По статистике 1 % студентов меняет фамилию меняет фамилию за год.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 КФУ на 2025 год учатся 37 552 студентов.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Следовательно за год ФИО сменит 376 студентов.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1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Время на оформление приказа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0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Подготовка документа: 5 </a:t>
            </a:r>
            <a:r>
              <a:rPr lang="ru-RU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минут.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0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Ожидание подписи руководителя отдела кадров: 5 минут.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Транспортировка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До отдела кадров: 2 минуты</a:t>
            </a:r>
            <a:endParaRPr lang="ru-RU" b="0" i="0" dirty="0">
              <a:solidFill>
                <a:srgbClr val="40404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1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Время на работу с архивом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0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Внесение изменений: </a:t>
            </a:r>
            <a:r>
              <a:rPr lang="ru-RU" b="1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10 минут</a:t>
            </a:r>
            <a:r>
              <a:rPr lang="ru-RU" b="0" i="0" dirty="0">
                <a:solidFill>
                  <a:srgbClr val="404040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1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Итого:</a:t>
            </a:r>
            <a:r>
              <a:rPr lang="ru-RU" dirty="0">
                <a:solidFill>
                  <a:srgbClr val="404040"/>
                </a:solidFill>
                <a:latin typeface="Times New Roman" pitchFamily="18" charset="0"/>
                <a:cs typeface="Times New Roman" pitchFamily="18" charset="0"/>
              </a:rPr>
              <a:t> 17 минут.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150608" y="4846320"/>
            <a:ext cx="4709160" cy="17922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Временная выгода: 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291 мин 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17 мин 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(ускорение процесса на 96 %)</a:t>
            </a:r>
          </a:p>
        </p:txBody>
      </p:sp>
      <p:sp>
        <p:nvSpPr>
          <p:cNvPr id="5" name="Стрелка вниз 4"/>
          <p:cNvSpPr/>
          <p:nvPr/>
        </p:nvSpPr>
        <p:spPr>
          <a:xfrm>
            <a:off x="9025128" y="5586984"/>
            <a:ext cx="832104" cy="256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411078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C9424-459B-BFBF-6F26-B6313A202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E0E0F"/>
                </a:solidFill>
                <a:effectLst/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i="0" dirty="0">
                <a:solidFill>
                  <a:srgbClr val="0E0E0F"/>
                </a:solidFill>
                <a:effectLst/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i="0" dirty="0">
                <a:solidFill>
                  <a:srgbClr val="0E0E0F"/>
                </a:solidFill>
                <a:effectLst/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0" dirty="0">
                <a:solidFill>
                  <a:srgbClr val="0E0E0F"/>
                </a:solidFill>
                <a:effectLst/>
                <a:latin typeface="Times New Roman" pitchFamily="18" charset="0"/>
                <a:cs typeface="Times New Roman" pitchFamily="18" charset="0"/>
              </a:rPr>
              <a:t>control</a:t>
            </a:r>
            <a:r>
              <a:rPr lang="ru-RU" i="0" dirty="0">
                <a:solidFill>
                  <a:srgbClr val="0E0E0F"/>
                </a:solidFill>
                <a:effectLst/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i="0" dirty="0">
                <a:solidFill>
                  <a:srgbClr val="0E0E0F"/>
                </a:solidFill>
                <a:effectLst/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0" i="0" dirty="0">
                <a:solidFill>
                  <a:srgbClr val="0E0E0F"/>
                </a:solidFill>
                <a:effectLst/>
                <a:latin typeface="Times New Roman" pitchFamily="18" charset="0"/>
                <a:cs typeface="Times New Roman" pitchFamily="18" charset="0"/>
              </a:rPr>
              <a:t>контроль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82EF47-509F-1275-D325-FA2D416EF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ru-RU" dirty="0">
                <a:latin typeface="Times New Roman" pitchFamily="18" charset="0"/>
                <a:cs typeface="Times New Roman" pitchFamily="18" charset="0"/>
              </a:rPr>
              <a:t>Контроль процесса разработки.</a:t>
            </a:r>
          </a:p>
          <a:p>
            <a:pPr marL="0" indent="0"/>
            <a:r>
              <a:rPr lang="ru-RU" dirty="0">
                <a:latin typeface="Times New Roman" pitchFamily="18" charset="0"/>
                <a:cs typeface="Times New Roman" pitchFamily="18" charset="0"/>
              </a:rPr>
              <a:t>Контроль процесса внедрения. </a:t>
            </a:r>
          </a:p>
          <a:p>
            <a:pPr marL="0" indent="0"/>
            <a:r>
              <a:rPr lang="ru-RU" dirty="0">
                <a:latin typeface="Times New Roman" pitchFamily="18" charset="0"/>
                <a:cs typeface="Times New Roman" pitchFamily="18" charset="0"/>
              </a:rPr>
              <a:t>Контроль перехода сотрудников на новую систему (гемба в деканате и в отделе кадров через месяц после внедрения).</a:t>
            </a:r>
          </a:p>
        </p:txBody>
      </p:sp>
    </p:spTree>
    <p:extLst>
      <p:ext uri="{BB962C8B-B14F-4D97-AF65-F5344CB8AC3E}">
        <p14:creationId xmlns:p14="http://schemas.microsoft.com/office/powerpoint/2010/main" val="40625254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AE508-108A-E69C-1FEC-C87E30443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32434"/>
            <a:ext cx="9144000" cy="1978605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 отдела кадров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студентов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3E3F5C-E52A-F5B1-0284-28F38753E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5735637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курса 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14.1-120</a:t>
            </a:r>
          </a:p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Сафин К.Д. </a:t>
            </a:r>
          </a:p>
        </p:txBody>
      </p:sp>
    </p:spTree>
    <p:extLst>
      <p:ext uri="{BB962C8B-B14F-4D97-AF65-F5344CB8AC3E}">
        <p14:creationId xmlns:p14="http://schemas.microsoft.com/office/powerpoint/2010/main" val="41113698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2626</TotalTime>
  <Words>1331</Words>
  <Application>Microsoft Office PowerPoint</Application>
  <PresentationFormat>Широкоэкранный</PresentationFormat>
  <Paragraphs>194</Paragraphs>
  <Slides>32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Times New Roman</vt:lpstr>
      <vt:lpstr>Wingdings</vt:lpstr>
      <vt:lpstr>Тема Office</vt:lpstr>
      <vt:lpstr>1_Тема Office</vt:lpstr>
      <vt:lpstr>Анализ  работы отдела кадров  для студентов</vt:lpstr>
      <vt:lpstr>Общее описание подразделения и выбранного процесса.</vt:lpstr>
      <vt:lpstr>Какие документы входят в личное дело студента?</vt:lpstr>
      <vt:lpstr>Презентация PowerPoint</vt:lpstr>
      <vt:lpstr>DMAIC</vt:lpstr>
      <vt:lpstr>D – (define) определение</vt:lpstr>
      <vt:lpstr>M – (measure) измерение</vt:lpstr>
      <vt:lpstr>Рассказ и описание процессов на гемба</vt:lpstr>
      <vt:lpstr>Результаты гемба</vt:lpstr>
      <vt:lpstr>План-схема процесса (общая)</vt:lpstr>
      <vt:lpstr>План-схема процесса (ч.1)</vt:lpstr>
      <vt:lpstr>План-схема процесса (ч.2)</vt:lpstr>
      <vt:lpstr>Презентация PowerPoint</vt:lpstr>
      <vt:lpstr>A – (analyze) анализ</vt:lpstr>
      <vt:lpstr>«5 почему»</vt:lpstr>
      <vt:lpstr>ВЫЯВЛЕННЫЕ ПОТЕРИ/ПРОБЛЕМЫ </vt:lpstr>
      <vt:lpstr>Презентация PowerPoint</vt:lpstr>
      <vt:lpstr>Временные затраты</vt:lpstr>
      <vt:lpstr>Ценное/неценное время</vt:lpstr>
      <vt:lpstr>Трудозатраты по процесс</vt:lpstr>
      <vt:lpstr>Выявление проблемных мест</vt:lpstr>
      <vt:lpstr>Выявление проблемных мест</vt:lpstr>
      <vt:lpstr>Описание инициативы  и способы реализации</vt:lpstr>
      <vt:lpstr>I – (improve) совершенствование</vt:lpstr>
      <vt:lpstr>Новая план-схема (ч.1)</vt:lpstr>
      <vt:lpstr>Новая план-схема (ч.2)</vt:lpstr>
      <vt:lpstr>Сравнение план-схем </vt:lpstr>
      <vt:lpstr>Данная план-схема процесса позволяет</vt:lpstr>
      <vt:lpstr>Временные затраты</vt:lpstr>
      <vt:lpstr>Временные затраты</vt:lpstr>
      <vt:lpstr>C – (control) контроль</vt:lpstr>
      <vt:lpstr>Анализ  работы отдела кадров  для студентов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 работы отдела кадров  для студентов</dc:title>
  <dc:creator>Сафин Константин Дмитриевич</dc:creator>
  <cp:lastModifiedBy>Сафин Константин Дмитриевич</cp:lastModifiedBy>
  <cp:revision>13</cp:revision>
  <dcterms:created xsi:type="dcterms:W3CDTF">2025-04-26T09:16:21Z</dcterms:created>
  <dcterms:modified xsi:type="dcterms:W3CDTF">2025-05-15T15:03:22Z</dcterms:modified>
</cp:coreProperties>
</file>