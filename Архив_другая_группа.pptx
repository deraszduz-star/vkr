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2" r:id="rId4"/>
    <p:sldId id="267" r:id="rId5"/>
    <p:sldId id="274" r:id="rId6"/>
    <p:sldId id="292" r:id="rId7"/>
    <p:sldId id="321" r:id="rId8"/>
    <p:sldId id="277" r:id="rId9"/>
    <p:sldId id="280" r:id="rId10"/>
    <p:sldId id="281" r:id="rId11"/>
    <p:sldId id="282" r:id="rId12"/>
    <p:sldId id="322" r:id="rId13"/>
    <p:sldId id="295" r:id="rId14"/>
    <p:sldId id="296" r:id="rId15"/>
    <p:sldId id="298" r:id="rId16"/>
    <p:sldId id="326" r:id="rId17"/>
    <p:sldId id="269" r:id="rId18"/>
    <p:sldId id="275" r:id="rId19"/>
    <p:sldId id="317" r:id="rId20"/>
    <p:sldId id="327" r:id="rId21"/>
    <p:sldId id="278" r:id="rId22"/>
    <p:sldId id="283" r:id="rId23"/>
    <p:sldId id="284" r:id="rId24"/>
    <p:sldId id="285" r:id="rId25"/>
    <p:sldId id="331" r:id="rId26"/>
    <p:sldId id="328" r:id="rId27"/>
    <p:sldId id="332" r:id="rId28"/>
    <p:sldId id="333" r:id="rId29"/>
    <p:sldId id="337" r:id="rId30"/>
    <p:sldId id="270" r:id="rId31"/>
    <p:sldId id="276" r:id="rId32"/>
    <p:sldId id="320" r:id="rId33"/>
    <p:sldId id="335" r:id="rId34"/>
    <p:sldId id="279" r:id="rId35"/>
    <p:sldId id="286" r:id="rId36"/>
    <p:sldId id="287" r:id="rId37"/>
    <p:sldId id="288" r:id="rId38"/>
    <p:sldId id="342" r:id="rId39"/>
    <p:sldId id="343" r:id="rId40"/>
    <p:sldId id="330" r:id="rId41"/>
    <p:sldId id="307" r:id="rId42"/>
    <p:sldId id="319" r:id="rId43"/>
    <p:sldId id="338" r:id="rId44"/>
    <p:sldId id="339" r:id="rId45"/>
    <p:sldId id="340" r:id="rId46"/>
    <p:sldId id="341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B914B"/>
    <a:srgbClr val="6ED26B"/>
    <a:srgbClr val="D5DAE2"/>
    <a:srgbClr val="7EE5D4"/>
    <a:srgbClr val="FF5C99"/>
    <a:srgbClr val="09099F"/>
    <a:srgbClr val="4C73DC"/>
    <a:srgbClr val="BCD1D6"/>
    <a:srgbClr val="C76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96327"/>
  </p:normalViewPr>
  <p:slideViewPr>
    <p:cSldViewPr snapToGrid="0">
      <p:cViewPr varScale="1">
        <p:scale>
          <a:sx n="128" d="100"/>
          <a:sy n="128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A1E4E8-459F-438E-8E72-2550E24CA1F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549FF36-6109-4F9F-A77E-08A210C707BF}">
      <dgm:prSet/>
      <dgm:spPr/>
      <dgm:t>
        <a:bodyPr/>
        <a:lstStyle/>
        <a:p>
          <a:r>
            <a:rPr lang="ru-RU" b="1" i="0"/>
            <a:t>Предложения </a:t>
          </a:r>
          <a:r>
            <a:rPr lang="en-US" b="1" i="0"/>
            <a:t>TO BE:</a:t>
          </a:r>
          <a:endParaRPr lang="en-US"/>
        </a:p>
      </dgm:t>
    </dgm:pt>
    <dgm:pt modelId="{BFC4434A-0EA8-4C03-A135-E788FFF2B79E}" type="parTrans" cxnId="{3FB576BF-C20B-42A2-A81B-3009D6CC3E57}">
      <dgm:prSet/>
      <dgm:spPr/>
      <dgm:t>
        <a:bodyPr/>
        <a:lstStyle/>
        <a:p>
          <a:endParaRPr lang="en-US"/>
        </a:p>
      </dgm:t>
    </dgm:pt>
    <dgm:pt modelId="{2665ED2B-9A80-408C-9FBA-D42391CFDB42}" type="sibTrans" cxnId="{3FB576BF-C20B-42A2-A81B-3009D6CC3E57}">
      <dgm:prSet/>
      <dgm:spPr/>
      <dgm:t>
        <a:bodyPr/>
        <a:lstStyle/>
        <a:p>
          <a:endParaRPr lang="en-US"/>
        </a:p>
      </dgm:t>
    </dgm:pt>
    <dgm:pt modelId="{66FAD741-C8E4-4666-9963-D71C37B77646}">
      <dgm:prSet/>
      <dgm:spPr/>
      <dgm:t>
        <a:bodyPr/>
        <a:lstStyle/>
        <a:p>
          <a:r>
            <a:rPr lang="ru-RU" b="1" i="0"/>
            <a:t>Обучение сотрудников раз в год: проведение тренингов по правильному заполнению и подшиванию папок</a:t>
          </a:r>
          <a:endParaRPr lang="en-US"/>
        </a:p>
      </dgm:t>
    </dgm:pt>
    <dgm:pt modelId="{379C76D2-D9DC-444F-8DD8-0834C52495DF}" type="parTrans" cxnId="{E4041430-D978-42EA-ADAD-8E094B316B51}">
      <dgm:prSet/>
      <dgm:spPr/>
      <dgm:t>
        <a:bodyPr/>
        <a:lstStyle/>
        <a:p>
          <a:endParaRPr lang="en-US"/>
        </a:p>
      </dgm:t>
    </dgm:pt>
    <dgm:pt modelId="{AD53C1C6-2A8B-45C0-8EDD-9192D11724DA}" type="sibTrans" cxnId="{E4041430-D978-42EA-ADAD-8E094B316B51}">
      <dgm:prSet/>
      <dgm:spPr/>
      <dgm:t>
        <a:bodyPr/>
        <a:lstStyle/>
        <a:p>
          <a:endParaRPr lang="en-US"/>
        </a:p>
      </dgm:t>
    </dgm:pt>
    <dgm:pt modelId="{967EC2FB-A2ED-4A8F-A8E6-A2DA0F6E32F4}">
      <dgm:prSet/>
      <dgm:spPr/>
      <dgm:t>
        <a:bodyPr/>
        <a:lstStyle/>
        <a:p>
          <a:r>
            <a:rPr lang="ru-RU" b="1" i="0"/>
            <a:t>Внедрение ИИ для первичной проверки документов (чат-бот </a:t>
          </a:r>
          <a:r>
            <a:rPr lang="en-US" b="1" i="0"/>
            <a:t>Telegram)</a:t>
          </a:r>
          <a:endParaRPr lang="en-US"/>
        </a:p>
      </dgm:t>
    </dgm:pt>
    <dgm:pt modelId="{73220FC9-270C-4CCF-9CFD-75832CCD32C1}" type="parTrans" cxnId="{430C80F5-6CAF-477E-9E2B-5E35D0066D50}">
      <dgm:prSet/>
      <dgm:spPr/>
      <dgm:t>
        <a:bodyPr/>
        <a:lstStyle/>
        <a:p>
          <a:endParaRPr lang="en-US"/>
        </a:p>
      </dgm:t>
    </dgm:pt>
    <dgm:pt modelId="{BE0FCE0F-0BCC-4121-834C-042E739159F2}" type="sibTrans" cxnId="{430C80F5-6CAF-477E-9E2B-5E35D0066D50}">
      <dgm:prSet/>
      <dgm:spPr/>
      <dgm:t>
        <a:bodyPr/>
        <a:lstStyle/>
        <a:p>
          <a:endParaRPr lang="en-US"/>
        </a:p>
      </dgm:t>
    </dgm:pt>
    <dgm:pt modelId="{FF30B901-436B-4192-BD03-A13CB38212AB}">
      <dgm:prSet/>
      <dgm:spPr/>
      <dgm:t>
        <a:bodyPr/>
        <a:lstStyle/>
        <a:p>
          <a:r>
            <a:rPr lang="ru-RU" b="1" i="0"/>
            <a:t>Оценка экономического эффекта: </a:t>
          </a:r>
          <a:endParaRPr lang="en-US"/>
        </a:p>
      </dgm:t>
    </dgm:pt>
    <dgm:pt modelId="{2C64A615-722E-4084-B691-CBC240DA4677}" type="parTrans" cxnId="{2FB123AD-7488-4A8F-8E04-66D12A7555E1}">
      <dgm:prSet/>
      <dgm:spPr/>
      <dgm:t>
        <a:bodyPr/>
        <a:lstStyle/>
        <a:p>
          <a:endParaRPr lang="en-US"/>
        </a:p>
      </dgm:t>
    </dgm:pt>
    <dgm:pt modelId="{AA804070-A617-4855-87B2-E31F31001249}" type="sibTrans" cxnId="{2FB123AD-7488-4A8F-8E04-66D12A7555E1}">
      <dgm:prSet/>
      <dgm:spPr/>
      <dgm:t>
        <a:bodyPr/>
        <a:lstStyle/>
        <a:p>
          <a:endParaRPr lang="en-US"/>
        </a:p>
      </dgm:t>
    </dgm:pt>
    <dgm:pt modelId="{B061A2F0-50E5-43FE-9BB6-A02E04ED3264}">
      <dgm:prSet/>
      <dgm:spPr/>
      <dgm:t>
        <a:bodyPr/>
        <a:lstStyle/>
        <a:p>
          <a:r>
            <a:rPr lang="ru-RU" b="1" i="0"/>
            <a:t>Сокращение времени по осуществлению сводки дел на 23%(до 104 минут)</a:t>
          </a:r>
          <a:endParaRPr lang="en-US"/>
        </a:p>
      </dgm:t>
    </dgm:pt>
    <dgm:pt modelId="{7C6F3550-4F9B-4251-8B34-8F6480A431E8}" type="parTrans" cxnId="{B10C9CD6-219B-4899-8187-2E0346E97C0D}">
      <dgm:prSet/>
      <dgm:spPr/>
      <dgm:t>
        <a:bodyPr/>
        <a:lstStyle/>
        <a:p>
          <a:endParaRPr lang="en-US"/>
        </a:p>
      </dgm:t>
    </dgm:pt>
    <dgm:pt modelId="{33B88A26-9179-45DD-8BD8-DCA03D6F3425}" type="sibTrans" cxnId="{B10C9CD6-219B-4899-8187-2E0346E97C0D}">
      <dgm:prSet/>
      <dgm:spPr/>
      <dgm:t>
        <a:bodyPr/>
        <a:lstStyle/>
        <a:p>
          <a:endParaRPr lang="en-US"/>
        </a:p>
      </dgm:t>
    </dgm:pt>
    <dgm:pt modelId="{85879B55-5312-405C-B867-E55790ABA3C8}">
      <dgm:prSet/>
      <dgm:spPr/>
      <dgm:t>
        <a:bodyPr/>
        <a:lstStyle/>
        <a:p>
          <a:r>
            <a:rPr lang="ru-RU" b="1" i="0"/>
            <a:t>Сократить ошибки заполнения на 70%</a:t>
          </a:r>
          <a:endParaRPr lang="en-US"/>
        </a:p>
      </dgm:t>
    </dgm:pt>
    <dgm:pt modelId="{24A66C07-ADB0-448C-A673-080442681175}" type="parTrans" cxnId="{55C9E5AC-AC04-40A0-9C68-5C97D9CDEADD}">
      <dgm:prSet/>
      <dgm:spPr/>
      <dgm:t>
        <a:bodyPr/>
        <a:lstStyle/>
        <a:p>
          <a:endParaRPr lang="en-US"/>
        </a:p>
      </dgm:t>
    </dgm:pt>
    <dgm:pt modelId="{07136543-9EFE-40B7-88E4-13E199E302D5}" type="sibTrans" cxnId="{55C9E5AC-AC04-40A0-9C68-5C97D9CDEADD}">
      <dgm:prSet/>
      <dgm:spPr/>
      <dgm:t>
        <a:bodyPr/>
        <a:lstStyle/>
        <a:p>
          <a:endParaRPr lang="en-US"/>
        </a:p>
      </dgm:t>
    </dgm:pt>
    <dgm:pt modelId="{7C04C170-23B2-4E7B-835E-1272208A2142}">
      <dgm:prSet/>
      <dgm:spPr/>
      <dgm:t>
        <a:bodyPr/>
        <a:lstStyle/>
        <a:p>
          <a:r>
            <a:rPr lang="ru-RU" b="1" i="0"/>
            <a:t>Снизить количество перешитых папок на 40%</a:t>
          </a:r>
          <a:endParaRPr lang="en-US"/>
        </a:p>
      </dgm:t>
    </dgm:pt>
    <dgm:pt modelId="{91DE86F7-9D9C-4D42-B0F4-65232EBAAE55}" type="parTrans" cxnId="{42DA3235-81BB-466C-96A6-5B6DEA0D6955}">
      <dgm:prSet/>
      <dgm:spPr/>
      <dgm:t>
        <a:bodyPr/>
        <a:lstStyle/>
        <a:p>
          <a:endParaRPr lang="en-US"/>
        </a:p>
      </dgm:t>
    </dgm:pt>
    <dgm:pt modelId="{E804A5E3-62B7-48FE-BC65-8E94FE6D9F42}" type="sibTrans" cxnId="{42DA3235-81BB-466C-96A6-5B6DEA0D6955}">
      <dgm:prSet/>
      <dgm:spPr/>
      <dgm:t>
        <a:bodyPr/>
        <a:lstStyle/>
        <a:p>
          <a:endParaRPr lang="en-US"/>
        </a:p>
      </dgm:t>
    </dgm:pt>
    <dgm:pt modelId="{51F40BF0-E662-A94F-ADA4-F07716B6728B}" type="pres">
      <dgm:prSet presAssocID="{9AA1E4E8-459F-438E-8E72-2550E24CA1FE}" presName="Name0" presStyleCnt="0">
        <dgm:presLayoutVars>
          <dgm:dir/>
          <dgm:resizeHandles val="exact"/>
        </dgm:presLayoutVars>
      </dgm:prSet>
      <dgm:spPr/>
    </dgm:pt>
    <dgm:pt modelId="{B5770164-8F2E-A248-BA42-C4C08CCC06C8}" type="pres">
      <dgm:prSet presAssocID="{9549FF36-6109-4F9F-A77E-08A210C707BF}" presName="node" presStyleLbl="node1" presStyleIdx="0" presStyleCnt="2">
        <dgm:presLayoutVars>
          <dgm:bulletEnabled val="1"/>
        </dgm:presLayoutVars>
      </dgm:prSet>
      <dgm:spPr/>
    </dgm:pt>
    <dgm:pt modelId="{CED3AD96-A2D8-4646-AC99-73BA25981F88}" type="pres">
      <dgm:prSet presAssocID="{2665ED2B-9A80-408C-9FBA-D42391CFDB42}" presName="sibTrans" presStyleLbl="sibTrans1D1" presStyleIdx="0" presStyleCnt="1"/>
      <dgm:spPr/>
    </dgm:pt>
    <dgm:pt modelId="{962B8DC9-C14A-5741-8E1A-FC4CBCD3F998}" type="pres">
      <dgm:prSet presAssocID="{2665ED2B-9A80-408C-9FBA-D42391CFDB42}" presName="connectorText" presStyleLbl="sibTrans1D1" presStyleIdx="0" presStyleCnt="1"/>
      <dgm:spPr/>
    </dgm:pt>
    <dgm:pt modelId="{06988898-E700-0843-9D90-BFFE4DD23AFE}" type="pres">
      <dgm:prSet presAssocID="{FF30B901-436B-4192-BD03-A13CB38212AB}" presName="node" presStyleLbl="node1" presStyleIdx="1" presStyleCnt="2">
        <dgm:presLayoutVars>
          <dgm:bulletEnabled val="1"/>
        </dgm:presLayoutVars>
      </dgm:prSet>
      <dgm:spPr/>
    </dgm:pt>
  </dgm:ptLst>
  <dgm:cxnLst>
    <dgm:cxn modelId="{E4041430-D978-42EA-ADAD-8E094B316B51}" srcId="{9549FF36-6109-4F9F-A77E-08A210C707BF}" destId="{66FAD741-C8E4-4666-9963-D71C37B77646}" srcOrd="0" destOrd="0" parTransId="{379C76D2-D9DC-444F-8DD8-0834C52495DF}" sibTransId="{AD53C1C6-2A8B-45C0-8EDD-9192D11724DA}"/>
    <dgm:cxn modelId="{42DA3235-81BB-466C-96A6-5B6DEA0D6955}" srcId="{FF30B901-436B-4192-BD03-A13CB38212AB}" destId="{7C04C170-23B2-4E7B-835E-1272208A2142}" srcOrd="2" destOrd="0" parTransId="{91DE86F7-9D9C-4D42-B0F4-65232EBAAE55}" sibTransId="{E804A5E3-62B7-48FE-BC65-8E94FE6D9F42}"/>
    <dgm:cxn modelId="{0EF8B43D-2E16-E244-95E0-5BBAEF5650B6}" type="presOf" srcId="{7C04C170-23B2-4E7B-835E-1272208A2142}" destId="{06988898-E700-0843-9D90-BFFE4DD23AFE}" srcOrd="0" destOrd="3" presId="urn:microsoft.com/office/officeart/2016/7/layout/RepeatingBendingProcessNew"/>
    <dgm:cxn modelId="{4562954C-DD47-7F44-8CF1-D2039D53D572}" type="presOf" srcId="{66FAD741-C8E4-4666-9963-D71C37B77646}" destId="{B5770164-8F2E-A248-BA42-C4C08CCC06C8}" srcOrd="0" destOrd="1" presId="urn:microsoft.com/office/officeart/2016/7/layout/RepeatingBendingProcessNew"/>
    <dgm:cxn modelId="{6BA1815C-E384-7C42-A269-EE5247BB308E}" type="presOf" srcId="{967EC2FB-A2ED-4A8F-A8E6-A2DA0F6E32F4}" destId="{B5770164-8F2E-A248-BA42-C4C08CCC06C8}" srcOrd="0" destOrd="2" presId="urn:microsoft.com/office/officeart/2016/7/layout/RepeatingBendingProcessNew"/>
    <dgm:cxn modelId="{363DA164-673B-D54C-8884-AE87AF2D9368}" type="presOf" srcId="{9AA1E4E8-459F-438E-8E72-2550E24CA1FE}" destId="{51F40BF0-E662-A94F-ADA4-F07716B6728B}" srcOrd="0" destOrd="0" presId="urn:microsoft.com/office/officeart/2016/7/layout/RepeatingBendingProcessNew"/>
    <dgm:cxn modelId="{E7041F67-778D-0144-8369-E36F46A2273F}" type="presOf" srcId="{B061A2F0-50E5-43FE-9BB6-A02E04ED3264}" destId="{06988898-E700-0843-9D90-BFFE4DD23AFE}" srcOrd="0" destOrd="1" presId="urn:microsoft.com/office/officeart/2016/7/layout/RepeatingBendingProcessNew"/>
    <dgm:cxn modelId="{C5B80C75-CF44-694E-A7FC-D47B1F37FF60}" type="presOf" srcId="{2665ED2B-9A80-408C-9FBA-D42391CFDB42}" destId="{962B8DC9-C14A-5741-8E1A-FC4CBCD3F998}" srcOrd="1" destOrd="0" presId="urn:microsoft.com/office/officeart/2016/7/layout/RepeatingBendingProcessNew"/>
    <dgm:cxn modelId="{55C9E5AC-AC04-40A0-9C68-5C97D9CDEADD}" srcId="{FF30B901-436B-4192-BD03-A13CB38212AB}" destId="{85879B55-5312-405C-B867-E55790ABA3C8}" srcOrd="1" destOrd="0" parTransId="{24A66C07-ADB0-448C-A673-080442681175}" sibTransId="{07136543-9EFE-40B7-88E4-13E199E302D5}"/>
    <dgm:cxn modelId="{2FB123AD-7488-4A8F-8E04-66D12A7555E1}" srcId="{9AA1E4E8-459F-438E-8E72-2550E24CA1FE}" destId="{FF30B901-436B-4192-BD03-A13CB38212AB}" srcOrd="1" destOrd="0" parTransId="{2C64A615-722E-4084-B691-CBC240DA4677}" sibTransId="{AA804070-A617-4855-87B2-E31F31001249}"/>
    <dgm:cxn modelId="{3FB576BF-C20B-42A2-A81B-3009D6CC3E57}" srcId="{9AA1E4E8-459F-438E-8E72-2550E24CA1FE}" destId="{9549FF36-6109-4F9F-A77E-08A210C707BF}" srcOrd="0" destOrd="0" parTransId="{BFC4434A-0EA8-4C03-A135-E788FFF2B79E}" sibTransId="{2665ED2B-9A80-408C-9FBA-D42391CFDB42}"/>
    <dgm:cxn modelId="{FB0337CC-8471-DA45-BC2C-77914A52D264}" type="presOf" srcId="{85879B55-5312-405C-B867-E55790ABA3C8}" destId="{06988898-E700-0843-9D90-BFFE4DD23AFE}" srcOrd="0" destOrd="2" presId="urn:microsoft.com/office/officeart/2016/7/layout/RepeatingBendingProcessNew"/>
    <dgm:cxn modelId="{0B9142D6-0EFC-AC4E-BEB6-E03F26C84E26}" type="presOf" srcId="{2665ED2B-9A80-408C-9FBA-D42391CFDB42}" destId="{CED3AD96-A2D8-4646-AC99-73BA25981F88}" srcOrd="0" destOrd="0" presId="urn:microsoft.com/office/officeart/2016/7/layout/RepeatingBendingProcessNew"/>
    <dgm:cxn modelId="{B10C9CD6-219B-4899-8187-2E0346E97C0D}" srcId="{FF30B901-436B-4192-BD03-A13CB38212AB}" destId="{B061A2F0-50E5-43FE-9BB6-A02E04ED3264}" srcOrd="0" destOrd="0" parTransId="{7C6F3550-4F9B-4251-8B34-8F6480A431E8}" sibTransId="{33B88A26-9179-45DD-8BD8-DCA03D6F3425}"/>
    <dgm:cxn modelId="{663CF4DD-AE42-B041-BC2D-C0348D703B32}" type="presOf" srcId="{9549FF36-6109-4F9F-A77E-08A210C707BF}" destId="{B5770164-8F2E-A248-BA42-C4C08CCC06C8}" srcOrd="0" destOrd="0" presId="urn:microsoft.com/office/officeart/2016/7/layout/RepeatingBendingProcessNew"/>
    <dgm:cxn modelId="{430C80F5-6CAF-477E-9E2B-5E35D0066D50}" srcId="{9549FF36-6109-4F9F-A77E-08A210C707BF}" destId="{967EC2FB-A2ED-4A8F-A8E6-A2DA0F6E32F4}" srcOrd="1" destOrd="0" parTransId="{73220FC9-270C-4CCF-9CFD-75832CCD32C1}" sibTransId="{BE0FCE0F-0BCC-4121-834C-042E739159F2}"/>
    <dgm:cxn modelId="{79653CF7-07A6-4F48-AA13-A3312D9ED3DA}" type="presOf" srcId="{FF30B901-436B-4192-BD03-A13CB38212AB}" destId="{06988898-E700-0843-9D90-BFFE4DD23AFE}" srcOrd="0" destOrd="0" presId="urn:microsoft.com/office/officeart/2016/7/layout/RepeatingBendingProcessNew"/>
    <dgm:cxn modelId="{10DB1B96-36AF-3547-8739-B3772BC7FF5D}" type="presParOf" srcId="{51F40BF0-E662-A94F-ADA4-F07716B6728B}" destId="{B5770164-8F2E-A248-BA42-C4C08CCC06C8}" srcOrd="0" destOrd="0" presId="urn:microsoft.com/office/officeart/2016/7/layout/RepeatingBendingProcessNew"/>
    <dgm:cxn modelId="{27126320-E44E-E94C-9013-3256AEDFB7E4}" type="presParOf" srcId="{51F40BF0-E662-A94F-ADA4-F07716B6728B}" destId="{CED3AD96-A2D8-4646-AC99-73BA25981F88}" srcOrd="1" destOrd="0" presId="urn:microsoft.com/office/officeart/2016/7/layout/RepeatingBendingProcessNew"/>
    <dgm:cxn modelId="{18B4DDF0-2DB4-104C-906A-F4C9FDFE494E}" type="presParOf" srcId="{CED3AD96-A2D8-4646-AC99-73BA25981F88}" destId="{962B8DC9-C14A-5741-8E1A-FC4CBCD3F998}" srcOrd="0" destOrd="0" presId="urn:microsoft.com/office/officeart/2016/7/layout/RepeatingBendingProcessNew"/>
    <dgm:cxn modelId="{7DBC423A-556F-B340-A028-47DE57AE0586}" type="presParOf" srcId="{51F40BF0-E662-A94F-ADA4-F07716B6728B}" destId="{06988898-E700-0843-9D90-BFFE4DD23AFE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A1E4E8-459F-438E-8E72-2550E24CA1F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549FF36-6109-4F9F-A77E-08A210C707BF}">
      <dgm:prSet/>
      <dgm:spPr/>
      <dgm:t>
        <a:bodyPr/>
        <a:lstStyle/>
        <a:p>
          <a:r>
            <a:rPr lang="ru-RU" dirty="0"/>
            <a:t>Предложения </a:t>
          </a:r>
          <a:r>
            <a:rPr lang="en-US" dirty="0"/>
            <a:t>TO BE</a:t>
          </a:r>
          <a:endParaRPr lang="ru-RU" dirty="0"/>
        </a:p>
        <a:p>
          <a:r>
            <a:rPr lang="ru-RU" dirty="0"/>
            <a:t>•   Изменение порядка существующей классификации и размещения дел</a:t>
          </a:r>
        </a:p>
        <a:p>
          <a:pPr>
            <a:buNone/>
          </a:pPr>
          <a:r>
            <a:rPr lang="ru-RU" dirty="0"/>
            <a:t>         •  Постепенное внесение старых дел в электронную базу данных</a:t>
          </a:r>
          <a:endParaRPr lang="en-US" dirty="0"/>
        </a:p>
      </dgm:t>
    </dgm:pt>
    <dgm:pt modelId="{BFC4434A-0EA8-4C03-A135-E788FFF2B79E}" type="parTrans" cxnId="{3FB576BF-C20B-42A2-A81B-3009D6CC3E57}">
      <dgm:prSet/>
      <dgm:spPr/>
      <dgm:t>
        <a:bodyPr/>
        <a:lstStyle/>
        <a:p>
          <a:endParaRPr lang="en-US"/>
        </a:p>
      </dgm:t>
    </dgm:pt>
    <dgm:pt modelId="{2665ED2B-9A80-408C-9FBA-D42391CFDB42}" type="sibTrans" cxnId="{3FB576BF-C20B-42A2-A81B-3009D6CC3E57}">
      <dgm:prSet/>
      <dgm:spPr/>
      <dgm:t>
        <a:bodyPr/>
        <a:lstStyle/>
        <a:p>
          <a:endParaRPr lang="en-US"/>
        </a:p>
      </dgm:t>
    </dgm:pt>
    <dgm:pt modelId="{FF30B901-436B-4192-BD03-A13CB38212AB}">
      <dgm:prSet/>
      <dgm:spPr/>
      <dgm:t>
        <a:bodyPr/>
        <a:lstStyle/>
        <a:p>
          <a:r>
            <a:rPr lang="ru-RU" b="1" i="0" dirty="0"/>
            <a:t>Оценка экономического эффекта: </a:t>
          </a:r>
          <a:br>
            <a:rPr lang="ru-RU" b="1" i="0" dirty="0"/>
          </a:br>
          <a:r>
            <a:rPr lang="ru-RU" dirty="0"/>
            <a:t>•Сокращение времени по поиску дел на 12,5%(до 5 минут)</a:t>
          </a:r>
          <a:endParaRPr lang="en-US" dirty="0"/>
        </a:p>
      </dgm:t>
    </dgm:pt>
    <dgm:pt modelId="{2C64A615-722E-4084-B691-CBC240DA4677}" type="parTrans" cxnId="{2FB123AD-7488-4A8F-8E04-66D12A7555E1}">
      <dgm:prSet/>
      <dgm:spPr/>
      <dgm:t>
        <a:bodyPr/>
        <a:lstStyle/>
        <a:p>
          <a:endParaRPr lang="en-US"/>
        </a:p>
      </dgm:t>
    </dgm:pt>
    <dgm:pt modelId="{AA804070-A617-4855-87B2-E31F31001249}" type="sibTrans" cxnId="{2FB123AD-7488-4A8F-8E04-66D12A7555E1}">
      <dgm:prSet/>
      <dgm:spPr/>
      <dgm:t>
        <a:bodyPr/>
        <a:lstStyle/>
        <a:p>
          <a:endParaRPr lang="en-US"/>
        </a:p>
      </dgm:t>
    </dgm:pt>
    <dgm:pt modelId="{51F40BF0-E662-A94F-ADA4-F07716B6728B}" type="pres">
      <dgm:prSet presAssocID="{9AA1E4E8-459F-438E-8E72-2550E24CA1FE}" presName="Name0" presStyleCnt="0">
        <dgm:presLayoutVars>
          <dgm:dir/>
          <dgm:resizeHandles val="exact"/>
        </dgm:presLayoutVars>
      </dgm:prSet>
      <dgm:spPr/>
    </dgm:pt>
    <dgm:pt modelId="{B5770164-8F2E-A248-BA42-C4C08CCC06C8}" type="pres">
      <dgm:prSet presAssocID="{9549FF36-6109-4F9F-A77E-08A210C707BF}" presName="node" presStyleLbl="node1" presStyleIdx="0" presStyleCnt="2">
        <dgm:presLayoutVars>
          <dgm:bulletEnabled val="1"/>
        </dgm:presLayoutVars>
      </dgm:prSet>
      <dgm:spPr/>
    </dgm:pt>
    <dgm:pt modelId="{1507BBAB-14B0-4441-AC8D-D7DE46FBE398}" type="pres">
      <dgm:prSet presAssocID="{2665ED2B-9A80-408C-9FBA-D42391CFDB42}" presName="sibTrans" presStyleLbl="sibTrans1D1" presStyleIdx="0" presStyleCnt="1"/>
      <dgm:spPr/>
    </dgm:pt>
    <dgm:pt modelId="{CB9258EF-09A6-5545-B521-F8A89846592C}" type="pres">
      <dgm:prSet presAssocID="{2665ED2B-9A80-408C-9FBA-D42391CFDB42}" presName="connectorText" presStyleLbl="sibTrans1D1" presStyleIdx="0" presStyleCnt="1"/>
      <dgm:spPr/>
    </dgm:pt>
    <dgm:pt modelId="{06988898-E700-0843-9D90-BFFE4DD23AFE}" type="pres">
      <dgm:prSet presAssocID="{FF30B901-436B-4192-BD03-A13CB38212AB}" presName="node" presStyleLbl="node1" presStyleIdx="1" presStyleCnt="2">
        <dgm:presLayoutVars>
          <dgm:bulletEnabled val="1"/>
        </dgm:presLayoutVars>
      </dgm:prSet>
      <dgm:spPr/>
    </dgm:pt>
  </dgm:ptLst>
  <dgm:cxnLst>
    <dgm:cxn modelId="{5DD01558-0A0C-DB47-8558-E47D6578B032}" type="presOf" srcId="{9549FF36-6109-4F9F-A77E-08A210C707BF}" destId="{B5770164-8F2E-A248-BA42-C4C08CCC06C8}" srcOrd="0" destOrd="0" presId="urn:microsoft.com/office/officeart/2016/7/layout/RepeatingBendingProcessNew"/>
    <dgm:cxn modelId="{363DA164-673B-D54C-8884-AE87AF2D9368}" type="presOf" srcId="{9AA1E4E8-459F-438E-8E72-2550E24CA1FE}" destId="{51F40BF0-E662-A94F-ADA4-F07716B6728B}" srcOrd="0" destOrd="0" presId="urn:microsoft.com/office/officeart/2016/7/layout/RepeatingBendingProcessNew"/>
    <dgm:cxn modelId="{9415CB9E-9AF9-1C4E-B089-9B23658E50CE}" type="presOf" srcId="{2665ED2B-9A80-408C-9FBA-D42391CFDB42}" destId="{CB9258EF-09A6-5545-B521-F8A89846592C}" srcOrd="1" destOrd="0" presId="urn:microsoft.com/office/officeart/2016/7/layout/RepeatingBendingProcessNew"/>
    <dgm:cxn modelId="{2FB123AD-7488-4A8F-8E04-66D12A7555E1}" srcId="{9AA1E4E8-459F-438E-8E72-2550E24CA1FE}" destId="{FF30B901-436B-4192-BD03-A13CB38212AB}" srcOrd="1" destOrd="0" parTransId="{2C64A615-722E-4084-B691-CBC240DA4677}" sibTransId="{AA804070-A617-4855-87B2-E31F31001249}"/>
    <dgm:cxn modelId="{3FB576BF-C20B-42A2-A81B-3009D6CC3E57}" srcId="{9AA1E4E8-459F-438E-8E72-2550E24CA1FE}" destId="{9549FF36-6109-4F9F-A77E-08A210C707BF}" srcOrd="0" destOrd="0" parTransId="{BFC4434A-0EA8-4C03-A135-E788FFF2B79E}" sibTransId="{2665ED2B-9A80-408C-9FBA-D42391CFDB42}"/>
    <dgm:cxn modelId="{6984BEE0-7C8E-3649-AA0F-C14AF851288E}" type="presOf" srcId="{2665ED2B-9A80-408C-9FBA-D42391CFDB42}" destId="{1507BBAB-14B0-4441-AC8D-D7DE46FBE398}" srcOrd="0" destOrd="0" presId="urn:microsoft.com/office/officeart/2016/7/layout/RepeatingBendingProcessNew"/>
    <dgm:cxn modelId="{999D6EF5-AC67-9D4D-AEEC-67B483A4D7E2}" type="presOf" srcId="{FF30B901-436B-4192-BD03-A13CB38212AB}" destId="{06988898-E700-0843-9D90-BFFE4DD23AFE}" srcOrd="0" destOrd="0" presId="urn:microsoft.com/office/officeart/2016/7/layout/RepeatingBendingProcessNew"/>
    <dgm:cxn modelId="{DCA64C5E-686E-2242-8645-246F693D8E71}" type="presParOf" srcId="{51F40BF0-E662-A94F-ADA4-F07716B6728B}" destId="{B5770164-8F2E-A248-BA42-C4C08CCC06C8}" srcOrd="0" destOrd="0" presId="urn:microsoft.com/office/officeart/2016/7/layout/RepeatingBendingProcessNew"/>
    <dgm:cxn modelId="{476B842A-61A9-A642-B007-2E389E722210}" type="presParOf" srcId="{51F40BF0-E662-A94F-ADA4-F07716B6728B}" destId="{1507BBAB-14B0-4441-AC8D-D7DE46FBE398}" srcOrd="1" destOrd="0" presId="urn:microsoft.com/office/officeart/2016/7/layout/RepeatingBendingProcessNew"/>
    <dgm:cxn modelId="{A43B1698-F7ED-1A44-BAD3-583FA919632E}" type="presParOf" srcId="{1507BBAB-14B0-4441-AC8D-D7DE46FBE398}" destId="{CB9258EF-09A6-5545-B521-F8A89846592C}" srcOrd="0" destOrd="0" presId="urn:microsoft.com/office/officeart/2016/7/layout/RepeatingBendingProcessNew"/>
    <dgm:cxn modelId="{02BD54A2-4323-1343-827A-AB4AEFC362FD}" type="presParOf" srcId="{51F40BF0-E662-A94F-ADA4-F07716B6728B}" destId="{06988898-E700-0843-9D90-BFFE4DD23AFE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3AD96-A2D8-4646-AC99-73BA25981F88}">
      <dsp:nvSpPr>
        <dsp:cNvPr id="0" name=""/>
        <dsp:cNvSpPr/>
      </dsp:nvSpPr>
      <dsp:spPr>
        <a:xfrm>
          <a:off x="4713943" y="1928718"/>
          <a:ext cx="10535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53513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13597" y="1969017"/>
        <a:ext cx="54205" cy="10841"/>
      </dsp:txXfrm>
    </dsp:sp>
    <dsp:sp modelId="{B5770164-8F2E-A248-BA42-C4C08CCC06C8}">
      <dsp:nvSpPr>
        <dsp:cNvPr id="0" name=""/>
        <dsp:cNvSpPr/>
      </dsp:nvSpPr>
      <dsp:spPr>
        <a:xfrm>
          <a:off x="2207" y="560377"/>
          <a:ext cx="4713535" cy="28281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967" tIns="242441" rIns="230967" bIns="242441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i="0" kern="1200"/>
            <a:t>Предложения </a:t>
          </a:r>
          <a:r>
            <a:rPr lang="en-US" sz="2200" b="1" i="0" kern="1200"/>
            <a:t>TO BE: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b="1" i="0" kern="1200"/>
            <a:t>Обучение сотрудников раз в год: проведение тренингов по правильному заполнению и подшиванию папок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b="1" i="0" kern="1200"/>
            <a:t>Внедрение ИИ для первичной проверки документов (чат-бот </a:t>
          </a:r>
          <a:r>
            <a:rPr lang="en-US" sz="1700" b="1" i="0" kern="1200"/>
            <a:t>Telegram)</a:t>
          </a:r>
          <a:endParaRPr lang="en-US" sz="1700" kern="1200"/>
        </a:p>
      </dsp:txBody>
      <dsp:txXfrm>
        <a:off x="2207" y="560377"/>
        <a:ext cx="4713535" cy="2828121"/>
      </dsp:txXfrm>
    </dsp:sp>
    <dsp:sp modelId="{06988898-E700-0843-9D90-BFFE4DD23AFE}">
      <dsp:nvSpPr>
        <dsp:cNvPr id="0" name=""/>
        <dsp:cNvSpPr/>
      </dsp:nvSpPr>
      <dsp:spPr>
        <a:xfrm>
          <a:off x="5799856" y="560377"/>
          <a:ext cx="4713535" cy="2828121"/>
        </a:xfrm>
        <a:prstGeom prst="rect">
          <a:avLst/>
        </a:prstGeom>
        <a:solidFill>
          <a:schemeClr val="accent5">
            <a:hueOff val="5313054"/>
            <a:satOff val="-2284"/>
            <a:lumOff val="-10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967" tIns="242441" rIns="230967" bIns="242441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i="0" kern="1200"/>
            <a:t>Оценка экономического эффекта: 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b="1" i="0" kern="1200"/>
            <a:t>Сокращение времени по осуществлению сводки дел на 23%(до 104 минут)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b="1" i="0" kern="1200"/>
            <a:t>Сократить ошибки заполнения на 70%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b="1" i="0" kern="1200"/>
            <a:t>Снизить количество перешитых папок на 40%</a:t>
          </a:r>
          <a:endParaRPr lang="en-US" sz="1700" kern="1200"/>
        </a:p>
      </dsp:txBody>
      <dsp:txXfrm>
        <a:off x="5799856" y="560377"/>
        <a:ext cx="4713535" cy="28281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7BBAB-14B0-4441-AC8D-D7DE46FBE398}">
      <dsp:nvSpPr>
        <dsp:cNvPr id="0" name=""/>
        <dsp:cNvSpPr/>
      </dsp:nvSpPr>
      <dsp:spPr>
        <a:xfrm>
          <a:off x="4713943" y="1928718"/>
          <a:ext cx="10535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53513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13597" y="1969017"/>
        <a:ext cx="54205" cy="10841"/>
      </dsp:txXfrm>
    </dsp:sp>
    <dsp:sp modelId="{B5770164-8F2E-A248-BA42-C4C08CCC06C8}">
      <dsp:nvSpPr>
        <dsp:cNvPr id="0" name=""/>
        <dsp:cNvSpPr/>
      </dsp:nvSpPr>
      <dsp:spPr>
        <a:xfrm>
          <a:off x="2207" y="560377"/>
          <a:ext cx="4713535" cy="28281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967" tIns="242441" rIns="230967" bIns="2424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Предложения </a:t>
          </a:r>
          <a:r>
            <a:rPr lang="en-US" sz="2100" kern="1200" dirty="0"/>
            <a:t>TO BE</a:t>
          </a:r>
          <a:endParaRPr lang="ru-RU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•   Изменение порядка существующей классификации и размещения дел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         •  Постепенное внесение старых дел в электронную базу данных</a:t>
          </a:r>
          <a:endParaRPr lang="en-US" sz="2100" kern="1200" dirty="0"/>
        </a:p>
      </dsp:txBody>
      <dsp:txXfrm>
        <a:off x="2207" y="560377"/>
        <a:ext cx="4713535" cy="2828121"/>
      </dsp:txXfrm>
    </dsp:sp>
    <dsp:sp modelId="{06988898-E700-0843-9D90-BFFE4DD23AFE}">
      <dsp:nvSpPr>
        <dsp:cNvPr id="0" name=""/>
        <dsp:cNvSpPr/>
      </dsp:nvSpPr>
      <dsp:spPr>
        <a:xfrm>
          <a:off x="5799856" y="560377"/>
          <a:ext cx="4713535" cy="2828121"/>
        </a:xfrm>
        <a:prstGeom prst="rect">
          <a:avLst/>
        </a:prstGeom>
        <a:solidFill>
          <a:schemeClr val="accent5">
            <a:hueOff val="5313054"/>
            <a:satOff val="-2284"/>
            <a:lumOff val="-10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967" tIns="242441" rIns="230967" bIns="2424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1" i="0" kern="1200" dirty="0"/>
            <a:t>Оценка экономического эффекта: </a:t>
          </a:r>
          <a:br>
            <a:rPr lang="ru-RU" sz="2100" b="1" i="0" kern="1200" dirty="0"/>
          </a:br>
          <a:r>
            <a:rPr lang="ru-RU" sz="2100" kern="1200" dirty="0"/>
            <a:t>•Сокращение времени по поиску дел на 12,5%(до 5 минут)</a:t>
          </a:r>
          <a:endParaRPr lang="en-US" sz="2100" kern="1200" dirty="0"/>
        </a:p>
      </dsp:txBody>
      <dsp:txXfrm>
        <a:off x="5799856" y="560377"/>
        <a:ext cx="4713535" cy="2828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031E27-6426-47A4-8AE9-F714D46D5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68061" y="-45474"/>
            <a:ext cx="7455877" cy="5280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0132FB-F608-4706-AB87-F39F148C84FB}"/>
              </a:ext>
            </a:extLst>
          </p:cNvPr>
          <p:cNvSpPr/>
          <p:nvPr userDrawn="1"/>
        </p:nvSpPr>
        <p:spPr>
          <a:xfrm>
            <a:off x="0" y="5101193"/>
            <a:ext cx="12192000" cy="1756807"/>
          </a:xfrm>
          <a:prstGeom prst="rect">
            <a:avLst/>
          </a:prstGeom>
          <a:solidFill>
            <a:srgbClr val="4C7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E145D-C49E-4C3C-912A-3BB3E9E5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187482-321B-4091-AF48-1FA5705C2782}" type="datetimeFigureOut">
              <a:rPr lang="ru-RU" smtClean="0"/>
              <a:pPr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640FC7-84E7-4FF7-A3D4-D389DBE0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F142D5-2441-4DF5-9519-F16DF424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F1633D-A3A4-41EC-81EB-EC4253811A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063ECF-DBB9-46AB-A0A5-55BF6FFC0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3335" y="6336462"/>
            <a:ext cx="4970585" cy="7700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AB59E-8A64-4966-AB51-2A06AFAEA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" y="5372657"/>
            <a:ext cx="11841480" cy="983694"/>
          </a:xfrm>
        </p:spPr>
        <p:txBody>
          <a:bodyPr anchor="b"/>
          <a:lstStyle>
            <a:lvl1pPr algn="ctr">
              <a:defRPr sz="6000" b="1"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80467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ED48C28-A5B5-4B21-BC37-DCD692C5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fld id="{18187482-321B-4091-AF48-1FA5705C2782}" type="datetimeFigureOut">
              <a:rPr lang="ru-RU" smtClean="0"/>
              <a:pPr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165084-25E8-4DD7-B98C-260CEFB2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774FC0-4042-42D1-BE12-B4A22135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fld id="{FCF1633D-A3A4-41EC-81EB-EC4253811A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4ACE1-2465-4316-9B0A-D80C55FA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289323" cy="1325563"/>
          </a:xfrm>
        </p:spPr>
        <p:txBody>
          <a:bodyPr/>
          <a:lstStyle>
            <a:lvl1pPr>
              <a:defRPr b="1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86169-EFD6-4891-A340-79A0C17E4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0" y="1825625"/>
            <a:ext cx="7205003" cy="4351338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84CC90-CB2B-48C5-B649-787A40BB10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0318" y="1350010"/>
            <a:ext cx="5660235" cy="521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2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ED48C28-A5B5-4B21-BC37-DCD692C5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fld id="{18187482-321B-4091-AF48-1FA5705C2782}" type="datetimeFigureOut">
              <a:rPr lang="ru-RU" smtClean="0"/>
              <a:pPr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165084-25E8-4DD7-B98C-260CEFB2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4ACE1-2465-4316-9B0A-D80C55FA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289323" cy="1325563"/>
          </a:xfrm>
        </p:spPr>
        <p:txBody>
          <a:bodyPr/>
          <a:lstStyle>
            <a:lvl1pPr>
              <a:defRPr b="1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86169-EFD6-4891-A340-79A0C17E4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1" y="1825625"/>
            <a:ext cx="6644640" cy="4351338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FE9363-BE0B-45BE-948E-73C1FF5CA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9777" y="1950720"/>
            <a:ext cx="6235715" cy="534924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774FC0-4042-42D1-BE12-B4A22135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fld id="{FCF1633D-A3A4-41EC-81EB-EC4253811AD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454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E416A-62D4-4025-9EE6-A0A7FE3D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76A41-E2CE-45E4-9C81-D836ED66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465FB-1293-4706-900E-F1EDA25E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1DB2DD-E67E-4EAB-948F-26EE5DDB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2AEEC5-F46A-4214-A9EF-D8464426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08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7B924-4E57-4A13-BA12-E5464E5F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216FD-C95A-4D15-90D6-BDE63D38F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970405-5235-4C13-9834-6141D9181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AC2F08-7521-42B2-899A-3D33650C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3718C7-E594-4621-9725-79B9F545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B0DD03-C5CC-409E-A3CA-641721AB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94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C89B8-907D-408D-B908-B49FBE08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982E82-4325-4EAD-B571-ACFB07853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5ACBF0-B777-4E68-AF12-C37B0D700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80F27D-7DFE-4C35-AB8D-423369138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13D5F1-FD9A-4B9F-9FEF-670AEB34E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2EBD00-E804-42D3-A0AE-B6B39D16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2513C4E-94AE-4D57-9F06-3586D55F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3185AC-FC30-4065-A64C-38CACC91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04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E1687-05AE-4269-8F49-B9FB9829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DF81DB-F9CD-4E55-BF07-56B30E15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96D66A-1D4D-4865-BF14-9C4A355D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2997B8-E4F7-4FFE-AD0B-5325DB7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23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C317D4-42FB-4B26-BB81-3800603A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35930D-FD28-4DD9-A759-6BF0EB0A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3C6EB2-89AC-4DCD-BB77-4D363595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07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AE14E-4149-48EB-9324-048DA5D1F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466C0-11C5-44F1-92B2-7AACD214A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17597C-C55F-42B8-968C-9A9F669E4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79847F-229B-4CEF-879E-0E07E16E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F94929-3663-4C0C-932A-2034A072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31C0D9-E176-47FE-8050-A5D1EA6E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4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D3FDC-323E-4C2C-A690-64F2EAB9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A14831-C110-4079-B9B5-18FCA8CBF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735E01-7792-4563-B4C8-3A73F1719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A58838-2DD7-4918-B895-BF9A6505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DF5B9B-56B7-4863-AF17-B7394830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63C416-C561-4953-BA54-A84B0905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74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B9ABC-23C5-4DC5-9C46-D06D7833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6C501B-FF3F-488E-85AE-8AE8CB18F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997DF-F562-4798-B7C7-79F0E6FD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69044-84EC-4A28-8A95-81C55F38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5FBBD5-9151-460C-9A1B-19345AE5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55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5FD227-B215-4F36-81AB-F7985216F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138D31-461F-4886-A5D5-71C186100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017FA-5558-4FDF-A6DB-49B5491F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E06B0-652F-4D1A-8B8E-3E31AFCC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1BE7DA-FEF2-4D4A-AD7D-83AA0124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79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6E76A-A78B-4FC6-813D-98C391C2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err="1"/>
              <a:t>Опабразец</a:t>
            </a:r>
            <a:r>
              <a:rPr lang="ru-RU" dirty="0"/>
              <a:t>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A3159E-E7DC-41B0-BD68-0E1723393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DC1779-9597-4858-9967-1BAB2D011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87482-321B-4091-AF48-1FA5705C278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207217-3E7F-417D-86BC-92AD72E66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EEC94-F336-4D12-BC00-4AFAAD331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1633D-A3A4-41EC-81EB-EC4253811A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99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FFBF67-8232-4AA0-895B-9705078C6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Архив КФУ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91AEB-E4ED-FACA-1B18-223BB46B8DCF}"/>
              </a:ext>
            </a:extLst>
          </p:cNvPr>
          <p:cNvSpPr txBox="1"/>
          <p:nvPr/>
        </p:nvSpPr>
        <p:spPr>
          <a:xfrm>
            <a:off x="4563207" y="6211669"/>
            <a:ext cx="342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Мингазова Карина, Маслова Елизавета, Суетин Кирилл</a:t>
            </a:r>
          </a:p>
        </p:txBody>
      </p:sp>
    </p:spTree>
    <p:extLst>
      <p:ext uri="{BB962C8B-B14F-4D97-AF65-F5344CB8AC3E}">
        <p14:creationId xmlns:p14="http://schemas.microsoft.com/office/powerpoint/2010/main" val="3679265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D9FD87-5986-F3F2-7D7A-A8E423B1B0A4}"/>
              </a:ext>
            </a:extLst>
          </p:cNvPr>
          <p:cNvSpPr txBox="1"/>
          <p:nvPr/>
        </p:nvSpPr>
        <p:spPr>
          <a:xfrm>
            <a:off x="638881" y="457199"/>
            <a:ext cx="10909640" cy="152218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Чем</a:t>
            </a:r>
            <a:r>
              <a:rPr lang="en-US" sz="6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мы</a:t>
            </a:r>
            <a:r>
              <a:rPr lang="en-US" sz="6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занимались</a:t>
            </a:r>
            <a:r>
              <a:rPr lang="en-US" sz="6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Рисунок 32" descr="Изображение выглядит как текст, векторная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B2C87B7D-B19E-067E-FF8C-26D5314A6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595" y="4251577"/>
            <a:ext cx="2303501" cy="2545306"/>
          </a:xfrm>
          <a:prstGeom prst="rect">
            <a:avLst/>
          </a:prstGeom>
        </p:spPr>
      </p:pic>
      <p:grpSp>
        <p:nvGrpSpPr>
          <p:cNvPr id="2" name="Group 32">
            <a:extLst>
              <a:ext uri="{FF2B5EF4-FFF2-40B4-BE49-F238E27FC236}">
                <a16:creationId xmlns:a16="http://schemas.microsoft.com/office/drawing/2014/main" id="{142E4224-6E0E-7818-E246-07B649E9D532}"/>
              </a:ext>
            </a:extLst>
          </p:cNvPr>
          <p:cNvGrpSpPr/>
          <p:nvPr/>
        </p:nvGrpSpPr>
        <p:grpSpPr>
          <a:xfrm>
            <a:off x="1443210" y="2058900"/>
            <a:ext cx="8909836" cy="4263120"/>
            <a:chOff x="849402" y="1347992"/>
            <a:chExt cx="8050439" cy="3122120"/>
          </a:xfrm>
        </p:grpSpPr>
        <p:sp>
          <p:nvSpPr>
            <p:cNvPr id="3" name="Shape 14344">
              <a:extLst>
                <a:ext uri="{FF2B5EF4-FFF2-40B4-BE49-F238E27FC236}">
                  <a16:creationId xmlns:a16="http://schemas.microsoft.com/office/drawing/2014/main" id="{0194678E-6C71-0272-CCDE-9F61FC15F33E}"/>
                </a:ext>
              </a:extLst>
            </p:cNvPr>
            <p:cNvSpPr/>
            <p:nvPr/>
          </p:nvSpPr>
          <p:spPr>
            <a:xfrm flipH="1">
              <a:off x="5195134" y="1801845"/>
              <a:ext cx="1018372" cy="1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dash"/>
              <a:round/>
              <a:headEnd type="oval"/>
            </a:ln>
          </p:spPr>
          <p:txBody>
            <a:bodyPr lIns="0" tIns="0" rIns="0" bIns="0"/>
            <a:lstStyle/>
            <a:p>
              <a:pPr lvl="0">
                <a:defRPr sz="1200">
                  <a:uFillTx/>
                  <a:latin typeface="+mj-lt"/>
                  <a:ea typeface="+mj-ea"/>
                  <a:cs typeface="+mj-cs"/>
                  <a:sym typeface="Helvetica"/>
                </a:defRPr>
              </a:pPr>
              <a:endParaRPr sz="1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" name="Shape 14345">
              <a:extLst>
                <a:ext uri="{FF2B5EF4-FFF2-40B4-BE49-F238E27FC236}">
                  <a16:creationId xmlns:a16="http://schemas.microsoft.com/office/drawing/2014/main" id="{ACEF653F-CB7F-59D5-5A29-057E353022D5}"/>
                </a:ext>
              </a:extLst>
            </p:cNvPr>
            <p:cNvSpPr/>
            <p:nvPr/>
          </p:nvSpPr>
          <p:spPr>
            <a:xfrm>
              <a:off x="6251628" y="1638548"/>
              <a:ext cx="2565675" cy="5220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4" tIns="45714" rIns="45714" bIns="45714" numCol="1" anchor="t">
              <a:spAutoFit/>
            </a:bodyPr>
            <a:lstStyle>
              <a:lvl1pPr>
                <a:spcBef>
                  <a:spcPts val="200"/>
                </a:spcBef>
                <a:defRPr sz="1200">
                  <a:solidFill>
                    <a:srgbClr val="3A5063"/>
                  </a:solidFill>
                  <a:uFill>
                    <a:solidFill>
                      <a:srgbClr val="3A5063"/>
                    </a:solidFill>
                  </a:u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pPr defTabSz="466344">
                <a:spcBef>
                  <a:spcPts val="102"/>
                </a:spcBef>
                <a:defRPr sz="1800">
                  <a:solidFill>
                    <a:srgbClr val="000000"/>
                  </a:solidFill>
                  <a:uFillTx/>
                </a:defRPr>
              </a:pPr>
              <a:r>
                <a:rPr lang="ru-RU" altLang="zh-CN" sz="2000" kern="1200" dirty="0">
                  <a:solidFill>
                    <a:schemeClr val="bg1">
                      <a:lumMod val="50000"/>
                    </a:schemeClr>
                  </a:solidFill>
                  <a:uFillTx/>
                  <a:latin typeface="微软雅黑" pitchFamily="34" charset="-122"/>
                  <a:ea typeface="微软雅黑" pitchFamily="34" charset="-122"/>
                  <a:cs typeface="+mn-ea"/>
                  <a:sym typeface="+mn-lt"/>
                </a:rPr>
                <a:t>Исполнение заявлений граждан</a:t>
              </a:r>
              <a:endParaRPr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14346">
              <a:extLst>
                <a:ext uri="{FF2B5EF4-FFF2-40B4-BE49-F238E27FC236}">
                  <a16:creationId xmlns:a16="http://schemas.microsoft.com/office/drawing/2014/main" id="{AFC14504-22D3-4879-1B65-9D711839D368}"/>
                </a:ext>
              </a:extLst>
            </p:cNvPr>
            <p:cNvSpPr/>
            <p:nvPr/>
          </p:nvSpPr>
          <p:spPr>
            <a:xfrm>
              <a:off x="6251626" y="1854497"/>
              <a:ext cx="2136797" cy="26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4" tIns="45714" rIns="45714" bIns="45714" numCol="1" anchor="t">
              <a:spAutoFit/>
            </a:bodyPr>
            <a:lstStyle>
              <a:lvl1pPr>
                <a:lnSpc>
                  <a:spcPct val="120000"/>
                </a:lnSpc>
                <a:spcBef>
                  <a:spcPts val="100"/>
                </a:spcBef>
                <a:defRPr sz="700">
                  <a:solidFill>
                    <a:srgbClr val="808080"/>
                  </a:solidFill>
                  <a:uFill>
                    <a:solidFill>
                      <a:srgbClr val="808080"/>
                    </a:solidFill>
                  </a:u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pPr defTabSz="466344">
                <a:spcBef>
                  <a:spcPts val="51"/>
                </a:spcBef>
                <a:defRPr sz="1800">
                  <a:solidFill>
                    <a:srgbClr val="000000"/>
                  </a:solidFill>
                  <a:uFillTx/>
                </a:defRPr>
              </a:pPr>
              <a:r>
                <a:rPr lang="en-US" altLang="zh-CN" sz="816" kern="1200">
                  <a:solidFill>
                    <a:schemeClr val="bg1">
                      <a:lumMod val="50000"/>
                    </a:schemeClr>
                  </a:solidFill>
                  <a:uFillTx/>
                  <a:latin typeface="微软雅黑" pitchFamily="34" charset="-122"/>
                  <a:ea typeface="微软雅黑" pitchFamily="34" charset="-122"/>
                  <a:cs typeface="+mn-ea"/>
                  <a:sym typeface="+mn-lt"/>
                </a:rPr>
                <a:t>. </a:t>
              </a:r>
              <a:endPara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6" name="Shape 14348">
              <a:extLst>
                <a:ext uri="{FF2B5EF4-FFF2-40B4-BE49-F238E27FC236}">
                  <a16:creationId xmlns:a16="http://schemas.microsoft.com/office/drawing/2014/main" id="{E312C6E7-C743-E39B-1A98-4542C7C48363}"/>
                </a:ext>
              </a:extLst>
            </p:cNvPr>
            <p:cNvSpPr/>
            <p:nvPr/>
          </p:nvSpPr>
          <p:spPr>
            <a:xfrm>
              <a:off x="6664073" y="2897927"/>
              <a:ext cx="2235768" cy="5220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4" tIns="45714" rIns="45714" bIns="45714" numCol="1" anchor="t">
              <a:spAutoFit/>
            </a:bodyPr>
            <a:lstStyle>
              <a:lvl1pPr>
                <a:spcBef>
                  <a:spcPts val="200"/>
                </a:spcBef>
                <a:defRPr sz="1200">
                  <a:solidFill>
                    <a:srgbClr val="3A5063"/>
                  </a:solidFill>
                  <a:uFill>
                    <a:solidFill>
                      <a:srgbClr val="3A5063"/>
                    </a:solidFill>
                  </a:u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pPr defTabSz="466344">
                <a:spcBef>
                  <a:spcPts val="102"/>
                </a:spcBef>
                <a:defRPr sz="1800">
                  <a:solidFill>
                    <a:srgbClr val="000000"/>
                  </a:solidFill>
                  <a:uFillTx/>
                </a:defRPr>
              </a:pPr>
              <a:r>
                <a:rPr lang="ru-RU" altLang="zh-CN" sz="2000" kern="1200" dirty="0">
                  <a:solidFill>
                    <a:schemeClr val="bg1">
                      <a:lumMod val="50000"/>
                    </a:schemeClr>
                  </a:solidFill>
                  <a:uFillTx/>
                  <a:latin typeface="微软雅黑" pitchFamily="34" charset="-122"/>
                  <a:ea typeface="微软雅黑" pitchFamily="34" charset="-122"/>
                  <a:cs typeface="+mn-ea"/>
                  <a:sym typeface="+mn-lt"/>
                </a:rPr>
                <a:t>Исполнение заявлений ПФР</a:t>
              </a:r>
              <a:endParaRPr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Shape 14349">
              <a:extLst>
                <a:ext uri="{FF2B5EF4-FFF2-40B4-BE49-F238E27FC236}">
                  <a16:creationId xmlns:a16="http://schemas.microsoft.com/office/drawing/2014/main" id="{92D62C13-E96D-9B5B-961D-EDEB9D8EC07F}"/>
                </a:ext>
              </a:extLst>
            </p:cNvPr>
            <p:cNvSpPr/>
            <p:nvPr/>
          </p:nvSpPr>
          <p:spPr>
            <a:xfrm>
              <a:off x="6664074" y="3113876"/>
              <a:ext cx="2088340" cy="26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4" tIns="45714" rIns="45714" bIns="45714" numCol="1" anchor="t">
              <a:spAutoFit/>
            </a:bodyPr>
            <a:lstStyle>
              <a:lvl1pPr>
                <a:lnSpc>
                  <a:spcPct val="120000"/>
                </a:lnSpc>
                <a:spcBef>
                  <a:spcPts val="100"/>
                </a:spcBef>
                <a:defRPr sz="700">
                  <a:solidFill>
                    <a:srgbClr val="808080"/>
                  </a:solidFill>
                  <a:uFill>
                    <a:solidFill>
                      <a:srgbClr val="808080"/>
                    </a:solidFill>
                  </a:u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uFillTx/>
                </a:defRPr>
              </a:pPr>
              <a:endPara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8" name="Shape 14351">
              <a:extLst>
                <a:ext uri="{FF2B5EF4-FFF2-40B4-BE49-F238E27FC236}">
                  <a16:creationId xmlns:a16="http://schemas.microsoft.com/office/drawing/2014/main" id="{8D107A72-1ECE-F069-17C1-C2C682570E01}"/>
                </a:ext>
              </a:extLst>
            </p:cNvPr>
            <p:cNvSpPr/>
            <p:nvPr/>
          </p:nvSpPr>
          <p:spPr>
            <a:xfrm flipH="1">
              <a:off x="6136380" y="3058452"/>
              <a:ext cx="484396" cy="1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dash"/>
              <a:round/>
              <a:headEnd type="oval"/>
            </a:ln>
          </p:spPr>
          <p:txBody>
            <a:bodyPr lIns="0" tIns="0" rIns="0" bIns="0"/>
            <a:lstStyle/>
            <a:p>
              <a:pPr lvl="0">
                <a:defRPr sz="1200">
                  <a:uFillTx/>
                  <a:latin typeface="+mj-lt"/>
                  <a:ea typeface="+mj-ea"/>
                  <a:cs typeface="+mj-cs"/>
                  <a:sym typeface="Helvetica"/>
                </a:defRPr>
              </a:pPr>
              <a:endParaRPr sz="1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Shape 14352">
              <a:extLst>
                <a:ext uri="{FF2B5EF4-FFF2-40B4-BE49-F238E27FC236}">
                  <a16:creationId xmlns:a16="http://schemas.microsoft.com/office/drawing/2014/main" id="{26260EBC-5211-E13E-9420-298C00C6C2BB}"/>
                </a:ext>
              </a:extLst>
            </p:cNvPr>
            <p:cNvSpPr/>
            <p:nvPr/>
          </p:nvSpPr>
          <p:spPr>
            <a:xfrm>
              <a:off x="2335199" y="3720626"/>
              <a:ext cx="2378083" cy="2930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4" tIns="45714" rIns="45714" bIns="45714" numCol="1" anchor="t">
              <a:spAutoFit/>
            </a:bodyPr>
            <a:lstStyle>
              <a:lvl1pPr algn="r">
                <a:spcBef>
                  <a:spcPts val="200"/>
                </a:spcBef>
                <a:defRPr sz="1200">
                  <a:solidFill>
                    <a:srgbClr val="3A5063"/>
                  </a:solidFill>
                  <a:uFill>
                    <a:solidFill>
                      <a:srgbClr val="3A5063"/>
                    </a:solidFill>
                  </a:u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pPr defTabSz="466344">
                <a:spcBef>
                  <a:spcPts val="102"/>
                </a:spcBef>
                <a:defRPr sz="1800">
                  <a:solidFill>
                    <a:srgbClr val="000000"/>
                  </a:solidFill>
                  <a:uFillTx/>
                </a:defRPr>
              </a:pPr>
              <a:r>
                <a:rPr lang="ru-RU" sz="2000" kern="1200" dirty="0">
                  <a:solidFill>
                    <a:schemeClr val="bg1">
                      <a:lumMod val="50000"/>
                    </a:schemeClr>
                  </a:solidFill>
                  <a:uFillTx/>
                  <a:latin typeface="微软雅黑" pitchFamily="34" charset="-122"/>
                  <a:ea typeface="微软雅黑" pitchFamily="34" charset="-122"/>
                  <a:cs typeface="+mn-ea"/>
                  <a:sym typeface="+mn-lt"/>
                </a:rPr>
                <a:t>Делопроизводство</a:t>
              </a:r>
              <a:endParaRPr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10" name="Shape 14353">
              <a:extLst>
                <a:ext uri="{FF2B5EF4-FFF2-40B4-BE49-F238E27FC236}">
                  <a16:creationId xmlns:a16="http://schemas.microsoft.com/office/drawing/2014/main" id="{C9B67C9B-BE9D-7105-6659-97094DE25C9A}"/>
                </a:ext>
              </a:extLst>
            </p:cNvPr>
            <p:cNvSpPr/>
            <p:nvPr/>
          </p:nvSpPr>
          <p:spPr>
            <a:xfrm>
              <a:off x="2645536" y="3936575"/>
              <a:ext cx="2211403" cy="26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4" tIns="45714" rIns="45714" bIns="45714" numCol="1" anchor="t">
              <a:spAutoFit/>
            </a:bodyPr>
            <a:lstStyle>
              <a:lvl1pPr algn="r">
                <a:lnSpc>
                  <a:spcPct val="120000"/>
                </a:lnSpc>
                <a:spcBef>
                  <a:spcPts val="100"/>
                </a:spcBef>
                <a:defRPr sz="700">
                  <a:solidFill>
                    <a:srgbClr val="808080"/>
                  </a:solidFill>
                  <a:uFill>
                    <a:solidFill>
                      <a:srgbClr val="808080"/>
                    </a:solidFill>
                  </a:u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pPr defTabSz="466344">
                <a:spcBef>
                  <a:spcPts val="51"/>
                </a:spcBef>
                <a:defRPr sz="1800">
                  <a:solidFill>
                    <a:srgbClr val="000000"/>
                  </a:solidFill>
                  <a:uFillTx/>
                </a:defRPr>
              </a:pPr>
              <a:r>
                <a:rPr lang="en-US" altLang="zh-CN" sz="816" kern="1200">
                  <a:solidFill>
                    <a:schemeClr val="bg1">
                      <a:lumMod val="50000"/>
                    </a:schemeClr>
                  </a:solidFill>
                  <a:uFillTx/>
                  <a:latin typeface="微软雅黑" pitchFamily="34" charset="-122"/>
                  <a:ea typeface="微软雅黑" pitchFamily="34" charset="-122"/>
                  <a:cs typeface="+mn-ea"/>
                  <a:sym typeface="+mn-lt"/>
                </a:rPr>
                <a:t>. </a:t>
              </a:r>
              <a:endPara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4355">
              <a:extLst>
                <a:ext uri="{FF2B5EF4-FFF2-40B4-BE49-F238E27FC236}">
                  <a16:creationId xmlns:a16="http://schemas.microsoft.com/office/drawing/2014/main" id="{E6A7E483-6AB1-6EB1-3884-BB6B9A1E8C3F}"/>
                </a:ext>
              </a:extLst>
            </p:cNvPr>
            <p:cNvSpPr/>
            <p:nvPr/>
          </p:nvSpPr>
          <p:spPr>
            <a:xfrm>
              <a:off x="3735649" y="3585818"/>
              <a:ext cx="484396" cy="1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dash"/>
              <a:round/>
              <a:headEnd type="oval"/>
            </a:ln>
          </p:spPr>
          <p:txBody>
            <a:bodyPr lIns="0" tIns="0" rIns="0" bIns="0"/>
            <a:lstStyle/>
            <a:p>
              <a:pPr lvl="0">
                <a:defRPr sz="1200">
                  <a:uFillTx/>
                  <a:latin typeface="+mj-lt"/>
                  <a:ea typeface="+mj-ea"/>
                  <a:cs typeface="+mj-cs"/>
                  <a:sym typeface="Helvetica"/>
                </a:defRPr>
              </a:pPr>
              <a:endParaRPr sz="1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">
              <a:extLst>
                <a:ext uri="{FF2B5EF4-FFF2-40B4-BE49-F238E27FC236}">
                  <a16:creationId xmlns:a16="http://schemas.microsoft.com/office/drawing/2014/main" id="{DE94BE8F-DFA5-2693-0280-A2D2D056D7A6}"/>
                </a:ext>
              </a:extLst>
            </p:cNvPr>
            <p:cNvGrpSpPr/>
            <p:nvPr/>
          </p:nvGrpSpPr>
          <p:grpSpPr>
            <a:xfrm>
              <a:off x="849402" y="1877476"/>
              <a:ext cx="1722104" cy="2592636"/>
              <a:chOff x="719404" y="992420"/>
              <a:chExt cx="2177532" cy="3277840"/>
            </a:xfrm>
          </p:grpSpPr>
          <p:grpSp>
            <p:nvGrpSpPr>
              <p:cNvPr id="22" name="Group 14">
                <a:extLst>
                  <a:ext uri="{FF2B5EF4-FFF2-40B4-BE49-F238E27FC236}">
                    <a16:creationId xmlns:a16="http://schemas.microsoft.com/office/drawing/2014/main" id="{C07B8F99-4CB7-D97A-A1F7-3BF45074D5E3}"/>
                  </a:ext>
                </a:extLst>
              </p:cNvPr>
              <p:cNvGrpSpPr/>
              <p:nvPr/>
            </p:nvGrpSpPr>
            <p:grpSpPr bwMode="auto">
              <a:xfrm flipH="1">
                <a:off x="719404" y="1320154"/>
                <a:ext cx="1517120" cy="2950106"/>
                <a:chOff x="6476" y="614"/>
                <a:chExt cx="559" cy="1087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29" name="Freeform 10">
                  <a:extLst>
                    <a:ext uri="{FF2B5EF4-FFF2-40B4-BE49-F238E27FC236}">
                      <a16:creationId xmlns:a16="http://schemas.microsoft.com/office/drawing/2014/main" id="{B37C470A-D8F5-B3C4-46DA-D53D79E0D74B}"/>
                    </a:ext>
                  </a:extLst>
                </p:cNvPr>
                <p:cNvSpPr/>
                <p:nvPr/>
              </p:nvSpPr>
              <p:spPr bwMode="auto">
                <a:xfrm flipV="1">
                  <a:off x="6727" y="614"/>
                  <a:ext cx="272" cy="265"/>
                </a:xfrm>
                <a:custGeom>
                  <a:avLst/>
                  <a:gdLst>
                    <a:gd name="T0" fmla="*/ 546 w 1187"/>
                    <a:gd name="T1" fmla="*/ 1128 h 1165"/>
                    <a:gd name="T2" fmla="*/ 1159 w 1187"/>
                    <a:gd name="T3" fmla="*/ 626 h 1165"/>
                    <a:gd name="T4" fmla="*/ 767 w 1187"/>
                    <a:gd name="T5" fmla="*/ 43 h 1165"/>
                    <a:gd name="T6" fmla="*/ 308 w 1187"/>
                    <a:gd name="T7" fmla="*/ 105 h 1165"/>
                    <a:gd name="T8" fmla="*/ 68 w 1187"/>
                    <a:gd name="T9" fmla="*/ 715 h 1165"/>
                    <a:gd name="T10" fmla="*/ 546 w 1187"/>
                    <a:gd name="T11" fmla="*/ 1128 h 1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87" h="1165">
                      <a:moveTo>
                        <a:pt x="546" y="1128"/>
                      </a:moveTo>
                      <a:cubicBezTo>
                        <a:pt x="843" y="1165"/>
                        <a:pt x="1137" y="923"/>
                        <a:pt x="1159" y="626"/>
                      </a:cubicBezTo>
                      <a:cubicBezTo>
                        <a:pt x="1187" y="371"/>
                        <a:pt x="1012" y="114"/>
                        <a:pt x="767" y="43"/>
                      </a:cubicBezTo>
                      <a:cubicBezTo>
                        <a:pt x="615" y="0"/>
                        <a:pt x="443" y="20"/>
                        <a:pt x="308" y="105"/>
                      </a:cubicBezTo>
                      <a:cubicBezTo>
                        <a:pt x="111" y="230"/>
                        <a:pt x="0" y="487"/>
                        <a:pt x="68" y="715"/>
                      </a:cubicBezTo>
                      <a:cubicBezTo>
                        <a:pt x="121" y="936"/>
                        <a:pt x="323" y="1102"/>
                        <a:pt x="546" y="112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12" tIns="45706" rIns="91412" bIns="45706" numCol="1" anchor="t" anchorCtr="0" compatLnSpc="1"/>
                <a:lstStyle/>
                <a:p>
                  <a:endParaRPr lang="zh-CN" altLang="en-US" sz="2400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35A1FBD2-A35F-7FE8-7B9E-6547B81A98F0}"/>
                    </a:ext>
                  </a:extLst>
                </p:cNvPr>
                <p:cNvSpPr/>
                <p:nvPr/>
              </p:nvSpPr>
              <p:spPr bwMode="auto">
                <a:xfrm flipV="1">
                  <a:off x="6476" y="903"/>
                  <a:ext cx="485" cy="798"/>
                </a:xfrm>
                <a:custGeom>
                  <a:avLst/>
                  <a:gdLst>
                    <a:gd name="T0" fmla="*/ 1539 w 2208"/>
                    <a:gd name="T1" fmla="*/ 3515 h 3515"/>
                    <a:gd name="T2" fmla="*/ 2070 w 2208"/>
                    <a:gd name="T3" fmla="*/ 3487 h 3515"/>
                    <a:gd name="T4" fmla="*/ 2131 w 2208"/>
                    <a:gd name="T5" fmla="*/ 2626 h 3515"/>
                    <a:gd name="T6" fmla="*/ 2123 w 2208"/>
                    <a:gd name="T7" fmla="*/ 1758 h 3515"/>
                    <a:gd name="T8" fmla="*/ 1927 w 2208"/>
                    <a:gd name="T9" fmla="*/ 1030 h 3515"/>
                    <a:gd name="T10" fmla="*/ 2056 w 2208"/>
                    <a:gd name="T11" fmla="*/ 837 h 3515"/>
                    <a:gd name="T12" fmla="*/ 1679 w 2208"/>
                    <a:gd name="T13" fmla="*/ 525 h 3515"/>
                    <a:gd name="T14" fmla="*/ 1545 w 2208"/>
                    <a:gd name="T15" fmla="*/ 821 h 3515"/>
                    <a:gd name="T16" fmla="*/ 1487 w 2208"/>
                    <a:gd name="T17" fmla="*/ 1610 h 3515"/>
                    <a:gd name="T18" fmla="*/ 1072 w 2208"/>
                    <a:gd name="T19" fmla="*/ 976 h 3515"/>
                    <a:gd name="T20" fmla="*/ 1216 w 2208"/>
                    <a:gd name="T21" fmla="*/ 73 h 3515"/>
                    <a:gd name="T22" fmla="*/ 789 w 2208"/>
                    <a:gd name="T23" fmla="*/ 49 h 3515"/>
                    <a:gd name="T24" fmla="*/ 616 w 2208"/>
                    <a:gd name="T25" fmla="*/ 1012 h 3515"/>
                    <a:gd name="T26" fmla="*/ 1152 w 2208"/>
                    <a:gd name="T27" fmla="*/ 1926 h 3515"/>
                    <a:gd name="T28" fmla="*/ 1211 w 2208"/>
                    <a:gd name="T29" fmla="*/ 2413 h 3515"/>
                    <a:gd name="T30" fmla="*/ 842 w 2208"/>
                    <a:gd name="T31" fmla="*/ 2303 h 3515"/>
                    <a:gd name="T32" fmla="*/ 56 w 2208"/>
                    <a:gd name="T33" fmla="*/ 2338 h 3515"/>
                    <a:gd name="T34" fmla="*/ 63 w 2208"/>
                    <a:gd name="T35" fmla="*/ 2756 h 3515"/>
                    <a:gd name="T36" fmla="*/ 680 w 2208"/>
                    <a:gd name="T37" fmla="*/ 2748 h 3515"/>
                    <a:gd name="T38" fmla="*/ 694 w 2208"/>
                    <a:gd name="T39" fmla="*/ 2700 h 3515"/>
                    <a:gd name="T40" fmla="*/ 391 w 2208"/>
                    <a:gd name="T41" fmla="*/ 2370 h 3515"/>
                    <a:gd name="T42" fmla="*/ 789 w 2208"/>
                    <a:gd name="T43" fmla="*/ 2742 h 3515"/>
                    <a:gd name="T44" fmla="*/ 1006 w 2208"/>
                    <a:gd name="T45" fmla="*/ 2733 h 3515"/>
                    <a:gd name="T46" fmla="*/ 1539 w 2208"/>
                    <a:gd name="T47" fmla="*/ 3515 h 3515"/>
                    <a:gd name="connsiteX0" fmla="*/ 6896 w 9724"/>
                    <a:gd name="connsiteY0" fmla="*/ 9952 h 9952"/>
                    <a:gd name="connsiteX1" fmla="*/ 9301 w 9724"/>
                    <a:gd name="connsiteY1" fmla="*/ 9872 h 9952"/>
                    <a:gd name="connsiteX2" fmla="*/ 9577 w 9724"/>
                    <a:gd name="connsiteY2" fmla="*/ 7423 h 9952"/>
                    <a:gd name="connsiteX3" fmla="*/ 9541 w 9724"/>
                    <a:gd name="connsiteY3" fmla="*/ 4953 h 9952"/>
                    <a:gd name="connsiteX4" fmla="*/ 8653 w 9724"/>
                    <a:gd name="connsiteY4" fmla="*/ 2882 h 9952"/>
                    <a:gd name="connsiteX5" fmla="*/ 9238 w 9724"/>
                    <a:gd name="connsiteY5" fmla="*/ 2333 h 9952"/>
                    <a:gd name="connsiteX6" fmla="*/ 7530 w 9724"/>
                    <a:gd name="connsiteY6" fmla="*/ 1446 h 9952"/>
                    <a:gd name="connsiteX7" fmla="*/ 6923 w 9724"/>
                    <a:gd name="connsiteY7" fmla="*/ 2288 h 9952"/>
                    <a:gd name="connsiteX8" fmla="*/ 6661 w 9724"/>
                    <a:gd name="connsiteY8" fmla="*/ 4532 h 9952"/>
                    <a:gd name="connsiteX9" fmla="*/ 4781 w 9724"/>
                    <a:gd name="connsiteY9" fmla="*/ 2729 h 9952"/>
                    <a:gd name="connsiteX10" fmla="*/ 5433 w 9724"/>
                    <a:gd name="connsiteY10" fmla="*/ 160 h 9952"/>
                    <a:gd name="connsiteX11" fmla="*/ 3499 w 9724"/>
                    <a:gd name="connsiteY11" fmla="*/ 91 h 9952"/>
                    <a:gd name="connsiteX12" fmla="*/ 2716 w 9724"/>
                    <a:gd name="connsiteY12" fmla="*/ 2831 h 9952"/>
                    <a:gd name="connsiteX13" fmla="*/ 5143 w 9724"/>
                    <a:gd name="connsiteY13" fmla="*/ 5431 h 9952"/>
                    <a:gd name="connsiteX14" fmla="*/ 5411 w 9724"/>
                    <a:gd name="connsiteY14" fmla="*/ 6817 h 9952"/>
                    <a:gd name="connsiteX15" fmla="*/ 3739 w 9724"/>
                    <a:gd name="connsiteY15" fmla="*/ 6504 h 9952"/>
                    <a:gd name="connsiteX16" fmla="*/ 180 w 9724"/>
                    <a:gd name="connsiteY16" fmla="*/ 6603 h 9952"/>
                    <a:gd name="connsiteX17" fmla="*/ 211 w 9724"/>
                    <a:gd name="connsiteY17" fmla="*/ 7793 h 9952"/>
                    <a:gd name="connsiteX18" fmla="*/ 3006 w 9724"/>
                    <a:gd name="connsiteY18" fmla="*/ 7770 h 9952"/>
                    <a:gd name="connsiteX19" fmla="*/ 3069 w 9724"/>
                    <a:gd name="connsiteY19" fmla="*/ 7633 h 9952"/>
                    <a:gd name="connsiteX20" fmla="*/ 3499 w 9724"/>
                    <a:gd name="connsiteY20" fmla="*/ 7753 h 9952"/>
                    <a:gd name="connsiteX21" fmla="*/ 4482 w 9724"/>
                    <a:gd name="connsiteY21" fmla="*/ 7727 h 9952"/>
                    <a:gd name="connsiteX22" fmla="*/ 6896 w 9724"/>
                    <a:gd name="connsiteY22" fmla="*/ 9952 h 9952"/>
                    <a:gd name="connsiteX0-1" fmla="*/ 7092 w 10000"/>
                    <a:gd name="connsiteY0-2" fmla="*/ 10000 h 10000"/>
                    <a:gd name="connsiteX1-3" fmla="*/ 9565 w 10000"/>
                    <a:gd name="connsiteY1-4" fmla="*/ 9920 h 10000"/>
                    <a:gd name="connsiteX2-5" fmla="*/ 9849 w 10000"/>
                    <a:gd name="connsiteY2-6" fmla="*/ 7459 h 10000"/>
                    <a:gd name="connsiteX3-7" fmla="*/ 9812 w 10000"/>
                    <a:gd name="connsiteY3-8" fmla="*/ 4977 h 10000"/>
                    <a:gd name="connsiteX4-9" fmla="*/ 8899 w 10000"/>
                    <a:gd name="connsiteY4-10" fmla="*/ 2896 h 10000"/>
                    <a:gd name="connsiteX5-11" fmla="*/ 9500 w 10000"/>
                    <a:gd name="connsiteY5-12" fmla="*/ 2344 h 10000"/>
                    <a:gd name="connsiteX6-13" fmla="*/ 7744 w 10000"/>
                    <a:gd name="connsiteY6-14" fmla="*/ 1453 h 10000"/>
                    <a:gd name="connsiteX7-15" fmla="*/ 7119 w 10000"/>
                    <a:gd name="connsiteY7-16" fmla="*/ 2299 h 10000"/>
                    <a:gd name="connsiteX8-17" fmla="*/ 6850 w 10000"/>
                    <a:gd name="connsiteY8-18" fmla="*/ 4554 h 10000"/>
                    <a:gd name="connsiteX9-19" fmla="*/ 4917 w 10000"/>
                    <a:gd name="connsiteY9-20" fmla="*/ 2742 h 10000"/>
                    <a:gd name="connsiteX10-21" fmla="*/ 5587 w 10000"/>
                    <a:gd name="connsiteY10-22" fmla="*/ 161 h 10000"/>
                    <a:gd name="connsiteX11-23" fmla="*/ 3598 w 10000"/>
                    <a:gd name="connsiteY11-24" fmla="*/ 91 h 10000"/>
                    <a:gd name="connsiteX12-25" fmla="*/ 2793 w 10000"/>
                    <a:gd name="connsiteY12-26" fmla="*/ 2845 h 10000"/>
                    <a:gd name="connsiteX13-27" fmla="*/ 5289 w 10000"/>
                    <a:gd name="connsiteY13-28" fmla="*/ 5457 h 10000"/>
                    <a:gd name="connsiteX14-29" fmla="*/ 5565 w 10000"/>
                    <a:gd name="connsiteY14-30" fmla="*/ 6850 h 10000"/>
                    <a:gd name="connsiteX15-31" fmla="*/ 3845 w 10000"/>
                    <a:gd name="connsiteY15-32" fmla="*/ 6535 h 10000"/>
                    <a:gd name="connsiteX16-33" fmla="*/ 185 w 10000"/>
                    <a:gd name="connsiteY16-34" fmla="*/ 6635 h 10000"/>
                    <a:gd name="connsiteX17-35" fmla="*/ 217 w 10000"/>
                    <a:gd name="connsiteY17-36" fmla="*/ 7831 h 10000"/>
                    <a:gd name="connsiteX18-37" fmla="*/ 3091 w 10000"/>
                    <a:gd name="connsiteY18-38" fmla="*/ 7807 h 10000"/>
                    <a:gd name="connsiteX19-39" fmla="*/ 3598 w 10000"/>
                    <a:gd name="connsiteY19-40" fmla="*/ 7790 h 10000"/>
                    <a:gd name="connsiteX20-41" fmla="*/ 4609 w 10000"/>
                    <a:gd name="connsiteY20-42" fmla="*/ 7764 h 10000"/>
                    <a:gd name="connsiteX21-43" fmla="*/ 7092 w 10000"/>
                    <a:gd name="connsiteY21-44" fmla="*/ 10000 h 10000"/>
                    <a:gd name="connsiteX0-45" fmla="*/ 7092 w 10000"/>
                    <a:gd name="connsiteY0-46" fmla="*/ 10000 h 10000"/>
                    <a:gd name="connsiteX1-47" fmla="*/ 9565 w 10000"/>
                    <a:gd name="connsiteY1-48" fmla="*/ 9920 h 10000"/>
                    <a:gd name="connsiteX2-49" fmla="*/ 9849 w 10000"/>
                    <a:gd name="connsiteY2-50" fmla="*/ 7459 h 10000"/>
                    <a:gd name="connsiteX3-51" fmla="*/ 9812 w 10000"/>
                    <a:gd name="connsiteY3-52" fmla="*/ 4977 h 10000"/>
                    <a:gd name="connsiteX4-53" fmla="*/ 8899 w 10000"/>
                    <a:gd name="connsiteY4-54" fmla="*/ 2896 h 10000"/>
                    <a:gd name="connsiteX5-55" fmla="*/ 9500 w 10000"/>
                    <a:gd name="connsiteY5-56" fmla="*/ 2344 h 10000"/>
                    <a:gd name="connsiteX6-57" fmla="*/ 7744 w 10000"/>
                    <a:gd name="connsiteY6-58" fmla="*/ 1453 h 10000"/>
                    <a:gd name="connsiteX7-59" fmla="*/ 7119 w 10000"/>
                    <a:gd name="connsiteY7-60" fmla="*/ 2299 h 10000"/>
                    <a:gd name="connsiteX8-61" fmla="*/ 6850 w 10000"/>
                    <a:gd name="connsiteY8-62" fmla="*/ 4554 h 10000"/>
                    <a:gd name="connsiteX9-63" fmla="*/ 4917 w 10000"/>
                    <a:gd name="connsiteY9-64" fmla="*/ 2742 h 10000"/>
                    <a:gd name="connsiteX10-65" fmla="*/ 5587 w 10000"/>
                    <a:gd name="connsiteY10-66" fmla="*/ 161 h 10000"/>
                    <a:gd name="connsiteX11-67" fmla="*/ 3598 w 10000"/>
                    <a:gd name="connsiteY11-68" fmla="*/ 91 h 10000"/>
                    <a:gd name="connsiteX12-69" fmla="*/ 2793 w 10000"/>
                    <a:gd name="connsiteY12-70" fmla="*/ 2845 h 10000"/>
                    <a:gd name="connsiteX13-71" fmla="*/ 5289 w 10000"/>
                    <a:gd name="connsiteY13-72" fmla="*/ 5457 h 10000"/>
                    <a:gd name="connsiteX14-73" fmla="*/ 5565 w 10000"/>
                    <a:gd name="connsiteY14-74" fmla="*/ 6850 h 10000"/>
                    <a:gd name="connsiteX15-75" fmla="*/ 3845 w 10000"/>
                    <a:gd name="connsiteY15-76" fmla="*/ 6535 h 10000"/>
                    <a:gd name="connsiteX16-77" fmla="*/ 185 w 10000"/>
                    <a:gd name="connsiteY16-78" fmla="*/ 6635 h 10000"/>
                    <a:gd name="connsiteX17-79" fmla="*/ 217 w 10000"/>
                    <a:gd name="connsiteY17-80" fmla="*/ 7831 h 10000"/>
                    <a:gd name="connsiteX18-81" fmla="*/ 3598 w 10000"/>
                    <a:gd name="connsiteY18-82" fmla="*/ 7790 h 10000"/>
                    <a:gd name="connsiteX19-83" fmla="*/ 4609 w 10000"/>
                    <a:gd name="connsiteY19-84" fmla="*/ 7764 h 10000"/>
                    <a:gd name="connsiteX20-85" fmla="*/ 7092 w 10000"/>
                    <a:gd name="connsiteY20-86" fmla="*/ 10000 h 10000"/>
                    <a:gd name="connsiteX0-87" fmla="*/ 6965 w 9873"/>
                    <a:gd name="connsiteY0-88" fmla="*/ 10000 h 10000"/>
                    <a:gd name="connsiteX1-89" fmla="*/ 9438 w 9873"/>
                    <a:gd name="connsiteY1-90" fmla="*/ 9920 h 10000"/>
                    <a:gd name="connsiteX2-91" fmla="*/ 9722 w 9873"/>
                    <a:gd name="connsiteY2-92" fmla="*/ 7459 h 10000"/>
                    <a:gd name="connsiteX3-93" fmla="*/ 9685 w 9873"/>
                    <a:gd name="connsiteY3-94" fmla="*/ 4977 h 10000"/>
                    <a:gd name="connsiteX4-95" fmla="*/ 8772 w 9873"/>
                    <a:gd name="connsiteY4-96" fmla="*/ 2896 h 10000"/>
                    <a:gd name="connsiteX5-97" fmla="*/ 9373 w 9873"/>
                    <a:gd name="connsiteY5-98" fmla="*/ 2344 h 10000"/>
                    <a:gd name="connsiteX6-99" fmla="*/ 7617 w 9873"/>
                    <a:gd name="connsiteY6-100" fmla="*/ 1453 h 10000"/>
                    <a:gd name="connsiteX7-101" fmla="*/ 6992 w 9873"/>
                    <a:gd name="connsiteY7-102" fmla="*/ 2299 h 10000"/>
                    <a:gd name="connsiteX8-103" fmla="*/ 6723 w 9873"/>
                    <a:gd name="connsiteY8-104" fmla="*/ 4554 h 10000"/>
                    <a:gd name="connsiteX9-105" fmla="*/ 4790 w 9873"/>
                    <a:gd name="connsiteY9-106" fmla="*/ 2742 h 10000"/>
                    <a:gd name="connsiteX10-107" fmla="*/ 5460 w 9873"/>
                    <a:gd name="connsiteY10-108" fmla="*/ 161 h 10000"/>
                    <a:gd name="connsiteX11-109" fmla="*/ 3471 w 9873"/>
                    <a:gd name="connsiteY11-110" fmla="*/ 91 h 10000"/>
                    <a:gd name="connsiteX12-111" fmla="*/ 2666 w 9873"/>
                    <a:gd name="connsiteY12-112" fmla="*/ 2845 h 10000"/>
                    <a:gd name="connsiteX13-113" fmla="*/ 5162 w 9873"/>
                    <a:gd name="connsiteY13-114" fmla="*/ 5457 h 10000"/>
                    <a:gd name="connsiteX14-115" fmla="*/ 5438 w 9873"/>
                    <a:gd name="connsiteY14-116" fmla="*/ 6850 h 10000"/>
                    <a:gd name="connsiteX15-117" fmla="*/ 3718 w 9873"/>
                    <a:gd name="connsiteY15-118" fmla="*/ 6535 h 10000"/>
                    <a:gd name="connsiteX16-119" fmla="*/ 58 w 9873"/>
                    <a:gd name="connsiteY16-120" fmla="*/ 6635 h 10000"/>
                    <a:gd name="connsiteX17-121" fmla="*/ 692 w 9873"/>
                    <a:gd name="connsiteY17-122" fmla="*/ 7831 h 10000"/>
                    <a:gd name="connsiteX18-123" fmla="*/ 3471 w 9873"/>
                    <a:gd name="connsiteY18-124" fmla="*/ 7790 h 10000"/>
                    <a:gd name="connsiteX19-125" fmla="*/ 4482 w 9873"/>
                    <a:gd name="connsiteY19-126" fmla="*/ 7764 h 10000"/>
                    <a:gd name="connsiteX20-127" fmla="*/ 6965 w 9873"/>
                    <a:gd name="connsiteY20-128" fmla="*/ 1000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</a:cxnLst>
                  <a:rect l="l" t="t" r="r" b="b"/>
                  <a:pathLst>
                    <a:path w="9873" h="10000">
                      <a:moveTo>
                        <a:pt x="6965" y="10000"/>
                      </a:moveTo>
                      <a:cubicBezTo>
                        <a:pt x="7789" y="9963"/>
                        <a:pt x="8613" y="9940"/>
                        <a:pt x="9438" y="9920"/>
                      </a:cubicBezTo>
                      <a:cubicBezTo>
                        <a:pt x="9563" y="9100"/>
                        <a:pt x="9582" y="8276"/>
                        <a:pt x="9722" y="7459"/>
                      </a:cubicBezTo>
                      <a:cubicBezTo>
                        <a:pt x="9731" y="6633"/>
                        <a:pt x="10081" y="5787"/>
                        <a:pt x="9685" y="4977"/>
                      </a:cubicBezTo>
                      <a:cubicBezTo>
                        <a:pt x="9377" y="4286"/>
                        <a:pt x="8869" y="3619"/>
                        <a:pt x="8772" y="2896"/>
                      </a:cubicBezTo>
                      <a:cubicBezTo>
                        <a:pt x="8884" y="2685"/>
                        <a:pt x="9168" y="2524"/>
                        <a:pt x="9373" y="2344"/>
                      </a:cubicBezTo>
                      <a:cubicBezTo>
                        <a:pt x="8744" y="2076"/>
                        <a:pt x="8436" y="1532"/>
                        <a:pt x="7617" y="1453"/>
                      </a:cubicBezTo>
                      <a:cubicBezTo>
                        <a:pt x="7543" y="1767"/>
                        <a:pt x="6946" y="1955"/>
                        <a:pt x="6992" y="2299"/>
                      </a:cubicBezTo>
                      <a:cubicBezTo>
                        <a:pt x="6941" y="3054"/>
                        <a:pt x="6788" y="3799"/>
                        <a:pt x="6723" y="4554"/>
                      </a:cubicBezTo>
                      <a:cubicBezTo>
                        <a:pt x="6052" y="3960"/>
                        <a:pt x="5438" y="3342"/>
                        <a:pt x="4790" y="2742"/>
                      </a:cubicBezTo>
                      <a:cubicBezTo>
                        <a:pt x="5051" y="1884"/>
                        <a:pt x="5200" y="1015"/>
                        <a:pt x="5460" y="161"/>
                      </a:cubicBezTo>
                      <a:cubicBezTo>
                        <a:pt x="4841" y="-28"/>
                        <a:pt x="4123" y="-48"/>
                        <a:pt x="3471" y="91"/>
                      </a:cubicBezTo>
                      <a:cubicBezTo>
                        <a:pt x="3183" y="1007"/>
                        <a:pt x="2950" y="1927"/>
                        <a:pt x="2666" y="2845"/>
                      </a:cubicBezTo>
                      <a:cubicBezTo>
                        <a:pt x="3519" y="3708"/>
                        <a:pt x="4320" y="4591"/>
                        <a:pt x="5162" y="5457"/>
                      </a:cubicBezTo>
                      <a:cubicBezTo>
                        <a:pt x="5661" y="5858"/>
                        <a:pt x="5372" y="6387"/>
                        <a:pt x="5438" y="6850"/>
                      </a:cubicBezTo>
                      <a:cubicBezTo>
                        <a:pt x="4878" y="6727"/>
                        <a:pt x="4342" y="6469"/>
                        <a:pt x="3718" y="6535"/>
                      </a:cubicBezTo>
                      <a:cubicBezTo>
                        <a:pt x="2503" y="6604"/>
                        <a:pt x="1278" y="6618"/>
                        <a:pt x="58" y="6635"/>
                      </a:cubicBezTo>
                      <a:cubicBezTo>
                        <a:pt x="-185" y="7022"/>
                        <a:pt x="399" y="7453"/>
                        <a:pt x="692" y="7831"/>
                      </a:cubicBezTo>
                      <a:cubicBezTo>
                        <a:pt x="1261" y="8023"/>
                        <a:pt x="2739" y="7801"/>
                        <a:pt x="3471" y="7790"/>
                      </a:cubicBezTo>
                      <a:lnTo>
                        <a:pt x="4482" y="7764"/>
                      </a:lnTo>
                      <a:cubicBezTo>
                        <a:pt x="5320" y="8505"/>
                        <a:pt x="6099" y="9272"/>
                        <a:pt x="6965" y="1000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12" tIns="45706" rIns="91412" bIns="45706" numCol="1" anchor="t" anchorCtr="0" compatLnSpc="1"/>
                <a:lstStyle/>
                <a:p>
                  <a:endParaRPr lang="zh-CN" altLang="en-US" sz="2400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BB06493E-BE94-1038-8B50-93EFB5521485}"/>
                    </a:ext>
                  </a:extLst>
                </p:cNvPr>
                <p:cNvSpPr/>
                <p:nvPr/>
              </p:nvSpPr>
              <p:spPr bwMode="auto">
                <a:xfrm flipV="1">
                  <a:off x="6854" y="1507"/>
                  <a:ext cx="181" cy="193"/>
                </a:xfrm>
                <a:custGeom>
                  <a:avLst/>
                  <a:gdLst>
                    <a:gd name="T0" fmla="*/ 0 w 774"/>
                    <a:gd name="T1" fmla="*/ 458 h 861"/>
                    <a:gd name="T2" fmla="*/ 327 w 774"/>
                    <a:gd name="T3" fmla="*/ 861 h 861"/>
                    <a:gd name="T4" fmla="*/ 774 w 774"/>
                    <a:gd name="T5" fmla="*/ 229 h 861"/>
                    <a:gd name="T6" fmla="*/ 362 w 774"/>
                    <a:gd name="T7" fmla="*/ 15 h 861"/>
                    <a:gd name="T8" fmla="*/ 30 w 774"/>
                    <a:gd name="T9" fmla="*/ 475 h 861"/>
                    <a:gd name="T10" fmla="*/ 0 w 774"/>
                    <a:gd name="T11" fmla="*/ 458 h 861"/>
                    <a:gd name="connsiteX0" fmla="*/ 0 w 10000"/>
                    <a:gd name="connsiteY0" fmla="*/ 5167 h 9848"/>
                    <a:gd name="connsiteX1" fmla="*/ 4225 w 10000"/>
                    <a:gd name="connsiteY1" fmla="*/ 9848 h 9848"/>
                    <a:gd name="connsiteX2" fmla="*/ 10000 w 10000"/>
                    <a:gd name="connsiteY2" fmla="*/ 2508 h 9848"/>
                    <a:gd name="connsiteX3" fmla="*/ 4677 w 10000"/>
                    <a:gd name="connsiteY3" fmla="*/ 22 h 9848"/>
                    <a:gd name="connsiteX4" fmla="*/ 388 w 10000"/>
                    <a:gd name="connsiteY4" fmla="*/ 5365 h 9848"/>
                    <a:gd name="connsiteX0-1" fmla="*/ 0 w 10000"/>
                    <a:gd name="connsiteY0-2" fmla="*/ 5247 h 10000"/>
                    <a:gd name="connsiteX1-3" fmla="*/ 4225 w 10000"/>
                    <a:gd name="connsiteY1-4" fmla="*/ 10000 h 10000"/>
                    <a:gd name="connsiteX2-5" fmla="*/ 10000 w 10000"/>
                    <a:gd name="connsiteY2-6" fmla="*/ 2547 h 10000"/>
                    <a:gd name="connsiteX3-7" fmla="*/ 4677 w 10000"/>
                    <a:gd name="connsiteY3-8" fmla="*/ 22 h 10000"/>
                    <a:gd name="connsiteX0-9" fmla="*/ 0 w 10226"/>
                    <a:gd name="connsiteY0-10" fmla="*/ 5972 h 10000"/>
                    <a:gd name="connsiteX1-11" fmla="*/ 4451 w 10226"/>
                    <a:gd name="connsiteY1-12" fmla="*/ 10000 h 10000"/>
                    <a:gd name="connsiteX2-13" fmla="*/ 10226 w 10226"/>
                    <a:gd name="connsiteY2-14" fmla="*/ 2547 h 10000"/>
                    <a:gd name="connsiteX3-15" fmla="*/ 4903 w 10226"/>
                    <a:gd name="connsiteY3-16" fmla="*/ 22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0226" h="10000">
                      <a:moveTo>
                        <a:pt x="0" y="5972"/>
                      </a:moveTo>
                      <a:cubicBezTo>
                        <a:pt x="233" y="8189"/>
                        <a:pt x="2952" y="8514"/>
                        <a:pt x="4451" y="10000"/>
                      </a:cubicBezTo>
                      <a:cubicBezTo>
                        <a:pt x="6234" y="7429"/>
                        <a:pt x="8288" y="5023"/>
                        <a:pt x="10226" y="2547"/>
                      </a:cubicBezTo>
                      <a:cubicBezTo>
                        <a:pt x="9192" y="766"/>
                        <a:pt x="7074" y="-154"/>
                        <a:pt x="4903" y="22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12" tIns="45706" rIns="91412" bIns="45706" numCol="1" anchor="t" anchorCtr="0" compatLnSpc="1"/>
                <a:lstStyle/>
                <a:p>
                  <a:endParaRPr lang="zh-CN" altLang="en-US" sz="240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3" name="圆角矩形 27">
                <a:extLst>
                  <a:ext uri="{FF2B5EF4-FFF2-40B4-BE49-F238E27FC236}">
                    <a16:creationId xmlns:a16="http://schemas.microsoft.com/office/drawing/2014/main" id="{D3300A0C-9FFC-63F7-BAEE-C5E0E7B180A0}"/>
                  </a:ext>
                </a:extLst>
              </p:cNvPr>
              <p:cNvSpPr/>
              <p:nvPr/>
            </p:nvSpPr>
            <p:spPr>
              <a:xfrm>
                <a:off x="1690656" y="1579434"/>
                <a:ext cx="1206280" cy="971055"/>
              </a:xfrm>
              <a:prstGeom prst="roundRect">
                <a:avLst>
                  <a:gd name="adj" fmla="val 11077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24" name="圆角矩形 28">
                <a:extLst>
                  <a:ext uri="{FF2B5EF4-FFF2-40B4-BE49-F238E27FC236}">
                    <a16:creationId xmlns:a16="http://schemas.microsoft.com/office/drawing/2014/main" id="{E420E870-0BCC-F9E7-60D7-BEFE279CA6F0}"/>
                  </a:ext>
                </a:extLst>
              </p:cNvPr>
              <p:cNvSpPr/>
              <p:nvPr/>
            </p:nvSpPr>
            <p:spPr>
              <a:xfrm rot="1046250">
                <a:off x="1934125" y="995115"/>
                <a:ext cx="783207" cy="630482"/>
              </a:xfrm>
              <a:prstGeom prst="roundRect">
                <a:avLst>
                  <a:gd name="adj" fmla="val 11077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1FE7123-A7B4-AFBD-F162-28D01AD90EEA}"/>
                  </a:ext>
                </a:extLst>
              </p:cNvPr>
              <p:cNvSpPr txBox="1"/>
              <p:nvPr/>
            </p:nvSpPr>
            <p:spPr>
              <a:xfrm rot="908242">
                <a:off x="2114801" y="992420"/>
                <a:ext cx="421848" cy="602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66344">
                  <a:spcAft>
                    <a:spcPts val="600"/>
                  </a:spcAft>
                </a:pPr>
                <a:r>
                  <a:rPr lang="en-US" altLang="zh-CN" sz="1836" kern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ea"/>
                    <a:sym typeface="+mn-lt"/>
                  </a:rPr>
                  <a:t>A</a:t>
                </a:r>
                <a:endParaRPr lang="zh-CN" altLang="en-US" sz="3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826CB2B-B0BC-22F7-2220-9AF62AC62C8D}"/>
                  </a:ext>
                </a:extLst>
              </p:cNvPr>
              <p:cNvSpPr txBox="1"/>
              <p:nvPr/>
            </p:nvSpPr>
            <p:spPr>
              <a:xfrm>
                <a:off x="1920332" y="1577693"/>
                <a:ext cx="810793" cy="947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66344">
                  <a:spcAft>
                    <a:spcPts val="600"/>
                  </a:spcAft>
                </a:pPr>
                <a:r>
                  <a:rPr lang="en-US" altLang="zh-CN" sz="3060" kern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ea"/>
                    <a:sym typeface="+mn-lt"/>
                  </a:rPr>
                  <a:t>B</a:t>
                </a:r>
                <a:endParaRPr lang="zh-CN" altLang="en-US" sz="6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27" name="圆角矩形 35">
                <a:extLst>
                  <a:ext uri="{FF2B5EF4-FFF2-40B4-BE49-F238E27FC236}">
                    <a16:creationId xmlns:a16="http://schemas.microsoft.com/office/drawing/2014/main" id="{2B25936B-66EA-949A-1902-8CA64C09B09F}"/>
                  </a:ext>
                </a:extLst>
              </p:cNvPr>
              <p:cNvSpPr/>
              <p:nvPr/>
            </p:nvSpPr>
            <p:spPr>
              <a:xfrm rot="20277632">
                <a:off x="1549765" y="1206059"/>
                <a:ext cx="618564" cy="497944"/>
              </a:xfrm>
              <a:prstGeom prst="roundRect">
                <a:avLst>
                  <a:gd name="adj" fmla="val 1107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28" name="文本框 24">
                <a:extLst>
                  <a:ext uri="{FF2B5EF4-FFF2-40B4-BE49-F238E27FC236}">
                    <a16:creationId xmlns:a16="http://schemas.microsoft.com/office/drawing/2014/main" id="{45747969-D1CD-10E5-2C89-6DC70E50B82C}"/>
                  </a:ext>
                </a:extLst>
              </p:cNvPr>
              <p:cNvSpPr txBox="1"/>
              <p:nvPr/>
            </p:nvSpPr>
            <p:spPr>
              <a:xfrm rot="20139624">
                <a:off x="1722726" y="1245932"/>
                <a:ext cx="324682" cy="430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66344">
                  <a:spcAft>
                    <a:spcPts val="600"/>
                  </a:spcAft>
                </a:pPr>
                <a:r>
                  <a:rPr lang="en-US" altLang="zh-CN" sz="1224" kern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ea"/>
                    <a:sym typeface="+mn-lt"/>
                  </a:rPr>
                  <a:t>C</a:t>
                </a:r>
                <a:endPara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2">
              <a:extLst>
                <a:ext uri="{FF2B5EF4-FFF2-40B4-BE49-F238E27FC236}">
                  <a16:creationId xmlns:a16="http://schemas.microsoft.com/office/drawing/2014/main" id="{CA33E77E-B232-E276-326F-BD8B523F5CE9}"/>
                </a:ext>
              </a:extLst>
            </p:cNvPr>
            <p:cNvGrpSpPr/>
            <p:nvPr/>
          </p:nvGrpSpPr>
          <p:grpSpPr>
            <a:xfrm>
              <a:off x="3087736" y="2082452"/>
              <a:ext cx="1247018" cy="1247186"/>
              <a:chOff x="3087535" y="2200113"/>
              <a:chExt cx="1247186" cy="1247186"/>
            </a:xfrm>
            <a:solidFill>
              <a:schemeClr val="accent1"/>
            </a:solidFill>
          </p:grpSpPr>
          <p:sp>
            <p:nvSpPr>
              <p:cNvPr id="20" name="Shape 14341">
                <a:extLst>
                  <a:ext uri="{FF2B5EF4-FFF2-40B4-BE49-F238E27FC236}">
                    <a16:creationId xmlns:a16="http://schemas.microsoft.com/office/drawing/2014/main" id="{1CA0C7C2-90A4-A915-7A0E-FB248A182C9C}"/>
                  </a:ext>
                </a:extLst>
              </p:cNvPr>
              <p:cNvSpPr/>
              <p:nvPr/>
            </p:nvSpPr>
            <p:spPr>
              <a:xfrm rot="18900000">
                <a:off x="3087535" y="2200113"/>
                <a:ext cx="1247186" cy="1247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3590"/>
                    </a:moveTo>
                    <a:cubicBezTo>
                      <a:pt x="21600" y="14730"/>
                      <a:pt x="20700" y="15660"/>
                      <a:pt x="19560" y="15660"/>
                    </a:cubicBezTo>
                    <a:cubicBezTo>
                      <a:pt x="19560" y="15660"/>
                      <a:pt x="19560" y="15660"/>
                      <a:pt x="19560" y="15660"/>
                    </a:cubicBezTo>
                    <a:cubicBezTo>
                      <a:pt x="19500" y="15660"/>
                      <a:pt x="19350" y="15660"/>
                      <a:pt x="19170" y="15600"/>
                    </a:cubicBezTo>
                    <a:cubicBezTo>
                      <a:pt x="18990" y="15540"/>
                      <a:pt x="18750" y="15420"/>
                      <a:pt x="18510" y="15210"/>
                    </a:cubicBezTo>
                    <a:cubicBezTo>
                      <a:pt x="18450" y="15150"/>
                      <a:pt x="18360" y="15090"/>
                      <a:pt x="18300" y="15030"/>
                    </a:cubicBezTo>
                    <a:cubicBezTo>
                      <a:pt x="18000" y="14760"/>
                      <a:pt x="17700" y="14460"/>
                      <a:pt x="17340" y="14460"/>
                    </a:cubicBezTo>
                    <a:cubicBezTo>
                      <a:pt x="16710" y="14460"/>
                      <a:pt x="16470" y="15270"/>
                      <a:pt x="16290" y="15960"/>
                    </a:cubicBezTo>
                    <a:cubicBezTo>
                      <a:pt x="16260" y="16080"/>
                      <a:pt x="16260" y="16170"/>
                      <a:pt x="16260" y="16290"/>
                    </a:cubicBezTo>
                    <a:cubicBezTo>
                      <a:pt x="16260" y="21600"/>
                      <a:pt x="16260" y="21600"/>
                      <a:pt x="16260" y="21600"/>
                    </a:cubicBezTo>
                    <a:cubicBezTo>
                      <a:pt x="16260" y="21600"/>
                      <a:pt x="16260" y="21600"/>
                      <a:pt x="16260" y="21600"/>
                    </a:cubicBezTo>
                    <a:cubicBezTo>
                      <a:pt x="16260" y="21600"/>
                      <a:pt x="16260" y="21600"/>
                      <a:pt x="16260" y="21600"/>
                    </a:cubicBezTo>
                    <a:cubicBezTo>
                      <a:pt x="10950" y="21600"/>
                      <a:pt x="10950" y="21600"/>
                      <a:pt x="10950" y="21600"/>
                    </a:cubicBezTo>
                    <a:cubicBezTo>
                      <a:pt x="10860" y="21600"/>
                      <a:pt x="10800" y="21600"/>
                      <a:pt x="10740" y="21570"/>
                    </a:cubicBezTo>
                    <a:cubicBezTo>
                      <a:pt x="9780" y="21360"/>
                      <a:pt x="9660" y="21120"/>
                      <a:pt x="9630" y="21060"/>
                    </a:cubicBezTo>
                    <a:cubicBezTo>
                      <a:pt x="9570" y="20910"/>
                      <a:pt x="9840" y="20610"/>
                      <a:pt x="10050" y="20400"/>
                    </a:cubicBezTo>
                    <a:cubicBezTo>
                      <a:pt x="10110" y="20340"/>
                      <a:pt x="10200" y="20250"/>
                      <a:pt x="10260" y="20190"/>
                    </a:cubicBezTo>
                    <a:cubicBezTo>
                      <a:pt x="10800" y="19560"/>
                      <a:pt x="10800" y="18900"/>
                      <a:pt x="10800" y="18810"/>
                    </a:cubicBezTo>
                    <a:cubicBezTo>
                      <a:pt x="10800" y="17400"/>
                      <a:pt x="9660" y="16260"/>
                      <a:pt x="8250" y="16260"/>
                    </a:cubicBezTo>
                    <a:cubicBezTo>
                      <a:pt x="6840" y="16260"/>
                      <a:pt x="5700" y="17400"/>
                      <a:pt x="5700" y="18810"/>
                    </a:cubicBezTo>
                    <a:cubicBezTo>
                      <a:pt x="5700" y="18900"/>
                      <a:pt x="5700" y="19560"/>
                      <a:pt x="6240" y="20190"/>
                    </a:cubicBezTo>
                    <a:cubicBezTo>
                      <a:pt x="6300" y="20250"/>
                      <a:pt x="6390" y="20340"/>
                      <a:pt x="6450" y="20400"/>
                    </a:cubicBezTo>
                    <a:cubicBezTo>
                      <a:pt x="6660" y="20610"/>
                      <a:pt x="6930" y="20910"/>
                      <a:pt x="6870" y="21060"/>
                    </a:cubicBezTo>
                    <a:cubicBezTo>
                      <a:pt x="6870" y="21120"/>
                      <a:pt x="6720" y="21360"/>
                      <a:pt x="5760" y="21570"/>
                    </a:cubicBezTo>
                    <a:cubicBezTo>
                      <a:pt x="5700" y="21600"/>
                      <a:pt x="5640" y="21600"/>
                      <a:pt x="5550" y="21600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0" y="16290"/>
                      <a:pt x="0" y="16290"/>
                      <a:pt x="0" y="16290"/>
                    </a:cubicBezTo>
                    <a:cubicBezTo>
                      <a:pt x="0" y="16200"/>
                      <a:pt x="0" y="16110"/>
                      <a:pt x="30" y="16020"/>
                    </a:cubicBezTo>
                    <a:cubicBezTo>
                      <a:pt x="270" y="15030"/>
                      <a:pt x="540" y="14730"/>
                      <a:pt x="840" y="14730"/>
                    </a:cubicBezTo>
                    <a:cubicBezTo>
                      <a:pt x="1170" y="14730"/>
                      <a:pt x="1530" y="15150"/>
                      <a:pt x="1830" y="15420"/>
                    </a:cubicBezTo>
                    <a:cubicBezTo>
                      <a:pt x="2370" y="15870"/>
                      <a:pt x="2910" y="15900"/>
                      <a:pt x="3030" y="15900"/>
                    </a:cubicBezTo>
                    <a:cubicBezTo>
                      <a:pt x="3030" y="15900"/>
                      <a:pt x="3060" y="15900"/>
                      <a:pt x="3060" y="15900"/>
                    </a:cubicBezTo>
                    <a:cubicBezTo>
                      <a:pt x="4320" y="15900"/>
                      <a:pt x="5340" y="14880"/>
                      <a:pt x="5340" y="13590"/>
                    </a:cubicBezTo>
                    <a:cubicBezTo>
                      <a:pt x="5340" y="12330"/>
                      <a:pt x="4320" y="11310"/>
                      <a:pt x="3060" y="11310"/>
                    </a:cubicBezTo>
                    <a:cubicBezTo>
                      <a:pt x="3060" y="11310"/>
                      <a:pt x="3030" y="11310"/>
                      <a:pt x="3030" y="11310"/>
                    </a:cubicBezTo>
                    <a:cubicBezTo>
                      <a:pt x="2910" y="11310"/>
                      <a:pt x="2370" y="11340"/>
                      <a:pt x="1830" y="11790"/>
                    </a:cubicBezTo>
                    <a:cubicBezTo>
                      <a:pt x="1530" y="12060"/>
                      <a:pt x="1170" y="12480"/>
                      <a:pt x="840" y="12480"/>
                    </a:cubicBezTo>
                    <a:cubicBezTo>
                      <a:pt x="540" y="12480"/>
                      <a:pt x="270" y="12180"/>
                      <a:pt x="30" y="11190"/>
                    </a:cubicBezTo>
                    <a:cubicBezTo>
                      <a:pt x="0" y="11100"/>
                      <a:pt x="0" y="11010"/>
                      <a:pt x="0" y="10920"/>
                    </a:cubicBezTo>
                    <a:cubicBezTo>
                      <a:pt x="0" y="5340"/>
                      <a:pt x="0" y="5340"/>
                      <a:pt x="0" y="5340"/>
                    </a:cubicBezTo>
                    <a:cubicBezTo>
                      <a:pt x="5550" y="5340"/>
                      <a:pt x="5550" y="5340"/>
                      <a:pt x="5550" y="5340"/>
                    </a:cubicBezTo>
                    <a:cubicBezTo>
                      <a:pt x="5640" y="5340"/>
                      <a:pt x="5730" y="5340"/>
                      <a:pt x="5820" y="5310"/>
                    </a:cubicBezTo>
                    <a:cubicBezTo>
                      <a:pt x="7980" y="4830"/>
                      <a:pt x="6960" y="4110"/>
                      <a:pt x="6450" y="3510"/>
                    </a:cubicBezTo>
                    <a:cubicBezTo>
                      <a:pt x="5910" y="2910"/>
                      <a:pt x="5940" y="2310"/>
                      <a:pt x="5940" y="2310"/>
                    </a:cubicBezTo>
                    <a:cubicBezTo>
                      <a:pt x="5940" y="1020"/>
                      <a:pt x="6990" y="0"/>
                      <a:pt x="8250" y="0"/>
                    </a:cubicBezTo>
                    <a:cubicBezTo>
                      <a:pt x="9510" y="0"/>
                      <a:pt x="10560" y="1020"/>
                      <a:pt x="10560" y="2310"/>
                    </a:cubicBezTo>
                    <a:cubicBezTo>
                      <a:pt x="10560" y="2310"/>
                      <a:pt x="10590" y="2910"/>
                      <a:pt x="10050" y="3510"/>
                    </a:cubicBezTo>
                    <a:cubicBezTo>
                      <a:pt x="9540" y="4110"/>
                      <a:pt x="8550" y="4830"/>
                      <a:pt x="10680" y="5310"/>
                    </a:cubicBezTo>
                    <a:cubicBezTo>
                      <a:pt x="10770" y="5340"/>
                      <a:pt x="10860" y="5340"/>
                      <a:pt x="10950" y="5340"/>
                    </a:cubicBezTo>
                    <a:cubicBezTo>
                      <a:pt x="16260" y="5340"/>
                      <a:pt x="16260" y="5340"/>
                      <a:pt x="16260" y="5340"/>
                    </a:cubicBezTo>
                    <a:cubicBezTo>
                      <a:pt x="16260" y="10920"/>
                      <a:pt x="16260" y="10920"/>
                      <a:pt x="16260" y="10920"/>
                    </a:cubicBezTo>
                    <a:cubicBezTo>
                      <a:pt x="16260" y="11010"/>
                      <a:pt x="16260" y="11130"/>
                      <a:pt x="16290" y="11220"/>
                    </a:cubicBezTo>
                    <a:cubicBezTo>
                      <a:pt x="16470" y="11940"/>
                      <a:pt x="16710" y="12720"/>
                      <a:pt x="17340" y="12720"/>
                    </a:cubicBezTo>
                    <a:cubicBezTo>
                      <a:pt x="17700" y="12720"/>
                      <a:pt x="18000" y="12450"/>
                      <a:pt x="18300" y="12180"/>
                    </a:cubicBezTo>
                    <a:cubicBezTo>
                      <a:pt x="18360" y="12090"/>
                      <a:pt x="18450" y="12030"/>
                      <a:pt x="18510" y="11970"/>
                    </a:cubicBezTo>
                    <a:cubicBezTo>
                      <a:pt x="18990" y="11580"/>
                      <a:pt x="19440" y="11550"/>
                      <a:pt x="19530" y="11550"/>
                    </a:cubicBezTo>
                    <a:cubicBezTo>
                      <a:pt x="19560" y="11550"/>
                      <a:pt x="19560" y="11550"/>
                      <a:pt x="19560" y="11550"/>
                    </a:cubicBezTo>
                    <a:cubicBezTo>
                      <a:pt x="20700" y="11550"/>
                      <a:pt x="21600" y="12480"/>
                      <a:pt x="21600" y="1359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>
                    <a:latin typeface="Roboto condensed"/>
                    <a:ea typeface="Roboto condensed"/>
                    <a:cs typeface="Roboto condensed"/>
                    <a:sym typeface="Roboto condensed"/>
                  </a:defRPr>
                </a:pPr>
                <a:endParaRPr sz="200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24">
                <a:extLst>
                  <a:ext uri="{FF2B5EF4-FFF2-40B4-BE49-F238E27FC236}">
                    <a16:creationId xmlns:a16="http://schemas.microsoft.com/office/drawing/2014/main" id="{C04E7ABC-4669-A513-8DCE-684981AF121B}"/>
                  </a:ext>
                </a:extLst>
              </p:cNvPr>
              <p:cNvSpPr txBox="1"/>
              <p:nvPr/>
            </p:nvSpPr>
            <p:spPr>
              <a:xfrm rot="908242">
                <a:off x="3534483" y="2619987"/>
                <a:ext cx="333664" cy="47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66344">
                  <a:spcAft>
                    <a:spcPts val="600"/>
                  </a:spcAft>
                </a:pPr>
                <a:r>
                  <a:rPr lang="en-US" altLang="zh-CN" sz="1836" kern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ea"/>
                    <a:sym typeface="+mn-lt"/>
                  </a:rPr>
                  <a:t>A</a:t>
                </a:r>
                <a:endParaRPr lang="zh-CN" altLang="en-US" sz="3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3">
              <a:extLst>
                <a:ext uri="{FF2B5EF4-FFF2-40B4-BE49-F238E27FC236}">
                  <a16:creationId xmlns:a16="http://schemas.microsoft.com/office/drawing/2014/main" id="{0A76B6C4-4830-D34F-DF11-9B82A333A26F}"/>
                </a:ext>
              </a:extLst>
            </p:cNvPr>
            <p:cNvGrpSpPr/>
            <p:nvPr/>
          </p:nvGrpSpPr>
          <p:grpSpPr>
            <a:xfrm>
              <a:off x="4294141" y="1347992"/>
              <a:ext cx="1247018" cy="1247186"/>
              <a:chOff x="4294103" y="1465653"/>
              <a:chExt cx="1247186" cy="1247186"/>
            </a:xfrm>
            <a:solidFill>
              <a:schemeClr val="accent2"/>
            </a:solidFill>
          </p:grpSpPr>
          <p:sp>
            <p:nvSpPr>
              <p:cNvPr id="18" name="Shape 14331">
                <a:extLst>
                  <a:ext uri="{FF2B5EF4-FFF2-40B4-BE49-F238E27FC236}">
                    <a16:creationId xmlns:a16="http://schemas.microsoft.com/office/drawing/2014/main" id="{4B892BD1-6C07-E277-8D95-78376CC724AA}"/>
                  </a:ext>
                </a:extLst>
              </p:cNvPr>
              <p:cNvSpPr/>
              <p:nvPr/>
            </p:nvSpPr>
            <p:spPr>
              <a:xfrm rot="18900000">
                <a:off x="4294103" y="1465653"/>
                <a:ext cx="1247186" cy="1247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8250"/>
                    </a:moveTo>
                    <a:cubicBezTo>
                      <a:pt x="21600" y="9540"/>
                      <a:pt x="20580" y="10560"/>
                      <a:pt x="19290" y="10560"/>
                    </a:cubicBezTo>
                    <a:cubicBezTo>
                      <a:pt x="19290" y="10560"/>
                      <a:pt x="19290" y="10560"/>
                      <a:pt x="19290" y="10560"/>
                    </a:cubicBezTo>
                    <a:cubicBezTo>
                      <a:pt x="19170" y="10560"/>
                      <a:pt x="18630" y="10530"/>
                      <a:pt x="18090" y="10080"/>
                    </a:cubicBezTo>
                    <a:cubicBezTo>
                      <a:pt x="17760" y="9810"/>
                      <a:pt x="17400" y="9390"/>
                      <a:pt x="17070" y="9390"/>
                    </a:cubicBezTo>
                    <a:cubicBezTo>
                      <a:pt x="16770" y="9390"/>
                      <a:pt x="16500" y="9690"/>
                      <a:pt x="16290" y="10680"/>
                    </a:cubicBezTo>
                    <a:cubicBezTo>
                      <a:pt x="16260" y="10770"/>
                      <a:pt x="16260" y="10860"/>
                      <a:pt x="16260" y="10950"/>
                    </a:cubicBezTo>
                    <a:cubicBezTo>
                      <a:pt x="16260" y="16260"/>
                      <a:pt x="16260" y="16260"/>
                      <a:pt x="16260" y="16260"/>
                    </a:cubicBezTo>
                    <a:cubicBezTo>
                      <a:pt x="16260" y="16260"/>
                      <a:pt x="16260" y="16260"/>
                      <a:pt x="16260" y="16260"/>
                    </a:cubicBezTo>
                    <a:cubicBezTo>
                      <a:pt x="10680" y="16260"/>
                      <a:pt x="10680" y="16260"/>
                      <a:pt x="10680" y="16260"/>
                    </a:cubicBezTo>
                    <a:cubicBezTo>
                      <a:pt x="10560" y="16260"/>
                      <a:pt x="10470" y="16290"/>
                      <a:pt x="10350" y="16290"/>
                    </a:cubicBezTo>
                    <a:cubicBezTo>
                      <a:pt x="9450" y="16500"/>
                      <a:pt x="9000" y="16770"/>
                      <a:pt x="8880" y="17160"/>
                    </a:cubicBezTo>
                    <a:cubicBezTo>
                      <a:pt x="8760" y="17580"/>
                      <a:pt x="9120" y="17970"/>
                      <a:pt x="9420" y="18300"/>
                    </a:cubicBezTo>
                    <a:cubicBezTo>
                      <a:pt x="9480" y="18390"/>
                      <a:pt x="9540" y="18450"/>
                      <a:pt x="9600" y="18510"/>
                    </a:cubicBezTo>
                    <a:cubicBezTo>
                      <a:pt x="10050" y="19020"/>
                      <a:pt x="10050" y="19530"/>
                      <a:pt x="10050" y="19560"/>
                    </a:cubicBezTo>
                    <a:cubicBezTo>
                      <a:pt x="10050" y="20700"/>
                      <a:pt x="9120" y="21600"/>
                      <a:pt x="7980" y="21600"/>
                    </a:cubicBezTo>
                    <a:cubicBezTo>
                      <a:pt x="6870" y="21600"/>
                      <a:pt x="5940" y="20700"/>
                      <a:pt x="5940" y="19560"/>
                    </a:cubicBezTo>
                    <a:cubicBezTo>
                      <a:pt x="5940" y="19560"/>
                      <a:pt x="5940" y="19560"/>
                      <a:pt x="5940" y="19560"/>
                    </a:cubicBezTo>
                    <a:cubicBezTo>
                      <a:pt x="5940" y="19530"/>
                      <a:pt x="5910" y="19020"/>
                      <a:pt x="6360" y="18510"/>
                    </a:cubicBezTo>
                    <a:cubicBezTo>
                      <a:pt x="6420" y="18450"/>
                      <a:pt x="6480" y="18390"/>
                      <a:pt x="6570" y="18300"/>
                    </a:cubicBezTo>
                    <a:cubicBezTo>
                      <a:pt x="6870" y="17970"/>
                      <a:pt x="7230" y="17580"/>
                      <a:pt x="7110" y="17160"/>
                    </a:cubicBezTo>
                    <a:cubicBezTo>
                      <a:pt x="6990" y="16770"/>
                      <a:pt x="6510" y="16500"/>
                      <a:pt x="5610" y="16290"/>
                    </a:cubicBezTo>
                    <a:cubicBezTo>
                      <a:pt x="5520" y="16290"/>
                      <a:pt x="5400" y="16260"/>
                      <a:pt x="5310" y="16260"/>
                    </a:cubicBezTo>
                    <a:cubicBezTo>
                      <a:pt x="0" y="16260"/>
                      <a:pt x="0" y="16260"/>
                      <a:pt x="0" y="16260"/>
                    </a:cubicBezTo>
                    <a:cubicBezTo>
                      <a:pt x="0" y="10950"/>
                      <a:pt x="0" y="10950"/>
                      <a:pt x="0" y="10950"/>
                    </a:cubicBezTo>
                    <a:cubicBezTo>
                      <a:pt x="0" y="10890"/>
                      <a:pt x="0" y="10800"/>
                      <a:pt x="30" y="10740"/>
                    </a:cubicBezTo>
                    <a:cubicBezTo>
                      <a:pt x="240" y="9720"/>
                      <a:pt x="510" y="9630"/>
                      <a:pt x="570" y="9630"/>
                    </a:cubicBezTo>
                    <a:cubicBezTo>
                      <a:pt x="720" y="9630"/>
                      <a:pt x="990" y="9870"/>
                      <a:pt x="1200" y="10050"/>
                    </a:cubicBezTo>
                    <a:cubicBezTo>
                      <a:pt x="1260" y="10140"/>
                      <a:pt x="1350" y="10200"/>
                      <a:pt x="1410" y="10260"/>
                    </a:cubicBezTo>
                    <a:cubicBezTo>
                      <a:pt x="2010" y="10770"/>
                      <a:pt x="2610" y="10800"/>
                      <a:pt x="2760" y="10800"/>
                    </a:cubicBezTo>
                    <a:cubicBezTo>
                      <a:pt x="2790" y="10800"/>
                      <a:pt x="2790" y="10800"/>
                      <a:pt x="2790" y="10800"/>
                    </a:cubicBezTo>
                    <a:cubicBezTo>
                      <a:pt x="4200" y="10800"/>
                      <a:pt x="5340" y="9660"/>
                      <a:pt x="5340" y="8250"/>
                    </a:cubicBezTo>
                    <a:cubicBezTo>
                      <a:pt x="5340" y="6870"/>
                      <a:pt x="4200" y="5700"/>
                      <a:pt x="2790" y="5700"/>
                    </a:cubicBezTo>
                    <a:cubicBezTo>
                      <a:pt x="2760" y="5700"/>
                      <a:pt x="2760" y="5700"/>
                      <a:pt x="2760" y="5700"/>
                    </a:cubicBezTo>
                    <a:cubicBezTo>
                      <a:pt x="2610" y="5700"/>
                      <a:pt x="2010" y="5760"/>
                      <a:pt x="1410" y="6270"/>
                    </a:cubicBezTo>
                    <a:cubicBezTo>
                      <a:pt x="1350" y="6330"/>
                      <a:pt x="1260" y="6390"/>
                      <a:pt x="1200" y="6450"/>
                    </a:cubicBezTo>
                    <a:cubicBezTo>
                      <a:pt x="990" y="6660"/>
                      <a:pt x="720" y="6900"/>
                      <a:pt x="570" y="6900"/>
                    </a:cubicBezTo>
                    <a:cubicBezTo>
                      <a:pt x="510" y="6900"/>
                      <a:pt x="240" y="6810"/>
                      <a:pt x="30" y="5790"/>
                    </a:cubicBezTo>
                    <a:cubicBezTo>
                      <a:pt x="0" y="5700"/>
                      <a:pt x="0" y="5640"/>
                      <a:pt x="0" y="558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310" y="0"/>
                      <a:pt x="5310" y="0"/>
                      <a:pt x="5310" y="0"/>
                    </a:cubicBezTo>
                    <a:cubicBezTo>
                      <a:pt x="5400" y="0"/>
                      <a:pt x="5490" y="30"/>
                      <a:pt x="5580" y="30"/>
                    </a:cubicBezTo>
                    <a:cubicBezTo>
                      <a:pt x="7710" y="540"/>
                      <a:pt x="6690" y="1260"/>
                      <a:pt x="6180" y="1830"/>
                    </a:cubicBezTo>
                    <a:cubicBezTo>
                      <a:pt x="5670" y="2460"/>
                      <a:pt x="5700" y="3060"/>
                      <a:pt x="5700" y="3060"/>
                    </a:cubicBezTo>
                    <a:cubicBezTo>
                      <a:pt x="5700" y="4320"/>
                      <a:pt x="6720" y="5370"/>
                      <a:pt x="7980" y="5370"/>
                    </a:cubicBezTo>
                    <a:cubicBezTo>
                      <a:pt x="9270" y="5370"/>
                      <a:pt x="10290" y="4320"/>
                      <a:pt x="10290" y="3060"/>
                    </a:cubicBezTo>
                    <a:cubicBezTo>
                      <a:pt x="10290" y="3060"/>
                      <a:pt x="10320" y="2460"/>
                      <a:pt x="9810" y="1830"/>
                    </a:cubicBezTo>
                    <a:cubicBezTo>
                      <a:pt x="9300" y="1260"/>
                      <a:pt x="8280" y="540"/>
                      <a:pt x="10410" y="30"/>
                    </a:cubicBezTo>
                    <a:cubicBezTo>
                      <a:pt x="10500" y="30"/>
                      <a:pt x="10590" y="0"/>
                      <a:pt x="10680" y="0"/>
                    </a:cubicBezTo>
                    <a:cubicBezTo>
                      <a:pt x="16260" y="0"/>
                      <a:pt x="16260" y="0"/>
                      <a:pt x="16260" y="0"/>
                    </a:cubicBezTo>
                    <a:cubicBezTo>
                      <a:pt x="16260" y="5580"/>
                      <a:pt x="16260" y="5580"/>
                      <a:pt x="16260" y="5580"/>
                    </a:cubicBezTo>
                    <a:cubicBezTo>
                      <a:pt x="16260" y="5670"/>
                      <a:pt x="16260" y="5760"/>
                      <a:pt x="16290" y="5820"/>
                    </a:cubicBezTo>
                    <a:cubicBezTo>
                      <a:pt x="16500" y="6840"/>
                      <a:pt x="16770" y="7140"/>
                      <a:pt x="17070" y="7140"/>
                    </a:cubicBezTo>
                    <a:cubicBezTo>
                      <a:pt x="17400" y="7140"/>
                      <a:pt x="17760" y="6720"/>
                      <a:pt x="18090" y="6450"/>
                    </a:cubicBezTo>
                    <a:cubicBezTo>
                      <a:pt x="18600" y="6000"/>
                      <a:pt x="19140" y="5970"/>
                      <a:pt x="19260" y="5970"/>
                    </a:cubicBezTo>
                    <a:cubicBezTo>
                      <a:pt x="19290" y="5970"/>
                      <a:pt x="19290" y="5970"/>
                      <a:pt x="19290" y="5970"/>
                    </a:cubicBezTo>
                    <a:cubicBezTo>
                      <a:pt x="20580" y="5970"/>
                      <a:pt x="21600" y="6990"/>
                      <a:pt x="21600" y="825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>
                    <a:latin typeface="Roboto condensed"/>
                    <a:ea typeface="Roboto condensed"/>
                    <a:cs typeface="Roboto condensed"/>
                    <a:sym typeface="Roboto condensed"/>
                  </a:defRPr>
                </a:pPr>
                <a:endParaRPr sz="200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文本框 24">
                <a:extLst>
                  <a:ext uri="{FF2B5EF4-FFF2-40B4-BE49-F238E27FC236}">
                    <a16:creationId xmlns:a16="http://schemas.microsoft.com/office/drawing/2014/main" id="{3854CDCA-8843-5C4A-67F2-7BFB6A9BB5C4}"/>
                  </a:ext>
                </a:extLst>
              </p:cNvPr>
              <p:cNvSpPr txBox="1"/>
              <p:nvPr/>
            </p:nvSpPr>
            <p:spPr>
              <a:xfrm rot="908242">
                <a:off x="4680487" y="1791975"/>
                <a:ext cx="321841" cy="47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66344">
                  <a:spcAft>
                    <a:spcPts val="600"/>
                  </a:spcAft>
                </a:pPr>
                <a:r>
                  <a:rPr lang="en-US" altLang="zh-CN" sz="1836" kern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ea"/>
                    <a:sym typeface="+mn-lt"/>
                  </a:rPr>
                  <a:t>B</a:t>
                </a:r>
                <a:endParaRPr lang="zh-CN" altLang="en-US" sz="3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4">
              <a:extLst>
                <a:ext uri="{FF2B5EF4-FFF2-40B4-BE49-F238E27FC236}">
                  <a16:creationId xmlns:a16="http://schemas.microsoft.com/office/drawing/2014/main" id="{D3E0EE76-13B5-6F42-AD52-23B5DEFDE5C6}"/>
                </a:ext>
              </a:extLst>
            </p:cNvPr>
            <p:cNvGrpSpPr/>
            <p:nvPr/>
          </p:nvGrpSpPr>
          <p:grpSpPr>
            <a:xfrm>
              <a:off x="5074355" y="2568601"/>
              <a:ext cx="1249240" cy="1247186"/>
              <a:chOff x="5074422" y="2686262"/>
              <a:chExt cx="1249409" cy="1247186"/>
            </a:xfrm>
            <a:solidFill>
              <a:schemeClr val="accent3"/>
            </a:solidFill>
          </p:grpSpPr>
          <p:sp>
            <p:nvSpPr>
              <p:cNvPr id="16" name="Shape 14336">
                <a:extLst>
                  <a:ext uri="{FF2B5EF4-FFF2-40B4-BE49-F238E27FC236}">
                    <a16:creationId xmlns:a16="http://schemas.microsoft.com/office/drawing/2014/main" id="{7E6D3079-E994-2803-0876-C9904F1EE77A}"/>
                  </a:ext>
                </a:extLst>
              </p:cNvPr>
              <p:cNvSpPr/>
              <p:nvPr/>
            </p:nvSpPr>
            <p:spPr>
              <a:xfrm rot="18900000">
                <a:off x="5074422" y="2686262"/>
                <a:ext cx="1249409" cy="12471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70" y="10680"/>
                    </a:moveTo>
                    <a:cubicBezTo>
                      <a:pt x="21600" y="16260"/>
                      <a:pt x="21600" y="16260"/>
                      <a:pt x="21600" y="16260"/>
                    </a:cubicBezTo>
                    <a:cubicBezTo>
                      <a:pt x="16028" y="16260"/>
                      <a:pt x="16028" y="16260"/>
                      <a:pt x="16028" y="16260"/>
                    </a:cubicBezTo>
                    <a:cubicBezTo>
                      <a:pt x="15938" y="16260"/>
                      <a:pt x="15848" y="16260"/>
                      <a:pt x="15758" y="16290"/>
                    </a:cubicBezTo>
                    <a:cubicBezTo>
                      <a:pt x="13631" y="16770"/>
                      <a:pt x="14650" y="17490"/>
                      <a:pt x="15159" y="18090"/>
                    </a:cubicBezTo>
                    <a:cubicBezTo>
                      <a:pt x="15668" y="18690"/>
                      <a:pt x="15638" y="19290"/>
                      <a:pt x="15638" y="19290"/>
                    </a:cubicBezTo>
                    <a:cubicBezTo>
                      <a:pt x="15638" y="20580"/>
                      <a:pt x="14620" y="21600"/>
                      <a:pt x="13331" y="21600"/>
                    </a:cubicBezTo>
                    <a:cubicBezTo>
                      <a:pt x="12073" y="21600"/>
                      <a:pt x="11055" y="20580"/>
                      <a:pt x="11055" y="19290"/>
                    </a:cubicBezTo>
                    <a:cubicBezTo>
                      <a:pt x="11055" y="19290"/>
                      <a:pt x="11025" y="18690"/>
                      <a:pt x="11534" y="18090"/>
                    </a:cubicBezTo>
                    <a:cubicBezTo>
                      <a:pt x="12043" y="17490"/>
                      <a:pt x="13062" y="16770"/>
                      <a:pt x="10935" y="16290"/>
                    </a:cubicBezTo>
                    <a:cubicBezTo>
                      <a:pt x="10845" y="16260"/>
                      <a:pt x="10755" y="16260"/>
                      <a:pt x="10665" y="16260"/>
                    </a:cubicBezTo>
                    <a:cubicBezTo>
                      <a:pt x="5363" y="16260"/>
                      <a:pt x="5363" y="16260"/>
                      <a:pt x="5363" y="16260"/>
                    </a:cubicBezTo>
                    <a:cubicBezTo>
                      <a:pt x="5363" y="10680"/>
                      <a:pt x="5363" y="10680"/>
                      <a:pt x="5363" y="10680"/>
                    </a:cubicBezTo>
                    <a:cubicBezTo>
                      <a:pt x="5363" y="10590"/>
                      <a:pt x="5333" y="10470"/>
                      <a:pt x="5303" y="10380"/>
                    </a:cubicBezTo>
                    <a:cubicBezTo>
                      <a:pt x="5153" y="9660"/>
                      <a:pt x="4883" y="8880"/>
                      <a:pt x="4284" y="8880"/>
                    </a:cubicBezTo>
                    <a:cubicBezTo>
                      <a:pt x="3925" y="8880"/>
                      <a:pt x="3595" y="9150"/>
                      <a:pt x="3295" y="9420"/>
                    </a:cubicBezTo>
                    <a:cubicBezTo>
                      <a:pt x="3236" y="9510"/>
                      <a:pt x="3176" y="9570"/>
                      <a:pt x="3116" y="9630"/>
                    </a:cubicBezTo>
                    <a:cubicBezTo>
                      <a:pt x="2636" y="10020"/>
                      <a:pt x="2157" y="10050"/>
                      <a:pt x="2067" y="10050"/>
                    </a:cubicBezTo>
                    <a:cubicBezTo>
                      <a:pt x="2037" y="10050"/>
                      <a:pt x="2037" y="10050"/>
                      <a:pt x="2037" y="10050"/>
                    </a:cubicBezTo>
                    <a:cubicBezTo>
                      <a:pt x="929" y="10050"/>
                      <a:pt x="0" y="9120"/>
                      <a:pt x="0" y="8010"/>
                    </a:cubicBezTo>
                    <a:cubicBezTo>
                      <a:pt x="0" y="6870"/>
                      <a:pt x="929" y="5940"/>
                      <a:pt x="2037" y="5940"/>
                    </a:cubicBezTo>
                    <a:cubicBezTo>
                      <a:pt x="2067" y="5940"/>
                      <a:pt x="2067" y="5940"/>
                      <a:pt x="2067" y="5940"/>
                    </a:cubicBezTo>
                    <a:cubicBezTo>
                      <a:pt x="2127" y="5940"/>
                      <a:pt x="2247" y="5970"/>
                      <a:pt x="2457" y="6000"/>
                    </a:cubicBezTo>
                    <a:cubicBezTo>
                      <a:pt x="2636" y="6060"/>
                      <a:pt x="2876" y="6180"/>
                      <a:pt x="3116" y="6390"/>
                    </a:cubicBezTo>
                    <a:cubicBezTo>
                      <a:pt x="3176" y="6450"/>
                      <a:pt x="3236" y="6510"/>
                      <a:pt x="3295" y="6570"/>
                    </a:cubicBezTo>
                    <a:cubicBezTo>
                      <a:pt x="3595" y="6840"/>
                      <a:pt x="3925" y="7140"/>
                      <a:pt x="4284" y="7140"/>
                    </a:cubicBezTo>
                    <a:cubicBezTo>
                      <a:pt x="4883" y="7140"/>
                      <a:pt x="5153" y="6330"/>
                      <a:pt x="5303" y="5640"/>
                    </a:cubicBezTo>
                    <a:cubicBezTo>
                      <a:pt x="5333" y="5520"/>
                      <a:pt x="5363" y="5430"/>
                      <a:pt x="5363" y="5310"/>
                    </a:cubicBezTo>
                    <a:cubicBezTo>
                      <a:pt x="5363" y="0"/>
                      <a:pt x="5363" y="0"/>
                      <a:pt x="5363" y="0"/>
                    </a:cubicBezTo>
                    <a:cubicBezTo>
                      <a:pt x="5363" y="0"/>
                      <a:pt x="5363" y="0"/>
                      <a:pt x="5363" y="0"/>
                    </a:cubicBezTo>
                    <a:cubicBezTo>
                      <a:pt x="5363" y="0"/>
                      <a:pt x="5363" y="0"/>
                      <a:pt x="5363" y="0"/>
                    </a:cubicBezTo>
                    <a:cubicBezTo>
                      <a:pt x="10665" y="0"/>
                      <a:pt x="10665" y="0"/>
                      <a:pt x="10665" y="0"/>
                    </a:cubicBezTo>
                    <a:cubicBezTo>
                      <a:pt x="10725" y="0"/>
                      <a:pt x="10785" y="0"/>
                      <a:pt x="10875" y="30"/>
                    </a:cubicBezTo>
                    <a:cubicBezTo>
                      <a:pt x="11804" y="240"/>
                      <a:pt x="11953" y="480"/>
                      <a:pt x="11983" y="540"/>
                    </a:cubicBezTo>
                    <a:cubicBezTo>
                      <a:pt x="12013" y="690"/>
                      <a:pt x="11744" y="990"/>
                      <a:pt x="11564" y="1200"/>
                    </a:cubicBezTo>
                    <a:cubicBezTo>
                      <a:pt x="11474" y="1260"/>
                      <a:pt x="11414" y="1350"/>
                      <a:pt x="11354" y="1410"/>
                    </a:cubicBezTo>
                    <a:cubicBezTo>
                      <a:pt x="10785" y="2070"/>
                      <a:pt x="10785" y="2700"/>
                      <a:pt x="10785" y="2790"/>
                    </a:cubicBezTo>
                    <a:cubicBezTo>
                      <a:pt x="10785" y="4200"/>
                      <a:pt x="11953" y="5340"/>
                      <a:pt x="13331" y="5340"/>
                    </a:cubicBezTo>
                    <a:cubicBezTo>
                      <a:pt x="14740" y="5340"/>
                      <a:pt x="15878" y="4200"/>
                      <a:pt x="15878" y="2790"/>
                    </a:cubicBezTo>
                    <a:cubicBezTo>
                      <a:pt x="15878" y="2700"/>
                      <a:pt x="15908" y="2040"/>
                      <a:pt x="15339" y="1410"/>
                    </a:cubicBezTo>
                    <a:cubicBezTo>
                      <a:pt x="15279" y="1350"/>
                      <a:pt x="15219" y="1260"/>
                      <a:pt x="15129" y="1200"/>
                    </a:cubicBezTo>
                    <a:cubicBezTo>
                      <a:pt x="14949" y="990"/>
                      <a:pt x="14680" y="690"/>
                      <a:pt x="14710" y="540"/>
                    </a:cubicBezTo>
                    <a:cubicBezTo>
                      <a:pt x="14740" y="480"/>
                      <a:pt x="14889" y="240"/>
                      <a:pt x="15818" y="30"/>
                    </a:cubicBezTo>
                    <a:cubicBezTo>
                      <a:pt x="15878" y="0"/>
                      <a:pt x="15968" y="0"/>
                      <a:pt x="16028" y="0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21570" y="5310"/>
                      <a:pt x="21570" y="5310"/>
                      <a:pt x="21570" y="5310"/>
                    </a:cubicBezTo>
                    <a:cubicBezTo>
                      <a:pt x="21570" y="5400"/>
                      <a:pt x="21570" y="5490"/>
                      <a:pt x="21540" y="5580"/>
                    </a:cubicBezTo>
                    <a:cubicBezTo>
                      <a:pt x="21330" y="6570"/>
                      <a:pt x="21061" y="6870"/>
                      <a:pt x="20761" y="6870"/>
                    </a:cubicBezTo>
                    <a:cubicBezTo>
                      <a:pt x="20432" y="6870"/>
                      <a:pt x="20072" y="6450"/>
                      <a:pt x="19743" y="6180"/>
                    </a:cubicBezTo>
                    <a:cubicBezTo>
                      <a:pt x="19233" y="5730"/>
                      <a:pt x="18694" y="5700"/>
                      <a:pt x="18574" y="5700"/>
                    </a:cubicBezTo>
                    <a:cubicBezTo>
                      <a:pt x="18544" y="5700"/>
                      <a:pt x="18544" y="5700"/>
                      <a:pt x="18544" y="5700"/>
                    </a:cubicBezTo>
                    <a:cubicBezTo>
                      <a:pt x="17256" y="5700"/>
                      <a:pt x="16237" y="6720"/>
                      <a:pt x="16237" y="8010"/>
                    </a:cubicBezTo>
                    <a:cubicBezTo>
                      <a:pt x="16237" y="9270"/>
                      <a:pt x="17256" y="10290"/>
                      <a:pt x="18544" y="10290"/>
                    </a:cubicBezTo>
                    <a:cubicBezTo>
                      <a:pt x="18544" y="10290"/>
                      <a:pt x="18544" y="10290"/>
                      <a:pt x="18574" y="10290"/>
                    </a:cubicBezTo>
                    <a:cubicBezTo>
                      <a:pt x="18664" y="10290"/>
                      <a:pt x="19203" y="10260"/>
                      <a:pt x="19743" y="9810"/>
                    </a:cubicBezTo>
                    <a:cubicBezTo>
                      <a:pt x="20072" y="9540"/>
                      <a:pt x="20432" y="9120"/>
                      <a:pt x="20761" y="9120"/>
                    </a:cubicBezTo>
                    <a:cubicBezTo>
                      <a:pt x="21061" y="9120"/>
                      <a:pt x="21330" y="9420"/>
                      <a:pt x="21540" y="10440"/>
                    </a:cubicBezTo>
                    <a:cubicBezTo>
                      <a:pt x="21570" y="10500"/>
                      <a:pt x="21570" y="10590"/>
                      <a:pt x="21570" y="1068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>
                    <a:latin typeface="Roboto condensed"/>
                    <a:ea typeface="Roboto condensed"/>
                    <a:cs typeface="Roboto condensed"/>
                    <a:sym typeface="Roboto condensed"/>
                  </a:defRPr>
                </a:pPr>
                <a:endParaRPr sz="200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文本框 24">
                <a:extLst>
                  <a:ext uri="{FF2B5EF4-FFF2-40B4-BE49-F238E27FC236}">
                    <a16:creationId xmlns:a16="http://schemas.microsoft.com/office/drawing/2014/main" id="{57EFC759-EC34-8B0D-1609-C525E9416E2D}"/>
                  </a:ext>
                </a:extLst>
              </p:cNvPr>
              <p:cNvSpPr txBox="1"/>
              <p:nvPr/>
            </p:nvSpPr>
            <p:spPr>
              <a:xfrm rot="908242">
                <a:off x="5539982" y="2996049"/>
                <a:ext cx="318293" cy="47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66344">
                  <a:spcAft>
                    <a:spcPts val="600"/>
                  </a:spcAft>
                </a:pPr>
                <a:r>
                  <a:rPr lang="en-US" altLang="zh-CN" sz="1836" kern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ea"/>
                    <a:sym typeface="+mn-lt"/>
                  </a:rPr>
                  <a:t>C</a:t>
                </a:r>
                <a:endParaRPr lang="zh-CN" altLang="en-US" sz="3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917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58;p47">
            <a:extLst>
              <a:ext uri="{FF2B5EF4-FFF2-40B4-BE49-F238E27FC236}">
                <a16:creationId xmlns:a16="http://schemas.microsoft.com/office/drawing/2014/main" id="{3F5B91BE-7C0A-A163-A239-F0B2827DAE52}"/>
              </a:ext>
            </a:extLst>
          </p:cNvPr>
          <p:cNvSpPr/>
          <p:nvPr/>
        </p:nvSpPr>
        <p:spPr>
          <a:xfrm>
            <a:off x="4811699" y="1699798"/>
            <a:ext cx="1332441" cy="2215349"/>
          </a:xfrm>
          <a:custGeom>
            <a:avLst/>
            <a:gdLst/>
            <a:ahLst/>
            <a:cxnLst/>
            <a:rect l="l" t="t" r="r" b="b"/>
            <a:pathLst>
              <a:path w="31982" h="53174" extrusionOk="0">
                <a:moveTo>
                  <a:pt x="763" y="21479"/>
                </a:moveTo>
                <a:lnTo>
                  <a:pt x="20670" y="1215"/>
                </a:lnTo>
                <a:cubicBezTo>
                  <a:pt x="21849" y="0"/>
                  <a:pt x="23909" y="548"/>
                  <a:pt x="24337" y="2191"/>
                </a:cubicBezTo>
                <a:lnTo>
                  <a:pt x="31791" y="30528"/>
                </a:lnTo>
                <a:cubicBezTo>
                  <a:pt x="31981" y="31290"/>
                  <a:pt x="31755" y="32100"/>
                  <a:pt x="31195" y="32647"/>
                </a:cubicBezTo>
                <a:lnTo>
                  <a:pt x="11288" y="52019"/>
                </a:lnTo>
                <a:cubicBezTo>
                  <a:pt x="10097" y="53174"/>
                  <a:pt x="8097" y="52626"/>
                  <a:pt x="7657" y="51019"/>
                </a:cubicBezTo>
                <a:lnTo>
                  <a:pt x="203" y="23587"/>
                </a:lnTo>
                <a:cubicBezTo>
                  <a:pt x="1" y="22837"/>
                  <a:pt x="215" y="22039"/>
                  <a:pt x="763" y="21479"/>
                </a:cubicBezTo>
                <a:close/>
              </a:path>
            </a:pathLst>
          </a:custGeom>
          <a:solidFill>
            <a:srgbClr val="2BBBC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Google Shape;1759;p47">
            <a:extLst>
              <a:ext uri="{FF2B5EF4-FFF2-40B4-BE49-F238E27FC236}">
                <a16:creationId xmlns:a16="http://schemas.microsoft.com/office/drawing/2014/main" id="{CF344371-837D-2BF1-686D-B0FAA9E62323}"/>
              </a:ext>
            </a:extLst>
          </p:cNvPr>
          <p:cNvSpPr/>
          <p:nvPr/>
        </p:nvSpPr>
        <p:spPr>
          <a:xfrm>
            <a:off x="4651507" y="1674510"/>
            <a:ext cx="1332400" cy="2215349"/>
          </a:xfrm>
          <a:custGeom>
            <a:avLst/>
            <a:gdLst/>
            <a:ahLst/>
            <a:cxnLst/>
            <a:rect l="l" t="t" r="r" b="b"/>
            <a:pathLst>
              <a:path w="31981" h="53174" fill="none" extrusionOk="0">
                <a:moveTo>
                  <a:pt x="750" y="21479"/>
                </a:moveTo>
                <a:lnTo>
                  <a:pt x="20657" y="1215"/>
                </a:lnTo>
                <a:cubicBezTo>
                  <a:pt x="21848" y="0"/>
                  <a:pt x="23896" y="548"/>
                  <a:pt x="24325" y="2191"/>
                </a:cubicBezTo>
                <a:lnTo>
                  <a:pt x="31778" y="30540"/>
                </a:lnTo>
                <a:cubicBezTo>
                  <a:pt x="31980" y="31302"/>
                  <a:pt x="31754" y="32111"/>
                  <a:pt x="31183" y="32659"/>
                </a:cubicBezTo>
                <a:lnTo>
                  <a:pt x="11275" y="52019"/>
                </a:lnTo>
                <a:cubicBezTo>
                  <a:pt x="10085" y="53173"/>
                  <a:pt x="8084" y="52626"/>
                  <a:pt x="7656" y="51030"/>
                </a:cubicBezTo>
                <a:lnTo>
                  <a:pt x="203" y="23586"/>
                </a:lnTo>
                <a:cubicBezTo>
                  <a:pt x="0" y="22836"/>
                  <a:pt x="203" y="22039"/>
                  <a:pt x="750" y="21479"/>
                </a:cubicBezTo>
                <a:close/>
              </a:path>
            </a:pathLst>
          </a:custGeom>
          <a:noFill/>
          <a:ln w="11300" cap="flat" cmpd="sng">
            <a:solidFill>
              <a:schemeClr val="bg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Google Shape;1760;p47">
            <a:extLst>
              <a:ext uri="{FF2B5EF4-FFF2-40B4-BE49-F238E27FC236}">
                <a16:creationId xmlns:a16="http://schemas.microsoft.com/office/drawing/2014/main" id="{7B888753-FA21-C68C-2B97-E2BDE27422F8}"/>
              </a:ext>
            </a:extLst>
          </p:cNvPr>
          <p:cNvSpPr/>
          <p:nvPr/>
        </p:nvSpPr>
        <p:spPr>
          <a:xfrm>
            <a:off x="5104125" y="2577623"/>
            <a:ext cx="305093" cy="720507"/>
          </a:xfrm>
          <a:custGeom>
            <a:avLst/>
            <a:gdLst/>
            <a:ahLst/>
            <a:cxnLst/>
            <a:rect l="l" t="t" r="r" b="b"/>
            <a:pathLst>
              <a:path w="7323" h="17294" extrusionOk="0">
                <a:moveTo>
                  <a:pt x="2772" y="1942"/>
                </a:moveTo>
                <a:cubicBezTo>
                  <a:pt x="3111" y="1942"/>
                  <a:pt x="3447" y="2188"/>
                  <a:pt x="3774" y="2682"/>
                </a:cubicBezTo>
                <a:cubicBezTo>
                  <a:pt x="4310" y="3480"/>
                  <a:pt x="4834" y="4956"/>
                  <a:pt x="5358" y="7100"/>
                </a:cubicBezTo>
                <a:cubicBezTo>
                  <a:pt x="5870" y="9231"/>
                  <a:pt x="6108" y="10957"/>
                  <a:pt x="6084" y="12291"/>
                </a:cubicBezTo>
                <a:cubicBezTo>
                  <a:pt x="6060" y="13600"/>
                  <a:pt x="5763" y="14529"/>
                  <a:pt x="5203" y="15041"/>
                </a:cubicBezTo>
                <a:cubicBezTo>
                  <a:pt x="4984" y="15241"/>
                  <a:pt x="4767" y="15341"/>
                  <a:pt x="4552" y="15341"/>
                </a:cubicBezTo>
                <a:cubicBezTo>
                  <a:pt x="4215" y="15341"/>
                  <a:pt x="3882" y="15098"/>
                  <a:pt x="3548" y="14612"/>
                </a:cubicBezTo>
                <a:cubicBezTo>
                  <a:pt x="3012" y="13803"/>
                  <a:pt x="2488" y="12326"/>
                  <a:pt x="1976" y="10195"/>
                </a:cubicBezTo>
                <a:cubicBezTo>
                  <a:pt x="1465" y="8064"/>
                  <a:pt x="1214" y="6326"/>
                  <a:pt x="1238" y="5016"/>
                </a:cubicBezTo>
                <a:cubicBezTo>
                  <a:pt x="1262" y="3682"/>
                  <a:pt x="1560" y="2754"/>
                  <a:pt x="2119" y="2242"/>
                </a:cubicBezTo>
                <a:cubicBezTo>
                  <a:pt x="2337" y="2042"/>
                  <a:pt x="2555" y="1942"/>
                  <a:pt x="2772" y="1942"/>
                </a:cubicBezTo>
                <a:close/>
                <a:moveTo>
                  <a:pt x="2949" y="0"/>
                </a:moveTo>
                <a:cubicBezTo>
                  <a:pt x="2548" y="0"/>
                  <a:pt x="2136" y="192"/>
                  <a:pt x="1715" y="575"/>
                </a:cubicBezTo>
                <a:cubicBezTo>
                  <a:pt x="810" y="1408"/>
                  <a:pt x="298" y="2730"/>
                  <a:pt x="143" y="4552"/>
                </a:cubicBezTo>
                <a:cubicBezTo>
                  <a:pt x="0" y="6361"/>
                  <a:pt x="250" y="8576"/>
                  <a:pt x="881" y="11207"/>
                </a:cubicBezTo>
                <a:cubicBezTo>
                  <a:pt x="1512" y="13815"/>
                  <a:pt x="2227" y="15601"/>
                  <a:pt x="3036" y="16553"/>
                </a:cubicBezTo>
                <a:cubicBezTo>
                  <a:pt x="3466" y="17046"/>
                  <a:pt x="3908" y="17294"/>
                  <a:pt x="4365" y="17294"/>
                </a:cubicBezTo>
                <a:cubicBezTo>
                  <a:pt x="4769" y="17294"/>
                  <a:pt x="5183" y="17099"/>
                  <a:pt x="5608" y="16708"/>
                </a:cubicBezTo>
                <a:cubicBezTo>
                  <a:pt x="6513" y="15886"/>
                  <a:pt x="7025" y="14565"/>
                  <a:pt x="7168" y="12755"/>
                </a:cubicBezTo>
                <a:cubicBezTo>
                  <a:pt x="7322" y="10933"/>
                  <a:pt x="7072" y="8707"/>
                  <a:pt x="6441" y="6099"/>
                </a:cubicBezTo>
                <a:cubicBezTo>
                  <a:pt x="5810" y="3468"/>
                  <a:pt x="5096" y="1694"/>
                  <a:pt x="4286" y="754"/>
                </a:cubicBezTo>
                <a:cubicBezTo>
                  <a:pt x="3854" y="251"/>
                  <a:pt x="3408" y="0"/>
                  <a:pt x="29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Google Shape;1761;p47">
            <a:extLst>
              <a:ext uri="{FF2B5EF4-FFF2-40B4-BE49-F238E27FC236}">
                <a16:creationId xmlns:a16="http://schemas.microsoft.com/office/drawing/2014/main" id="{E8FFA50E-BC13-3ECF-9BE0-EF07CEFF1DE5}"/>
              </a:ext>
            </a:extLst>
          </p:cNvPr>
          <p:cNvSpPr/>
          <p:nvPr/>
        </p:nvSpPr>
        <p:spPr>
          <a:xfrm>
            <a:off x="5383388" y="2316817"/>
            <a:ext cx="348254" cy="757504"/>
          </a:xfrm>
          <a:custGeom>
            <a:avLst/>
            <a:gdLst/>
            <a:ahLst/>
            <a:cxnLst/>
            <a:rect l="l" t="t" r="r" b="b"/>
            <a:pathLst>
              <a:path w="8359" h="18182" extrusionOk="0">
                <a:moveTo>
                  <a:pt x="2834" y="1"/>
                </a:moveTo>
                <a:lnTo>
                  <a:pt x="1739" y="1001"/>
                </a:lnTo>
                <a:lnTo>
                  <a:pt x="0" y="3525"/>
                </a:lnTo>
                <a:lnTo>
                  <a:pt x="453" y="5442"/>
                </a:lnTo>
                <a:lnTo>
                  <a:pt x="2215" y="2906"/>
                </a:lnTo>
                <a:lnTo>
                  <a:pt x="5072" y="14776"/>
                </a:lnTo>
                <a:lnTo>
                  <a:pt x="3286" y="16408"/>
                </a:lnTo>
                <a:lnTo>
                  <a:pt x="3715" y="18182"/>
                </a:lnTo>
                <a:lnTo>
                  <a:pt x="8358" y="13919"/>
                </a:lnTo>
                <a:lnTo>
                  <a:pt x="7930" y="12145"/>
                </a:lnTo>
                <a:lnTo>
                  <a:pt x="6144" y="13788"/>
                </a:lnTo>
                <a:lnTo>
                  <a:pt x="28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Google Shape;1763;p47">
            <a:extLst>
              <a:ext uri="{FF2B5EF4-FFF2-40B4-BE49-F238E27FC236}">
                <a16:creationId xmlns:a16="http://schemas.microsoft.com/office/drawing/2014/main" id="{4735C171-7408-1BB1-10A4-62719FD26A48}"/>
              </a:ext>
            </a:extLst>
          </p:cNvPr>
          <p:cNvSpPr/>
          <p:nvPr/>
        </p:nvSpPr>
        <p:spPr>
          <a:xfrm>
            <a:off x="5970951" y="1613975"/>
            <a:ext cx="1680655" cy="1681613"/>
          </a:xfrm>
          <a:custGeom>
            <a:avLst/>
            <a:gdLst/>
            <a:ahLst/>
            <a:cxnLst/>
            <a:rect l="l" t="t" r="r" b="b"/>
            <a:pathLst>
              <a:path w="40340" h="40363" extrusionOk="0">
                <a:moveTo>
                  <a:pt x="37279" y="39958"/>
                </a:moveTo>
                <a:lnTo>
                  <a:pt x="9478" y="33052"/>
                </a:lnTo>
                <a:cubicBezTo>
                  <a:pt x="8704" y="32862"/>
                  <a:pt x="8097" y="32267"/>
                  <a:pt x="7895" y="31493"/>
                </a:cubicBezTo>
                <a:lnTo>
                  <a:pt x="429" y="3108"/>
                </a:lnTo>
                <a:cubicBezTo>
                  <a:pt x="1" y="1489"/>
                  <a:pt x="1501" y="1"/>
                  <a:pt x="3120" y="453"/>
                </a:cubicBezTo>
                <a:lnTo>
                  <a:pt x="30921" y="8085"/>
                </a:lnTo>
                <a:cubicBezTo>
                  <a:pt x="31671" y="8287"/>
                  <a:pt x="32243" y="8871"/>
                  <a:pt x="32445" y="9621"/>
                </a:cubicBezTo>
                <a:lnTo>
                  <a:pt x="39911" y="37267"/>
                </a:lnTo>
                <a:cubicBezTo>
                  <a:pt x="40339" y="38875"/>
                  <a:pt x="38887" y="40363"/>
                  <a:pt x="37279" y="39958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Google Shape;1764;p47">
            <a:extLst>
              <a:ext uri="{FF2B5EF4-FFF2-40B4-BE49-F238E27FC236}">
                <a16:creationId xmlns:a16="http://schemas.microsoft.com/office/drawing/2014/main" id="{1A0221D6-8459-8D5D-0B1A-259F9FA732B4}"/>
              </a:ext>
            </a:extLst>
          </p:cNvPr>
          <p:cNvSpPr/>
          <p:nvPr/>
        </p:nvSpPr>
        <p:spPr>
          <a:xfrm>
            <a:off x="6099437" y="1469156"/>
            <a:ext cx="1680613" cy="1681613"/>
          </a:xfrm>
          <a:custGeom>
            <a:avLst/>
            <a:gdLst/>
            <a:ahLst/>
            <a:cxnLst/>
            <a:rect l="l" t="t" r="r" b="b"/>
            <a:pathLst>
              <a:path w="40339" h="40363" fill="none" extrusionOk="0">
                <a:moveTo>
                  <a:pt x="37267" y="39957"/>
                </a:moveTo>
                <a:lnTo>
                  <a:pt x="9466" y="33052"/>
                </a:lnTo>
                <a:cubicBezTo>
                  <a:pt x="8692" y="32861"/>
                  <a:pt x="8085" y="32266"/>
                  <a:pt x="7882" y="31492"/>
                </a:cubicBezTo>
                <a:lnTo>
                  <a:pt x="429" y="3108"/>
                </a:lnTo>
                <a:cubicBezTo>
                  <a:pt x="0" y="1488"/>
                  <a:pt x="1489" y="0"/>
                  <a:pt x="3108" y="453"/>
                </a:cubicBezTo>
                <a:lnTo>
                  <a:pt x="30909" y="8084"/>
                </a:lnTo>
                <a:cubicBezTo>
                  <a:pt x="31659" y="8287"/>
                  <a:pt x="32243" y="8870"/>
                  <a:pt x="32445" y="9620"/>
                </a:cubicBezTo>
                <a:lnTo>
                  <a:pt x="39898" y="37278"/>
                </a:lnTo>
                <a:cubicBezTo>
                  <a:pt x="40339" y="38874"/>
                  <a:pt x="38886" y="40362"/>
                  <a:pt x="37267" y="39957"/>
                </a:cubicBezTo>
                <a:close/>
              </a:path>
            </a:pathLst>
          </a:custGeom>
          <a:noFill/>
          <a:ln w="11300" cap="flat" cmpd="sng">
            <a:solidFill>
              <a:schemeClr val="bg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Google Shape;1765;p47">
            <a:extLst>
              <a:ext uri="{FF2B5EF4-FFF2-40B4-BE49-F238E27FC236}">
                <a16:creationId xmlns:a16="http://schemas.microsoft.com/office/drawing/2014/main" id="{B283C72B-0FC4-20E4-3648-D72738B0EF3B}"/>
              </a:ext>
            </a:extLst>
          </p:cNvPr>
          <p:cNvSpPr/>
          <p:nvPr/>
        </p:nvSpPr>
        <p:spPr>
          <a:xfrm>
            <a:off x="6506478" y="1969603"/>
            <a:ext cx="355712" cy="670388"/>
          </a:xfrm>
          <a:custGeom>
            <a:avLst/>
            <a:gdLst/>
            <a:ahLst/>
            <a:cxnLst/>
            <a:rect l="l" t="t" r="r" b="b"/>
            <a:pathLst>
              <a:path w="8538" h="16091" extrusionOk="0">
                <a:moveTo>
                  <a:pt x="2628" y="1695"/>
                </a:moveTo>
                <a:cubicBezTo>
                  <a:pt x="2747" y="1695"/>
                  <a:pt x="2875" y="1715"/>
                  <a:pt x="3013" y="1756"/>
                </a:cubicBezTo>
                <a:cubicBezTo>
                  <a:pt x="3751" y="1982"/>
                  <a:pt x="4418" y="2660"/>
                  <a:pt x="5001" y="3827"/>
                </a:cubicBezTo>
                <a:cubicBezTo>
                  <a:pt x="5585" y="4982"/>
                  <a:pt x="6085" y="6601"/>
                  <a:pt x="6501" y="8709"/>
                </a:cubicBezTo>
                <a:cubicBezTo>
                  <a:pt x="6930" y="10792"/>
                  <a:pt x="7049" y="12316"/>
                  <a:pt x="6894" y="13257"/>
                </a:cubicBezTo>
                <a:cubicBezTo>
                  <a:pt x="6759" y="14012"/>
                  <a:pt x="6435" y="14389"/>
                  <a:pt x="5916" y="14389"/>
                </a:cubicBezTo>
                <a:cubicBezTo>
                  <a:pt x="5796" y="14389"/>
                  <a:pt x="5666" y="14369"/>
                  <a:pt x="5525" y="14329"/>
                </a:cubicBezTo>
                <a:cubicBezTo>
                  <a:pt x="4787" y="14114"/>
                  <a:pt x="4132" y="13424"/>
                  <a:pt x="3537" y="12281"/>
                </a:cubicBezTo>
                <a:cubicBezTo>
                  <a:pt x="2965" y="11114"/>
                  <a:pt x="2465" y="9495"/>
                  <a:pt x="2036" y="7399"/>
                </a:cubicBezTo>
                <a:cubicBezTo>
                  <a:pt x="1620" y="5292"/>
                  <a:pt x="1489" y="3780"/>
                  <a:pt x="1655" y="2839"/>
                </a:cubicBezTo>
                <a:cubicBezTo>
                  <a:pt x="1791" y="2074"/>
                  <a:pt x="2115" y="1695"/>
                  <a:pt x="2628" y="1695"/>
                </a:cubicBezTo>
                <a:close/>
                <a:moveTo>
                  <a:pt x="1919" y="0"/>
                </a:moveTo>
                <a:cubicBezTo>
                  <a:pt x="1153" y="0"/>
                  <a:pt x="632" y="454"/>
                  <a:pt x="358" y="1351"/>
                </a:cubicBezTo>
                <a:cubicBezTo>
                  <a:pt x="1" y="2518"/>
                  <a:pt x="84" y="4399"/>
                  <a:pt x="596" y="6971"/>
                </a:cubicBezTo>
                <a:cubicBezTo>
                  <a:pt x="1108" y="9542"/>
                  <a:pt x="1822" y="11602"/>
                  <a:pt x="2715" y="13138"/>
                </a:cubicBezTo>
                <a:cubicBezTo>
                  <a:pt x="3620" y="14674"/>
                  <a:pt x="4668" y="15614"/>
                  <a:pt x="5858" y="15972"/>
                </a:cubicBezTo>
                <a:cubicBezTo>
                  <a:pt x="6132" y="16051"/>
                  <a:pt x="6383" y="16091"/>
                  <a:pt x="6613" y="16091"/>
                </a:cubicBezTo>
                <a:cubicBezTo>
                  <a:pt x="7383" y="16091"/>
                  <a:pt x="7905" y="15644"/>
                  <a:pt x="8180" y="14745"/>
                </a:cubicBezTo>
                <a:cubicBezTo>
                  <a:pt x="8537" y="13567"/>
                  <a:pt x="8454" y="11697"/>
                  <a:pt x="7942" y="9126"/>
                </a:cubicBezTo>
                <a:cubicBezTo>
                  <a:pt x="7430" y="6542"/>
                  <a:pt x="6716" y="4494"/>
                  <a:pt x="5811" y="2958"/>
                </a:cubicBezTo>
                <a:cubicBezTo>
                  <a:pt x="4918" y="1410"/>
                  <a:pt x="3870" y="470"/>
                  <a:pt x="2679" y="124"/>
                </a:cubicBezTo>
                <a:cubicBezTo>
                  <a:pt x="2404" y="42"/>
                  <a:pt x="2150" y="0"/>
                  <a:pt x="19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Google Shape;1766;p47">
            <a:extLst>
              <a:ext uri="{FF2B5EF4-FFF2-40B4-BE49-F238E27FC236}">
                <a16:creationId xmlns:a16="http://schemas.microsoft.com/office/drawing/2014/main" id="{173B9240-9659-D452-7A1C-9E7751C7EB12}"/>
              </a:ext>
            </a:extLst>
          </p:cNvPr>
          <p:cNvSpPr/>
          <p:nvPr/>
        </p:nvSpPr>
        <p:spPr>
          <a:xfrm>
            <a:off x="6867606" y="2075384"/>
            <a:ext cx="399833" cy="699051"/>
          </a:xfrm>
          <a:custGeom>
            <a:avLst/>
            <a:gdLst/>
            <a:ahLst/>
            <a:cxnLst/>
            <a:rect l="l" t="t" r="r" b="b"/>
            <a:pathLst>
              <a:path w="9597" h="16779" extrusionOk="0">
                <a:moveTo>
                  <a:pt x="1614" y="1"/>
                </a:moveTo>
                <a:cubicBezTo>
                  <a:pt x="1568" y="1"/>
                  <a:pt x="1523" y="1"/>
                  <a:pt x="1477" y="2"/>
                </a:cubicBezTo>
                <a:cubicBezTo>
                  <a:pt x="1012" y="26"/>
                  <a:pt x="512" y="121"/>
                  <a:pt x="0" y="288"/>
                </a:cubicBezTo>
                <a:lnTo>
                  <a:pt x="429" y="2372"/>
                </a:lnTo>
                <a:cubicBezTo>
                  <a:pt x="905" y="2086"/>
                  <a:pt x="1369" y="1907"/>
                  <a:pt x="1822" y="1824"/>
                </a:cubicBezTo>
                <a:cubicBezTo>
                  <a:pt x="1986" y="1794"/>
                  <a:pt x="2152" y="1779"/>
                  <a:pt x="2318" y="1779"/>
                </a:cubicBezTo>
                <a:cubicBezTo>
                  <a:pt x="2609" y="1779"/>
                  <a:pt x="2899" y="1824"/>
                  <a:pt x="3179" y="1907"/>
                </a:cubicBezTo>
                <a:cubicBezTo>
                  <a:pt x="3822" y="2086"/>
                  <a:pt x="4382" y="2503"/>
                  <a:pt x="4882" y="3122"/>
                </a:cubicBezTo>
                <a:cubicBezTo>
                  <a:pt x="5382" y="3753"/>
                  <a:pt x="5715" y="4467"/>
                  <a:pt x="5882" y="5289"/>
                </a:cubicBezTo>
                <a:cubicBezTo>
                  <a:pt x="5977" y="5777"/>
                  <a:pt x="5989" y="6265"/>
                  <a:pt x="5906" y="6729"/>
                </a:cubicBezTo>
                <a:cubicBezTo>
                  <a:pt x="5834" y="7182"/>
                  <a:pt x="5632" y="7718"/>
                  <a:pt x="5322" y="8325"/>
                </a:cubicBezTo>
                <a:cubicBezTo>
                  <a:pt x="5156" y="8646"/>
                  <a:pt x="4739" y="9361"/>
                  <a:pt x="4072" y="10456"/>
                </a:cubicBezTo>
                <a:cubicBezTo>
                  <a:pt x="3405" y="11540"/>
                  <a:pt x="2882" y="12409"/>
                  <a:pt x="2501" y="13064"/>
                </a:cubicBezTo>
                <a:lnTo>
                  <a:pt x="2846" y="14802"/>
                </a:lnTo>
                <a:lnTo>
                  <a:pt x="9597" y="16778"/>
                </a:lnTo>
                <a:lnTo>
                  <a:pt x="9251" y="15040"/>
                </a:lnTo>
                <a:lnTo>
                  <a:pt x="4227" y="13575"/>
                </a:lnTo>
                <a:cubicBezTo>
                  <a:pt x="5049" y="12218"/>
                  <a:pt x="5680" y="11159"/>
                  <a:pt x="6132" y="10397"/>
                </a:cubicBezTo>
                <a:cubicBezTo>
                  <a:pt x="6573" y="9635"/>
                  <a:pt x="6834" y="9182"/>
                  <a:pt x="6918" y="9015"/>
                </a:cubicBezTo>
                <a:cubicBezTo>
                  <a:pt x="7192" y="8372"/>
                  <a:pt x="7358" y="7801"/>
                  <a:pt x="7406" y="7289"/>
                </a:cubicBezTo>
                <a:cubicBezTo>
                  <a:pt x="7465" y="6777"/>
                  <a:pt x="7418" y="6206"/>
                  <a:pt x="7299" y="5575"/>
                </a:cubicBezTo>
                <a:cubicBezTo>
                  <a:pt x="7037" y="4253"/>
                  <a:pt x="6489" y="3098"/>
                  <a:pt x="5680" y="2110"/>
                </a:cubicBezTo>
                <a:cubicBezTo>
                  <a:pt x="4870" y="1133"/>
                  <a:pt x="3906" y="479"/>
                  <a:pt x="2810" y="157"/>
                </a:cubicBezTo>
                <a:cubicBezTo>
                  <a:pt x="2435" y="50"/>
                  <a:pt x="2030" y="1"/>
                  <a:pt x="16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2" name="Google Shape;1768;p47">
            <a:extLst>
              <a:ext uri="{FF2B5EF4-FFF2-40B4-BE49-F238E27FC236}">
                <a16:creationId xmlns:a16="http://schemas.microsoft.com/office/drawing/2014/main" id="{8885C15D-BE44-1A56-CC23-33F77868C83F}"/>
              </a:ext>
            </a:extLst>
          </p:cNvPr>
          <p:cNvSpPr/>
          <p:nvPr/>
        </p:nvSpPr>
        <p:spPr>
          <a:xfrm>
            <a:off x="5334058" y="3158144"/>
            <a:ext cx="2208891" cy="1306112"/>
          </a:xfrm>
          <a:custGeom>
            <a:avLst/>
            <a:gdLst/>
            <a:ahLst/>
            <a:cxnLst/>
            <a:rect l="l" t="t" r="r" b="b"/>
            <a:pathLst>
              <a:path w="53019" h="31350" extrusionOk="0">
                <a:moveTo>
                  <a:pt x="29290" y="31147"/>
                </a:moveTo>
                <a:lnTo>
                  <a:pt x="2155" y="23730"/>
                </a:lnTo>
                <a:cubicBezTo>
                  <a:pt x="524" y="23289"/>
                  <a:pt x="0" y="21241"/>
                  <a:pt x="1215" y="20063"/>
                </a:cubicBezTo>
                <a:lnTo>
                  <a:pt x="21086" y="739"/>
                </a:lnTo>
                <a:cubicBezTo>
                  <a:pt x="21622" y="203"/>
                  <a:pt x="22396" y="1"/>
                  <a:pt x="23134" y="179"/>
                </a:cubicBezTo>
                <a:lnTo>
                  <a:pt x="50804" y="7049"/>
                </a:lnTo>
                <a:cubicBezTo>
                  <a:pt x="52459" y="7466"/>
                  <a:pt x="53019" y="9538"/>
                  <a:pt x="51792" y="10740"/>
                </a:cubicBezTo>
                <a:lnTo>
                  <a:pt x="31385" y="30600"/>
                </a:lnTo>
                <a:cubicBezTo>
                  <a:pt x="30825" y="31147"/>
                  <a:pt x="30028" y="31350"/>
                  <a:pt x="29290" y="311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3" name="Google Shape;1769;p47">
            <a:extLst>
              <a:ext uri="{FF2B5EF4-FFF2-40B4-BE49-F238E27FC236}">
                <a16:creationId xmlns:a16="http://schemas.microsoft.com/office/drawing/2014/main" id="{1102BA39-200F-D04F-F52F-B8276E19315D}"/>
              </a:ext>
            </a:extLst>
          </p:cNvPr>
          <p:cNvSpPr/>
          <p:nvPr/>
        </p:nvSpPr>
        <p:spPr>
          <a:xfrm>
            <a:off x="5371763" y="3323335"/>
            <a:ext cx="2209391" cy="1306112"/>
          </a:xfrm>
          <a:custGeom>
            <a:avLst/>
            <a:gdLst/>
            <a:ahLst/>
            <a:cxnLst/>
            <a:rect l="l" t="t" r="r" b="b"/>
            <a:pathLst>
              <a:path w="53031" h="31350" fill="none" extrusionOk="0">
                <a:moveTo>
                  <a:pt x="29289" y="31147"/>
                </a:moveTo>
                <a:lnTo>
                  <a:pt x="2167" y="23742"/>
                </a:lnTo>
                <a:cubicBezTo>
                  <a:pt x="536" y="23289"/>
                  <a:pt x="0" y="21241"/>
                  <a:pt x="1214" y="20063"/>
                </a:cubicBezTo>
                <a:lnTo>
                  <a:pt x="21086" y="739"/>
                </a:lnTo>
                <a:cubicBezTo>
                  <a:pt x="21622" y="215"/>
                  <a:pt x="22396" y="1"/>
                  <a:pt x="23134" y="191"/>
                </a:cubicBezTo>
                <a:lnTo>
                  <a:pt x="50804" y="7061"/>
                </a:lnTo>
                <a:cubicBezTo>
                  <a:pt x="52459" y="7466"/>
                  <a:pt x="53030" y="9549"/>
                  <a:pt x="51804" y="10740"/>
                </a:cubicBezTo>
                <a:lnTo>
                  <a:pt x="31385" y="30611"/>
                </a:lnTo>
                <a:cubicBezTo>
                  <a:pt x="30837" y="31147"/>
                  <a:pt x="30039" y="31350"/>
                  <a:pt x="29289" y="31147"/>
                </a:cubicBezTo>
                <a:close/>
              </a:path>
            </a:pathLst>
          </a:custGeom>
          <a:noFill/>
          <a:ln w="11300" cap="flat" cmpd="sng">
            <a:solidFill>
              <a:schemeClr val="bg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4" name="Google Shape;1770;p47">
            <a:extLst>
              <a:ext uri="{FF2B5EF4-FFF2-40B4-BE49-F238E27FC236}">
                <a16:creationId xmlns:a16="http://schemas.microsoft.com/office/drawing/2014/main" id="{1D1D8379-FBF4-CFF0-F26F-F3F004EF67C8}"/>
              </a:ext>
            </a:extLst>
          </p:cNvPr>
          <p:cNvSpPr/>
          <p:nvPr/>
        </p:nvSpPr>
        <p:spPr>
          <a:xfrm>
            <a:off x="6043858" y="3611637"/>
            <a:ext cx="575480" cy="487615"/>
          </a:xfrm>
          <a:custGeom>
            <a:avLst/>
            <a:gdLst/>
            <a:ahLst/>
            <a:cxnLst/>
            <a:rect l="l" t="t" r="r" b="b"/>
            <a:pathLst>
              <a:path w="13813" h="11704" extrusionOk="0">
                <a:moveTo>
                  <a:pt x="10378" y="1278"/>
                </a:moveTo>
                <a:cubicBezTo>
                  <a:pt x="10633" y="1278"/>
                  <a:pt x="10872" y="1319"/>
                  <a:pt x="11098" y="1403"/>
                </a:cubicBezTo>
                <a:cubicBezTo>
                  <a:pt x="11836" y="1665"/>
                  <a:pt x="12038" y="2236"/>
                  <a:pt x="11705" y="3118"/>
                </a:cubicBezTo>
                <a:cubicBezTo>
                  <a:pt x="11383" y="3999"/>
                  <a:pt x="10514" y="5177"/>
                  <a:pt x="9121" y="6666"/>
                </a:cubicBezTo>
                <a:cubicBezTo>
                  <a:pt x="7728" y="8142"/>
                  <a:pt x="6490" y="9190"/>
                  <a:pt x="5418" y="9797"/>
                </a:cubicBezTo>
                <a:cubicBezTo>
                  <a:pt x="4682" y="10219"/>
                  <a:pt x="4026" y="10434"/>
                  <a:pt x="3447" y="10434"/>
                </a:cubicBezTo>
                <a:cubicBezTo>
                  <a:pt x="3192" y="10434"/>
                  <a:pt x="2953" y="10392"/>
                  <a:pt x="2728" y="10309"/>
                </a:cubicBezTo>
                <a:cubicBezTo>
                  <a:pt x="1989" y="10047"/>
                  <a:pt x="1787" y="9475"/>
                  <a:pt x="2108" y="8594"/>
                </a:cubicBezTo>
                <a:cubicBezTo>
                  <a:pt x="2442" y="7713"/>
                  <a:pt x="3311" y="6535"/>
                  <a:pt x="4704" y="5058"/>
                </a:cubicBezTo>
                <a:cubicBezTo>
                  <a:pt x="6097" y="3570"/>
                  <a:pt x="7335" y="2522"/>
                  <a:pt x="8395" y="1915"/>
                </a:cubicBezTo>
                <a:cubicBezTo>
                  <a:pt x="9140" y="1493"/>
                  <a:pt x="9798" y="1278"/>
                  <a:pt x="10378" y="1278"/>
                </a:cubicBezTo>
                <a:close/>
                <a:moveTo>
                  <a:pt x="10813" y="0"/>
                </a:moveTo>
                <a:cubicBezTo>
                  <a:pt x="9988" y="0"/>
                  <a:pt x="9093" y="234"/>
                  <a:pt x="8121" y="701"/>
                </a:cubicBezTo>
                <a:cubicBezTo>
                  <a:pt x="6609" y="1427"/>
                  <a:pt x="4990" y="2713"/>
                  <a:pt x="3275" y="4534"/>
                </a:cubicBezTo>
                <a:cubicBezTo>
                  <a:pt x="1561" y="6356"/>
                  <a:pt x="561" y="7856"/>
                  <a:pt x="275" y="9047"/>
                </a:cubicBezTo>
                <a:cubicBezTo>
                  <a:pt x="1" y="10237"/>
                  <a:pt x="453" y="11035"/>
                  <a:pt x="1632" y="11464"/>
                </a:cubicBezTo>
                <a:cubicBezTo>
                  <a:pt x="2071" y="11623"/>
                  <a:pt x="2532" y="11704"/>
                  <a:pt x="3018" y="11704"/>
                </a:cubicBezTo>
                <a:cubicBezTo>
                  <a:pt x="3837" y="11704"/>
                  <a:pt x="4723" y="11475"/>
                  <a:pt x="5680" y="11011"/>
                </a:cubicBezTo>
                <a:cubicBezTo>
                  <a:pt x="7204" y="10285"/>
                  <a:pt x="8835" y="8999"/>
                  <a:pt x="10538" y="7178"/>
                </a:cubicBezTo>
                <a:cubicBezTo>
                  <a:pt x="12264" y="5356"/>
                  <a:pt x="13253" y="3844"/>
                  <a:pt x="13526" y="2665"/>
                </a:cubicBezTo>
                <a:cubicBezTo>
                  <a:pt x="13812" y="1474"/>
                  <a:pt x="13360" y="665"/>
                  <a:pt x="12181" y="236"/>
                </a:cubicBezTo>
                <a:cubicBezTo>
                  <a:pt x="11748" y="79"/>
                  <a:pt x="11293" y="0"/>
                  <a:pt x="108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Google Shape;1771;p47">
            <a:extLst>
              <a:ext uri="{FF2B5EF4-FFF2-40B4-BE49-F238E27FC236}">
                <a16:creationId xmlns:a16="http://schemas.microsoft.com/office/drawing/2014/main" id="{D65BC82D-34FD-84AB-F2FD-3E14416C7305}"/>
              </a:ext>
            </a:extLst>
          </p:cNvPr>
          <p:cNvSpPr/>
          <p:nvPr/>
        </p:nvSpPr>
        <p:spPr>
          <a:xfrm>
            <a:off x="6370282" y="3732083"/>
            <a:ext cx="634474" cy="504238"/>
          </a:xfrm>
          <a:custGeom>
            <a:avLst/>
            <a:gdLst/>
            <a:ahLst/>
            <a:cxnLst/>
            <a:rect l="l" t="t" r="r" b="b"/>
            <a:pathLst>
              <a:path w="15229" h="12103" extrusionOk="0">
                <a:moveTo>
                  <a:pt x="9930" y="0"/>
                </a:moveTo>
                <a:lnTo>
                  <a:pt x="8704" y="1310"/>
                </a:lnTo>
                <a:cubicBezTo>
                  <a:pt x="9418" y="1322"/>
                  <a:pt x="10037" y="1358"/>
                  <a:pt x="10561" y="1441"/>
                </a:cubicBezTo>
                <a:cubicBezTo>
                  <a:pt x="11085" y="1512"/>
                  <a:pt x="11549" y="1620"/>
                  <a:pt x="11942" y="1762"/>
                </a:cubicBezTo>
                <a:cubicBezTo>
                  <a:pt x="12657" y="2024"/>
                  <a:pt x="13061" y="2370"/>
                  <a:pt x="13157" y="2810"/>
                </a:cubicBezTo>
                <a:cubicBezTo>
                  <a:pt x="13264" y="3251"/>
                  <a:pt x="13061" y="3739"/>
                  <a:pt x="12538" y="4298"/>
                </a:cubicBezTo>
                <a:cubicBezTo>
                  <a:pt x="12026" y="4834"/>
                  <a:pt x="11454" y="5191"/>
                  <a:pt x="10811" y="5346"/>
                </a:cubicBezTo>
                <a:cubicBezTo>
                  <a:pt x="10575" y="5399"/>
                  <a:pt x="10337" y="5425"/>
                  <a:pt x="10094" y="5425"/>
                </a:cubicBezTo>
                <a:cubicBezTo>
                  <a:pt x="9675" y="5425"/>
                  <a:pt x="9244" y="5345"/>
                  <a:pt x="8799" y="5179"/>
                </a:cubicBezTo>
                <a:lnTo>
                  <a:pt x="7513" y="4715"/>
                </a:lnTo>
                <a:lnTo>
                  <a:pt x="6382" y="5918"/>
                </a:lnTo>
                <a:lnTo>
                  <a:pt x="7608" y="6370"/>
                </a:lnTo>
                <a:cubicBezTo>
                  <a:pt x="8382" y="6656"/>
                  <a:pt x="8823" y="7049"/>
                  <a:pt x="8906" y="7573"/>
                </a:cubicBezTo>
                <a:cubicBezTo>
                  <a:pt x="9013" y="8085"/>
                  <a:pt x="8763" y="8668"/>
                  <a:pt x="8168" y="9299"/>
                </a:cubicBezTo>
                <a:cubicBezTo>
                  <a:pt x="7513" y="9990"/>
                  <a:pt x="6787" y="10430"/>
                  <a:pt x="5977" y="10633"/>
                </a:cubicBezTo>
                <a:cubicBezTo>
                  <a:pt x="5680" y="10702"/>
                  <a:pt x="5379" y="10737"/>
                  <a:pt x="5072" y="10737"/>
                </a:cubicBezTo>
                <a:cubicBezTo>
                  <a:pt x="4541" y="10737"/>
                  <a:pt x="3995" y="10634"/>
                  <a:pt x="3429" y="10430"/>
                </a:cubicBezTo>
                <a:cubicBezTo>
                  <a:pt x="2917" y="10240"/>
                  <a:pt x="2477" y="10002"/>
                  <a:pt x="2120" y="9716"/>
                </a:cubicBezTo>
                <a:cubicBezTo>
                  <a:pt x="1762" y="9418"/>
                  <a:pt x="1500" y="9085"/>
                  <a:pt x="1334" y="8704"/>
                </a:cubicBezTo>
                <a:lnTo>
                  <a:pt x="0" y="10121"/>
                </a:lnTo>
                <a:cubicBezTo>
                  <a:pt x="334" y="10478"/>
                  <a:pt x="691" y="10787"/>
                  <a:pt x="1072" y="11037"/>
                </a:cubicBezTo>
                <a:cubicBezTo>
                  <a:pt x="1453" y="11299"/>
                  <a:pt x="1870" y="11514"/>
                  <a:pt x="2310" y="11680"/>
                </a:cubicBezTo>
                <a:cubicBezTo>
                  <a:pt x="3094" y="11963"/>
                  <a:pt x="3866" y="12103"/>
                  <a:pt x="4628" y="12103"/>
                </a:cubicBezTo>
                <a:cubicBezTo>
                  <a:pt x="5149" y="12103"/>
                  <a:pt x="5666" y="12037"/>
                  <a:pt x="6180" y="11907"/>
                </a:cubicBezTo>
                <a:cubicBezTo>
                  <a:pt x="7442" y="11585"/>
                  <a:pt x="8573" y="10883"/>
                  <a:pt x="9585" y="9823"/>
                </a:cubicBezTo>
                <a:cubicBezTo>
                  <a:pt x="10240" y="9120"/>
                  <a:pt x="10597" y="8466"/>
                  <a:pt x="10656" y="7858"/>
                </a:cubicBezTo>
                <a:cubicBezTo>
                  <a:pt x="10716" y="7239"/>
                  <a:pt x="10478" y="6739"/>
                  <a:pt x="9942" y="6334"/>
                </a:cubicBezTo>
                <a:lnTo>
                  <a:pt x="9942" y="6334"/>
                </a:lnTo>
                <a:cubicBezTo>
                  <a:pt x="10087" y="6348"/>
                  <a:pt x="10230" y="6355"/>
                  <a:pt x="10373" y="6355"/>
                </a:cubicBezTo>
                <a:cubicBezTo>
                  <a:pt x="10984" y="6355"/>
                  <a:pt x="11580" y="6233"/>
                  <a:pt x="12168" y="6001"/>
                </a:cubicBezTo>
                <a:cubicBezTo>
                  <a:pt x="12895" y="5703"/>
                  <a:pt x="13538" y="5263"/>
                  <a:pt x="14097" y="4668"/>
                </a:cubicBezTo>
                <a:cubicBezTo>
                  <a:pt x="14907" y="3798"/>
                  <a:pt x="15228" y="3001"/>
                  <a:pt x="15074" y="2274"/>
                </a:cubicBezTo>
                <a:cubicBezTo>
                  <a:pt x="14919" y="1536"/>
                  <a:pt x="14300" y="977"/>
                  <a:pt x="13228" y="584"/>
                </a:cubicBezTo>
                <a:cubicBezTo>
                  <a:pt x="12800" y="429"/>
                  <a:pt x="12323" y="298"/>
                  <a:pt x="11776" y="203"/>
                </a:cubicBezTo>
                <a:cubicBezTo>
                  <a:pt x="11228" y="107"/>
                  <a:pt x="10621" y="48"/>
                  <a:pt x="99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6" name="Google Shape;1794;p47">
            <a:extLst>
              <a:ext uri="{FF2B5EF4-FFF2-40B4-BE49-F238E27FC236}">
                <a16:creationId xmlns:a16="http://schemas.microsoft.com/office/drawing/2014/main" id="{29C9AAE9-9911-D965-3D59-D8C94C648C08}"/>
              </a:ext>
            </a:extLst>
          </p:cNvPr>
          <p:cNvSpPr/>
          <p:nvPr/>
        </p:nvSpPr>
        <p:spPr>
          <a:xfrm flipH="1">
            <a:off x="3129835" y="1091967"/>
            <a:ext cx="984187" cy="908779"/>
          </a:xfrm>
          <a:custGeom>
            <a:avLst/>
            <a:gdLst/>
            <a:ahLst/>
            <a:cxnLst/>
            <a:rect l="l" t="t" r="r" b="b"/>
            <a:pathLst>
              <a:path w="23623" h="21813" extrusionOk="0">
                <a:moveTo>
                  <a:pt x="19050" y="21812"/>
                </a:moveTo>
                <a:lnTo>
                  <a:pt x="4572" y="21812"/>
                </a:lnTo>
                <a:cubicBezTo>
                  <a:pt x="2048" y="21812"/>
                  <a:pt x="0" y="19764"/>
                  <a:pt x="0" y="17240"/>
                </a:cubicBezTo>
                <a:lnTo>
                  <a:pt x="0" y="4572"/>
                </a:lnTo>
                <a:cubicBezTo>
                  <a:pt x="0" y="2048"/>
                  <a:pt x="2048" y="0"/>
                  <a:pt x="4572" y="0"/>
                </a:cubicBezTo>
                <a:lnTo>
                  <a:pt x="19050" y="0"/>
                </a:lnTo>
                <a:cubicBezTo>
                  <a:pt x="21574" y="0"/>
                  <a:pt x="23622" y="2048"/>
                  <a:pt x="23622" y="4572"/>
                </a:cubicBezTo>
                <a:lnTo>
                  <a:pt x="23622" y="17240"/>
                </a:lnTo>
                <a:cubicBezTo>
                  <a:pt x="23622" y="19764"/>
                  <a:pt x="21574" y="21812"/>
                  <a:pt x="19050" y="21812"/>
                </a:cubicBezTo>
                <a:close/>
              </a:path>
            </a:pathLst>
          </a:custGeom>
          <a:solidFill>
            <a:srgbClr val="2BBBC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Google Shape;1795;p47">
            <a:extLst>
              <a:ext uri="{FF2B5EF4-FFF2-40B4-BE49-F238E27FC236}">
                <a16:creationId xmlns:a16="http://schemas.microsoft.com/office/drawing/2014/main" id="{9CF520A8-43D7-4DFB-3A9E-9A977ED1A016}"/>
              </a:ext>
            </a:extLst>
          </p:cNvPr>
          <p:cNvSpPr/>
          <p:nvPr/>
        </p:nvSpPr>
        <p:spPr>
          <a:xfrm flipH="1">
            <a:off x="3067091" y="1049658"/>
            <a:ext cx="984687" cy="908779"/>
          </a:xfrm>
          <a:custGeom>
            <a:avLst/>
            <a:gdLst/>
            <a:ahLst/>
            <a:cxnLst/>
            <a:rect l="l" t="t" r="r" b="b"/>
            <a:pathLst>
              <a:path w="23635" h="21813" fill="none" extrusionOk="0">
                <a:moveTo>
                  <a:pt x="19062" y="21813"/>
                </a:moveTo>
                <a:lnTo>
                  <a:pt x="4572" y="21813"/>
                </a:lnTo>
                <a:cubicBezTo>
                  <a:pt x="2048" y="21813"/>
                  <a:pt x="0" y="19765"/>
                  <a:pt x="0" y="17241"/>
                </a:cubicBezTo>
                <a:lnTo>
                  <a:pt x="0" y="4572"/>
                </a:lnTo>
                <a:cubicBezTo>
                  <a:pt x="0" y="2048"/>
                  <a:pt x="2048" y="0"/>
                  <a:pt x="4572" y="0"/>
                </a:cubicBezTo>
                <a:lnTo>
                  <a:pt x="19062" y="0"/>
                </a:lnTo>
                <a:cubicBezTo>
                  <a:pt x="21586" y="0"/>
                  <a:pt x="23634" y="2048"/>
                  <a:pt x="23634" y="4572"/>
                </a:cubicBezTo>
                <a:lnTo>
                  <a:pt x="23634" y="17241"/>
                </a:lnTo>
                <a:cubicBezTo>
                  <a:pt x="23634" y="19765"/>
                  <a:pt x="21586" y="21813"/>
                  <a:pt x="19062" y="21813"/>
                </a:cubicBezTo>
                <a:close/>
              </a:path>
            </a:pathLst>
          </a:custGeom>
          <a:noFill/>
          <a:ln w="7450" cap="flat" cmpd="sng">
            <a:solidFill>
              <a:srgbClr val="000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Google Shape;1796;p47">
            <a:extLst>
              <a:ext uri="{FF2B5EF4-FFF2-40B4-BE49-F238E27FC236}">
                <a16:creationId xmlns:a16="http://schemas.microsoft.com/office/drawing/2014/main" id="{913AD0E2-CF95-642D-AE24-6F83B8F7D1E0}"/>
              </a:ext>
            </a:extLst>
          </p:cNvPr>
          <p:cNvSpPr/>
          <p:nvPr/>
        </p:nvSpPr>
        <p:spPr>
          <a:xfrm flipH="1">
            <a:off x="3557705" y="1958396"/>
            <a:ext cx="1129505" cy="768419"/>
          </a:xfrm>
          <a:custGeom>
            <a:avLst/>
            <a:gdLst/>
            <a:ahLst/>
            <a:cxnLst/>
            <a:rect l="l" t="t" r="r" b="b"/>
            <a:pathLst>
              <a:path w="27111" h="18444" fill="none" extrusionOk="0">
                <a:moveTo>
                  <a:pt x="0" y="18443"/>
                </a:moveTo>
                <a:lnTo>
                  <a:pt x="20336" y="18443"/>
                </a:lnTo>
                <a:cubicBezTo>
                  <a:pt x="24075" y="18443"/>
                  <a:pt x="27111" y="15407"/>
                  <a:pt x="27111" y="11669"/>
                </a:cubicBezTo>
                <a:lnTo>
                  <a:pt x="27111" y="1"/>
                </a:lnTo>
              </a:path>
            </a:pathLst>
          </a:cu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9" name="Google Shape;1797;p47">
            <a:extLst>
              <a:ext uri="{FF2B5EF4-FFF2-40B4-BE49-F238E27FC236}">
                <a16:creationId xmlns:a16="http://schemas.microsoft.com/office/drawing/2014/main" id="{BC7E6410-3B7C-B941-661A-DF379ED9AD5E}"/>
              </a:ext>
            </a:extLst>
          </p:cNvPr>
          <p:cNvSpPr/>
          <p:nvPr/>
        </p:nvSpPr>
        <p:spPr>
          <a:xfrm flipH="1">
            <a:off x="4627676" y="2679153"/>
            <a:ext cx="95740" cy="95281"/>
          </a:xfrm>
          <a:custGeom>
            <a:avLst/>
            <a:gdLst/>
            <a:ahLst/>
            <a:cxnLst/>
            <a:rect l="l" t="t" r="r" b="b"/>
            <a:pathLst>
              <a:path w="2298" h="2287" extrusionOk="0">
                <a:moveTo>
                  <a:pt x="1155" y="0"/>
                </a:moveTo>
                <a:cubicBezTo>
                  <a:pt x="524" y="0"/>
                  <a:pt x="0" y="512"/>
                  <a:pt x="0" y="1143"/>
                </a:cubicBezTo>
                <a:cubicBezTo>
                  <a:pt x="0" y="1774"/>
                  <a:pt x="524" y="2286"/>
                  <a:pt x="1155" y="2286"/>
                </a:cubicBezTo>
                <a:cubicBezTo>
                  <a:pt x="1786" y="2286"/>
                  <a:pt x="2298" y="1774"/>
                  <a:pt x="2298" y="1143"/>
                </a:cubicBezTo>
                <a:cubicBezTo>
                  <a:pt x="2298" y="512"/>
                  <a:pt x="1786" y="0"/>
                  <a:pt x="115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4" name="Google Shape;1803;p47">
            <a:extLst>
              <a:ext uri="{FF2B5EF4-FFF2-40B4-BE49-F238E27FC236}">
                <a16:creationId xmlns:a16="http://schemas.microsoft.com/office/drawing/2014/main" id="{1C5F5D54-ECD0-DE77-303D-55550496AC3B}"/>
              </a:ext>
            </a:extLst>
          </p:cNvPr>
          <p:cNvSpPr/>
          <p:nvPr/>
        </p:nvSpPr>
        <p:spPr>
          <a:xfrm>
            <a:off x="8232460" y="1140440"/>
            <a:ext cx="984187" cy="908779"/>
          </a:xfrm>
          <a:custGeom>
            <a:avLst/>
            <a:gdLst/>
            <a:ahLst/>
            <a:cxnLst/>
            <a:rect l="l" t="t" r="r" b="b"/>
            <a:pathLst>
              <a:path w="23623" h="21813" extrusionOk="0">
                <a:moveTo>
                  <a:pt x="19050" y="21812"/>
                </a:moveTo>
                <a:lnTo>
                  <a:pt x="4572" y="21812"/>
                </a:lnTo>
                <a:cubicBezTo>
                  <a:pt x="2048" y="21812"/>
                  <a:pt x="0" y="19764"/>
                  <a:pt x="0" y="17240"/>
                </a:cubicBezTo>
                <a:lnTo>
                  <a:pt x="0" y="4572"/>
                </a:lnTo>
                <a:cubicBezTo>
                  <a:pt x="0" y="2048"/>
                  <a:pt x="2048" y="0"/>
                  <a:pt x="4572" y="0"/>
                </a:cubicBezTo>
                <a:lnTo>
                  <a:pt x="19050" y="0"/>
                </a:lnTo>
                <a:cubicBezTo>
                  <a:pt x="21574" y="0"/>
                  <a:pt x="23622" y="2048"/>
                  <a:pt x="23622" y="4572"/>
                </a:cubicBezTo>
                <a:lnTo>
                  <a:pt x="23622" y="17240"/>
                </a:lnTo>
                <a:cubicBezTo>
                  <a:pt x="23622" y="19764"/>
                  <a:pt x="21574" y="21812"/>
                  <a:pt x="19050" y="21812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5" name="Google Shape;1804;p47">
            <a:extLst>
              <a:ext uri="{FF2B5EF4-FFF2-40B4-BE49-F238E27FC236}">
                <a16:creationId xmlns:a16="http://schemas.microsoft.com/office/drawing/2014/main" id="{606A20D5-5B34-4EC1-AE43-7CFA4C0B68CB}"/>
              </a:ext>
            </a:extLst>
          </p:cNvPr>
          <p:cNvSpPr/>
          <p:nvPr/>
        </p:nvSpPr>
        <p:spPr>
          <a:xfrm>
            <a:off x="8301412" y="1049658"/>
            <a:ext cx="984687" cy="908779"/>
          </a:xfrm>
          <a:custGeom>
            <a:avLst/>
            <a:gdLst/>
            <a:ahLst/>
            <a:cxnLst/>
            <a:rect l="l" t="t" r="r" b="b"/>
            <a:pathLst>
              <a:path w="23635" h="21813" fill="none" extrusionOk="0">
                <a:moveTo>
                  <a:pt x="19062" y="21813"/>
                </a:moveTo>
                <a:lnTo>
                  <a:pt x="4572" y="21813"/>
                </a:lnTo>
                <a:cubicBezTo>
                  <a:pt x="2048" y="21813"/>
                  <a:pt x="0" y="19765"/>
                  <a:pt x="0" y="17241"/>
                </a:cubicBezTo>
                <a:lnTo>
                  <a:pt x="0" y="4572"/>
                </a:lnTo>
                <a:cubicBezTo>
                  <a:pt x="0" y="2048"/>
                  <a:pt x="2048" y="0"/>
                  <a:pt x="4572" y="0"/>
                </a:cubicBezTo>
                <a:lnTo>
                  <a:pt x="19062" y="0"/>
                </a:lnTo>
                <a:cubicBezTo>
                  <a:pt x="21586" y="0"/>
                  <a:pt x="23634" y="2048"/>
                  <a:pt x="23634" y="4572"/>
                </a:cubicBezTo>
                <a:lnTo>
                  <a:pt x="23634" y="17241"/>
                </a:lnTo>
                <a:cubicBezTo>
                  <a:pt x="23634" y="19765"/>
                  <a:pt x="21586" y="21813"/>
                  <a:pt x="19062" y="21813"/>
                </a:cubicBezTo>
                <a:close/>
              </a:path>
            </a:pathLst>
          </a:custGeom>
          <a:noFill/>
          <a:ln w="7450" cap="flat" cmpd="sng">
            <a:solidFill>
              <a:srgbClr val="000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6" name="Google Shape;1805;p47">
            <a:extLst>
              <a:ext uri="{FF2B5EF4-FFF2-40B4-BE49-F238E27FC236}">
                <a16:creationId xmlns:a16="http://schemas.microsoft.com/office/drawing/2014/main" id="{D753D14B-164C-0E44-03B6-AC4A2D7C70F5}"/>
              </a:ext>
            </a:extLst>
          </p:cNvPr>
          <p:cNvSpPr/>
          <p:nvPr/>
        </p:nvSpPr>
        <p:spPr>
          <a:xfrm>
            <a:off x="7665979" y="1958396"/>
            <a:ext cx="1129505" cy="768419"/>
          </a:xfrm>
          <a:custGeom>
            <a:avLst/>
            <a:gdLst/>
            <a:ahLst/>
            <a:cxnLst/>
            <a:rect l="l" t="t" r="r" b="b"/>
            <a:pathLst>
              <a:path w="27111" h="18444" fill="none" extrusionOk="0">
                <a:moveTo>
                  <a:pt x="0" y="18443"/>
                </a:moveTo>
                <a:lnTo>
                  <a:pt x="20336" y="18443"/>
                </a:lnTo>
                <a:cubicBezTo>
                  <a:pt x="24075" y="18443"/>
                  <a:pt x="27111" y="15407"/>
                  <a:pt x="27111" y="11669"/>
                </a:cubicBezTo>
                <a:lnTo>
                  <a:pt x="27111" y="1"/>
                </a:lnTo>
              </a:path>
            </a:pathLst>
          </a:cu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7" name="Google Shape;1806;p47">
            <a:extLst>
              <a:ext uri="{FF2B5EF4-FFF2-40B4-BE49-F238E27FC236}">
                <a16:creationId xmlns:a16="http://schemas.microsoft.com/office/drawing/2014/main" id="{A82D9EDF-1036-3B1F-3D22-CB26931A84AB}"/>
              </a:ext>
            </a:extLst>
          </p:cNvPr>
          <p:cNvSpPr/>
          <p:nvPr/>
        </p:nvSpPr>
        <p:spPr>
          <a:xfrm>
            <a:off x="7629774" y="2679153"/>
            <a:ext cx="95740" cy="95281"/>
          </a:xfrm>
          <a:custGeom>
            <a:avLst/>
            <a:gdLst/>
            <a:ahLst/>
            <a:cxnLst/>
            <a:rect l="l" t="t" r="r" b="b"/>
            <a:pathLst>
              <a:path w="2298" h="2287" extrusionOk="0">
                <a:moveTo>
                  <a:pt x="1155" y="0"/>
                </a:moveTo>
                <a:cubicBezTo>
                  <a:pt x="524" y="0"/>
                  <a:pt x="0" y="512"/>
                  <a:pt x="0" y="1143"/>
                </a:cubicBezTo>
                <a:cubicBezTo>
                  <a:pt x="0" y="1774"/>
                  <a:pt x="524" y="2286"/>
                  <a:pt x="1155" y="2286"/>
                </a:cubicBezTo>
                <a:cubicBezTo>
                  <a:pt x="1786" y="2286"/>
                  <a:pt x="2298" y="1774"/>
                  <a:pt x="2298" y="1143"/>
                </a:cubicBezTo>
                <a:cubicBezTo>
                  <a:pt x="2298" y="512"/>
                  <a:pt x="1786" y="0"/>
                  <a:pt x="115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28" name="Google Shape;1807;p47">
            <a:extLst>
              <a:ext uri="{FF2B5EF4-FFF2-40B4-BE49-F238E27FC236}">
                <a16:creationId xmlns:a16="http://schemas.microsoft.com/office/drawing/2014/main" id="{50223C29-3A97-93BC-429B-609F1912AF1E}"/>
              </a:ext>
            </a:extLst>
          </p:cNvPr>
          <p:cNvGrpSpPr/>
          <p:nvPr/>
        </p:nvGrpSpPr>
        <p:grpSpPr>
          <a:xfrm>
            <a:off x="9679704" y="2530656"/>
            <a:ext cx="487555" cy="487555"/>
            <a:chOff x="1492675" y="4992125"/>
            <a:chExt cx="481825" cy="481825"/>
          </a:xfrm>
        </p:grpSpPr>
        <p:sp>
          <p:nvSpPr>
            <p:cNvPr id="29" name="Google Shape;1808;p47">
              <a:extLst>
                <a:ext uri="{FF2B5EF4-FFF2-40B4-BE49-F238E27FC236}">
                  <a16:creationId xmlns:a16="http://schemas.microsoft.com/office/drawing/2014/main" id="{204A5A28-58F2-331F-4750-6B91355F6731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  <p:sp>
          <p:nvSpPr>
            <p:cNvPr id="30" name="Google Shape;1809;p47">
              <a:extLst>
                <a:ext uri="{FF2B5EF4-FFF2-40B4-BE49-F238E27FC236}">
                  <a16:creationId xmlns:a16="http://schemas.microsoft.com/office/drawing/2014/main" id="{FD590771-309B-41E0-C57A-077B03343A05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1" name="Google Shape;1811;p47">
            <a:extLst>
              <a:ext uri="{FF2B5EF4-FFF2-40B4-BE49-F238E27FC236}">
                <a16:creationId xmlns:a16="http://schemas.microsoft.com/office/drawing/2014/main" id="{64C4BFE9-9B1F-B96A-A03F-5F4916AEEDC8}"/>
              </a:ext>
            </a:extLst>
          </p:cNvPr>
          <p:cNvSpPr/>
          <p:nvPr/>
        </p:nvSpPr>
        <p:spPr>
          <a:xfrm>
            <a:off x="7856126" y="4716479"/>
            <a:ext cx="984187" cy="908779"/>
          </a:xfrm>
          <a:custGeom>
            <a:avLst/>
            <a:gdLst/>
            <a:ahLst/>
            <a:cxnLst/>
            <a:rect l="l" t="t" r="r" b="b"/>
            <a:pathLst>
              <a:path w="23623" h="21813" extrusionOk="0">
                <a:moveTo>
                  <a:pt x="19050" y="21813"/>
                </a:moveTo>
                <a:lnTo>
                  <a:pt x="4572" y="21813"/>
                </a:lnTo>
                <a:cubicBezTo>
                  <a:pt x="2048" y="21813"/>
                  <a:pt x="0" y="19765"/>
                  <a:pt x="0" y="17241"/>
                </a:cubicBezTo>
                <a:lnTo>
                  <a:pt x="0" y="4573"/>
                </a:lnTo>
                <a:cubicBezTo>
                  <a:pt x="0" y="2048"/>
                  <a:pt x="2048" y="1"/>
                  <a:pt x="4572" y="1"/>
                </a:cubicBezTo>
                <a:lnTo>
                  <a:pt x="19050" y="1"/>
                </a:lnTo>
                <a:cubicBezTo>
                  <a:pt x="21574" y="1"/>
                  <a:pt x="23622" y="2048"/>
                  <a:pt x="23622" y="4573"/>
                </a:cubicBezTo>
                <a:lnTo>
                  <a:pt x="23622" y="17241"/>
                </a:lnTo>
                <a:cubicBezTo>
                  <a:pt x="23622" y="19765"/>
                  <a:pt x="21574" y="21813"/>
                  <a:pt x="19050" y="218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2" name="Google Shape;1812;p47">
            <a:extLst>
              <a:ext uri="{FF2B5EF4-FFF2-40B4-BE49-F238E27FC236}">
                <a16:creationId xmlns:a16="http://schemas.microsoft.com/office/drawing/2014/main" id="{ECD3BA23-4A1F-2F28-55C5-23317E74F9B6}"/>
              </a:ext>
            </a:extLst>
          </p:cNvPr>
          <p:cNvSpPr/>
          <p:nvPr/>
        </p:nvSpPr>
        <p:spPr>
          <a:xfrm>
            <a:off x="7929535" y="4626197"/>
            <a:ext cx="984687" cy="908779"/>
          </a:xfrm>
          <a:custGeom>
            <a:avLst/>
            <a:gdLst/>
            <a:ahLst/>
            <a:cxnLst/>
            <a:rect l="l" t="t" r="r" b="b"/>
            <a:pathLst>
              <a:path w="23635" h="21813" fill="none" extrusionOk="0">
                <a:moveTo>
                  <a:pt x="19062" y="21813"/>
                </a:moveTo>
                <a:lnTo>
                  <a:pt x="4572" y="21813"/>
                </a:lnTo>
                <a:cubicBezTo>
                  <a:pt x="2048" y="21813"/>
                  <a:pt x="0" y="19765"/>
                  <a:pt x="0" y="17241"/>
                </a:cubicBezTo>
                <a:lnTo>
                  <a:pt x="0" y="4573"/>
                </a:lnTo>
                <a:cubicBezTo>
                  <a:pt x="0" y="2049"/>
                  <a:pt x="2048" y="1"/>
                  <a:pt x="4572" y="1"/>
                </a:cubicBezTo>
                <a:lnTo>
                  <a:pt x="19062" y="1"/>
                </a:lnTo>
                <a:cubicBezTo>
                  <a:pt x="21586" y="1"/>
                  <a:pt x="23634" y="2049"/>
                  <a:pt x="23634" y="4573"/>
                </a:cubicBezTo>
                <a:lnTo>
                  <a:pt x="23634" y="17241"/>
                </a:lnTo>
                <a:cubicBezTo>
                  <a:pt x="23634" y="19765"/>
                  <a:pt x="21586" y="21813"/>
                  <a:pt x="19062" y="21813"/>
                </a:cubicBezTo>
                <a:close/>
              </a:path>
            </a:pathLst>
          </a:custGeom>
          <a:noFill/>
          <a:ln w="74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3" name="Google Shape;1813;p47">
            <a:extLst>
              <a:ext uri="{FF2B5EF4-FFF2-40B4-BE49-F238E27FC236}">
                <a16:creationId xmlns:a16="http://schemas.microsoft.com/office/drawing/2014/main" id="{6BDA6FF9-00FC-338D-1686-7E13AC18DFEB}"/>
              </a:ext>
            </a:extLst>
          </p:cNvPr>
          <p:cNvSpPr/>
          <p:nvPr/>
        </p:nvSpPr>
        <p:spPr>
          <a:xfrm>
            <a:off x="6895269" y="4399012"/>
            <a:ext cx="1496092" cy="1696987"/>
          </a:xfrm>
          <a:custGeom>
            <a:avLst/>
            <a:gdLst/>
            <a:ahLst/>
            <a:cxnLst/>
            <a:rect l="l" t="t" r="r" b="b"/>
            <a:pathLst>
              <a:path w="35910" h="40732" fill="none" extrusionOk="0">
                <a:moveTo>
                  <a:pt x="1" y="1"/>
                </a:moveTo>
                <a:lnTo>
                  <a:pt x="1" y="35588"/>
                </a:lnTo>
                <a:cubicBezTo>
                  <a:pt x="1" y="38434"/>
                  <a:pt x="2311" y="40732"/>
                  <a:pt x="5156" y="40732"/>
                </a:cubicBezTo>
                <a:lnTo>
                  <a:pt x="29421" y="40732"/>
                </a:lnTo>
                <a:cubicBezTo>
                  <a:pt x="33005" y="40732"/>
                  <a:pt x="35910" y="37827"/>
                  <a:pt x="35910" y="34243"/>
                </a:cubicBezTo>
                <a:lnTo>
                  <a:pt x="35910" y="27266"/>
                </a:lnTo>
              </a:path>
            </a:pathLst>
          </a:cu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4" name="Google Shape;1814;p47">
            <a:extLst>
              <a:ext uri="{FF2B5EF4-FFF2-40B4-BE49-F238E27FC236}">
                <a16:creationId xmlns:a16="http://schemas.microsoft.com/office/drawing/2014/main" id="{6DD67A01-03EB-102A-9C64-2DF602FFAAED}"/>
              </a:ext>
            </a:extLst>
          </p:cNvPr>
          <p:cNvSpPr/>
          <p:nvPr/>
        </p:nvSpPr>
        <p:spPr>
          <a:xfrm>
            <a:off x="6847649" y="4350893"/>
            <a:ext cx="95781" cy="95781"/>
          </a:xfrm>
          <a:custGeom>
            <a:avLst/>
            <a:gdLst/>
            <a:ahLst/>
            <a:cxnLst/>
            <a:rect l="l" t="t" r="r" b="b"/>
            <a:pathLst>
              <a:path w="2299" h="2299" extrusionOk="0">
                <a:moveTo>
                  <a:pt x="1144" y="1"/>
                </a:moveTo>
                <a:cubicBezTo>
                  <a:pt x="513" y="1"/>
                  <a:pt x="1" y="513"/>
                  <a:pt x="1" y="1156"/>
                </a:cubicBezTo>
                <a:cubicBezTo>
                  <a:pt x="1" y="1787"/>
                  <a:pt x="513" y="2299"/>
                  <a:pt x="1144" y="2299"/>
                </a:cubicBezTo>
                <a:cubicBezTo>
                  <a:pt x="1787" y="2299"/>
                  <a:pt x="2299" y="1787"/>
                  <a:pt x="2299" y="1156"/>
                </a:cubicBezTo>
                <a:cubicBezTo>
                  <a:pt x="2299" y="513"/>
                  <a:pt x="1787" y="1"/>
                  <a:pt x="11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5" name="Google Shape;1815;p47">
            <a:extLst>
              <a:ext uri="{FF2B5EF4-FFF2-40B4-BE49-F238E27FC236}">
                <a16:creationId xmlns:a16="http://schemas.microsoft.com/office/drawing/2014/main" id="{8E49B6F9-0E2F-75B2-06BB-8CD965AF2850}"/>
              </a:ext>
            </a:extLst>
          </p:cNvPr>
          <p:cNvGrpSpPr/>
          <p:nvPr/>
        </p:nvGrpSpPr>
        <p:grpSpPr>
          <a:xfrm>
            <a:off x="8178100" y="4836816"/>
            <a:ext cx="487555" cy="487555"/>
            <a:chOff x="2085525" y="4992125"/>
            <a:chExt cx="481825" cy="481825"/>
          </a:xfrm>
        </p:grpSpPr>
        <p:sp>
          <p:nvSpPr>
            <p:cNvPr id="36" name="Google Shape;1816;p47">
              <a:extLst>
                <a:ext uri="{FF2B5EF4-FFF2-40B4-BE49-F238E27FC236}">
                  <a16:creationId xmlns:a16="http://schemas.microsoft.com/office/drawing/2014/main" id="{DC3BAD40-A819-53EB-7882-4DB2CD760C4C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  <p:sp>
          <p:nvSpPr>
            <p:cNvPr id="37" name="Google Shape;1817;p47">
              <a:extLst>
                <a:ext uri="{FF2B5EF4-FFF2-40B4-BE49-F238E27FC236}">
                  <a16:creationId xmlns:a16="http://schemas.microsoft.com/office/drawing/2014/main" id="{5F5B646E-EC8B-9C12-BA8A-F0119A023FF0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1797F401-15E2-9597-03C1-B21CD4F2DC12}"/>
              </a:ext>
            </a:extLst>
          </p:cNvPr>
          <p:cNvSpPr txBox="1"/>
          <p:nvPr/>
        </p:nvSpPr>
        <p:spPr>
          <a:xfrm>
            <a:off x="505492" y="1007748"/>
            <a:ext cx="226279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</a:t>
            </a:r>
          </a:p>
        </p:txBody>
      </p:sp>
      <p:sp>
        <p:nvSpPr>
          <p:cNvPr id="39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A1DB0101-FD02-5A57-D461-32105B74E5C1}"/>
              </a:ext>
            </a:extLst>
          </p:cNvPr>
          <p:cNvSpPr txBox="1"/>
          <p:nvPr/>
        </p:nvSpPr>
        <p:spPr>
          <a:xfrm>
            <a:off x="9508535" y="426729"/>
            <a:ext cx="2262797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ru-RU" sz="2000" dirty="0"/>
              <a:t>Исполнение заявок граждан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Запасы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Движения</a:t>
            </a:r>
          </a:p>
        </p:txBody>
      </p:sp>
      <p:sp>
        <p:nvSpPr>
          <p:cNvPr id="40" name="Synergistically utilize technically sound portals with frictionless chains. Dramatically customize…">
            <a:extLst>
              <a:ext uri="{FF2B5EF4-FFF2-40B4-BE49-F238E27FC236}">
                <a16:creationId xmlns:a16="http://schemas.microsoft.com/office/drawing/2014/main" id="{3FBD41ED-0590-2054-4A81-F3AA03183ED2}"/>
              </a:ext>
            </a:extLst>
          </p:cNvPr>
          <p:cNvSpPr txBox="1"/>
          <p:nvPr/>
        </p:nvSpPr>
        <p:spPr>
          <a:xfrm>
            <a:off x="9228499" y="4398783"/>
            <a:ext cx="2508729" cy="1846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ru-RU" sz="2000" dirty="0"/>
              <a:t>Исполнение заявок ПФР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Движение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Переделывание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Ожидание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Транспортировка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DF777E-115C-F6E2-B451-61490E8485F8}"/>
              </a:ext>
            </a:extLst>
          </p:cNvPr>
          <p:cNvSpPr txBox="1"/>
          <p:nvPr/>
        </p:nvSpPr>
        <p:spPr>
          <a:xfrm>
            <a:off x="60096" y="565229"/>
            <a:ext cx="75696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Делопроизводство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Переделывание</a:t>
            </a:r>
          </a:p>
        </p:txBody>
      </p:sp>
      <p:grpSp>
        <p:nvGrpSpPr>
          <p:cNvPr id="43" name="Google Shape;1815;p47">
            <a:extLst>
              <a:ext uri="{FF2B5EF4-FFF2-40B4-BE49-F238E27FC236}">
                <a16:creationId xmlns:a16="http://schemas.microsoft.com/office/drawing/2014/main" id="{DD1CC044-8105-8963-497C-F7E1C1C61833}"/>
              </a:ext>
            </a:extLst>
          </p:cNvPr>
          <p:cNvGrpSpPr/>
          <p:nvPr/>
        </p:nvGrpSpPr>
        <p:grpSpPr>
          <a:xfrm>
            <a:off x="8461775" y="1341696"/>
            <a:ext cx="487555" cy="487555"/>
            <a:chOff x="2085525" y="4992125"/>
            <a:chExt cx="481825" cy="481825"/>
          </a:xfrm>
        </p:grpSpPr>
        <p:sp>
          <p:nvSpPr>
            <p:cNvPr id="44" name="Google Shape;1816;p47">
              <a:extLst>
                <a:ext uri="{FF2B5EF4-FFF2-40B4-BE49-F238E27FC236}">
                  <a16:creationId xmlns:a16="http://schemas.microsoft.com/office/drawing/2014/main" id="{55F96FAC-5F67-CA9F-8ECD-C484E5B7B2A9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  <p:sp>
          <p:nvSpPr>
            <p:cNvPr id="45" name="Google Shape;1817;p47">
              <a:extLst>
                <a:ext uri="{FF2B5EF4-FFF2-40B4-BE49-F238E27FC236}">
                  <a16:creationId xmlns:a16="http://schemas.microsoft.com/office/drawing/2014/main" id="{567C0318-BF9E-C067-614E-41CDD3ACD08D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1" name="Google Shape;1815;p47">
            <a:extLst>
              <a:ext uri="{FF2B5EF4-FFF2-40B4-BE49-F238E27FC236}">
                <a16:creationId xmlns:a16="http://schemas.microsoft.com/office/drawing/2014/main" id="{72BC4EF1-0732-6F81-5B43-53C9CC2850C6}"/>
              </a:ext>
            </a:extLst>
          </p:cNvPr>
          <p:cNvGrpSpPr/>
          <p:nvPr/>
        </p:nvGrpSpPr>
        <p:grpSpPr>
          <a:xfrm>
            <a:off x="3325378" y="1259821"/>
            <a:ext cx="487555" cy="487555"/>
            <a:chOff x="2085525" y="4992125"/>
            <a:chExt cx="481825" cy="481825"/>
          </a:xfrm>
        </p:grpSpPr>
        <p:sp>
          <p:nvSpPr>
            <p:cNvPr id="52" name="Google Shape;1816;p47">
              <a:extLst>
                <a:ext uri="{FF2B5EF4-FFF2-40B4-BE49-F238E27FC236}">
                  <a16:creationId xmlns:a16="http://schemas.microsoft.com/office/drawing/2014/main" id="{0C185F7A-9B6D-7B93-5ABA-5642949EBAEE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  <p:sp>
          <p:nvSpPr>
            <p:cNvPr id="53" name="Google Shape;1817;p47">
              <a:extLst>
                <a:ext uri="{FF2B5EF4-FFF2-40B4-BE49-F238E27FC236}">
                  <a16:creationId xmlns:a16="http://schemas.microsoft.com/office/drawing/2014/main" id="{69D3F0AD-10D9-C331-49EA-2DCEF6BD392C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Овал 56">
            <a:extLst>
              <a:ext uri="{FF2B5EF4-FFF2-40B4-BE49-F238E27FC236}">
                <a16:creationId xmlns:a16="http://schemas.microsoft.com/office/drawing/2014/main" id="{53469DD4-5E10-3074-4F87-4D3672E0FAFF}"/>
              </a:ext>
            </a:extLst>
          </p:cNvPr>
          <p:cNvSpPr/>
          <p:nvPr/>
        </p:nvSpPr>
        <p:spPr>
          <a:xfrm>
            <a:off x="39985" y="3162410"/>
            <a:ext cx="3372905" cy="314141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447874-CBC4-C076-24C1-ABF6647D8ADF}"/>
              </a:ext>
            </a:extLst>
          </p:cNvPr>
          <p:cNvSpPr txBox="1"/>
          <p:nvPr/>
        </p:nvSpPr>
        <p:spPr>
          <a:xfrm>
            <a:off x="638148" y="3719261"/>
            <a:ext cx="24620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Выявление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потерь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MUDA</a:t>
            </a:r>
            <a:endParaRPr lang="ru-RU" sz="3600" dirty="0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7C004173-291D-0B6A-D4D4-D1B8156FD911}"/>
              </a:ext>
            </a:extLst>
          </p:cNvPr>
          <p:cNvSpPr/>
          <p:nvPr/>
        </p:nvSpPr>
        <p:spPr>
          <a:xfrm>
            <a:off x="327150" y="5577375"/>
            <a:ext cx="492248" cy="453063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8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трелка: шеврон 3">
            <a:extLst>
              <a:ext uri="{FF2B5EF4-FFF2-40B4-BE49-F238E27FC236}">
                <a16:creationId xmlns:a16="http://schemas.microsoft.com/office/drawing/2014/main" id="{D6AF5B49-84CB-F810-D572-9AD0754214F3}"/>
              </a:ext>
            </a:extLst>
          </p:cNvPr>
          <p:cNvSpPr/>
          <p:nvPr/>
        </p:nvSpPr>
        <p:spPr>
          <a:xfrm>
            <a:off x="266147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Входы</a:t>
            </a:r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E9AD6244-EAA8-CA22-315F-E9956560DDE1}"/>
              </a:ext>
            </a:extLst>
          </p:cNvPr>
          <p:cNvSpPr/>
          <p:nvPr/>
        </p:nvSpPr>
        <p:spPr>
          <a:xfrm>
            <a:off x="742673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Результаты</a:t>
            </a:r>
          </a:p>
        </p:txBody>
      </p:sp>
      <p:sp>
        <p:nvSpPr>
          <p:cNvPr id="6" name="Стрелка: шеврон 5">
            <a:extLst>
              <a:ext uri="{FF2B5EF4-FFF2-40B4-BE49-F238E27FC236}">
                <a16:creationId xmlns:a16="http://schemas.microsoft.com/office/drawing/2014/main" id="{EF533EEE-9B7A-0CF9-EEEA-EE2E4C02450F}"/>
              </a:ext>
            </a:extLst>
          </p:cNvPr>
          <p:cNvSpPr/>
          <p:nvPr/>
        </p:nvSpPr>
        <p:spPr>
          <a:xfrm>
            <a:off x="278848" y="153255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aleway Medium" panose="020B0603030101060003" pitchFamily="34" charset="-52"/>
              </a:rPr>
              <a:t>Поставщики</a:t>
            </a:r>
          </a:p>
        </p:txBody>
      </p:sp>
      <p:sp>
        <p:nvSpPr>
          <p:cNvPr id="7" name="Стрелка: шеврон 6">
            <a:extLst>
              <a:ext uri="{FF2B5EF4-FFF2-40B4-BE49-F238E27FC236}">
                <a16:creationId xmlns:a16="http://schemas.microsoft.com/office/drawing/2014/main" id="{AC136029-9680-B338-D74E-60F2F81E4776}"/>
              </a:ext>
            </a:extLst>
          </p:cNvPr>
          <p:cNvSpPr/>
          <p:nvPr/>
        </p:nvSpPr>
        <p:spPr>
          <a:xfrm>
            <a:off x="980936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Клиенты</a:t>
            </a:r>
          </a:p>
        </p:txBody>
      </p:sp>
      <p:sp>
        <p:nvSpPr>
          <p:cNvPr id="8" name="Стрелка: шеврон 7">
            <a:extLst>
              <a:ext uri="{FF2B5EF4-FFF2-40B4-BE49-F238E27FC236}">
                <a16:creationId xmlns:a16="http://schemas.microsoft.com/office/drawing/2014/main" id="{62117EAF-9CF5-221C-26A1-FE6DB1D2EAEE}"/>
              </a:ext>
            </a:extLst>
          </p:cNvPr>
          <p:cNvSpPr/>
          <p:nvPr/>
        </p:nvSpPr>
        <p:spPr>
          <a:xfrm>
            <a:off x="504410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Процесс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528ADE-D3F7-3048-2D43-3555B15F1A58}"/>
              </a:ext>
            </a:extLst>
          </p:cNvPr>
          <p:cNvSpPr/>
          <p:nvPr/>
        </p:nvSpPr>
        <p:spPr>
          <a:xfrm>
            <a:off x="2834307" y="2576614"/>
            <a:ext cx="2027839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>
                <a:latin typeface="Raleway Medium" panose="020B0603030101060003" pitchFamily="34" charset="-52"/>
              </a:rPr>
              <a:t>Документы:</a:t>
            </a:r>
          </a:p>
          <a:p>
            <a:r>
              <a:rPr lang="ru-RU" sz="1400" dirty="0">
                <a:latin typeface="Raleway Medium" panose="020B0603030101060003" pitchFamily="34" charset="-52"/>
              </a:rPr>
              <a:t>- Учебный график</a:t>
            </a:r>
          </a:p>
          <a:p>
            <a:r>
              <a:rPr lang="ru-RU" sz="1400" dirty="0">
                <a:latin typeface="Raleway Medium" panose="020B0603030101060003" pitchFamily="34" charset="-52"/>
              </a:rPr>
              <a:t>- Учебный план</a:t>
            </a:r>
          </a:p>
          <a:p>
            <a:r>
              <a:rPr lang="en-US" sz="1400" dirty="0">
                <a:latin typeface="Raleway Medium" panose="020B0603030101060003" pitchFamily="34" charset="-52"/>
              </a:rPr>
              <a:t>-</a:t>
            </a:r>
            <a:r>
              <a:rPr lang="ru-RU" sz="1400" dirty="0">
                <a:latin typeface="Raleway Medium" panose="020B0603030101060003" pitchFamily="34" charset="-52"/>
              </a:rPr>
              <a:t>Преподавательский состав</a:t>
            </a:r>
          </a:p>
          <a:p>
            <a:endParaRPr lang="ru-RU" sz="1400" dirty="0">
              <a:latin typeface="Raleway Medium" panose="020B0603030101060003" pitchFamily="34" charset="-52"/>
            </a:endParaRPr>
          </a:p>
          <a:p>
            <a:pPr algn="ctr"/>
            <a:endParaRPr lang="ru-RU" sz="1400" dirty="0">
              <a:latin typeface="Raleway Medium" panose="020B0603030101060003" pitchFamily="34" charset="-52"/>
            </a:endParaRPr>
          </a:p>
          <a:p>
            <a:pPr algn="ctr"/>
            <a:endParaRPr lang="ru-RU" sz="1400" dirty="0">
              <a:latin typeface="Raleway Medium" panose="020B0603030101060003" pitchFamily="34" charset="-52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32771B0-0E9C-72B1-D41E-0BB9F95A94B1}"/>
              </a:ext>
            </a:extLst>
          </p:cNvPr>
          <p:cNvSpPr/>
          <p:nvPr/>
        </p:nvSpPr>
        <p:spPr>
          <a:xfrm>
            <a:off x="5139358" y="2576563"/>
            <a:ext cx="1913283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600" dirty="0">
                <a:latin typeface="Raleway Medium" panose="020B0603030101060003" pitchFamily="34" charset="-52"/>
              </a:rPr>
              <a:t>Поиск дела в архиве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Raleway Medium" panose="020B0603030101060003" pitchFamily="34" charset="-52"/>
              </a:rPr>
              <a:t>Прием документов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Raleway Medium" panose="020B0603030101060003" pitchFamily="34" charset="-52"/>
              </a:rPr>
              <a:t>Проверка наличия необходимых документов и правильности их заполнения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Raleway Medium" panose="020B0603030101060003" pitchFamily="34" charset="-52"/>
              </a:rPr>
              <a:t>Перешивание связок документов</a:t>
            </a:r>
          </a:p>
          <a:p>
            <a:endParaRPr lang="ru-RU" dirty="0">
              <a:latin typeface="Raleway Medium" panose="020B0603030101060003" pitchFamily="34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7A4419-EED6-DFBB-9462-DCEB0E46BA77}"/>
              </a:ext>
            </a:extLst>
          </p:cNvPr>
          <p:cNvSpPr/>
          <p:nvPr/>
        </p:nvSpPr>
        <p:spPr>
          <a:xfrm>
            <a:off x="529258" y="2472977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Raleway Medium" panose="020B0603030101060003" pitchFamily="34" charset="-52"/>
              </a:rPr>
              <a:t>Секретари с кафедры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95C1C75-FDFA-3B90-D3BB-DE0D9C35B6F7}"/>
              </a:ext>
            </a:extLst>
          </p:cNvPr>
          <p:cNvSpPr/>
          <p:nvPr/>
        </p:nvSpPr>
        <p:spPr>
          <a:xfrm>
            <a:off x="9886949" y="2454032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Raleway Medium" panose="020B0603030101060003" pitchFamily="34" charset="-52"/>
              </a:rPr>
              <a:t>Архив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5CAD73-D0E4-C91A-5A91-B8C6D2124E3C}"/>
              </a:ext>
            </a:extLst>
          </p:cNvPr>
          <p:cNvSpPr/>
          <p:nvPr/>
        </p:nvSpPr>
        <p:spPr>
          <a:xfrm>
            <a:off x="7581899" y="2542448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>
                <a:latin typeface="Raleway Medium" panose="020B0603030101060003" pitchFamily="34" charset="-52"/>
              </a:rPr>
              <a:t>- Проверенные документы</a:t>
            </a:r>
          </a:p>
          <a:p>
            <a:r>
              <a:rPr lang="ru-RU" sz="1600" dirty="0">
                <a:latin typeface="Raleway Medium" panose="020B0603030101060003" pitchFamily="34" charset="-52"/>
              </a:rPr>
              <a:t>- Перешитые связки документов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D7614-43C1-A63A-F18E-58328D4E5399}"/>
              </a:ext>
            </a:extLst>
          </p:cNvPr>
          <p:cNvSpPr txBox="1"/>
          <p:nvPr/>
        </p:nvSpPr>
        <p:spPr>
          <a:xfrm>
            <a:off x="747345" y="59319"/>
            <a:ext cx="466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n w="0"/>
                <a:solidFill>
                  <a:schemeClr val="accent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Диаграмма 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SIPOC</a:t>
            </a:r>
            <a:endParaRPr lang="ru-RU" sz="3200" dirty="0">
              <a:ln w="0"/>
              <a:solidFill>
                <a:schemeClr val="accent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92049-DEAC-024F-F9AF-321B4A0AE2F6}"/>
              </a:ext>
            </a:extLst>
          </p:cNvPr>
          <p:cNvSpPr txBox="1"/>
          <p:nvPr/>
        </p:nvSpPr>
        <p:spPr>
          <a:xfrm>
            <a:off x="747345" y="955577"/>
            <a:ext cx="2382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Делопроизводство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470081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4B7F5F9-5B42-669F-7BDA-AC2350CD9667}"/>
              </a:ext>
            </a:extLst>
          </p:cNvPr>
          <p:cNvSpPr/>
          <p:nvPr/>
        </p:nvSpPr>
        <p:spPr>
          <a:xfrm>
            <a:off x="1611919" y="3129967"/>
            <a:ext cx="758520" cy="45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FFAF9A0-1F6D-613B-74FE-7A8C840D832C}"/>
              </a:ext>
            </a:extLst>
          </p:cNvPr>
          <p:cNvCxnSpPr/>
          <p:nvPr/>
        </p:nvCxnSpPr>
        <p:spPr>
          <a:xfrm>
            <a:off x="2397211" y="3175686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E1A5B1F-2BAA-4EF8-B47C-754CF3A7C0B2}"/>
              </a:ext>
            </a:extLst>
          </p:cNvPr>
          <p:cNvCxnSpPr>
            <a:cxnSpLocks/>
          </p:cNvCxnSpPr>
          <p:nvPr/>
        </p:nvCxnSpPr>
        <p:spPr>
          <a:xfrm>
            <a:off x="2397211" y="3682314"/>
            <a:ext cx="502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BD34C5-C432-59B4-1A84-8188A109CE49}"/>
              </a:ext>
            </a:extLst>
          </p:cNvPr>
          <p:cNvCxnSpPr/>
          <p:nvPr/>
        </p:nvCxnSpPr>
        <p:spPr>
          <a:xfrm>
            <a:off x="2903838" y="3175686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885DC09-7A77-B540-20AC-B468FD853F22}"/>
              </a:ext>
            </a:extLst>
          </p:cNvPr>
          <p:cNvSpPr/>
          <p:nvPr/>
        </p:nvSpPr>
        <p:spPr>
          <a:xfrm>
            <a:off x="2914350" y="3129967"/>
            <a:ext cx="1286023" cy="54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6955A2A-2BF3-C4A4-A492-AA33A7E0C3A3}"/>
              </a:ext>
            </a:extLst>
          </p:cNvPr>
          <p:cNvCxnSpPr/>
          <p:nvPr/>
        </p:nvCxnSpPr>
        <p:spPr>
          <a:xfrm>
            <a:off x="4185741" y="319407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EEE8089-F3CD-FABE-BD18-583F06C26A4C}"/>
              </a:ext>
            </a:extLst>
          </p:cNvPr>
          <p:cNvCxnSpPr>
            <a:cxnSpLocks/>
          </p:cNvCxnSpPr>
          <p:nvPr/>
        </p:nvCxnSpPr>
        <p:spPr>
          <a:xfrm>
            <a:off x="4185741" y="3700707"/>
            <a:ext cx="564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AC726DE-1D12-E172-22D4-41139B36C3C1}"/>
              </a:ext>
            </a:extLst>
          </p:cNvPr>
          <p:cNvCxnSpPr/>
          <p:nvPr/>
        </p:nvCxnSpPr>
        <p:spPr>
          <a:xfrm>
            <a:off x="4750676" y="3202331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E35861A-5BFE-17AD-72CD-23CAF8328547}"/>
              </a:ext>
            </a:extLst>
          </p:cNvPr>
          <p:cNvSpPr/>
          <p:nvPr/>
        </p:nvSpPr>
        <p:spPr>
          <a:xfrm flipV="1">
            <a:off x="4750675" y="3194079"/>
            <a:ext cx="1098829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42EBFD1-A958-FC12-D772-4D6E5C38A4A8}"/>
              </a:ext>
            </a:extLst>
          </p:cNvPr>
          <p:cNvCxnSpPr/>
          <p:nvPr/>
        </p:nvCxnSpPr>
        <p:spPr>
          <a:xfrm>
            <a:off x="5870028" y="3202331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9D86CB-D64B-3291-0911-FCF546A96270}"/>
              </a:ext>
            </a:extLst>
          </p:cNvPr>
          <p:cNvCxnSpPr>
            <a:cxnSpLocks/>
          </p:cNvCxnSpPr>
          <p:nvPr/>
        </p:nvCxnSpPr>
        <p:spPr>
          <a:xfrm>
            <a:off x="5870028" y="3708959"/>
            <a:ext cx="688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ACE4222-CAE8-B6BE-1991-2F5CBD063FEF}"/>
              </a:ext>
            </a:extLst>
          </p:cNvPr>
          <p:cNvCxnSpPr/>
          <p:nvPr/>
        </p:nvCxnSpPr>
        <p:spPr>
          <a:xfrm>
            <a:off x="6558456" y="3212472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D27727-9F8E-ECFF-A2B7-76BD6EBD32BF}"/>
              </a:ext>
            </a:extLst>
          </p:cNvPr>
          <p:cNvSpPr/>
          <p:nvPr/>
        </p:nvSpPr>
        <p:spPr>
          <a:xfrm flipV="1">
            <a:off x="6558456" y="3166489"/>
            <a:ext cx="72521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A45B2-5C30-0036-E959-EA4E9A38B532}"/>
              </a:ext>
            </a:extLst>
          </p:cNvPr>
          <p:cNvSpPr txBox="1"/>
          <p:nvPr/>
        </p:nvSpPr>
        <p:spPr>
          <a:xfrm>
            <a:off x="1803732" y="2843140"/>
            <a:ext cx="75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7C088-0210-1775-E95D-CC1AC4BC3BFB}"/>
              </a:ext>
            </a:extLst>
          </p:cNvPr>
          <p:cNvSpPr txBox="1"/>
          <p:nvPr/>
        </p:nvSpPr>
        <p:spPr>
          <a:xfrm>
            <a:off x="1586033" y="2085377"/>
            <a:ext cx="1193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Поход за делом на -1 этаж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C80315-510F-21FE-A84F-28C2EE675FCA}"/>
              </a:ext>
            </a:extLst>
          </p:cNvPr>
          <p:cNvSpPr txBox="1"/>
          <p:nvPr/>
        </p:nvSpPr>
        <p:spPr>
          <a:xfrm>
            <a:off x="2529976" y="3233862"/>
            <a:ext cx="217699" cy="38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F0C8D-9578-157D-54C8-CB898DE4CA2D}"/>
              </a:ext>
            </a:extLst>
          </p:cNvPr>
          <p:cNvSpPr txBox="1"/>
          <p:nvPr/>
        </p:nvSpPr>
        <p:spPr>
          <a:xfrm>
            <a:off x="2899719" y="2251515"/>
            <a:ext cx="163023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Составление сводки дел по делам кафедр ИУЭФ 2015 года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3949D2-C7AD-8865-7AE1-20A964DC3211}"/>
              </a:ext>
            </a:extLst>
          </p:cNvPr>
          <p:cNvSpPr txBox="1"/>
          <p:nvPr/>
        </p:nvSpPr>
        <p:spPr>
          <a:xfrm>
            <a:off x="3255933" y="2783494"/>
            <a:ext cx="86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5D1D4D-58DD-5FDB-3D0F-10F9F65BD9FC}"/>
              </a:ext>
            </a:extLst>
          </p:cNvPr>
          <p:cNvSpPr txBox="1"/>
          <p:nvPr/>
        </p:nvSpPr>
        <p:spPr>
          <a:xfrm>
            <a:off x="4288221" y="3233862"/>
            <a:ext cx="462455" cy="38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F3157A-C736-23C2-A21A-BE679A79CCB3}"/>
              </a:ext>
            </a:extLst>
          </p:cNvPr>
          <p:cNvSpPr txBox="1"/>
          <p:nvPr/>
        </p:nvSpPr>
        <p:spPr>
          <a:xfrm>
            <a:off x="2182992" y="3858441"/>
            <a:ext cx="9450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Включение компьютера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3E007C-4579-7870-91D4-D422C4513094}"/>
              </a:ext>
            </a:extLst>
          </p:cNvPr>
          <p:cNvSpPr txBox="1"/>
          <p:nvPr/>
        </p:nvSpPr>
        <p:spPr>
          <a:xfrm>
            <a:off x="3995669" y="3858441"/>
            <a:ext cx="9450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Открывание окна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DB26F8-0E12-09AC-80BF-4D244E8B8E20}"/>
              </a:ext>
            </a:extLst>
          </p:cNvPr>
          <p:cNvSpPr txBox="1"/>
          <p:nvPr/>
        </p:nvSpPr>
        <p:spPr>
          <a:xfrm>
            <a:off x="4614046" y="2505838"/>
            <a:ext cx="17972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Перешивание папок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BF0B98-30FD-B238-2D1A-348E00CC2E5C}"/>
              </a:ext>
            </a:extLst>
          </p:cNvPr>
          <p:cNvSpPr txBox="1"/>
          <p:nvPr/>
        </p:nvSpPr>
        <p:spPr>
          <a:xfrm>
            <a:off x="5045145" y="2893395"/>
            <a:ext cx="59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A5409B-04DC-5E69-C936-B8F3CAE3DCE4}"/>
              </a:ext>
            </a:extLst>
          </p:cNvPr>
          <p:cNvSpPr txBox="1"/>
          <p:nvPr/>
        </p:nvSpPr>
        <p:spPr>
          <a:xfrm>
            <a:off x="6096000" y="3270979"/>
            <a:ext cx="59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A086A2-AD96-9160-1AD9-9FB5938E6809}"/>
              </a:ext>
            </a:extLst>
          </p:cNvPr>
          <p:cNvSpPr txBox="1"/>
          <p:nvPr/>
        </p:nvSpPr>
        <p:spPr>
          <a:xfrm>
            <a:off x="5637485" y="3880606"/>
            <a:ext cx="17184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Подключение к </a:t>
            </a:r>
            <a:r>
              <a:rPr lang="en-US" sz="1050" dirty="0"/>
              <a:t>wi-fi </a:t>
            </a:r>
            <a:endParaRPr lang="ru-RU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669790-EE17-5A1C-EDC5-FBA3B67D80DF}"/>
              </a:ext>
            </a:extLst>
          </p:cNvPr>
          <p:cNvSpPr txBox="1"/>
          <p:nvPr/>
        </p:nvSpPr>
        <p:spPr>
          <a:xfrm>
            <a:off x="6799843" y="2840466"/>
            <a:ext cx="388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36EE6-8476-D2D2-E6DA-E166201471AD}"/>
              </a:ext>
            </a:extLst>
          </p:cNvPr>
          <p:cNvSpPr txBox="1"/>
          <p:nvPr/>
        </p:nvSpPr>
        <p:spPr>
          <a:xfrm>
            <a:off x="6442842" y="2298782"/>
            <a:ext cx="15524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Возврат проверенных дел на -1 этаж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31318BF-AB3E-A438-B106-DC5705F38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25261" y="2251515"/>
            <a:ext cx="3126013" cy="312601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6992456-5510-CD64-2AA0-7E572FDDCE0A}"/>
              </a:ext>
            </a:extLst>
          </p:cNvPr>
          <p:cNvSpPr txBox="1"/>
          <p:nvPr/>
        </p:nvSpPr>
        <p:spPr>
          <a:xfrm>
            <a:off x="3255933" y="19606"/>
            <a:ext cx="5109073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perspective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ru-RU" sz="4400" b="1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Value Stream Map</a:t>
            </a: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endParaRPr lang="ru-RU" dirty="0">
              <a:ln w="0">
                <a:solidFill>
                  <a:schemeClr val="tx1"/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0F0CA6-C73E-EFEC-78C1-E38C4B00271A}"/>
              </a:ext>
            </a:extLst>
          </p:cNvPr>
          <p:cNvSpPr txBox="1"/>
          <p:nvPr/>
        </p:nvSpPr>
        <p:spPr>
          <a:xfrm>
            <a:off x="1547269" y="1040700"/>
            <a:ext cx="335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Делопроизводство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429AD7-E973-CF07-2FDD-275F3D933249}"/>
              </a:ext>
            </a:extLst>
          </p:cNvPr>
          <p:cNvSpPr txBox="1"/>
          <p:nvPr/>
        </p:nvSpPr>
        <p:spPr>
          <a:xfrm>
            <a:off x="879894" y="5377528"/>
            <a:ext cx="2019825" cy="3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Итого: 175 минут</a:t>
            </a:r>
          </a:p>
        </p:txBody>
      </p:sp>
    </p:spTree>
    <p:extLst>
      <p:ext uri="{BB962C8B-B14F-4D97-AF65-F5344CB8AC3E}">
        <p14:creationId xmlns:p14="http://schemas.microsoft.com/office/powerpoint/2010/main" val="329174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ED95D-5787-E472-CC90-3361C1683CC3}"/>
              </a:ext>
            </a:extLst>
          </p:cNvPr>
          <p:cNvSpPr txBox="1"/>
          <p:nvPr/>
        </p:nvSpPr>
        <p:spPr>
          <a:xfrm>
            <a:off x="5119632" y="295934"/>
            <a:ext cx="6251110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latin typeface="+mj-lt"/>
                <a:ea typeface="+mj-ea"/>
                <a:cs typeface="+mj-cs"/>
              </a:rPr>
              <a:t>Делопроизводство</a:t>
            </a:r>
            <a:endParaRPr lang="en-US" sz="5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974720-AB2B-D937-FD21-42B42A435D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7" r="19885" b="4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30E90E-30F5-5631-9B93-17A829C21875}"/>
              </a:ext>
            </a:extLst>
          </p:cNvPr>
          <p:cNvSpPr txBox="1"/>
          <p:nvPr/>
        </p:nvSpPr>
        <p:spPr>
          <a:xfrm>
            <a:off x="5119632" y="2706624"/>
            <a:ext cx="6429240" cy="3627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effectLst/>
              </a:rPr>
              <a:t> Define (</a:t>
            </a:r>
            <a:r>
              <a:rPr lang="en-US" sz="2000" b="1" i="0" u="none" strike="noStrike" dirty="0" err="1">
                <a:effectLst/>
              </a:rPr>
              <a:t>Определение</a:t>
            </a:r>
            <a:r>
              <a:rPr lang="en-US" sz="2000" b="1" i="0" u="none" strike="noStrike" dirty="0">
                <a:effectLst/>
              </a:rPr>
              <a:t>)</a:t>
            </a:r>
            <a:endParaRPr lang="en-US" sz="2000" b="0" dirty="0">
              <a:effectLst/>
            </a:endParaRPr>
          </a:p>
          <a:p>
            <a:pPr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1" i="0" u="none" strike="noStrike" dirty="0" err="1">
                <a:effectLst/>
              </a:rPr>
              <a:t>Проблема</a:t>
            </a:r>
            <a:r>
              <a:rPr lang="en-US" sz="2000" b="1" i="0" u="none" strike="noStrike" dirty="0">
                <a:effectLst/>
              </a:rPr>
              <a:t>: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большие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сроки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осуществления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сводки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дел</a:t>
            </a:r>
            <a:r>
              <a:rPr lang="en-US" sz="2000" b="0" i="0" u="none" strike="noStrike" dirty="0">
                <a:effectLst/>
              </a:rPr>
              <a:t>, </a:t>
            </a:r>
            <a:r>
              <a:rPr lang="en-US" sz="2000" b="0" i="0" u="none" strike="noStrike" dirty="0" err="1">
                <a:effectLst/>
              </a:rPr>
              <a:t>ошибки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в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документах</a:t>
            </a:r>
            <a:r>
              <a:rPr lang="en-US" sz="2000" b="0" i="0" u="none" strike="noStrike" dirty="0">
                <a:effectLst/>
              </a:rPr>
              <a:t>, </a:t>
            </a:r>
            <a:r>
              <a:rPr lang="en-US" sz="2000" b="0" i="0" u="none" strike="noStrike" dirty="0" err="1">
                <a:effectLst/>
              </a:rPr>
              <a:t>несоответствие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регламентам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архива</a:t>
            </a:r>
            <a:endParaRPr lang="en-US" sz="2000" b="0" i="0" u="none" strike="noStrike" dirty="0">
              <a:effectLst/>
            </a:endParaRPr>
          </a:p>
          <a:p>
            <a:pPr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1" i="0" u="none" strike="noStrike" dirty="0" err="1">
                <a:effectLst/>
              </a:rPr>
              <a:t>Цель</a:t>
            </a:r>
            <a:r>
              <a:rPr lang="en-US" sz="2000" b="1" i="0" u="none" strike="noStrike" dirty="0">
                <a:effectLst/>
              </a:rPr>
              <a:t>: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Сократить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время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сводки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дел</a:t>
            </a:r>
            <a:endParaRPr lang="en-US" sz="20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effectLst/>
              </a:rPr>
              <a:t> Measure (</a:t>
            </a:r>
            <a:r>
              <a:rPr lang="en-US" sz="2000" b="1" i="0" u="none" strike="noStrike" dirty="0" err="1">
                <a:effectLst/>
              </a:rPr>
              <a:t>Измерение</a:t>
            </a:r>
            <a:r>
              <a:rPr lang="en-US" sz="2000" b="1" i="0" u="none" strike="noStrike" dirty="0">
                <a:effectLst/>
              </a:rPr>
              <a:t>)</a:t>
            </a:r>
            <a:endParaRPr lang="en-US" sz="2000" b="0" dirty="0">
              <a:effectLst/>
            </a:endParaRPr>
          </a:p>
          <a:p>
            <a:pPr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i="0" u="none" strike="noStrike" dirty="0" err="1">
                <a:effectLst/>
              </a:rPr>
              <a:t>Текущее</a:t>
            </a:r>
            <a:r>
              <a:rPr lang="en-US" sz="2000" b="1" i="0" u="none" strike="noStrike" dirty="0">
                <a:effectLst/>
              </a:rPr>
              <a:t> </a:t>
            </a:r>
            <a:r>
              <a:rPr lang="en-US" sz="2000" b="1" i="0" u="none" strike="noStrike" dirty="0" err="1">
                <a:effectLst/>
              </a:rPr>
              <a:t>состояние</a:t>
            </a:r>
            <a:r>
              <a:rPr lang="en-US" sz="2000" b="1" i="0" u="none" strike="noStrike" dirty="0">
                <a:effectLst/>
              </a:rPr>
              <a:t>:</a:t>
            </a:r>
            <a:r>
              <a:rPr lang="en-US" sz="2000" b="0" i="0" u="none" strike="noStrike" dirty="0">
                <a:effectLst/>
              </a:rPr>
              <a:t> </a:t>
            </a:r>
          </a:p>
          <a:p>
            <a:pPr marL="457200" indent="-3429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000" b="0" i="0" u="none" strike="noStrike" dirty="0">
                <a:effectLst/>
              </a:rPr>
              <a:t>135 </a:t>
            </a:r>
            <a:r>
              <a:rPr lang="en-US" sz="2000" b="0" i="0" u="none" strike="noStrike" dirty="0" err="1">
                <a:effectLst/>
              </a:rPr>
              <a:t>минут</a:t>
            </a:r>
            <a:r>
              <a:rPr lang="en-US" sz="2000" b="0" i="0" u="none" strike="noStrike" dirty="0">
                <a:effectLst/>
              </a:rPr>
              <a:t> - </a:t>
            </a:r>
            <a:r>
              <a:rPr lang="en-US" sz="2000" b="0" i="0" u="none" strike="noStrike" dirty="0" err="1">
                <a:effectLst/>
              </a:rPr>
              <a:t>сводка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дел</a:t>
            </a:r>
            <a:r>
              <a:rPr lang="en-US" sz="2000" b="0" i="0" u="none" strike="noStrike" dirty="0">
                <a:effectLst/>
              </a:rPr>
              <a:t> (</a:t>
            </a:r>
            <a:r>
              <a:rPr lang="en-US" sz="2000" b="0" i="0" u="none" strike="noStrike" dirty="0" err="1">
                <a:effectLst/>
              </a:rPr>
              <a:t>включая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исправления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неверного</a:t>
            </a:r>
            <a:r>
              <a:rPr lang="en-US" sz="2000" b="0" i="0" u="none" strike="noStrike" dirty="0">
                <a:effectLst/>
              </a:rPr>
              <a:t> заполнения-10 </a:t>
            </a:r>
            <a:r>
              <a:rPr lang="en-US" sz="2000" b="0" i="0" u="none" strike="noStrike" dirty="0" err="1">
                <a:effectLst/>
              </a:rPr>
              <a:t>минут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и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перешивания</a:t>
            </a:r>
            <a:r>
              <a:rPr lang="en-US" sz="2000" b="0" i="0" u="none" strike="noStrike" dirty="0">
                <a:effectLst/>
              </a:rPr>
              <a:t> папок-25 </a:t>
            </a:r>
            <a:r>
              <a:rPr lang="en-US" sz="2000" b="0" i="0" u="none" strike="noStrike" dirty="0" err="1">
                <a:effectLst/>
              </a:rPr>
              <a:t>минут</a:t>
            </a:r>
            <a:r>
              <a:rPr lang="en-US" sz="2000" b="0" i="0" u="none" strike="noStrike" dirty="0">
                <a:effectLst/>
              </a:rPr>
              <a:t>)</a:t>
            </a:r>
            <a:endParaRPr lang="ru-RU" sz="2000" b="0" i="0" u="none" strike="noStrike" dirty="0">
              <a:effectLst/>
            </a:endParaRPr>
          </a:p>
          <a:p>
            <a:pPr marL="457200" indent="-3429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000" b="0" i="0" u="none" strike="noStrike" dirty="0" err="1">
                <a:effectLst/>
              </a:rPr>
              <a:t>Количество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неверных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заполненных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документов</a:t>
            </a:r>
            <a:r>
              <a:rPr lang="en-US" sz="2000" b="0" i="0" u="none" strike="noStrike" dirty="0">
                <a:effectLst/>
              </a:rPr>
              <a:t> - 4/10</a:t>
            </a:r>
            <a:endParaRPr lang="ru-RU" sz="2000" b="0" i="0" u="none" strike="noStrike" dirty="0">
              <a:effectLst/>
            </a:endParaRPr>
          </a:p>
          <a:p>
            <a:pPr marL="457200" indent="-3429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000" b="0" i="0" u="none" strike="noStrike" dirty="0" err="1">
                <a:effectLst/>
              </a:rPr>
              <a:t>Количество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неверно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подшитых</a:t>
            </a:r>
            <a:r>
              <a:rPr lang="en-US" sz="2000" b="0" i="0" u="none" strike="noStrike" dirty="0">
                <a:effectLst/>
              </a:rPr>
              <a:t> </a:t>
            </a:r>
            <a:r>
              <a:rPr lang="en-US" sz="2000" b="0" i="0" u="none" strike="noStrike" dirty="0" err="1">
                <a:effectLst/>
              </a:rPr>
              <a:t>папок</a:t>
            </a:r>
            <a:r>
              <a:rPr lang="en-US" sz="2000" b="0" i="0" u="none" strike="noStrike" dirty="0">
                <a:effectLst/>
              </a:rPr>
              <a:t> - 5/10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3586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AC4FB-14D2-DA61-90B0-072F64D6A690}"/>
              </a:ext>
            </a:extLst>
          </p:cNvPr>
          <p:cNvSpPr txBox="1"/>
          <p:nvPr/>
        </p:nvSpPr>
        <p:spPr>
          <a:xfrm>
            <a:off x="9267909" y="2023110"/>
            <a:ext cx="2469624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Диаграмма Исикавы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00CFEF-E4A3-C002-0FD6-8140B9457B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7" t="13039" b="15139"/>
          <a:stretch/>
        </p:blipFill>
        <p:spPr>
          <a:xfrm>
            <a:off x="545238" y="1962962"/>
            <a:ext cx="7608304" cy="30030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1">
            <a:extLst>
              <a:ext uri="{FF2B5EF4-FFF2-40B4-BE49-F238E27FC236}">
                <a16:creationId xmlns:a16="http://schemas.microsoft.com/office/drawing/2014/main" id="{F6F1209C-B7AA-FEF4-BB40-F3301CBC9AC3}"/>
              </a:ext>
            </a:extLst>
          </p:cNvPr>
          <p:cNvGrpSpPr/>
          <p:nvPr/>
        </p:nvGrpSpPr>
        <p:grpSpPr>
          <a:xfrm>
            <a:off x="2318867" y="2713256"/>
            <a:ext cx="970988" cy="934465"/>
            <a:chOff x="2800438" y="2695317"/>
            <a:chExt cx="966528" cy="966528"/>
          </a:xfrm>
        </p:grpSpPr>
        <p:sp>
          <p:nvSpPr>
            <p:cNvPr id="10" name="Freeform 41">
              <a:extLst>
                <a:ext uri="{FF2B5EF4-FFF2-40B4-BE49-F238E27FC236}">
                  <a16:creationId xmlns:a16="http://schemas.microsoft.com/office/drawing/2014/main" id="{26C95CF3-41DC-19D6-FC97-B54070FFBF1A}"/>
                </a:ext>
              </a:extLst>
            </p:cNvPr>
            <p:cNvSpPr/>
            <p:nvPr/>
          </p:nvSpPr>
          <p:spPr>
            <a:xfrm>
              <a:off x="2800438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iṧ1ïḍê">
              <a:extLst>
                <a:ext uri="{FF2B5EF4-FFF2-40B4-BE49-F238E27FC236}">
                  <a16:creationId xmlns:a16="http://schemas.microsoft.com/office/drawing/2014/main" id="{53A56734-C488-9115-EFE9-4D6B53EDFDEF}"/>
                </a:ext>
              </a:extLst>
            </p:cNvPr>
            <p:cNvSpPr/>
            <p:nvPr/>
          </p:nvSpPr>
          <p:spPr bwMode="auto">
            <a:xfrm>
              <a:off x="3084425" y="3043577"/>
              <a:ext cx="398553" cy="343058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组合 14">
            <a:extLst>
              <a:ext uri="{FF2B5EF4-FFF2-40B4-BE49-F238E27FC236}">
                <a16:creationId xmlns:a16="http://schemas.microsoft.com/office/drawing/2014/main" id="{C9B3A978-EEA3-152C-5D8D-FF150CE5118A}"/>
              </a:ext>
            </a:extLst>
          </p:cNvPr>
          <p:cNvGrpSpPr/>
          <p:nvPr/>
        </p:nvGrpSpPr>
        <p:grpSpPr>
          <a:xfrm>
            <a:off x="5451382" y="2723641"/>
            <a:ext cx="966528" cy="966528"/>
            <a:chOff x="5693535" y="2695317"/>
            <a:chExt cx="966528" cy="966528"/>
          </a:xfrm>
        </p:grpSpPr>
        <p:sp>
          <p:nvSpPr>
            <p:cNvPr id="13" name="Freeform 43">
              <a:extLst>
                <a:ext uri="{FF2B5EF4-FFF2-40B4-BE49-F238E27FC236}">
                  <a16:creationId xmlns:a16="http://schemas.microsoft.com/office/drawing/2014/main" id="{EFA6B9B2-1549-FF10-5276-B3894700C955}"/>
                </a:ext>
              </a:extLst>
            </p:cNvPr>
            <p:cNvSpPr/>
            <p:nvPr/>
          </p:nvSpPr>
          <p:spPr>
            <a:xfrm>
              <a:off x="5693535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îṡľiḍê">
              <a:extLst>
                <a:ext uri="{FF2B5EF4-FFF2-40B4-BE49-F238E27FC236}">
                  <a16:creationId xmlns:a16="http://schemas.microsoft.com/office/drawing/2014/main" id="{CE57E3F8-B00A-18BF-B676-82F182C351BA}"/>
                </a:ext>
              </a:extLst>
            </p:cNvPr>
            <p:cNvSpPr/>
            <p:nvPr/>
          </p:nvSpPr>
          <p:spPr bwMode="auto">
            <a:xfrm>
              <a:off x="6017971" y="3019262"/>
              <a:ext cx="398553" cy="300177"/>
            </a:xfrm>
            <a:custGeom>
              <a:avLst/>
              <a:gdLst/>
              <a:ahLst/>
              <a:cxnLst>
                <a:cxn ang="0">
                  <a:pos x="158" y="119"/>
                </a:cxn>
                <a:cxn ang="0">
                  <a:pos x="0" y="119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9" y="108"/>
                </a:cxn>
                <a:cxn ang="0">
                  <a:pos x="158" y="108"/>
                </a:cxn>
                <a:cxn ang="0">
                  <a:pos x="158" y="119"/>
                </a:cxn>
                <a:cxn ang="0">
                  <a:pos x="50" y="99"/>
                </a:cxn>
                <a:cxn ang="0">
                  <a:pos x="29" y="99"/>
                </a:cxn>
                <a:cxn ang="0">
                  <a:pos x="29" y="60"/>
                </a:cxn>
                <a:cxn ang="0">
                  <a:pos x="50" y="60"/>
                </a:cxn>
                <a:cxn ang="0">
                  <a:pos x="50" y="99"/>
                </a:cxn>
                <a:cxn ang="0">
                  <a:pos x="78" y="99"/>
                </a:cxn>
                <a:cxn ang="0">
                  <a:pos x="59" y="99"/>
                </a:cxn>
                <a:cxn ang="0">
                  <a:pos x="59" y="19"/>
                </a:cxn>
                <a:cxn ang="0">
                  <a:pos x="78" y="19"/>
                </a:cxn>
                <a:cxn ang="0">
                  <a:pos x="78" y="99"/>
                </a:cxn>
                <a:cxn ang="0">
                  <a:pos x="109" y="99"/>
                </a:cxn>
                <a:cxn ang="0">
                  <a:pos x="89" y="99"/>
                </a:cxn>
                <a:cxn ang="0">
                  <a:pos x="89" y="39"/>
                </a:cxn>
                <a:cxn ang="0">
                  <a:pos x="109" y="39"/>
                </a:cxn>
                <a:cxn ang="0">
                  <a:pos x="109" y="99"/>
                </a:cxn>
                <a:cxn ang="0">
                  <a:pos x="139" y="99"/>
                </a:cxn>
                <a:cxn ang="0">
                  <a:pos x="119" y="99"/>
                </a:cxn>
                <a:cxn ang="0">
                  <a:pos x="119" y="11"/>
                </a:cxn>
                <a:cxn ang="0">
                  <a:pos x="139" y="11"/>
                </a:cxn>
                <a:cxn ang="0">
                  <a:pos x="139" y="99"/>
                </a:cxn>
              </a:cxnLst>
              <a:rect l="0" t="0" r="r" b="b"/>
              <a:pathLst>
                <a:path w="158" h="119">
                  <a:moveTo>
                    <a:pt x="158" y="11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8"/>
                  </a:lnTo>
                  <a:lnTo>
                    <a:pt x="158" y="108"/>
                  </a:lnTo>
                  <a:lnTo>
                    <a:pt x="158" y="119"/>
                  </a:lnTo>
                  <a:close/>
                  <a:moveTo>
                    <a:pt x="50" y="99"/>
                  </a:moveTo>
                  <a:lnTo>
                    <a:pt x="29" y="99"/>
                  </a:lnTo>
                  <a:lnTo>
                    <a:pt x="29" y="60"/>
                  </a:lnTo>
                  <a:lnTo>
                    <a:pt x="50" y="60"/>
                  </a:lnTo>
                  <a:lnTo>
                    <a:pt x="50" y="99"/>
                  </a:lnTo>
                  <a:close/>
                  <a:moveTo>
                    <a:pt x="78" y="99"/>
                  </a:moveTo>
                  <a:lnTo>
                    <a:pt x="59" y="99"/>
                  </a:lnTo>
                  <a:lnTo>
                    <a:pt x="59" y="19"/>
                  </a:lnTo>
                  <a:lnTo>
                    <a:pt x="78" y="19"/>
                  </a:lnTo>
                  <a:lnTo>
                    <a:pt x="78" y="99"/>
                  </a:lnTo>
                  <a:close/>
                  <a:moveTo>
                    <a:pt x="109" y="99"/>
                  </a:moveTo>
                  <a:lnTo>
                    <a:pt x="89" y="99"/>
                  </a:lnTo>
                  <a:lnTo>
                    <a:pt x="89" y="39"/>
                  </a:lnTo>
                  <a:lnTo>
                    <a:pt x="109" y="39"/>
                  </a:lnTo>
                  <a:lnTo>
                    <a:pt x="109" y="99"/>
                  </a:lnTo>
                  <a:close/>
                  <a:moveTo>
                    <a:pt x="139" y="99"/>
                  </a:moveTo>
                  <a:lnTo>
                    <a:pt x="119" y="99"/>
                  </a:lnTo>
                  <a:lnTo>
                    <a:pt x="119" y="11"/>
                  </a:lnTo>
                  <a:lnTo>
                    <a:pt x="139" y="11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8" name="组合 20">
            <a:extLst>
              <a:ext uri="{FF2B5EF4-FFF2-40B4-BE49-F238E27FC236}">
                <a16:creationId xmlns:a16="http://schemas.microsoft.com/office/drawing/2014/main" id="{76C74684-6B1E-610B-A33B-05784BCEC46D}"/>
              </a:ext>
            </a:extLst>
          </p:cNvPr>
          <p:cNvGrpSpPr/>
          <p:nvPr/>
        </p:nvGrpSpPr>
        <p:grpSpPr>
          <a:xfrm>
            <a:off x="3821888" y="4124608"/>
            <a:ext cx="966528" cy="966528"/>
            <a:chOff x="4241275" y="4133972"/>
            <a:chExt cx="966528" cy="966528"/>
          </a:xfrm>
        </p:grpSpPr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AE9707AA-855B-2AAC-9803-9016794DFFA8}"/>
                </a:ext>
              </a:extLst>
            </p:cNvPr>
            <p:cNvSpPr/>
            <p:nvPr/>
          </p:nvSpPr>
          <p:spPr>
            <a:xfrm>
              <a:off x="4241275" y="4133972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0" name="组合 22">
              <a:extLst>
                <a:ext uri="{FF2B5EF4-FFF2-40B4-BE49-F238E27FC236}">
                  <a16:creationId xmlns:a16="http://schemas.microsoft.com/office/drawing/2014/main" id="{676BB2E0-EF0F-4FB4-E42F-42215F3CB3FC}"/>
                </a:ext>
              </a:extLst>
            </p:cNvPr>
            <p:cNvGrpSpPr/>
            <p:nvPr/>
          </p:nvGrpSpPr>
          <p:grpSpPr>
            <a:xfrm>
              <a:off x="4573953" y="4445706"/>
              <a:ext cx="301172" cy="343059"/>
              <a:chOff x="9977438" y="4359275"/>
              <a:chExt cx="433388" cy="541338"/>
            </a:xfrm>
            <a:solidFill>
              <a:schemeClr val="tx1"/>
            </a:solidFill>
          </p:grpSpPr>
          <p:sp>
            <p:nvSpPr>
              <p:cNvPr id="21" name="Freeform 162">
                <a:extLst>
                  <a:ext uri="{FF2B5EF4-FFF2-40B4-BE49-F238E27FC236}">
                    <a16:creationId xmlns:a16="http://schemas.microsoft.com/office/drawing/2014/main" id="{585CAE30-0AF6-A21E-CE79-83F4DD5E46C2}"/>
                  </a:ext>
                </a:extLst>
              </p:cNvPr>
              <p:cNvSpPr/>
              <p:nvPr/>
            </p:nvSpPr>
            <p:spPr bwMode="auto">
              <a:xfrm>
                <a:off x="10029826" y="4414838"/>
                <a:ext cx="95250" cy="106363"/>
              </a:xfrm>
              <a:custGeom>
                <a:avLst/>
                <a:gdLst>
                  <a:gd name="T0" fmla="*/ 32 w 34"/>
                  <a:gd name="T1" fmla="*/ 16 h 38"/>
                  <a:gd name="T2" fmla="*/ 6 w 34"/>
                  <a:gd name="T3" fmla="*/ 0 h 38"/>
                  <a:gd name="T4" fmla="*/ 2 w 34"/>
                  <a:gd name="T5" fmla="*/ 0 h 38"/>
                  <a:gd name="T6" fmla="*/ 0 w 34"/>
                  <a:gd name="T7" fmla="*/ 4 h 38"/>
                  <a:gd name="T8" fmla="*/ 0 w 34"/>
                  <a:gd name="T9" fmla="*/ 34 h 38"/>
                  <a:gd name="T10" fmla="*/ 2 w 34"/>
                  <a:gd name="T11" fmla="*/ 38 h 38"/>
                  <a:gd name="T12" fmla="*/ 4 w 34"/>
                  <a:gd name="T13" fmla="*/ 38 h 38"/>
                  <a:gd name="T14" fmla="*/ 6 w 34"/>
                  <a:gd name="T15" fmla="*/ 38 h 38"/>
                  <a:gd name="T16" fmla="*/ 32 w 34"/>
                  <a:gd name="T17" fmla="*/ 22 h 38"/>
                  <a:gd name="T18" fmla="*/ 34 w 34"/>
                  <a:gd name="T19" fmla="*/ 19 h 38"/>
                  <a:gd name="T20" fmla="*/ 32 w 34"/>
                  <a:gd name="T2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38">
                    <a:moveTo>
                      <a:pt x="32" y="16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6"/>
                      <a:pt x="0" y="37"/>
                      <a:pt x="2" y="38"/>
                    </a:cubicBezTo>
                    <a:cubicBezTo>
                      <a:pt x="2" y="38"/>
                      <a:pt x="3" y="38"/>
                      <a:pt x="4" y="38"/>
                    </a:cubicBezTo>
                    <a:cubicBezTo>
                      <a:pt x="4" y="38"/>
                      <a:pt x="5" y="38"/>
                      <a:pt x="6" y="38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4" y="22"/>
                      <a:pt x="34" y="20"/>
                      <a:pt x="34" y="19"/>
                    </a:cubicBezTo>
                    <a:cubicBezTo>
                      <a:pt x="34" y="18"/>
                      <a:pt x="34" y="16"/>
                      <a:pt x="32" y="16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Freeform 163">
                <a:extLst>
                  <a:ext uri="{FF2B5EF4-FFF2-40B4-BE49-F238E27FC236}">
                    <a16:creationId xmlns:a16="http://schemas.microsoft.com/office/drawing/2014/main" id="{4AFD5056-E5CD-2FBE-1418-30EE136C572E}"/>
                  </a:ext>
                </a:extLst>
              </p:cNvPr>
              <p:cNvSpPr/>
              <p:nvPr/>
            </p:nvSpPr>
            <p:spPr bwMode="auto">
              <a:xfrm>
                <a:off x="10028238" y="4498975"/>
                <a:ext cx="82550" cy="125413"/>
              </a:xfrm>
              <a:custGeom>
                <a:avLst/>
                <a:gdLst>
                  <a:gd name="T0" fmla="*/ 26 w 30"/>
                  <a:gd name="T1" fmla="*/ 45 h 45"/>
                  <a:gd name="T2" fmla="*/ 22 w 30"/>
                  <a:gd name="T3" fmla="*/ 43 h 45"/>
                  <a:gd name="T4" fmla="*/ 1 w 30"/>
                  <a:gd name="T5" fmla="*/ 6 h 45"/>
                  <a:gd name="T6" fmla="*/ 3 w 30"/>
                  <a:gd name="T7" fmla="*/ 1 h 45"/>
                  <a:gd name="T8" fmla="*/ 8 w 30"/>
                  <a:gd name="T9" fmla="*/ 2 h 45"/>
                  <a:gd name="T10" fmla="*/ 29 w 30"/>
                  <a:gd name="T11" fmla="*/ 39 h 45"/>
                  <a:gd name="T12" fmla="*/ 28 w 30"/>
                  <a:gd name="T13" fmla="*/ 44 h 45"/>
                  <a:gd name="T14" fmla="*/ 26 w 30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5">
                    <a:moveTo>
                      <a:pt x="26" y="45"/>
                    </a:moveTo>
                    <a:cubicBezTo>
                      <a:pt x="24" y="45"/>
                      <a:pt x="23" y="44"/>
                      <a:pt x="22" y="4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0" y="41"/>
                      <a:pt x="30" y="43"/>
                      <a:pt x="28" y="44"/>
                    </a:cubicBezTo>
                    <a:cubicBezTo>
                      <a:pt x="27" y="45"/>
                      <a:pt x="26" y="45"/>
                      <a:pt x="26" y="4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Freeform 164">
                <a:extLst>
                  <a:ext uri="{FF2B5EF4-FFF2-40B4-BE49-F238E27FC236}">
                    <a16:creationId xmlns:a16="http://schemas.microsoft.com/office/drawing/2014/main" id="{CF40DDFA-06C5-1190-47A0-FDEB52FC5265}"/>
                  </a:ext>
                </a:extLst>
              </p:cNvPr>
              <p:cNvSpPr/>
              <p:nvPr/>
            </p:nvSpPr>
            <p:spPr bwMode="auto">
              <a:xfrm>
                <a:off x="10102851" y="4456113"/>
                <a:ext cx="109538" cy="168275"/>
              </a:xfrm>
              <a:custGeom>
                <a:avLst/>
                <a:gdLst>
                  <a:gd name="T0" fmla="*/ 34 w 39"/>
                  <a:gd name="T1" fmla="*/ 60 h 60"/>
                  <a:gd name="T2" fmla="*/ 31 w 39"/>
                  <a:gd name="T3" fmla="*/ 58 h 60"/>
                  <a:gd name="T4" fmla="*/ 1 w 39"/>
                  <a:gd name="T5" fmla="*/ 6 h 60"/>
                  <a:gd name="T6" fmla="*/ 2 w 39"/>
                  <a:gd name="T7" fmla="*/ 1 h 60"/>
                  <a:gd name="T8" fmla="*/ 8 w 39"/>
                  <a:gd name="T9" fmla="*/ 2 h 60"/>
                  <a:gd name="T10" fmla="*/ 38 w 39"/>
                  <a:gd name="T11" fmla="*/ 54 h 60"/>
                  <a:gd name="T12" fmla="*/ 36 w 39"/>
                  <a:gd name="T13" fmla="*/ 59 h 60"/>
                  <a:gd name="T14" fmla="*/ 34 w 39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60">
                    <a:moveTo>
                      <a:pt x="34" y="60"/>
                    </a:moveTo>
                    <a:cubicBezTo>
                      <a:pt x="33" y="60"/>
                      <a:pt x="31" y="59"/>
                      <a:pt x="31" y="58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4" y="0"/>
                      <a:pt x="7" y="0"/>
                      <a:pt x="8" y="2"/>
                    </a:cubicBezTo>
                    <a:cubicBezTo>
                      <a:pt x="38" y="54"/>
                      <a:pt x="38" y="54"/>
                      <a:pt x="38" y="54"/>
                    </a:cubicBezTo>
                    <a:cubicBezTo>
                      <a:pt x="39" y="56"/>
                      <a:pt x="38" y="58"/>
                      <a:pt x="36" y="59"/>
                    </a:cubicBezTo>
                    <a:cubicBezTo>
                      <a:pt x="36" y="60"/>
                      <a:pt x="35" y="60"/>
                      <a:pt x="34" y="60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" name="Freeform 165">
                <a:extLst>
                  <a:ext uri="{FF2B5EF4-FFF2-40B4-BE49-F238E27FC236}">
                    <a16:creationId xmlns:a16="http://schemas.microsoft.com/office/drawing/2014/main" id="{B902EA39-84F3-40DC-BC3B-11D9971892A4}"/>
                  </a:ext>
                </a:extLst>
              </p:cNvPr>
              <p:cNvSpPr/>
              <p:nvPr/>
            </p:nvSpPr>
            <p:spPr bwMode="auto">
              <a:xfrm>
                <a:off x="10202863" y="4359275"/>
                <a:ext cx="134938" cy="265113"/>
              </a:xfrm>
              <a:custGeom>
                <a:avLst/>
                <a:gdLst>
                  <a:gd name="T0" fmla="*/ 38 w 48"/>
                  <a:gd name="T1" fmla="*/ 95 h 95"/>
                  <a:gd name="T2" fmla="*/ 37 w 48"/>
                  <a:gd name="T3" fmla="*/ 95 h 95"/>
                  <a:gd name="T4" fmla="*/ 34 w 48"/>
                  <a:gd name="T5" fmla="*/ 91 h 95"/>
                  <a:gd name="T6" fmla="*/ 40 w 48"/>
                  <a:gd name="T7" fmla="*/ 26 h 95"/>
                  <a:gd name="T8" fmla="*/ 37 w 48"/>
                  <a:gd name="T9" fmla="*/ 14 h 95"/>
                  <a:gd name="T10" fmla="*/ 29 w 48"/>
                  <a:gd name="T11" fmla="*/ 8 h 95"/>
                  <a:gd name="T12" fmla="*/ 20 w 48"/>
                  <a:gd name="T13" fmla="*/ 12 h 95"/>
                  <a:gd name="T14" fmla="*/ 15 w 48"/>
                  <a:gd name="T15" fmla="*/ 24 h 95"/>
                  <a:gd name="T16" fmla="*/ 9 w 48"/>
                  <a:gd name="T17" fmla="*/ 91 h 95"/>
                  <a:gd name="T18" fmla="*/ 4 w 48"/>
                  <a:gd name="T19" fmla="*/ 95 h 95"/>
                  <a:gd name="T20" fmla="*/ 1 w 48"/>
                  <a:gd name="T21" fmla="*/ 91 h 95"/>
                  <a:gd name="T22" fmla="*/ 7 w 48"/>
                  <a:gd name="T23" fmla="*/ 23 h 95"/>
                  <a:gd name="T24" fmla="*/ 14 w 48"/>
                  <a:gd name="T25" fmla="*/ 7 h 95"/>
                  <a:gd name="T26" fmla="*/ 29 w 48"/>
                  <a:gd name="T27" fmla="*/ 0 h 95"/>
                  <a:gd name="T28" fmla="*/ 43 w 48"/>
                  <a:gd name="T29" fmla="*/ 9 h 95"/>
                  <a:gd name="T30" fmla="*/ 48 w 48"/>
                  <a:gd name="T31" fmla="*/ 27 h 95"/>
                  <a:gd name="T32" fmla="*/ 42 w 48"/>
                  <a:gd name="T33" fmla="*/ 91 h 95"/>
                  <a:gd name="T34" fmla="*/ 38 w 48"/>
                  <a:gd name="T35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95">
                    <a:moveTo>
                      <a:pt x="38" y="95"/>
                    </a:moveTo>
                    <a:cubicBezTo>
                      <a:pt x="38" y="95"/>
                      <a:pt x="37" y="95"/>
                      <a:pt x="37" y="95"/>
                    </a:cubicBezTo>
                    <a:cubicBezTo>
                      <a:pt x="35" y="95"/>
                      <a:pt x="34" y="93"/>
                      <a:pt x="34" y="91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2"/>
                      <a:pt x="39" y="17"/>
                      <a:pt x="37" y="14"/>
                    </a:cubicBezTo>
                    <a:cubicBezTo>
                      <a:pt x="35" y="10"/>
                      <a:pt x="32" y="8"/>
                      <a:pt x="29" y="8"/>
                    </a:cubicBezTo>
                    <a:cubicBezTo>
                      <a:pt x="26" y="8"/>
                      <a:pt x="22" y="9"/>
                      <a:pt x="20" y="12"/>
                    </a:cubicBezTo>
                    <a:cubicBezTo>
                      <a:pt x="17" y="15"/>
                      <a:pt x="15" y="19"/>
                      <a:pt x="15" y="24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8" y="93"/>
                      <a:pt x="6" y="95"/>
                      <a:pt x="4" y="95"/>
                    </a:cubicBezTo>
                    <a:cubicBezTo>
                      <a:pt x="2" y="95"/>
                      <a:pt x="0" y="93"/>
                      <a:pt x="1" y="91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17"/>
                      <a:pt x="10" y="11"/>
                      <a:pt x="14" y="7"/>
                    </a:cubicBezTo>
                    <a:cubicBezTo>
                      <a:pt x="18" y="2"/>
                      <a:pt x="24" y="0"/>
                      <a:pt x="29" y="0"/>
                    </a:cubicBezTo>
                    <a:cubicBezTo>
                      <a:pt x="35" y="1"/>
                      <a:pt x="40" y="4"/>
                      <a:pt x="43" y="9"/>
                    </a:cubicBezTo>
                    <a:cubicBezTo>
                      <a:pt x="47" y="14"/>
                      <a:pt x="48" y="21"/>
                      <a:pt x="48" y="27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2" y="93"/>
                      <a:pt x="40" y="95"/>
                      <a:pt x="38" y="9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Freeform 166">
                <a:extLst>
                  <a:ext uri="{FF2B5EF4-FFF2-40B4-BE49-F238E27FC236}">
                    <a16:creationId xmlns:a16="http://schemas.microsoft.com/office/drawing/2014/main" id="{E576A0B3-C329-484C-22A3-F133FE232979}"/>
                  </a:ext>
                </a:extLst>
              </p:cNvPr>
              <p:cNvSpPr/>
              <p:nvPr/>
            </p:nvSpPr>
            <p:spPr bwMode="auto">
              <a:xfrm>
                <a:off x="9977438" y="4602163"/>
                <a:ext cx="433388" cy="298450"/>
              </a:xfrm>
              <a:custGeom>
                <a:avLst/>
                <a:gdLst>
                  <a:gd name="T0" fmla="*/ 153 w 155"/>
                  <a:gd name="T1" fmla="*/ 5 h 107"/>
                  <a:gd name="T2" fmla="*/ 140 w 155"/>
                  <a:gd name="T3" fmla="*/ 0 h 107"/>
                  <a:gd name="T4" fmla="*/ 15 w 155"/>
                  <a:gd name="T5" fmla="*/ 0 h 107"/>
                  <a:gd name="T6" fmla="*/ 2 w 155"/>
                  <a:gd name="T7" fmla="*/ 5 h 107"/>
                  <a:gd name="T8" fmla="*/ 0 w 155"/>
                  <a:gd name="T9" fmla="*/ 14 h 107"/>
                  <a:gd name="T10" fmla="*/ 14 w 155"/>
                  <a:gd name="T11" fmla="*/ 26 h 107"/>
                  <a:gd name="T12" fmla="*/ 20 w 155"/>
                  <a:gd name="T13" fmla="*/ 34 h 107"/>
                  <a:gd name="T14" fmla="*/ 30 w 155"/>
                  <a:gd name="T15" fmla="*/ 83 h 107"/>
                  <a:gd name="T16" fmla="*/ 29 w 155"/>
                  <a:gd name="T17" fmla="*/ 90 h 107"/>
                  <a:gd name="T18" fmla="*/ 22 w 155"/>
                  <a:gd name="T19" fmla="*/ 93 h 107"/>
                  <a:gd name="T20" fmla="*/ 21 w 155"/>
                  <a:gd name="T21" fmla="*/ 99 h 107"/>
                  <a:gd name="T22" fmla="*/ 39 w 155"/>
                  <a:gd name="T23" fmla="*/ 107 h 107"/>
                  <a:gd name="T24" fmla="*/ 116 w 155"/>
                  <a:gd name="T25" fmla="*/ 107 h 107"/>
                  <a:gd name="T26" fmla="*/ 134 w 155"/>
                  <a:gd name="T27" fmla="*/ 99 h 107"/>
                  <a:gd name="T28" fmla="*/ 133 w 155"/>
                  <a:gd name="T29" fmla="*/ 93 h 107"/>
                  <a:gd name="T30" fmla="*/ 126 w 155"/>
                  <a:gd name="T31" fmla="*/ 90 h 107"/>
                  <a:gd name="T32" fmla="*/ 125 w 155"/>
                  <a:gd name="T33" fmla="*/ 83 h 107"/>
                  <a:gd name="T34" fmla="*/ 135 w 155"/>
                  <a:gd name="T35" fmla="*/ 34 h 107"/>
                  <a:gd name="T36" fmla="*/ 141 w 155"/>
                  <a:gd name="T37" fmla="*/ 26 h 107"/>
                  <a:gd name="T38" fmla="*/ 155 w 155"/>
                  <a:gd name="T39" fmla="*/ 14 h 107"/>
                  <a:gd name="T40" fmla="*/ 153 w 155"/>
                  <a:gd name="T41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5" h="107">
                    <a:moveTo>
                      <a:pt x="153" y="5"/>
                    </a:moveTo>
                    <a:cubicBezTo>
                      <a:pt x="150" y="2"/>
                      <a:pt x="145" y="0"/>
                      <a:pt x="14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0"/>
                      <a:pt x="5" y="2"/>
                      <a:pt x="2" y="5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2" y="21"/>
                      <a:pt x="8" y="26"/>
                      <a:pt x="14" y="26"/>
                    </a:cubicBezTo>
                    <a:cubicBezTo>
                      <a:pt x="16" y="26"/>
                      <a:pt x="19" y="29"/>
                      <a:pt x="20" y="34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7"/>
                      <a:pt x="30" y="89"/>
                      <a:pt x="29" y="90"/>
                    </a:cubicBezTo>
                    <a:cubicBezTo>
                      <a:pt x="26" y="90"/>
                      <a:pt x="24" y="91"/>
                      <a:pt x="22" y="93"/>
                    </a:cubicBezTo>
                    <a:cubicBezTo>
                      <a:pt x="21" y="95"/>
                      <a:pt x="20" y="97"/>
                      <a:pt x="21" y="99"/>
                    </a:cubicBezTo>
                    <a:cubicBezTo>
                      <a:pt x="22" y="105"/>
                      <a:pt x="32" y="107"/>
                      <a:pt x="39" y="107"/>
                    </a:cubicBezTo>
                    <a:cubicBezTo>
                      <a:pt x="116" y="107"/>
                      <a:pt x="116" y="107"/>
                      <a:pt x="116" y="107"/>
                    </a:cubicBezTo>
                    <a:cubicBezTo>
                      <a:pt x="123" y="107"/>
                      <a:pt x="133" y="105"/>
                      <a:pt x="134" y="99"/>
                    </a:cubicBezTo>
                    <a:cubicBezTo>
                      <a:pt x="135" y="97"/>
                      <a:pt x="134" y="95"/>
                      <a:pt x="133" y="93"/>
                    </a:cubicBezTo>
                    <a:cubicBezTo>
                      <a:pt x="131" y="91"/>
                      <a:pt x="129" y="90"/>
                      <a:pt x="126" y="90"/>
                    </a:cubicBezTo>
                    <a:cubicBezTo>
                      <a:pt x="125" y="89"/>
                      <a:pt x="125" y="87"/>
                      <a:pt x="125" y="83"/>
                    </a:cubicBezTo>
                    <a:cubicBezTo>
                      <a:pt x="135" y="34"/>
                      <a:pt x="135" y="34"/>
                      <a:pt x="135" y="34"/>
                    </a:cubicBezTo>
                    <a:cubicBezTo>
                      <a:pt x="136" y="29"/>
                      <a:pt x="139" y="26"/>
                      <a:pt x="141" y="26"/>
                    </a:cubicBezTo>
                    <a:cubicBezTo>
                      <a:pt x="147" y="26"/>
                      <a:pt x="153" y="21"/>
                      <a:pt x="155" y="14"/>
                    </a:cubicBezTo>
                    <a:cubicBezTo>
                      <a:pt x="155" y="11"/>
                      <a:pt x="155" y="8"/>
                      <a:pt x="153" y="5"/>
                    </a:cubicBezTo>
                    <a:close/>
                  </a:path>
                </a:pathLst>
              </a:custGeom>
              <a:solidFill>
                <a:srgbClr val="6069E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" name="Freeform 167">
                <a:extLst>
                  <a:ext uri="{FF2B5EF4-FFF2-40B4-BE49-F238E27FC236}">
                    <a16:creationId xmlns:a16="http://schemas.microsoft.com/office/drawing/2014/main" id="{D4A02C71-96FA-9E8C-E7D5-EB037652C4F3}"/>
                  </a:ext>
                </a:extLst>
              </p:cNvPr>
              <p:cNvSpPr/>
              <p:nvPr/>
            </p:nvSpPr>
            <p:spPr bwMode="auto">
              <a:xfrm>
                <a:off x="10250488" y="4414838"/>
                <a:ext cx="39688" cy="203200"/>
              </a:xfrm>
              <a:custGeom>
                <a:avLst/>
                <a:gdLst>
                  <a:gd name="T0" fmla="*/ 4 w 14"/>
                  <a:gd name="T1" fmla="*/ 73 h 73"/>
                  <a:gd name="T2" fmla="*/ 4 w 14"/>
                  <a:gd name="T3" fmla="*/ 73 h 73"/>
                  <a:gd name="T4" fmla="*/ 0 w 14"/>
                  <a:gd name="T5" fmla="*/ 68 h 73"/>
                  <a:gd name="T6" fmla="*/ 6 w 14"/>
                  <a:gd name="T7" fmla="*/ 4 h 73"/>
                  <a:gd name="T8" fmla="*/ 10 w 14"/>
                  <a:gd name="T9" fmla="*/ 0 h 73"/>
                  <a:gd name="T10" fmla="*/ 14 w 14"/>
                  <a:gd name="T11" fmla="*/ 4 h 73"/>
                  <a:gd name="T12" fmla="*/ 8 w 14"/>
                  <a:gd name="T13" fmla="*/ 69 h 73"/>
                  <a:gd name="T14" fmla="*/ 4 w 14"/>
                  <a:gd name="T15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73">
                    <a:moveTo>
                      <a:pt x="4" y="73"/>
                    </a:moveTo>
                    <a:cubicBezTo>
                      <a:pt x="4" y="73"/>
                      <a:pt x="4" y="73"/>
                      <a:pt x="4" y="73"/>
                    </a:cubicBezTo>
                    <a:cubicBezTo>
                      <a:pt x="2" y="72"/>
                      <a:pt x="0" y="71"/>
                      <a:pt x="0" y="68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2" y="0"/>
                      <a:pt x="14" y="2"/>
                      <a:pt x="14" y="4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1"/>
                      <a:pt x="7" y="73"/>
                      <a:pt x="4" y="73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9">
            <a:extLst>
              <a:ext uri="{FF2B5EF4-FFF2-40B4-BE49-F238E27FC236}">
                <a16:creationId xmlns:a16="http://schemas.microsoft.com/office/drawing/2014/main" id="{23282CBB-91E9-361A-B448-D95BC08E81C2}"/>
              </a:ext>
            </a:extLst>
          </p:cNvPr>
          <p:cNvGrpSpPr/>
          <p:nvPr/>
        </p:nvGrpSpPr>
        <p:grpSpPr>
          <a:xfrm>
            <a:off x="8712964" y="2476607"/>
            <a:ext cx="966528" cy="966528"/>
            <a:chOff x="8023314" y="4088066"/>
            <a:chExt cx="966528" cy="966528"/>
          </a:xfrm>
        </p:grpSpPr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DCA1C703-2C55-AE19-3DE9-255038F16588}"/>
                </a:ext>
              </a:extLst>
            </p:cNvPr>
            <p:cNvSpPr/>
            <p:nvPr/>
          </p:nvSpPr>
          <p:spPr>
            <a:xfrm>
              <a:off x="8023314" y="4088066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KSO_Shape">
              <a:extLst>
                <a:ext uri="{FF2B5EF4-FFF2-40B4-BE49-F238E27FC236}">
                  <a16:creationId xmlns:a16="http://schemas.microsoft.com/office/drawing/2014/main" id="{50B18850-B065-68C0-E328-25D94E930E01}"/>
                </a:ext>
              </a:extLst>
            </p:cNvPr>
            <p:cNvSpPr/>
            <p:nvPr/>
          </p:nvSpPr>
          <p:spPr>
            <a:xfrm>
              <a:off x="8310972" y="4364686"/>
              <a:ext cx="391211" cy="374516"/>
            </a:xfrm>
            <a:custGeom>
              <a:avLst/>
              <a:gdLst/>
              <a:ahLst/>
              <a:cxnLst/>
              <a:rect l="l" t="t" r="r" b="b"/>
              <a:pathLst>
                <a:path w="1889279" h="1810503">
                  <a:moveTo>
                    <a:pt x="1408636" y="1462945"/>
                  </a:moveTo>
                  <a:cubicBezTo>
                    <a:pt x="1471912" y="1494489"/>
                    <a:pt x="1528819" y="1532588"/>
                    <a:pt x="1575786" y="1578162"/>
                  </a:cubicBezTo>
                  <a:cubicBezTo>
                    <a:pt x="1467281" y="1672800"/>
                    <a:pt x="1335058" y="1742507"/>
                    <a:pt x="1188886" y="1779443"/>
                  </a:cubicBezTo>
                  <a:cubicBezTo>
                    <a:pt x="1278166" y="1700386"/>
                    <a:pt x="1353810" y="1592053"/>
                    <a:pt x="1408636" y="1462945"/>
                  </a:cubicBezTo>
                  <a:close/>
                  <a:moveTo>
                    <a:pt x="494888" y="1445849"/>
                  </a:moveTo>
                  <a:cubicBezTo>
                    <a:pt x="556747" y="1590569"/>
                    <a:pt x="643865" y="1709702"/>
                    <a:pt x="747068" y="1790925"/>
                  </a:cubicBezTo>
                  <a:cubicBezTo>
                    <a:pt x="576321" y="1756303"/>
                    <a:pt x="422614" y="1677538"/>
                    <a:pt x="300900" y="1566189"/>
                  </a:cubicBezTo>
                  <a:cubicBezTo>
                    <a:pt x="355309" y="1517036"/>
                    <a:pt x="421005" y="1476420"/>
                    <a:pt x="494888" y="1445849"/>
                  </a:cubicBezTo>
                  <a:close/>
                  <a:moveTo>
                    <a:pt x="900586" y="1355871"/>
                  </a:moveTo>
                  <a:lnTo>
                    <a:pt x="900586" y="1808904"/>
                  </a:lnTo>
                  <a:lnTo>
                    <a:pt x="884222" y="1808113"/>
                  </a:lnTo>
                  <a:cubicBezTo>
                    <a:pt x="745280" y="1742581"/>
                    <a:pt x="627378" y="1604992"/>
                    <a:pt x="551037" y="1423344"/>
                  </a:cubicBezTo>
                  <a:cubicBezTo>
                    <a:pt x="655969" y="1381011"/>
                    <a:pt x="774745" y="1357337"/>
                    <a:pt x="900586" y="1355871"/>
                  </a:cubicBezTo>
                  <a:close/>
                  <a:moveTo>
                    <a:pt x="953521" y="1355186"/>
                  </a:moveTo>
                  <a:cubicBezTo>
                    <a:pt x="1099660" y="1356509"/>
                    <a:pt x="1236550" y="1386650"/>
                    <a:pt x="1354036" y="1440083"/>
                  </a:cubicBezTo>
                  <a:cubicBezTo>
                    <a:pt x="1283551" y="1605630"/>
                    <a:pt x="1178611" y="1734316"/>
                    <a:pt x="1054486" y="1804443"/>
                  </a:cubicBezTo>
                  <a:lnTo>
                    <a:pt x="953521" y="1810503"/>
                  </a:lnTo>
                  <a:close/>
                  <a:moveTo>
                    <a:pt x="1517159" y="931303"/>
                  </a:moveTo>
                  <a:lnTo>
                    <a:pt x="1889279" y="931303"/>
                  </a:lnTo>
                  <a:cubicBezTo>
                    <a:pt x="1883282" y="1167646"/>
                    <a:pt x="1781715" y="1381244"/>
                    <a:pt x="1618873" y="1536894"/>
                  </a:cubicBezTo>
                  <a:cubicBezTo>
                    <a:pt x="1566437" y="1485571"/>
                    <a:pt x="1502786" y="1442774"/>
                    <a:pt x="1431939" y="1407715"/>
                  </a:cubicBezTo>
                  <a:cubicBezTo>
                    <a:pt x="1485774" y="1266553"/>
                    <a:pt x="1516428" y="1104135"/>
                    <a:pt x="1517159" y="931303"/>
                  </a:cubicBezTo>
                  <a:close/>
                  <a:moveTo>
                    <a:pt x="953521" y="931303"/>
                  </a:moveTo>
                  <a:lnTo>
                    <a:pt x="1456842" y="931303"/>
                  </a:lnTo>
                  <a:cubicBezTo>
                    <a:pt x="1456123" y="1096196"/>
                    <a:pt x="1427268" y="1250986"/>
                    <a:pt x="1375819" y="1384691"/>
                  </a:cubicBezTo>
                  <a:cubicBezTo>
                    <a:pt x="1251537" y="1327928"/>
                    <a:pt x="1107288" y="1296191"/>
                    <a:pt x="953521" y="1294902"/>
                  </a:cubicBezTo>
                  <a:close/>
                  <a:moveTo>
                    <a:pt x="448568" y="931303"/>
                  </a:moveTo>
                  <a:lnTo>
                    <a:pt x="900586" y="931303"/>
                  </a:lnTo>
                  <a:lnTo>
                    <a:pt x="900586" y="1295603"/>
                  </a:lnTo>
                  <a:cubicBezTo>
                    <a:pt x="766605" y="1297053"/>
                    <a:pt x="640053" y="1322469"/>
                    <a:pt x="528061" y="1368046"/>
                  </a:cubicBezTo>
                  <a:cubicBezTo>
                    <a:pt x="478984" y="1238632"/>
                    <a:pt x="450499" y="1089843"/>
                    <a:pt x="448568" y="931303"/>
                  </a:cubicBezTo>
                  <a:close/>
                  <a:moveTo>
                    <a:pt x="0" y="931303"/>
                  </a:moveTo>
                  <a:lnTo>
                    <a:pt x="388264" y="931303"/>
                  </a:lnTo>
                  <a:cubicBezTo>
                    <a:pt x="390220" y="1097785"/>
                    <a:pt x="420532" y="1254193"/>
                    <a:pt x="473139" y="1390578"/>
                  </a:cubicBezTo>
                  <a:cubicBezTo>
                    <a:pt x="391203" y="1423988"/>
                    <a:pt x="318506" y="1469260"/>
                    <a:pt x="258353" y="1524144"/>
                  </a:cubicBezTo>
                  <a:cubicBezTo>
                    <a:pt x="102364" y="1370026"/>
                    <a:pt x="5849" y="1161456"/>
                    <a:pt x="0" y="931303"/>
                  </a:cubicBezTo>
                  <a:close/>
                  <a:moveTo>
                    <a:pt x="536834" y="421694"/>
                  </a:moveTo>
                  <a:cubicBezTo>
                    <a:pt x="646682" y="464986"/>
                    <a:pt x="770110" y="489176"/>
                    <a:pt x="900586" y="490537"/>
                  </a:cubicBezTo>
                  <a:lnTo>
                    <a:pt x="900586" y="875390"/>
                  </a:lnTo>
                  <a:lnTo>
                    <a:pt x="448805" y="875390"/>
                  </a:lnTo>
                  <a:cubicBezTo>
                    <a:pt x="451150" y="709592"/>
                    <a:pt x="482649" y="554587"/>
                    <a:pt x="536834" y="421694"/>
                  </a:cubicBezTo>
                  <a:close/>
                  <a:moveTo>
                    <a:pt x="1356131" y="409527"/>
                  </a:moveTo>
                  <a:cubicBezTo>
                    <a:pt x="1415590" y="544412"/>
                    <a:pt x="1451132" y="703874"/>
                    <a:pt x="1455052" y="875390"/>
                  </a:cubicBezTo>
                  <a:lnTo>
                    <a:pt x="953521" y="875390"/>
                  </a:lnTo>
                  <a:lnTo>
                    <a:pt x="953521" y="491238"/>
                  </a:lnTo>
                  <a:cubicBezTo>
                    <a:pt x="1099303" y="490092"/>
                    <a:pt x="1236528" y="461431"/>
                    <a:pt x="1356131" y="409527"/>
                  </a:cubicBezTo>
                  <a:close/>
                  <a:moveTo>
                    <a:pt x="271202" y="273767"/>
                  </a:moveTo>
                  <a:cubicBezTo>
                    <a:pt x="330895" y="324894"/>
                    <a:pt x="401533" y="367494"/>
                    <a:pt x="480768" y="398692"/>
                  </a:cubicBezTo>
                  <a:cubicBezTo>
                    <a:pt x="424147" y="539118"/>
                    <a:pt x="390867" y="701724"/>
                    <a:pt x="388496" y="875390"/>
                  </a:cubicBezTo>
                  <a:lnTo>
                    <a:pt x="238" y="875390"/>
                  </a:lnTo>
                  <a:cubicBezTo>
                    <a:pt x="7162" y="640451"/>
                    <a:pt x="108645" y="428248"/>
                    <a:pt x="271202" y="273767"/>
                  </a:cubicBezTo>
                  <a:close/>
                  <a:moveTo>
                    <a:pt x="1605567" y="261436"/>
                  </a:moveTo>
                  <a:cubicBezTo>
                    <a:pt x="1775300" y="417133"/>
                    <a:pt x="1881942" y="634296"/>
                    <a:pt x="1889035" y="875390"/>
                  </a:cubicBezTo>
                  <a:lnTo>
                    <a:pt x="1515364" y="875390"/>
                  </a:lnTo>
                  <a:cubicBezTo>
                    <a:pt x="1511419" y="696081"/>
                    <a:pt x="1474168" y="529014"/>
                    <a:pt x="1413107" y="386152"/>
                  </a:cubicBezTo>
                  <a:cubicBezTo>
                    <a:pt x="1485941" y="353453"/>
                    <a:pt x="1551126" y="311628"/>
                    <a:pt x="1605567" y="261436"/>
                  </a:cubicBezTo>
                  <a:close/>
                  <a:moveTo>
                    <a:pt x="748157" y="19413"/>
                  </a:moveTo>
                  <a:cubicBezTo>
                    <a:pt x="649482" y="96557"/>
                    <a:pt x="565491" y="208310"/>
                    <a:pt x="504779" y="344256"/>
                  </a:cubicBezTo>
                  <a:cubicBezTo>
                    <a:pt x="432706" y="315858"/>
                    <a:pt x="368354" y="277545"/>
                    <a:pt x="313920" y="231604"/>
                  </a:cubicBezTo>
                  <a:cubicBezTo>
                    <a:pt x="434240" y="127070"/>
                    <a:pt x="583275" y="52667"/>
                    <a:pt x="748157" y="19413"/>
                  </a:cubicBezTo>
                  <a:close/>
                  <a:moveTo>
                    <a:pt x="1137621" y="18543"/>
                  </a:moveTo>
                  <a:cubicBezTo>
                    <a:pt x="1297904" y="50310"/>
                    <a:pt x="1443338" y="120918"/>
                    <a:pt x="1562575" y="219802"/>
                  </a:cubicBezTo>
                  <a:cubicBezTo>
                    <a:pt x="1512842" y="265093"/>
                    <a:pt x="1453308" y="302843"/>
                    <a:pt x="1386970" y="332857"/>
                  </a:cubicBezTo>
                  <a:cubicBezTo>
                    <a:pt x="1323718" y="199817"/>
                    <a:pt x="1237626" y="91674"/>
                    <a:pt x="1137621" y="18543"/>
                  </a:cubicBezTo>
                  <a:close/>
                  <a:moveTo>
                    <a:pt x="900586" y="1702"/>
                  </a:moveTo>
                  <a:lnTo>
                    <a:pt x="900586" y="430269"/>
                  </a:lnTo>
                  <a:cubicBezTo>
                    <a:pt x="778345" y="428899"/>
                    <a:pt x="662774" y="406468"/>
                    <a:pt x="560047" y="366408"/>
                  </a:cubicBezTo>
                  <a:cubicBezTo>
                    <a:pt x="637783" y="193348"/>
                    <a:pt x="753999" y="63227"/>
                    <a:pt x="890213" y="2203"/>
                  </a:cubicBezTo>
                  <a:close/>
                  <a:moveTo>
                    <a:pt x="953521" y="0"/>
                  </a:moveTo>
                  <a:lnTo>
                    <a:pt x="981035" y="1330"/>
                  </a:lnTo>
                  <a:cubicBezTo>
                    <a:pt x="1124068" y="53565"/>
                    <a:pt x="1247786" y="180867"/>
                    <a:pt x="1332000" y="354889"/>
                  </a:cubicBezTo>
                  <a:cubicBezTo>
                    <a:pt x="1219743" y="403080"/>
                    <a:pt x="1090709" y="429800"/>
                    <a:pt x="953521" y="430954"/>
                  </a:cubicBezTo>
                  <a:close/>
                </a:path>
              </a:pathLst>
            </a:custGeom>
            <a:solidFill>
              <a:srgbClr val="6069E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21908" tIns="60954" rIns="121908" bIns="60954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0" name="文本框 32">
            <a:extLst>
              <a:ext uri="{FF2B5EF4-FFF2-40B4-BE49-F238E27FC236}">
                <a16:creationId xmlns:a16="http://schemas.microsoft.com/office/drawing/2014/main" id="{E21F35BB-F71E-2B1D-5078-1C96D367A8D9}"/>
              </a:ext>
            </a:extLst>
          </p:cNvPr>
          <p:cNvSpPr txBox="1"/>
          <p:nvPr/>
        </p:nvSpPr>
        <p:spPr>
          <a:xfrm>
            <a:off x="1820039" y="873636"/>
            <a:ext cx="1717296" cy="135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Потому что при проверке обнаруживается много ошибок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文本框 33">
            <a:extLst>
              <a:ext uri="{FF2B5EF4-FFF2-40B4-BE49-F238E27FC236}">
                <a16:creationId xmlns:a16="http://schemas.microsoft.com/office/drawing/2014/main" id="{663B48D9-A565-E890-8468-519511B41C22}"/>
              </a:ext>
            </a:extLst>
          </p:cNvPr>
          <p:cNvSpPr txBox="1"/>
          <p:nvPr/>
        </p:nvSpPr>
        <p:spPr>
          <a:xfrm>
            <a:off x="4809899" y="1106973"/>
            <a:ext cx="2020820" cy="1028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Потому что нет знаний и контроля на этапе заполнения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4">
            <a:extLst>
              <a:ext uri="{FF2B5EF4-FFF2-40B4-BE49-F238E27FC236}">
                <a16:creationId xmlns:a16="http://schemas.microsoft.com/office/drawing/2014/main" id="{E4E912BD-0AF8-B981-E4EF-25994BBACC4F}"/>
              </a:ext>
            </a:extLst>
          </p:cNvPr>
          <p:cNvSpPr txBox="1"/>
          <p:nvPr/>
        </p:nvSpPr>
        <p:spPr>
          <a:xfrm>
            <a:off x="7730575" y="697602"/>
            <a:ext cx="2698175" cy="135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Потому что руководство не осознает, как неверное заполнение влияет на работу </a:t>
            </a:r>
            <a:r>
              <a:rPr lang="ru-RU" altLang="zh-CN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документоведа</a:t>
            </a:r>
            <a:endParaRPr lang="en-US" altLang="zh-CN" sz="1400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5">
            <a:extLst>
              <a:ext uri="{FF2B5EF4-FFF2-40B4-BE49-F238E27FC236}">
                <a16:creationId xmlns:a16="http://schemas.microsoft.com/office/drawing/2014/main" id="{1E13D910-4BA2-19B4-BDE5-5F40423EC852}"/>
              </a:ext>
            </a:extLst>
          </p:cNvPr>
          <p:cNvSpPr txBox="1"/>
          <p:nvPr/>
        </p:nvSpPr>
        <p:spPr>
          <a:xfrm>
            <a:off x="653033" y="4313963"/>
            <a:ext cx="2592897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Проблема:</a:t>
            </a:r>
          </a:p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Длительный процесс проверки дел</a:t>
            </a:r>
            <a:endParaRPr lang="en-US" altLang="zh-CN" sz="2000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9C7B5C-8ACB-4C70-F5A1-F1D3D0DA9221}"/>
              </a:ext>
            </a:extLst>
          </p:cNvPr>
          <p:cNvSpPr txBox="1"/>
          <p:nvPr/>
        </p:nvSpPr>
        <p:spPr>
          <a:xfrm>
            <a:off x="894089" y="2713256"/>
            <a:ext cx="8728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проверка занимает много времени?</a:t>
            </a: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53122F17-E945-DD90-054A-337AFCCA0C56}"/>
              </a:ext>
            </a:extLst>
          </p:cNvPr>
          <p:cNvSpPr/>
          <p:nvPr/>
        </p:nvSpPr>
        <p:spPr>
          <a:xfrm>
            <a:off x="799186" y="2564414"/>
            <a:ext cx="926492" cy="11646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кругленный прямоугольник 37">
            <a:extLst>
              <a:ext uri="{FF2B5EF4-FFF2-40B4-BE49-F238E27FC236}">
                <a16:creationId xmlns:a16="http://schemas.microsoft.com/office/drawing/2014/main" id="{D8C3DC0B-5B0F-C61E-B2B0-0DB5A6766858}"/>
              </a:ext>
            </a:extLst>
          </p:cNvPr>
          <p:cNvSpPr/>
          <p:nvPr/>
        </p:nvSpPr>
        <p:spPr>
          <a:xfrm>
            <a:off x="3878172" y="2541241"/>
            <a:ext cx="926492" cy="11064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A33ADB-0F9F-F540-B860-8ADFDF52A261}"/>
              </a:ext>
            </a:extLst>
          </p:cNvPr>
          <p:cNvSpPr txBox="1"/>
          <p:nvPr/>
        </p:nvSpPr>
        <p:spPr>
          <a:xfrm>
            <a:off x="3978291" y="2740536"/>
            <a:ext cx="765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в делах много ошибок?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3AF070-980E-6504-BD2E-5D96813F9D96}"/>
              </a:ext>
            </a:extLst>
          </p:cNvPr>
          <p:cNvSpPr txBox="1"/>
          <p:nvPr/>
        </p:nvSpPr>
        <p:spPr>
          <a:xfrm>
            <a:off x="3113868" y="5660946"/>
            <a:ext cx="2286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сотрудники, формирующие дела, не всегда правильно заполняют документы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B13F77-78B2-5DB1-5EC9-A080ABAE1987}"/>
              </a:ext>
            </a:extLst>
          </p:cNvPr>
          <p:cNvSpPr txBox="1"/>
          <p:nvPr/>
        </p:nvSpPr>
        <p:spPr>
          <a:xfrm>
            <a:off x="5335953" y="3838431"/>
            <a:ext cx="9471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сотрудники неверно заполняют?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D8E69212-32E9-F0AB-0C5D-86524A0DB817}"/>
              </a:ext>
            </a:extLst>
          </p:cNvPr>
          <p:cNvSpPr/>
          <p:nvPr/>
        </p:nvSpPr>
        <p:spPr>
          <a:xfrm>
            <a:off x="7227602" y="2698232"/>
            <a:ext cx="926492" cy="7694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A160E0-6BBE-87BF-B5E9-321CD48F6BD2}"/>
              </a:ext>
            </a:extLst>
          </p:cNvPr>
          <p:cNvSpPr txBox="1"/>
          <p:nvPr/>
        </p:nvSpPr>
        <p:spPr>
          <a:xfrm>
            <a:off x="7354232" y="2683538"/>
            <a:ext cx="813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нет знаний и контроля?</a:t>
            </a:r>
          </a:p>
        </p:txBody>
      </p: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99A4918F-B506-A61E-1A57-36F6E419D2BF}"/>
              </a:ext>
            </a:extLst>
          </p:cNvPr>
          <p:cNvSpPr/>
          <p:nvPr/>
        </p:nvSpPr>
        <p:spPr>
          <a:xfrm>
            <a:off x="8747800" y="4031739"/>
            <a:ext cx="988490" cy="91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кругленный прямоугольник 46">
            <a:extLst>
              <a:ext uri="{FF2B5EF4-FFF2-40B4-BE49-F238E27FC236}">
                <a16:creationId xmlns:a16="http://schemas.microsoft.com/office/drawing/2014/main" id="{F12F245A-A07F-482B-159F-CA5E4FDA1678}"/>
              </a:ext>
            </a:extLst>
          </p:cNvPr>
          <p:cNvSpPr/>
          <p:nvPr/>
        </p:nvSpPr>
        <p:spPr>
          <a:xfrm>
            <a:off x="5335953" y="3771158"/>
            <a:ext cx="926492" cy="815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5B93EE-7BC3-A566-3D15-A2E470405783}"/>
              </a:ext>
            </a:extLst>
          </p:cNvPr>
          <p:cNvSpPr txBox="1"/>
          <p:nvPr/>
        </p:nvSpPr>
        <p:spPr>
          <a:xfrm>
            <a:off x="6297327" y="5627242"/>
            <a:ext cx="29245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руководство не уделяет достаточного внимания качеству подготовки архивных дел, считая это второстепенной задачей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5466BD-1861-FD49-4A9D-1792FC88F892}"/>
              </a:ext>
            </a:extLst>
          </p:cNvPr>
          <p:cNvSpPr txBox="1"/>
          <p:nvPr/>
        </p:nvSpPr>
        <p:spPr>
          <a:xfrm>
            <a:off x="8747800" y="4066951"/>
            <a:ext cx="963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руководство не считает это важным?</a:t>
            </a:r>
          </a:p>
        </p:txBody>
      </p:sp>
      <p:sp>
        <p:nvSpPr>
          <p:cNvPr id="52" name="Скругленный прямоугольник 51">
            <a:extLst>
              <a:ext uri="{FF2B5EF4-FFF2-40B4-BE49-F238E27FC236}">
                <a16:creationId xmlns:a16="http://schemas.microsoft.com/office/drawing/2014/main" id="{5463A207-27BB-91D5-9E45-10F8D52EC2EF}"/>
              </a:ext>
            </a:extLst>
          </p:cNvPr>
          <p:cNvSpPr/>
          <p:nvPr/>
        </p:nvSpPr>
        <p:spPr>
          <a:xfrm>
            <a:off x="376620" y="178716"/>
            <a:ext cx="2682422" cy="507802"/>
          </a:xfrm>
          <a:prstGeom prst="round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4B4F0B-53BC-F46A-A9E0-D617E6DA5C10}"/>
              </a:ext>
            </a:extLst>
          </p:cNvPr>
          <p:cNvSpPr txBox="1"/>
          <p:nvPr/>
        </p:nvSpPr>
        <p:spPr>
          <a:xfrm>
            <a:off x="1134924" y="221661"/>
            <a:ext cx="192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 почему</a:t>
            </a:r>
          </a:p>
          <a:p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89DE13-D47F-F777-FB31-A224992A8BB4}"/>
              </a:ext>
            </a:extLst>
          </p:cNvPr>
          <p:cNvSpPr txBox="1"/>
          <p:nvPr/>
        </p:nvSpPr>
        <p:spPr>
          <a:xfrm>
            <a:off x="4317840" y="3250"/>
            <a:ext cx="38489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Длительный процесс проверки дел</a:t>
            </a:r>
          </a:p>
        </p:txBody>
      </p:sp>
      <p:sp>
        <p:nvSpPr>
          <p:cNvPr id="55" name="U-Turn Arrow 38">
            <a:extLst>
              <a:ext uri="{FF2B5EF4-FFF2-40B4-BE49-F238E27FC236}">
                <a16:creationId xmlns:a16="http://schemas.microsoft.com/office/drawing/2014/main" id="{EE8941DE-AA55-709F-3BF5-85750EFFCAEB}"/>
              </a:ext>
            </a:extLst>
          </p:cNvPr>
          <p:cNvSpPr/>
          <p:nvPr/>
        </p:nvSpPr>
        <p:spPr>
          <a:xfrm rot="10800000" flipH="1">
            <a:off x="9865807" y="3512744"/>
            <a:ext cx="228878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U-Turn Arrow 39">
            <a:extLst>
              <a:ext uri="{FF2B5EF4-FFF2-40B4-BE49-F238E27FC236}">
                <a16:creationId xmlns:a16="http://schemas.microsoft.com/office/drawing/2014/main" id="{CBFA77EB-1C7B-78FF-EE5E-FD408568530E}"/>
              </a:ext>
            </a:extLst>
          </p:cNvPr>
          <p:cNvSpPr/>
          <p:nvPr/>
        </p:nvSpPr>
        <p:spPr>
          <a:xfrm>
            <a:off x="8285090" y="2056473"/>
            <a:ext cx="2101854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U-Turn Arrow 38">
            <a:extLst>
              <a:ext uri="{FF2B5EF4-FFF2-40B4-BE49-F238E27FC236}">
                <a16:creationId xmlns:a16="http://schemas.microsoft.com/office/drawing/2014/main" id="{94DC746D-8D1B-BF56-1DC6-23D5ECB51BAF}"/>
              </a:ext>
            </a:extLst>
          </p:cNvPr>
          <p:cNvSpPr/>
          <p:nvPr/>
        </p:nvSpPr>
        <p:spPr>
          <a:xfrm rot="10800000" flipH="1">
            <a:off x="6546456" y="3651975"/>
            <a:ext cx="228878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U-Turn Arrow 37">
            <a:extLst>
              <a:ext uri="{FF2B5EF4-FFF2-40B4-BE49-F238E27FC236}">
                <a16:creationId xmlns:a16="http://schemas.microsoft.com/office/drawing/2014/main" id="{0AD72E13-096E-7C28-B64D-03AF42D5D87A}"/>
              </a:ext>
            </a:extLst>
          </p:cNvPr>
          <p:cNvSpPr/>
          <p:nvPr/>
        </p:nvSpPr>
        <p:spPr>
          <a:xfrm>
            <a:off x="4864371" y="2186330"/>
            <a:ext cx="2259638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U-Turn Arrow 36">
            <a:extLst>
              <a:ext uri="{FF2B5EF4-FFF2-40B4-BE49-F238E27FC236}">
                <a16:creationId xmlns:a16="http://schemas.microsoft.com/office/drawing/2014/main" id="{5C9A12DF-D91B-386C-F987-E22AEA745D23}"/>
              </a:ext>
            </a:extLst>
          </p:cNvPr>
          <p:cNvSpPr/>
          <p:nvPr/>
        </p:nvSpPr>
        <p:spPr>
          <a:xfrm rot="10800000" flipH="1">
            <a:off x="3457462" y="3690169"/>
            <a:ext cx="1927913" cy="1877854"/>
          </a:xfrm>
          <a:prstGeom prst="uturnArrow">
            <a:avLst>
              <a:gd name="adj1" fmla="val 20076"/>
              <a:gd name="adj2" fmla="val 21661"/>
              <a:gd name="adj3" fmla="val 23347"/>
              <a:gd name="adj4" fmla="val 49304"/>
              <a:gd name="adj5" fmla="val 100000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U-Turn Arrow 34">
            <a:extLst>
              <a:ext uri="{FF2B5EF4-FFF2-40B4-BE49-F238E27FC236}">
                <a16:creationId xmlns:a16="http://schemas.microsoft.com/office/drawing/2014/main" id="{1598CE8C-A801-0FA6-E8C6-D1F84F7347BE}"/>
              </a:ext>
            </a:extLst>
          </p:cNvPr>
          <p:cNvSpPr/>
          <p:nvPr/>
        </p:nvSpPr>
        <p:spPr>
          <a:xfrm>
            <a:off x="1805056" y="2210408"/>
            <a:ext cx="218224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8" name="Скругленный прямоугольник 57">
            <a:extLst>
              <a:ext uri="{FF2B5EF4-FFF2-40B4-BE49-F238E27FC236}">
                <a16:creationId xmlns:a16="http://schemas.microsoft.com/office/drawing/2014/main" id="{EED1AEB9-09B6-A6C0-5B28-4060994D9DD4}"/>
              </a:ext>
            </a:extLst>
          </p:cNvPr>
          <p:cNvSpPr/>
          <p:nvPr/>
        </p:nvSpPr>
        <p:spPr>
          <a:xfrm>
            <a:off x="10351572" y="2652009"/>
            <a:ext cx="926492" cy="815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ED0AE5-D6E4-1FF8-2785-59E27024CA25}"/>
              </a:ext>
            </a:extLst>
          </p:cNvPr>
          <p:cNvSpPr txBox="1"/>
          <p:nvPr/>
        </p:nvSpPr>
        <p:spPr>
          <a:xfrm>
            <a:off x="10386943" y="2753227"/>
            <a:ext cx="92649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Почему руководство не осознает?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C6FB4E-0989-0A40-E792-403918107DBD}"/>
              </a:ext>
            </a:extLst>
          </p:cNvPr>
          <p:cNvSpPr txBox="1"/>
          <p:nvPr/>
        </p:nvSpPr>
        <p:spPr>
          <a:xfrm>
            <a:off x="9756915" y="5537834"/>
            <a:ext cx="2418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существуют другие, более приоритетные направления финансирования (например, строительство новых корпусов или развитие IT-инфраструктуры)</a:t>
            </a:r>
          </a:p>
        </p:txBody>
      </p:sp>
    </p:spTree>
    <p:extLst>
      <p:ext uri="{BB962C8B-B14F-4D97-AF65-F5344CB8AC3E}">
        <p14:creationId xmlns:p14="http://schemas.microsoft.com/office/powerpoint/2010/main" val="89755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600"/>
                            </p:stCondLst>
                            <p:childTnLst>
                              <p:par>
                                <p:cTn id="6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9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55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Объект 8" descr="Изображение выглядит как диаграмма, текст, чек&#10;&#10;Автоматически созданное описание">
            <a:extLst>
              <a:ext uri="{FF2B5EF4-FFF2-40B4-BE49-F238E27FC236}">
                <a16:creationId xmlns:a16="http://schemas.microsoft.com/office/drawing/2014/main" id="{ECE48A42-56FD-59E8-45FF-EF835AD3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63" y="643467"/>
            <a:ext cx="11027408" cy="570668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4D6CA-DF45-4C1B-90C4-F949ABDAAE79}"/>
              </a:ext>
            </a:extLst>
          </p:cNvPr>
          <p:cNvSpPr txBox="1"/>
          <p:nvPr/>
        </p:nvSpPr>
        <p:spPr>
          <a:xfrm>
            <a:off x="3690842" y="76438"/>
            <a:ext cx="454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Делопроизводство </a:t>
            </a:r>
            <a:r>
              <a:rPr lang="en-US" sz="2800" b="1" dirty="0"/>
              <a:t>IDEF</a:t>
            </a:r>
            <a:r>
              <a:rPr lang="ru-RU" sz="2800" b="1" dirty="0"/>
              <a:t>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D850A1-0673-B458-5ED7-4BC92DC70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9" r="7409"/>
          <a:stretch>
            <a:fillRect/>
          </a:stretch>
        </p:blipFill>
        <p:spPr>
          <a:xfrm>
            <a:off x="195574" y="3691228"/>
            <a:ext cx="2525569" cy="29643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2070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80186-804F-9EF4-A8BB-CCF086974BBE}"/>
              </a:ext>
            </a:extLst>
          </p:cNvPr>
          <p:cNvSpPr txBox="1"/>
          <p:nvPr/>
        </p:nvSpPr>
        <p:spPr>
          <a:xfrm>
            <a:off x="638881" y="390525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Прием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и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обработка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документов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BPMN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Объект 4" descr="Изображение выглядит как текст, диаграмма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C8205270-11CB-24CE-CB80-F5B9FAF05F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872"/>
          <a:stretch/>
        </p:blipFill>
        <p:spPr>
          <a:xfrm>
            <a:off x="916019" y="2601254"/>
            <a:ext cx="10727505" cy="395569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A93033-AD6D-9879-85C7-2D4592FF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13" y="2433861"/>
            <a:ext cx="1990277" cy="199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31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BBA018-FA75-43BF-99E6-1F52457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673405-BF85-493E-8558-0DCBEDB2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79610"/>
            <a:ext cx="4831130" cy="4078390"/>
          </a:xfrm>
          <a:custGeom>
            <a:avLst/>
            <a:gdLst>
              <a:gd name="connsiteX0" fmla="*/ 1960035 w 4831130"/>
              <a:gd name="connsiteY0" fmla="*/ 0 h 4078390"/>
              <a:gd name="connsiteX1" fmla="*/ 4831130 w 4831130"/>
              <a:gd name="connsiteY1" fmla="*/ 2871095 h 4078390"/>
              <a:gd name="connsiteX2" fmla="*/ 4605505 w 4831130"/>
              <a:gd name="connsiteY2" fmla="*/ 3988655 h 4078390"/>
              <a:gd name="connsiteX3" fmla="*/ 4562278 w 4831130"/>
              <a:gd name="connsiteY3" fmla="*/ 4078390 h 4078390"/>
              <a:gd name="connsiteX4" fmla="*/ 0 w 4831130"/>
              <a:gd name="connsiteY4" fmla="*/ 4078390 h 4078390"/>
              <a:gd name="connsiteX5" fmla="*/ 0 w 4831130"/>
              <a:gd name="connsiteY5" fmla="*/ 777181 h 4078390"/>
              <a:gd name="connsiteX6" fmla="*/ 133752 w 4831130"/>
              <a:gd name="connsiteY6" fmla="*/ 655619 h 4078390"/>
              <a:gd name="connsiteX7" fmla="*/ 1960035 w 4831130"/>
              <a:gd name="connsiteY7" fmla="*/ 0 h 407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130" h="4078390">
                <a:moveTo>
                  <a:pt x="1960035" y="0"/>
                </a:moveTo>
                <a:cubicBezTo>
                  <a:pt x="3545697" y="0"/>
                  <a:pt x="4831130" y="1285433"/>
                  <a:pt x="4831130" y="2871095"/>
                </a:cubicBezTo>
                <a:cubicBezTo>
                  <a:pt x="4831130" y="3267511"/>
                  <a:pt x="4750791" y="3645162"/>
                  <a:pt x="4605505" y="3988655"/>
                </a:cubicBezTo>
                <a:lnTo>
                  <a:pt x="4562278" y="4078390"/>
                </a:lnTo>
                <a:lnTo>
                  <a:pt x="0" y="4078390"/>
                </a:lnTo>
                <a:lnTo>
                  <a:pt x="0" y="777181"/>
                </a:lnTo>
                <a:lnTo>
                  <a:pt x="133752" y="655619"/>
                </a:lnTo>
                <a:cubicBezTo>
                  <a:pt x="630047" y="246040"/>
                  <a:pt x="1266308" y="0"/>
                  <a:pt x="196003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64EAE84-A813-4501-BC71-DBD14BA02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9782" y="1"/>
            <a:ext cx="4195674" cy="3095741"/>
          </a:xfrm>
          <a:custGeom>
            <a:avLst/>
            <a:gdLst>
              <a:gd name="connsiteX0" fmla="*/ 252211 w 4195674"/>
              <a:gd name="connsiteY0" fmla="*/ 0 h 3095741"/>
              <a:gd name="connsiteX1" fmla="*/ 3943464 w 4195674"/>
              <a:gd name="connsiteY1" fmla="*/ 0 h 3095741"/>
              <a:gd name="connsiteX2" fmla="*/ 4030816 w 4195674"/>
              <a:gd name="connsiteY2" fmla="*/ 181331 h 3095741"/>
              <a:gd name="connsiteX3" fmla="*/ 4195674 w 4195674"/>
              <a:gd name="connsiteY3" fmla="*/ 997904 h 3095741"/>
              <a:gd name="connsiteX4" fmla="*/ 2097837 w 4195674"/>
              <a:gd name="connsiteY4" fmla="*/ 3095741 h 3095741"/>
              <a:gd name="connsiteX5" fmla="*/ 0 w 4195674"/>
              <a:gd name="connsiteY5" fmla="*/ 997904 h 3095741"/>
              <a:gd name="connsiteX6" fmla="*/ 164859 w 4195674"/>
              <a:gd name="connsiteY6" fmla="*/ 181331 h 309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3095741">
                <a:moveTo>
                  <a:pt x="252211" y="0"/>
                </a:moveTo>
                <a:lnTo>
                  <a:pt x="3943464" y="0"/>
                </a:lnTo>
                <a:lnTo>
                  <a:pt x="4030816" y="181331"/>
                </a:lnTo>
                <a:cubicBezTo>
                  <a:pt x="4136972" y="432313"/>
                  <a:pt x="4195674" y="708253"/>
                  <a:pt x="4195674" y="997904"/>
                </a:cubicBezTo>
                <a:cubicBezTo>
                  <a:pt x="4195674" y="2156507"/>
                  <a:pt x="3256440" y="3095741"/>
                  <a:pt x="2097837" y="3095741"/>
                </a:cubicBezTo>
                <a:cubicBezTo>
                  <a:pt x="939234" y="3095741"/>
                  <a:pt x="0" y="2156507"/>
                  <a:pt x="0" y="997904"/>
                </a:cubicBezTo>
                <a:cubicBezTo>
                  <a:pt x="0" y="708253"/>
                  <a:pt x="58702" y="432313"/>
                  <a:pt x="164859" y="181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Объект 4" descr="Изображение выглядит как диаграмма, зарисовка, рисунок, Технический чертеж&#10;&#10;Автоматически созданное описание">
            <a:extLst>
              <a:ext uri="{FF2B5EF4-FFF2-40B4-BE49-F238E27FC236}">
                <a16:creationId xmlns:a16="http://schemas.microsoft.com/office/drawing/2014/main" id="{9A16D871-CA87-F99D-EF3B-B9957C7E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011" y="-79514"/>
            <a:ext cx="5169540" cy="7204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2A5F73-5C99-7AF1-A87E-425714A044AC}"/>
              </a:ext>
            </a:extLst>
          </p:cNvPr>
          <p:cNvSpPr txBox="1"/>
          <p:nvPr/>
        </p:nvSpPr>
        <p:spPr>
          <a:xfrm>
            <a:off x="2214939" y="535910"/>
            <a:ext cx="4195675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Прием</a:t>
            </a:r>
            <a:r>
              <a:rPr lang="en-US" sz="2000" b="1" dirty="0"/>
              <a:t> </a:t>
            </a:r>
            <a:r>
              <a:rPr lang="en-US" sz="2000" b="1" dirty="0" err="1"/>
              <a:t>и</a:t>
            </a:r>
            <a:r>
              <a:rPr lang="en-US" sz="2000" b="1" dirty="0"/>
              <a:t> </a:t>
            </a:r>
            <a:r>
              <a:rPr lang="en-US" sz="2000" b="1" dirty="0" err="1"/>
              <a:t>обработка</a:t>
            </a:r>
            <a:r>
              <a:rPr lang="en-US" sz="2000" b="1" dirty="0"/>
              <a:t> </a:t>
            </a:r>
            <a:r>
              <a:rPr lang="en-US" sz="2000" b="1" dirty="0" err="1"/>
              <a:t>документов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 err="1"/>
              <a:t>Блок-схема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53E99D-BDCB-9033-AD08-8C1486A1E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54" y="3684772"/>
            <a:ext cx="2752751" cy="2752751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634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50F2F26-9C2F-D74B-93C0-5356FB580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86266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979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36F77-45CF-4485-D004-057246459AD6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Паспорт проекта по оптимизации процесса сводки дел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87850D5-ED30-D5DD-7A3A-840EE536F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33102"/>
              </p:ext>
            </p:extLst>
          </p:nvPr>
        </p:nvGraphicFramePr>
        <p:xfrm>
          <a:off x="320040" y="2834497"/>
          <a:ext cx="11548873" cy="3184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313">
                  <a:extLst>
                    <a:ext uri="{9D8B030D-6E8A-4147-A177-3AD203B41FA5}">
                      <a16:colId xmlns:a16="http://schemas.microsoft.com/office/drawing/2014/main" val="931099343"/>
                    </a:ext>
                  </a:extLst>
                </a:gridCol>
                <a:gridCol w="1905313">
                  <a:extLst>
                    <a:ext uri="{9D8B030D-6E8A-4147-A177-3AD203B41FA5}">
                      <a16:colId xmlns:a16="http://schemas.microsoft.com/office/drawing/2014/main" val="3731310958"/>
                    </a:ext>
                  </a:extLst>
                </a:gridCol>
                <a:gridCol w="1970303">
                  <a:extLst>
                    <a:ext uri="{9D8B030D-6E8A-4147-A177-3AD203B41FA5}">
                      <a16:colId xmlns:a16="http://schemas.microsoft.com/office/drawing/2014/main" val="247897653"/>
                    </a:ext>
                  </a:extLst>
                </a:gridCol>
                <a:gridCol w="2195746">
                  <a:extLst>
                    <a:ext uri="{9D8B030D-6E8A-4147-A177-3AD203B41FA5}">
                      <a16:colId xmlns:a16="http://schemas.microsoft.com/office/drawing/2014/main" val="2128619547"/>
                    </a:ext>
                  </a:extLst>
                </a:gridCol>
                <a:gridCol w="1614880">
                  <a:extLst>
                    <a:ext uri="{9D8B030D-6E8A-4147-A177-3AD203B41FA5}">
                      <a16:colId xmlns:a16="http://schemas.microsoft.com/office/drawing/2014/main" val="1735482848"/>
                    </a:ext>
                  </a:extLst>
                </a:gridCol>
                <a:gridCol w="1957318">
                  <a:extLst>
                    <a:ext uri="{9D8B030D-6E8A-4147-A177-3AD203B41FA5}">
                      <a16:colId xmlns:a16="http://schemas.microsoft.com/office/drawing/2014/main" val="3183773508"/>
                    </a:ext>
                  </a:extLst>
                </a:gridCol>
              </a:tblGrid>
              <a:tr h="790734">
                <a:tc>
                  <a:txBody>
                    <a:bodyPr/>
                    <a:lstStyle/>
                    <a:p>
                      <a:r>
                        <a:rPr lang="ru-RU" sz="2100"/>
                        <a:t>Начало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Окончание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Руководитель проекта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Команда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Бюджет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Цель</a:t>
                      </a:r>
                    </a:p>
                  </a:txBody>
                  <a:tcPr marL="106856" marR="106856" marT="53428" marB="53428"/>
                </a:tc>
                <a:extLst>
                  <a:ext uri="{0D108BD9-81ED-4DB2-BD59-A6C34878D82A}">
                    <a16:rowId xmlns:a16="http://schemas.microsoft.com/office/drawing/2014/main" val="977215891"/>
                  </a:ext>
                </a:extLst>
              </a:tr>
              <a:tr h="2393571">
                <a:tc>
                  <a:txBody>
                    <a:bodyPr/>
                    <a:lstStyle/>
                    <a:p>
                      <a:r>
                        <a:rPr lang="ru-RU" sz="2100"/>
                        <a:t>01.09.2025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01.11.2025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Начальник архива КФУ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-сотрудники архива</a:t>
                      </a:r>
                    </a:p>
                    <a:p>
                      <a:r>
                        <a:rPr lang="ru-RU" sz="2100"/>
                        <a:t>-I</a:t>
                      </a:r>
                      <a:r>
                        <a:rPr lang="en-US" sz="2100"/>
                        <a:t>T-</a:t>
                      </a:r>
                      <a:r>
                        <a:rPr lang="ru-RU" sz="2100"/>
                        <a:t>специалисты</a:t>
                      </a:r>
                    </a:p>
                    <a:p>
                      <a:r>
                        <a:rPr lang="ru-RU" sz="2100"/>
                        <a:t>-секретари кафедр</a:t>
                      </a:r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15 200 рублей </a:t>
                      </a:r>
                    </a:p>
                    <a:p>
                      <a:endParaRPr lang="ru-RU" sz="2100"/>
                    </a:p>
                  </a:txBody>
                  <a:tcPr marL="106856" marR="106856" marT="53428" marB="53428"/>
                </a:tc>
                <a:tc>
                  <a:txBody>
                    <a:bodyPr/>
                    <a:lstStyle/>
                    <a:p>
                      <a:r>
                        <a:rPr lang="ru-RU" sz="2100"/>
                        <a:t>Сократить время проверки одного дела и снизить количество ошибок</a:t>
                      </a:r>
                    </a:p>
                  </a:txBody>
                  <a:tcPr marL="106856" marR="106856" marT="53428" marB="53428"/>
                </a:tc>
                <a:extLst>
                  <a:ext uri="{0D108BD9-81ED-4DB2-BD59-A6C34878D82A}">
                    <a16:rowId xmlns:a16="http://schemas.microsoft.com/office/drawing/2014/main" val="104478200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6BD72E-BD46-735D-188D-37777C5B4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06" y="664647"/>
            <a:ext cx="2411696" cy="24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87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D245E-9676-A580-41FF-45C6F4888835}"/>
              </a:ext>
            </a:extLst>
          </p:cNvPr>
          <p:cNvSpPr txBox="1"/>
          <p:nvPr/>
        </p:nvSpPr>
        <p:spPr>
          <a:xfrm>
            <a:off x="638882" y="639193"/>
            <a:ext cx="3692328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План</a:t>
            </a: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внедрения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844CFA1-CDAC-D997-FAA2-D94AE7A81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694852"/>
              </p:ext>
            </p:extLst>
          </p:nvPr>
        </p:nvGraphicFramePr>
        <p:xfrm>
          <a:off x="4331209" y="969265"/>
          <a:ext cx="7639116" cy="476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78">
                  <a:extLst>
                    <a:ext uri="{9D8B030D-6E8A-4147-A177-3AD203B41FA5}">
                      <a16:colId xmlns:a16="http://schemas.microsoft.com/office/drawing/2014/main" val="3475371740"/>
                    </a:ext>
                  </a:extLst>
                </a:gridCol>
                <a:gridCol w="1571629">
                  <a:extLst>
                    <a:ext uri="{9D8B030D-6E8A-4147-A177-3AD203B41FA5}">
                      <a16:colId xmlns:a16="http://schemas.microsoft.com/office/drawing/2014/main" val="3400919479"/>
                    </a:ext>
                  </a:extLst>
                </a:gridCol>
                <a:gridCol w="1793923">
                  <a:extLst>
                    <a:ext uri="{9D8B030D-6E8A-4147-A177-3AD203B41FA5}">
                      <a16:colId xmlns:a16="http://schemas.microsoft.com/office/drawing/2014/main" val="16005501"/>
                    </a:ext>
                  </a:extLst>
                </a:gridCol>
                <a:gridCol w="1153415">
                  <a:extLst>
                    <a:ext uri="{9D8B030D-6E8A-4147-A177-3AD203B41FA5}">
                      <a16:colId xmlns:a16="http://schemas.microsoft.com/office/drawing/2014/main" val="3286528047"/>
                    </a:ext>
                  </a:extLst>
                </a:gridCol>
                <a:gridCol w="2677571">
                  <a:extLst>
                    <a:ext uri="{9D8B030D-6E8A-4147-A177-3AD203B41FA5}">
                      <a16:colId xmlns:a16="http://schemas.microsoft.com/office/drawing/2014/main" val="1866289637"/>
                    </a:ext>
                  </a:extLst>
                </a:gridCol>
              </a:tblGrid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№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Мероприятие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Ответственный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Дата начала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Комментарий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3949615084"/>
                  </a:ext>
                </a:extLst>
              </a:tr>
              <a:tr h="796815">
                <a:tc>
                  <a:txBody>
                    <a:bodyPr/>
                    <a:lstStyle/>
                    <a:p>
                      <a:r>
                        <a:rPr lang="ru-RU" sz="1300"/>
                        <a:t>1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Анализ текущего процесса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Начальник архива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01.09.2025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Фиксация времени проверки дел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634996536"/>
                  </a:ext>
                </a:extLst>
              </a:tr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2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Разработка ТЗ для чат-бота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IT-</a:t>
                      </a:r>
                      <a:r>
                        <a:rPr lang="ru-RU" sz="1300"/>
                        <a:t>отдел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05.09.2025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Определение функционала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4061894091"/>
                  </a:ext>
                </a:extLst>
              </a:tr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3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Обучение сотрудников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Ведущий документовед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15.09.2025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Тренинг по обучению секретарей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35668121"/>
                  </a:ext>
                </a:extLst>
              </a:tr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4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Пилотный запуск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Рабочая группа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22.09.2025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Тестирование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4112549262"/>
                  </a:ext>
                </a:extLst>
              </a:tr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Сбор обратной связи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Руководитель проекта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05.10.2025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Анкетирование+корректировка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1927074510"/>
                  </a:ext>
                </a:extLst>
              </a:tr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6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Полное внедрение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Администрация архива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15.10.2025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Внедрение во всех институтах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2080262152"/>
                  </a:ext>
                </a:extLst>
              </a:tr>
              <a:tr h="566964">
                <a:tc>
                  <a:txBody>
                    <a:bodyPr/>
                    <a:lstStyle/>
                    <a:p>
                      <a:r>
                        <a:rPr lang="ru-RU" sz="1300"/>
                        <a:t>7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Контроль эффективности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QA-</a:t>
                      </a:r>
                      <a:r>
                        <a:rPr lang="ru-RU" sz="1300"/>
                        <a:t>специалист</a:t>
                      </a:r>
                    </a:p>
                    <a:p>
                      <a:endParaRPr lang="ru-RU" sz="1300"/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/>
                        <a:t>25.10.2025</a:t>
                      </a:r>
                    </a:p>
                  </a:txBody>
                  <a:tcPr marL="68320" marR="68320" marT="34160" marB="3416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Еженедельные отчеты</a:t>
                      </a:r>
                    </a:p>
                  </a:txBody>
                  <a:tcPr marL="68320" marR="68320" marT="34160" marB="34160"/>
                </a:tc>
                <a:extLst>
                  <a:ext uri="{0D108BD9-81ED-4DB2-BD59-A6C34878D82A}">
                    <a16:rowId xmlns:a16="http://schemas.microsoft.com/office/drawing/2014/main" val="1294422386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46D03C-32AA-45E9-512D-5843A0638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" y="109948"/>
            <a:ext cx="2186502" cy="218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38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2F8AD-A7DB-A89B-DF05-8B9F0130F741}"/>
              </a:ext>
            </a:extLst>
          </p:cNvPr>
          <p:cNvSpPr txBox="1"/>
          <p:nvPr/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39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птимизаци</a:t>
            </a:r>
            <a:r>
              <a:rPr lang="ru-RU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я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процесса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сводки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дел</a:t>
            </a:r>
            <a:endParaRPr lang="en-US" sz="39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3ED04B2-4CCE-29CA-62A2-DCBB31632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13070"/>
              </p:ext>
            </p:extLst>
          </p:nvPr>
        </p:nvGraphicFramePr>
        <p:xfrm>
          <a:off x="6096000" y="2320506"/>
          <a:ext cx="575679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395">
                  <a:extLst>
                    <a:ext uri="{9D8B030D-6E8A-4147-A177-3AD203B41FA5}">
                      <a16:colId xmlns:a16="http://schemas.microsoft.com/office/drawing/2014/main" val="2332656832"/>
                    </a:ext>
                  </a:extLst>
                </a:gridCol>
                <a:gridCol w="2878395">
                  <a:extLst>
                    <a:ext uri="{9D8B030D-6E8A-4147-A177-3AD203B41FA5}">
                      <a16:colId xmlns:a16="http://schemas.microsoft.com/office/drawing/2014/main" val="2657890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Ключевые параметры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Показатели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97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Зарплата специалиста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 </a:t>
                      </a:r>
                      <a:r>
                        <a:rPr lang="ru-RU" dirty="0" err="1"/>
                        <a:t>руб</a:t>
                      </a:r>
                      <a:r>
                        <a:rPr lang="ru-RU" dirty="0"/>
                        <a:t>/час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0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Ежедневная обработка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 дел за 135 минут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41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Исправление ошибок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 минут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888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Перешивание папок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 минут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647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91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C5D5258-176E-52A1-8F7F-971C45FDF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844834"/>
              </p:ext>
            </p:extLst>
          </p:nvPr>
        </p:nvGraphicFramePr>
        <p:xfrm>
          <a:off x="1223063" y="800892"/>
          <a:ext cx="970612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687">
                  <a:extLst>
                    <a:ext uri="{9D8B030D-6E8A-4147-A177-3AD203B41FA5}">
                      <a16:colId xmlns:a16="http://schemas.microsoft.com/office/drawing/2014/main" val="220208085"/>
                    </a:ext>
                  </a:extLst>
                </a:gridCol>
                <a:gridCol w="1617687">
                  <a:extLst>
                    <a:ext uri="{9D8B030D-6E8A-4147-A177-3AD203B41FA5}">
                      <a16:colId xmlns:a16="http://schemas.microsoft.com/office/drawing/2014/main" val="750453644"/>
                    </a:ext>
                  </a:extLst>
                </a:gridCol>
                <a:gridCol w="1617687">
                  <a:extLst>
                    <a:ext uri="{9D8B030D-6E8A-4147-A177-3AD203B41FA5}">
                      <a16:colId xmlns:a16="http://schemas.microsoft.com/office/drawing/2014/main" val="3729567487"/>
                    </a:ext>
                  </a:extLst>
                </a:gridCol>
                <a:gridCol w="1617687">
                  <a:extLst>
                    <a:ext uri="{9D8B030D-6E8A-4147-A177-3AD203B41FA5}">
                      <a16:colId xmlns:a16="http://schemas.microsoft.com/office/drawing/2014/main" val="2858338104"/>
                    </a:ext>
                  </a:extLst>
                </a:gridCol>
                <a:gridCol w="1617687">
                  <a:extLst>
                    <a:ext uri="{9D8B030D-6E8A-4147-A177-3AD203B41FA5}">
                      <a16:colId xmlns:a16="http://schemas.microsoft.com/office/drawing/2014/main" val="4176919643"/>
                    </a:ext>
                  </a:extLst>
                </a:gridCol>
                <a:gridCol w="1617687">
                  <a:extLst>
                    <a:ext uri="{9D8B030D-6E8A-4147-A177-3AD203B41FA5}">
                      <a16:colId xmlns:a16="http://schemas.microsoft.com/office/drawing/2014/main" val="255788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в часах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в рублях в 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Годовая экономия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8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Время на перешивание папок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12,5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12,5 минут=0,2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0,2</a:t>
                      </a:r>
                      <a:r>
                        <a:rPr lang="en-US" dirty="0"/>
                        <a:t>*200*22=800</a:t>
                      </a:r>
                      <a:r>
                        <a:rPr lang="ru-RU" dirty="0"/>
                        <a:t>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9600 рублей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01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Время на исправления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 минуты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 минут=0,13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0,13</a:t>
                      </a:r>
                      <a:r>
                        <a:rPr lang="en-US" dirty="0"/>
                        <a:t>*200*22=572 </a:t>
                      </a:r>
                      <a:r>
                        <a:rPr lang="ru-RU" dirty="0"/>
                        <a:t>рубля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6864 рубля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10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Общее  время проверки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135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114,5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20,5 минут=0,33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1372 рубля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16464 рубля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4317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5A1888F-B886-419A-AA52-15071C450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305457"/>
              </p:ext>
            </p:extLst>
          </p:nvPr>
        </p:nvGraphicFramePr>
        <p:xfrm>
          <a:off x="1223063" y="4576049"/>
          <a:ext cx="970612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74">
                  <a:extLst>
                    <a:ext uri="{9D8B030D-6E8A-4147-A177-3AD203B41FA5}">
                      <a16:colId xmlns:a16="http://schemas.microsoft.com/office/drawing/2014/main" val="3293098703"/>
                    </a:ext>
                  </a:extLst>
                </a:gridCol>
                <a:gridCol w="3235374">
                  <a:extLst>
                    <a:ext uri="{9D8B030D-6E8A-4147-A177-3AD203B41FA5}">
                      <a16:colId xmlns:a16="http://schemas.microsoft.com/office/drawing/2014/main" val="344894229"/>
                    </a:ext>
                  </a:extLst>
                </a:gridCol>
                <a:gridCol w="3235374">
                  <a:extLst>
                    <a:ext uri="{9D8B030D-6E8A-4147-A177-3AD203B41FA5}">
                      <a16:colId xmlns:a16="http://schemas.microsoft.com/office/drawing/2014/main" val="96216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Срок окупаемости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ЧДД за 3 года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7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200 рублей-обучение</a:t>
                      </a:r>
                    </a:p>
                    <a:p>
                      <a:r>
                        <a:rPr lang="ru-RU" dirty="0"/>
                        <a:t>15000 рублей-внедрение 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11,07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18945 рублей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7917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3B1EA2-0B29-90D3-B1D9-48087AD0EEE9}"/>
              </a:ext>
            </a:extLst>
          </p:cNvPr>
          <p:cNvSpPr txBox="1"/>
          <p:nvPr/>
        </p:nvSpPr>
        <p:spPr>
          <a:xfrm>
            <a:off x="3614752" y="224349"/>
            <a:ext cx="547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200" dirty="0" err="1">
                <a:latin typeface="+mj-lt"/>
                <a:ea typeface="+mj-ea"/>
                <a:cs typeface="+mj-cs"/>
              </a:rPr>
              <a:t>Расчет</a:t>
            </a:r>
            <a:r>
              <a:rPr lang="en-US" sz="18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1800" b="1" kern="1200" dirty="0" err="1">
                <a:latin typeface="+mj-lt"/>
                <a:ea typeface="+mj-ea"/>
                <a:cs typeface="+mj-cs"/>
              </a:rPr>
              <a:t>экономической</a:t>
            </a:r>
            <a:r>
              <a:rPr lang="en-US" sz="18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1800" b="1" kern="1200" dirty="0" err="1">
                <a:latin typeface="+mj-lt"/>
                <a:ea typeface="+mj-ea"/>
                <a:cs typeface="+mj-cs"/>
              </a:rPr>
              <a:t>эффективности</a:t>
            </a:r>
            <a:r>
              <a:rPr lang="en-US" sz="1800" b="1" kern="1200" dirty="0">
                <a:latin typeface="+mj-lt"/>
                <a:ea typeface="+mj-ea"/>
                <a:cs typeface="+mj-cs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0958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ED7614-43C1-A63A-F18E-58328D4E5399}"/>
              </a:ext>
            </a:extLst>
          </p:cNvPr>
          <p:cNvSpPr txBox="1"/>
          <p:nvPr/>
        </p:nvSpPr>
        <p:spPr>
          <a:xfrm>
            <a:off x="747345" y="59319"/>
            <a:ext cx="466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n w="0"/>
                <a:solidFill>
                  <a:schemeClr val="accent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Диаграмма 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SIPOC</a:t>
            </a:r>
            <a:endParaRPr lang="ru-RU" sz="3200" dirty="0">
              <a:ln w="0"/>
              <a:solidFill>
                <a:schemeClr val="accent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4" name="Стрелка: шеврон 3">
            <a:extLst>
              <a:ext uri="{FF2B5EF4-FFF2-40B4-BE49-F238E27FC236}">
                <a16:creationId xmlns:a16="http://schemas.microsoft.com/office/drawing/2014/main" id="{64975F41-2DFC-B16B-F0A6-A51B08AF3166}"/>
              </a:ext>
            </a:extLst>
          </p:cNvPr>
          <p:cNvSpPr/>
          <p:nvPr/>
        </p:nvSpPr>
        <p:spPr>
          <a:xfrm>
            <a:off x="2777853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Входы</a:t>
            </a:r>
          </a:p>
        </p:txBody>
      </p:sp>
      <p:sp>
        <p:nvSpPr>
          <p:cNvPr id="25" name="Стрелка: шеврон 4">
            <a:extLst>
              <a:ext uri="{FF2B5EF4-FFF2-40B4-BE49-F238E27FC236}">
                <a16:creationId xmlns:a16="http://schemas.microsoft.com/office/drawing/2014/main" id="{1115BDB2-0F3D-3A9E-3F82-AABF42BDCEBE}"/>
              </a:ext>
            </a:extLst>
          </p:cNvPr>
          <p:cNvSpPr/>
          <p:nvPr/>
        </p:nvSpPr>
        <p:spPr>
          <a:xfrm>
            <a:off x="752648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Результаты</a:t>
            </a:r>
          </a:p>
        </p:txBody>
      </p:sp>
      <p:sp>
        <p:nvSpPr>
          <p:cNvPr id="26" name="Стрелка: шеврон 5">
            <a:extLst>
              <a:ext uri="{FF2B5EF4-FFF2-40B4-BE49-F238E27FC236}">
                <a16:creationId xmlns:a16="http://schemas.microsoft.com/office/drawing/2014/main" id="{7E17DE9B-82BF-8DFE-1813-40093905F5D5}"/>
              </a:ext>
            </a:extLst>
          </p:cNvPr>
          <p:cNvSpPr/>
          <p:nvPr/>
        </p:nvSpPr>
        <p:spPr>
          <a:xfrm>
            <a:off x="461723" y="153255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aleway Medium" panose="020B0603030101060003" pitchFamily="34" charset="-52"/>
              </a:rPr>
              <a:t>Поставщики</a:t>
            </a:r>
          </a:p>
        </p:txBody>
      </p:sp>
      <p:sp>
        <p:nvSpPr>
          <p:cNvPr id="27" name="Стрелка: шеврон 6">
            <a:extLst>
              <a:ext uri="{FF2B5EF4-FFF2-40B4-BE49-F238E27FC236}">
                <a16:creationId xmlns:a16="http://schemas.microsoft.com/office/drawing/2014/main" id="{2D2156D5-3C36-1F97-CE49-A1577F99FEE8}"/>
              </a:ext>
            </a:extLst>
          </p:cNvPr>
          <p:cNvSpPr/>
          <p:nvPr/>
        </p:nvSpPr>
        <p:spPr>
          <a:xfrm>
            <a:off x="980936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Клиенты</a:t>
            </a:r>
          </a:p>
        </p:txBody>
      </p:sp>
      <p:sp>
        <p:nvSpPr>
          <p:cNvPr id="28" name="Стрелка: шеврон 7">
            <a:extLst>
              <a:ext uri="{FF2B5EF4-FFF2-40B4-BE49-F238E27FC236}">
                <a16:creationId xmlns:a16="http://schemas.microsoft.com/office/drawing/2014/main" id="{E0A6C90D-6502-8D6A-4463-FB18BDFD6FF4}"/>
              </a:ext>
            </a:extLst>
          </p:cNvPr>
          <p:cNvSpPr/>
          <p:nvPr/>
        </p:nvSpPr>
        <p:spPr>
          <a:xfrm>
            <a:off x="5160483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Процесс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5659986-AF83-9811-D147-FF8427278693}"/>
              </a:ext>
            </a:extLst>
          </p:cNvPr>
          <p:cNvSpPr/>
          <p:nvPr/>
        </p:nvSpPr>
        <p:spPr>
          <a:xfrm>
            <a:off x="2834308" y="2576614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>
                <a:latin typeface="Raleway Medium" panose="020B0603030101060003" pitchFamily="34" charset="-52"/>
              </a:rPr>
              <a:t>-Заявка от гражданина</a:t>
            </a:r>
          </a:p>
          <a:p>
            <a:r>
              <a:rPr lang="ru-RU" sz="1400" dirty="0">
                <a:latin typeface="Raleway Medium" panose="020B0603030101060003" pitchFamily="34" charset="-52"/>
              </a:rPr>
              <a:t>-Личное дело гражданина</a:t>
            </a:r>
          </a:p>
          <a:p>
            <a:r>
              <a:rPr lang="ru-RU" sz="1400" dirty="0">
                <a:latin typeface="Raleway Medium" panose="020B0603030101060003" pitchFamily="34" charset="-52"/>
              </a:rPr>
              <a:t>-Расчетные листы гражданина</a:t>
            </a:r>
          </a:p>
          <a:p>
            <a:pPr algn="ctr"/>
            <a:endParaRPr lang="ru-RU" sz="1400" dirty="0">
              <a:latin typeface="Raleway Medium" panose="020B0603030101060003" pitchFamily="34" charset="-52"/>
            </a:endParaRPr>
          </a:p>
          <a:p>
            <a:pPr algn="ctr"/>
            <a:endParaRPr lang="ru-RU" sz="1400" dirty="0">
              <a:latin typeface="Raleway Medium" panose="020B0603030101060003" pitchFamily="34" charset="-52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3C08CC-6AD3-5481-10C3-632A861707B9}"/>
              </a:ext>
            </a:extLst>
          </p:cNvPr>
          <p:cNvSpPr/>
          <p:nvPr/>
        </p:nvSpPr>
        <p:spPr>
          <a:xfrm>
            <a:off x="4973108" y="2576563"/>
            <a:ext cx="2287380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Прием и обработка запросов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 Поиск и подготовка документов в архиве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Формирование и заверение справки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Выдача справки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B8B2B0D-ACC4-7DF9-1340-54A4AE33547A}"/>
              </a:ext>
            </a:extLst>
          </p:cNvPr>
          <p:cNvSpPr/>
          <p:nvPr/>
        </p:nvSpPr>
        <p:spPr>
          <a:xfrm>
            <a:off x="529258" y="2492855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Raleway Medium" panose="020B0603030101060003" pitchFamily="34" charset="-52"/>
              </a:rPr>
              <a:t>Архив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0C5F05F-DF6C-A710-C403-5F4AB2EAFB91}"/>
              </a:ext>
            </a:extLst>
          </p:cNvPr>
          <p:cNvSpPr/>
          <p:nvPr/>
        </p:nvSpPr>
        <p:spPr>
          <a:xfrm>
            <a:off x="9886949" y="2454032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Raleway Medium" panose="020B0603030101060003" pitchFamily="34" charset="-52"/>
              </a:rPr>
              <a:t>Граждане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F50E087-9F20-D1FA-2798-9410C4FE27E8}"/>
              </a:ext>
            </a:extLst>
          </p:cNvPr>
          <p:cNvSpPr/>
          <p:nvPr/>
        </p:nvSpPr>
        <p:spPr>
          <a:xfrm>
            <a:off x="7581899" y="2542448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>
                <a:latin typeface="Raleway Medium" panose="020B0603030101060003" pitchFamily="34" charset="-52"/>
              </a:rPr>
              <a:t>Сформированная справка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5F3991-9425-BD66-6CE1-ACA6820DC459}"/>
              </a:ext>
            </a:extLst>
          </p:cNvPr>
          <p:cNvSpPr txBox="1"/>
          <p:nvPr/>
        </p:nvSpPr>
        <p:spPr>
          <a:xfrm>
            <a:off x="747345" y="788218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Raleway ExtraBold" panose="020B0903030101060003" pitchFamily="34" charset="-52"/>
              </a:rPr>
              <a:t>Исполнение заявлений граждан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49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31318BF-AB3E-A438-B106-DC5705F38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25261" y="2251515"/>
            <a:ext cx="3126013" cy="312601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6992456-5510-CD64-2AA0-7E572FDDCE0A}"/>
              </a:ext>
            </a:extLst>
          </p:cNvPr>
          <p:cNvSpPr txBox="1"/>
          <p:nvPr/>
        </p:nvSpPr>
        <p:spPr>
          <a:xfrm>
            <a:off x="3255933" y="19606"/>
            <a:ext cx="5109073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perspective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ru-RU" sz="4400" b="1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Value Stream Map</a:t>
            </a: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endParaRPr lang="ru-RU" dirty="0">
              <a:ln w="0">
                <a:solidFill>
                  <a:schemeClr val="tx1"/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0F0CA6-C73E-EFEC-78C1-E38C4B00271A}"/>
              </a:ext>
            </a:extLst>
          </p:cNvPr>
          <p:cNvSpPr txBox="1"/>
          <p:nvPr/>
        </p:nvSpPr>
        <p:spPr>
          <a:xfrm>
            <a:off x="1402210" y="779517"/>
            <a:ext cx="5109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Исполнение заявлений граждан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881E30E-06B6-38A5-44ED-B27B4FAE4744}"/>
              </a:ext>
            </a:extLst>
          </p:cNvPr>
          <p:cNvSpPr/>
          <p:nvPr/>
        </p:nvSpPr>
        <p:spPr>
          <a:xfrm>
            <a:off x="1453516" y="3165944"/>
            <a:ext cx="908293" cy="45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10560FD-32F1-A3B4-9F27-C7F8D7B1E08D}"/>
              </a:ext>
            </a:extLst>
          </p:cNvPr>
          <p:cNvCxnSpPr>
            <a:cxnSpLocks/>
          </p:cNvCxnSpPr>
          <p:nvPr/>
        </p:nvCxnSpPr>
        <p:spPr>
          <a:xfrm>
            <a:off x="1462146" y="3184635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703DFF6-F31C-ADB6-13F0-294A316E675B}"/>
              </a:ext>
            </a:extLst>
          </p:cNvPr>
          <p:cNvCxnSpPr>
            <a:cxnSpLocks/>
          </p:cNvCxnSpPr>
          <p:nvPr/>
        </p:nvCxnSpPr>
        <p:spPr>
          <a:xfrm>
            <a:off x="930158" y="3682314"/>
            <a:ext cx="529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F6429C56-2101-16D4-CAB0-EB4AEF8197FE}"/>
              </a:ext>
            </a:extLst>
          </p:cNvPr>
          <p:cNvCxnSpPr>
            <a:cxnSpLocks/>
          </p:cNvCxnSpPr>
          <p:nvPr/>
        </p:nvCxnSpPr>
        <p:spPr>
          <a:xfrm>
            <a:off x="930158" y="319407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E527593-EDE4-83FB-776F-FB09054B50F8}"/>
              </a:ext>
            </a:extLst>
          </p:cNvPr>
          <p:cNvSpPr/>
          <p:nvPr/>
        </p:nvSpPr>
        <p:spPr>
          <a:xfrm>
            <a:off x="2624505" y="3136217"/>
            <a:ext cx="1774435" cy="484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E1DC9D56-0B29-03B6-4666-4F65DD6DEC73}"/>
              </a:ext>
            </a:extLst>
          </p:cNvPr>
          <p:cNvCxnSpPr>
            <a:cxnSpLocks/>
          </p:cNvCxnSpPr>
          <p:nvPr/>
        </p:nvCxnSpPr>
        <p:spPr>
          <a:xfrm>
            <a:off x="4399101" y="319407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D6C32F73-0B08-2B52-027A-217C50AEC362}"/>
              </a:ext>
            </a:extLst>
          </p:cNvPr>
          <p:cNvCxnSpPr>
            <a:cxnSpLocks/>
          </p:cNvCxnSpPr>
          <p:nvPr/>
        </p:nvCxnSpPr>
        <p:spPr>
          <a:xfrm>
            <a:off x="4399101" y="3700707"/>
            <a:ext cx="3515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EDCEB518-5074-8E78-F7FD-A9F4B0026BC2}"/>
              </a:ext>
            </a:extLst>
          </p:cNvPr>
          <p:cNvCxnSpPr>
            <a:cxnSpLocks/>
          </p:cNvCxnSpPr>
          <p:nvPr/>
        </p:nvCxnSpPr>
        <p:spPr>
          <a:xfrm>
            <a:off x="4750676" y="3202331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7E6F368-8DC3-0501-2C4B-350ED946A217}"/>
              </a:ext>
            </a:extLst>
          </p:cNvPr>
          <p:cNvSpPr/>
          <p:nvPr/>
        </p:nvSpPr>
        <p:spPr>
          <a:xfrm>
            <a:off x="4750675" y="3148360"/>
            <a:ext cx="1098829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88117709-CE1A-7C93-5157-FEEB98CDB08B}"/>
              </a:ext>
            </a:extLst>
          </p:cNvPr>
          <p:cNvCxnSpPr>
            <a:cxnSpLocks/>
          </p:cNvCxnSpPr>
          <p:nvPr/>
        </p:nvCxnSpPr>
        <p:spPr>
          <a:xfrm>
            <a:off x="5870028" y="3202331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15E19447-DD70-683B-E16E-E5D07D1FDFB5}"/>
              </a:ext>
            </a:extLst>
          </p:cNvPr>
          <p:cNvCxnSpPr>
            <a:cxnSpLocks/>
          </p:cNvCxnSpPr>
          <p:nvPr/>
        </p:nvCxnSpPr>
        <p:spPr>
          <a:xfrm>
            <a:off x="5870028" y="3708959"/>
            <a:ext cx="14580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50BBE22-9DB1-C129-5BF0-5CECF69EAE0B}"/>
              </a:ext>
            </a:extLst>
          </p:cNvPr>
          <p:cNvCxnSpPr>
            <a:cxnSpLocks/>
          </p:cNvCxnSpPr>
          <p:nvPr/>
        </p:nvCxnSpPr>
        <p:spPr>
          <a:xfrm>
            <a:off x="7328076" y="3212472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C2A3896-99BA-2013-2782-FF3B9B5A992D}"/>
              </a:ext>
            </a:extLst>
          </p:cNvPr>
          <p:cNvSpPr/>
          <p:nvPr/>
        </p:nvSpPr>
        <p:spPr>
          <a:xfrm>
            <a:off x="7328076" y="3120770"/>
            <a:ext cx="72521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278BF9-088E-0FA2-7864-A364500428F2}"/>
              </a:ext>
            </a:extLst>
          </p:cNvPr>
          <p:cNvSpPr txBox="1"/>
          <p:nvPr/>
        </p:nvSpPr>
        <p:spPr>
          <a:xfrm>
            <a:off x="1013664" y="2144422"/>
            <a:ext cx="226382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Принятие заявление гражданина (ответ на звонок, чтение почты, прямой диалог)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FD9EDD-AE47-4D15-6928-11EF98D4AE86}"/>
              </a:ext>
            </a:extLst>
          </p:cNvPr>
          <p:cNvSpPr txBox="1"/>
          <p:nvPr/>
        </p:nvSpPr>
        <p:spPr>
          <a:xfrm>
            <a:off x="1068659" y="3237967"/>
            <a:ext cx="217699" cy="38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E4C56F-5B61-5CA4-9044-D2AC159E0701}"/>
              </a:ext>
            </a:extLst>
          </p:cNvPr>
          <p:cNvSpPr txBox="1"/>
          <p:nvPr/>
        </p:nvSpPr>
        <p:spPr>
          <a:xfrm>
            <a:off x="2828709" y="2546835"/>
            <a:ext cx="16302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Поиск дела гражданина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7935D9-F783-A233-DCB3-9FA2AD940953}"/>
              </a:ext>
            </a:extLst>
          </p:cNvPr>
          <p:cNvSpPr txBox="1"/>
          <p:nvPr/>
        </p:nvSpPr>
        <p:spPr>
          <a:xfrm>
            <a:off x="4435455" y="3264612"/>
            <a:ext cx="426103" cy="375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7C9401-F440-91B3-C1C6-4645E1770134}"/>
              </a:ext>
            </a:extLst>
          </p:cNvPr>
          <p:cNvSpPr txBox="1"/>
          <p:nvPr/>
        </p:nvSpPr>
        <p:spPr>
          <a:xfrm>
            <a:off x="813818" y="3729067"/>
            <a:ext cx="9450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Включение компьютера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AEB127-1CCA-145E-47E4-9E5373B9A586}"/>
              </a:ext>
            </a:extLst>
          </p:cNvPr>
          <p:cNvSpPr txBox="1"/>
          <p:nvPr/>
        </p:nvSpPr>
        <p:spPr>
          <a:xfrm>
            <a:off x="3995669" y="3858441"/>
            <a:ext cx="10988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Открывание шаблона необходимой справки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23C187-2B3C-DDFD-B83C-F8EC62F97558}"/>
              </a:ext>
            </a:extLst>
          </p:cNvPr>
          <p:cNvSpPr txBox="1"/>
          <p:nvPr/>
        </p:nvSpPr>
        <p:spPr>
          <a:xfrm>
            <a:off x="4614046" y="2505838"/>
            <a:ext cx="17972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Формирование справки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6E6353-E015-C6D7-2DF1-3CEBA6833641}"/>
              </a:ext>
            </a:extLst>
          </p:cNvPr>
          <p:cNvSpPr txBox="1"/>
          <p:nvPr/>
        </p:nvSpPr>
        <p:spPr>
          <a:xfrm>
            <a:off x="6423660" y="3270979"/>
            <a:ext cx="59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F8566D-2DB1-3A5A-7DB6-BCBCB6C224D0}"/>
              </a:ext>
            </a:extLst>
          </p:cNvPr>
          <p:cNvSpPr txBox="1"/>
          <p:nvPr/>
        </p:nvSpPr>
        <p:spPr>
          <a:xfrm>
            <a:off x="5637485" y="3880606"/>
            <a:ext cx="17184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Ожидание подтверждения справки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BCC89B-7C5B-8880-FAEC-6C05E2FBC488}"/>
              </a:ext>
            </a:extLst>
          </p:cNvPr>
          <p:cNvSpPr txBox="1"/>
          <p:nvPr/>
        </p:nvSpPr>
        <p:spPr>
          <a:xfrm>
            <a:off x="7212462" y="2298782"/>
            <a:ext cx="15524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Выдача справки</a:t>
            </a:r>
          </a:p>
        </p:txBody>
      </p: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0768A729-2610-8C17-BBE0-7028CD65F658}"/>
              </a:ext>
            </a:extLst>
          </p:cNvPr>
          <p:cNvCxnSpPr>
            <a:cxnSpLocks/>
          </p:cNvCxnSpPr>
          <p:nvPr/>
        </p:nvCxnSpPr>
        <p:spPr>
          <a:xfrm>
            <a:off x="2370439" y="3682314"/>
            <a:ext cx="2540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006107FA-BBF0-26D1-9E0F-780E0A95F8E1}"/>
              </a:ext>
            </a:extLst>
          </p:cNvPr>
          <p:cNvCxnSpPr>
            <a:cxnSpLocks/>
          </p:cNvCxnSpPr>
          <p:nvPr/>
        </p:nvCxnSpPr>
        <p:spPr>
          <a:xfrm>
            <a:off x="2370439" y="3175686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D7BEA2C1-E376-EB5A-247C-47E2275586A9}"/>
              </a:ext>
            </a:extLst>
          </p:cNvPr>
          <p:cNvCxnSpPr>
            <a:cxnSpLocks/>
          </p:cNvCxnSpPr>
          <p:nvPr/>
        </p:nvCxnSpPr>
        <p:spPr>
          <a:xfrm>
            <a:off x="2624505" y="316648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55A2822-4B5C-EA58-24B7-5477E0CF751C}"/>
              </a:ext>
            </a:extLst>
          </p:cNvPr>
          <p:cNvSpPr txBox="1"/>
          <p:nvPr/>
        </p:nvSpPr>
        <p:spPr>
          <a:xfrm>
            <a:off x="4435454" y="3264613"/>
            <a:ext cx="426103" cy="375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C68A78-A85C-889F-7BA6-ED1022118886}"/>
              </a:ext>
            </a:extLst>
          </p:cNvPr>
          <p:cNvSpPr txBox="1"/>
          <p:nvPr/>
        </p:nvSpPr>
        <p:spPr>
          <a:xfrm>
            <a:off x="2328731" y="3277936"/>
            <a:ext cx="426103" cy="375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3B3064-9E98-8EC8-08D9-2362EF83DAD8}"/>
              </a:ext>
            </a:extLst>
          </p:cNvPr>
          <p:cNvSpPr txBox="1"/>
          <p:nvPr/>
        </p:nvSpPr>
        <p:spPr>
          <a:xfrm>
            <a:off x="2151966" y="3730979"/>
            <a:ext cx="10382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Субъективная обработка запроса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C085E1-2157-4D20-B52E-14ED113F8ADA}"/>
              </a:ext>
            </a:extLst>
          </p:cNvPr>
          <p:cNvSpPr txBox="1"/>
          <p:nvPr/>
        </p:nvSpPr>
        <p:spPr>
          <a:xfrm>
            <a:off x="1286357" y="5141156"/>
            <a:ext cx="2080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Итого: 116 минут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257609-27D3-C84F-91A0-487058DA552E}"/>
              </a:ext>
            </a:extLst>
          </p:cNvPr>
          <p:cNvSpPr txBox="1"/>
          <p:nvPr/>
        </p:nvSpPr>
        <p:spPr>
          <a:xfrm>
            <a:off x="1716212" y="2840466"/>
            <a:ext cx="488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6C2511-BF82-35A8-D230-2BB92BADD8BC}"/>
              </a:ext>
            </a:extLst>
          </p:cNvPr>
          <p:cNvSpPr txBox="1"/>
          <p:nvPr/>
        </p:nvSpPr>
        <p:spPr>
          <a:xfrm>
            <a:off x="3363668" y="2812876"/>
            <a:ext cx="59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2551C2-80BF-774E-3E90-4E4B5DC3FEDE}"/>
              </a:ext>
            </a:extLst>
          </p:cNvPr>
          <p:cNvSpPr txBox="1"/>
          <p:nvPr/>
        </p:nvSpPr>
        <p:spPr>
          <a:xfrm>
            <a:off x="5118727" y="2812876"/>
            <a:ext cx="57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A27E0A-8BE2-94D3-130A-7E72476B8710}"/>
              </a:ext>
            </a:extLst>
          </p:cNvPr>
          <p:cNvSpPr txBox="1"/>
          <p:nvPr/>
        </p:nvSpPr>
        <p:spPr>
          <a:xfrm>
            <a:off x="7588818" y="2800751"/>
            <a:ext cx="45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0426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ED95D-5787-E472-CC90-3361C1683CC3}"/>
              </a:ext>
            </a:extLst>
          </p:cNvPr>
          <p:cNvSpPr txBox="1"/>
          <p:nvPr/>
        </p:nvSpPr>
        <p:spPr>
          <a:xfrm>
            <a:off x="6657719" y="-379416"/>
            <a:ext cx="4928443" cy="20525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dirty="0" err="1">
                <a:latin typeface="+mj-lt"/>
                <a:ea typeface="+mj-ea"/>
                <a:cs typeface="+mj-cs"/>
              </a:rPr>
              <a:t>Исполнение</a:t>
            </a:r>
            <a:r>
              <a:rPr lang="en-US" sz="4300" b="1" dirty="0">
                <a:latin typeface="+mj-lt"/>
                <a:ea typeface="+mj-ea"/>
                <a:cs typeface="+mj-cs"/>
              </a:rPr>
              <a:t> </a:t>
            </a:r>
            <a:r>
              <a:rPr lang="en-US" sz="4300" b="1" dirty="0" err="1">
                <a:latin typeface="+mj-lt"/>
                <a:ea typeface="+mj-ea"/>
                <a:cs typeface="+mj-cs"/>
              </a:rPr>
              <a:t>заявлений</a:t>
            </a:r>
            <a:r>
              <a:rPr lang="en-US" sz="4300" b="1" dirty="0">
                <a:latin typeface="+mj-lt"/>
                <a:ea typeface="+mj-ea"/>
                <a:cs typeface="+mj-cs"/>
              </a:rPr>
              <a:t> </a:t>
            </a:r>
            <a:r>
              <a:rPr lang="en-US" sz="4300" b="1" dirty="0" err="1">
                <a:latin typeface="+mj-lt"/>
                <a:ea typeface="+mj-ea"/>
                <a:cs typeface="+mj-cs"/>
              </a:rPr>
              <a:t>граждан</a:t>
            </a:r>
            <a:endParaRPr lang="en-US" sz="4300" b="1" dirty="0">
              <a:latin typeface="+mj-lt"/>
              <a:ea typeface="+mj-ea"/>
              <a:cs typeface="+mj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30E90E-30F5-5631-9B93-17A829C21875}"/>
              </a:ext>
            </a:extLst>
          </p:cNvPr>
          <p:cNvSpPr txBox="1"/>
          <p:nvPr/>
        </p:nvSpPr>
        <p:spPr>
          <a:xfrm>
            <a:off x="6388118" y="2280062"/>
            <a:ext cx="5356577" cy="4110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 Define (</a:t>
            </a:r>
            <a:r>
              <a:rPr lang="en-US" sz="1400" b="1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Определение</a:t>
            </a: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)</a:t>
            </a:r>
            <a:endParaRPr lang="en-US" sz="1400" b="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Проблема</a:t>
            </a: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: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длительный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поиск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дела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в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архиве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КФУ</a:t>
            </a: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Цель</a:t>
            </a: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: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Сократить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время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поиска</a:t>
            </a:r>
            <a:endParaRPr lang="en-US" sz="1400" b="0" i="0" u="none" strike="noStrike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Measure (</a:t>
            </a:r>
            <a:r>
              <a:rPr lang="en-US" sz="1400" b="1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Измерение</a:t>
            </a: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)</a:t>
            </a:r>
            <a:endParaRPr lang="en-US" sz="1400" b="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Текущее</a:t>
            </a: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1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состояние</a:t>
            </a:r>
            <a:r>
              <a:rPr lang="en-US" sz="1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: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</a:p>
          <a:p>
            <a:pPr marL="457200"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240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минут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–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поиск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дела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</a:p>
          <a:p>
            <a:pPr marL="457200"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Количество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выполненных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alpha val="80000"/>
                  </a:schemeClr>
                </a:solidFill>
                <a:effectLst/>
              </a:rPr>
              <a:t>заявок</a:t>
            </a:r>
            <a:r>
              <a:rPr lang="en-US" sz="1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- 6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1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3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2E33DC-5CB7-7BB7-C987-34EB15B7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92" y="1463169"/>
            <a:ext cx="3775467" cy="377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63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EF9C2-2EC4-2600-EF90-DF4D2FA83497}"/>
              </a:ext>
            </a:extLst>
          </p:cNvPr>
          <p:cNvSpPr txBox="1"/>
          <p:nvPr/>
        </p:nvSpPr>
        <p:spPr>
          <a:xfrm>
            <a:off x="9267909" y="2023110"/>
            <a:ext cx="2469624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Диаграмма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Исикавы</a:t>
            </a: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3E05D1-AC78-16F0-3CE8-8E58FD815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" t="13276" b="11584"/>
          <a:stretch/>
        </p:blipFill>
        <p:spPr>
          <a:xfrm>
            <a:off x="545238" y="2144066"/>
            <a:ext cx="7608304" cy="264082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1">
            <a:extLst>
              <a:ext uri="{FF2B5EF4-FFF2-40B4-BE49-F238E27FC236}">
                <a16:creationId xmlns:a16="http://schemas.microsoft.com/office/drawing/2014/main" id="{F6F1209C-B7AA-FEF4-BB40-F3301CBC9AC3}"/>
              </a:ext>
            </a:extLst>
          </p:cNvPr>
          <p:cNvGrpSpPr/>
          <p:nvPr/>
        </p:nvGrpSpPr>
        <p:grpSpPr>
          <a:xfrm>
            <a:off x="7045452" y="4031620"/>
            <a:ext cx="1013383" cy="912428"/>
            <a:chOff x="2800438" y="2695317"/>
            <a:chExt cx="966528" cy="966528"/>
          </a:xfrm>
        </p:grpSpPr>
        <p:sp>
          <p:nvSpPr>
            <p:cNvPr id="10" name="Freeform 41">
              <a:extLst>
                <a:ext uri="{FF2B5EF4-FFF2-40B4-BE49-F238E27FC236}">
                  <a16:creationId xmlns:a16="http://schemas.microsoft.com/office/drawing/2014/main" id="{26C95CF3-41DC-19D6-FC97-B54070FFBF1A}"/>
                </a:ext>
              </a:extLst>
            </p:cNvPr>
            <p:cNvSpPr/>
            <p:nvPr/>
          </p:nvSpPr>
          <p:spPr>
            <a:xfrm>
              <a:off x="2800438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iṧ1ïḍê">
              <a:extLst>
                <a:ext uri="{FF2B5EF4-FFF2-40B4-BE49-F238E27FC236}">
                  <a16:creationId xmlns:a16="http://schemas.microsoft.com/office/drawing/2014/main" id="{53A56734-C488-9115-EFE9-4D6B53EDFDEF}"/>
                </a:ext>
              </a:extLst>
            </p:cNvPr>
            <p:cNvSpPr/>
            <p:nvPr/>
          </p:nvSpPr>
          <p:spPr bwMode="auto">
            <a:xfrm>
              <a:off x="3084425" y="3043577"/>
              <a:ext cx="398553" cy="343058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组合 14">
            <a:extLst>
              <a:ext uri="{FF2B5EF4-FFF2-40B4-BE49-F238E27FC236}">
                <a16:creationId xmlns:a16="http://schemas.microsoft.com/office/drawing/2014/main" id="{C9B3A978-EEA3-152C-5D8D-FF150CE5118A}"/>
              </a:ext>
            </a:extLst>
          </p:cNvPr>
          <p:cNvGrpSpPr/>
          <p:nvPr/>
        </p:nvGrpSpPr>
        <p:grpSpPr>
          <a:xfrm>
            <a:off x="5451382" y="2723641"/>
            <a:ext cx="966528" cy="966528"/>
            <a:chOff x="5693535" y="2695317"/>
            <a:chExt cx="966528" cy="966528"/>
          </a:xfrm>
        </p:grpSpPr>
        <p:sp>
          <p:nvSpPr>
            <p:cNvPr id="13" name="Freeform 43">
              <a:extLst>
                <a:ext uri="{FF2B5EF4-FFF2-40B4-BE49-F238E27FC236}">
                  <a16:creationId xmlns:a16="http://schemas.microsoft.com/office/drawing/2014/main" id="{EFA6B9B2-1549-FF10-5276-B3894700C955}"/>
                </a:ext>
              </a:extLst>
            </p:cNvPr>
            <p:cNvSpPr/>
            <p:nvPr/>
          </p:nvSpPr>
          <p:spPr>
            <a:xfrm>
              <a:off x="5693535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îṡľiḍê">
              <a:extLst>
                <a:ext uri="{FF2B5EF4-FFF2-40B4-BE49-F238E27FC236}">
                  <a16:creationId xmlns:a16="http://schemas.microsoft.com/office/drawing/2014/main" id="{CE57E3F8-B00A-18BF-B676-82F182C351BA}"/>
                </a:ext>
              </a:extLst>
            </p:cNvPr>
            <p:cNvSpPr/>
            <p:nvPr/>
          </p:nvSpPr>
          <p:spPr bwMode="auto">
            <a:xfrm>
              <a:off x="6017971" y="3019262"/>
              <a:ext cx="398553" cy="300177"/>
            </a:xfrm>
            <a:custGeom>
              <a:avLst/>
              <a:gdLst/>
              <a:ahLst/>
              <a:cxnLst>
                <a:cxn ang="0">
                  <a:pos x="158" y="119"/>
                </a:cxn>
                <a:cxn ang="0">
                  <a:pos x="0" y="119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9" y="108"/>
                </a:cxn>
                <a:cxn ang="0">
                  <a:pos x="158" y="108"/>
                </a:cxn>
                <a:cxn ang="0">
                  <a:pos x="158" y="119"/>
                </a:cxn>
                <a:cxn ang="0">
                  <a:pos x="50" y="99"/>
                </a:cxn>
                <a:cxn ang="0">
                  <a:pos x="29" y="99"/>
                </a:cxn>
                <a:cxn ang="0">
                  <a:pos x="29" y="60"/>
                </a:cxn>
                <a:cxn ang="0">
                  <a:pos x="50" y="60"/>
                </a:cxn>
                <a:cxn ang="0">
                  <a:pos x="50" y="99"/>
                </a:cxn>
                <a:cxn ang="0">
                  <a:pos x="78" y="99"/>
                </a:cxn>
                <a:cxn ang="0">
                  <a:pos x="59" y="99"/>
                </a:cxn>
                <a:cxn ang="0">
                  <a:pos x="59" y="19"/>
                </a:cxn>
                <a:cxn ang="0">
                  <a:pos x="78" y="19"/>
                </a:cxn>
                <a:cxn ang="0">
                  <a:pos x="78" y="99"/>
                </a:cxn>
                <a:cxn ang="0">
                  <a:pos x="109" y="99"/>
                </a:cxn>
                <a:cxn ang="0">
                  <a:pos x="89" y="99"/>
                </a:cxn>
                <a:cxn ang="0">
                  <a:pos x="89" y="39"/>
                </a:cxn>
                <a:cxn ang="0">
                  <a:pos x="109" y="39"/>
                </a:cxn>
                <a:cxn ang="0">
                  <a:pos x="109" y="99"/>
                </a:cxn>
                <a:cxn ang="0">
                  <a:pos x="139" y="99"/>
                </a:cxn>
                <a:cxn ang="0">
                  <a:pos x="119" y="99"/>
                </a:cxn>
                <a:cxn ang="0">
                  <a:pos x="119" y="11"/>
                </a:cxn>
                <a:cxn ang="0">
                  <a:pos x="139" y="11"/>
                </a:cxn>
                <a:cxn ang="0">
                  <a:pos x="139" y="99"/>
                </a:cxn>
              </a:cxnLst>
              <a:rect l="0" t="0" r="r" b="b"/>
              <a:pathLst>
                <a:path w="158" h="119">
                  <a:moveTo>
                    <a:pt x="158" y="11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8"/>
                  </a:lnTo>
                  <a:lnTo>
                    <a:pt x="158" y="108"/>
                  </a:lnTo>
                  <a:lnTo>
                    <a:pt x="158" y="119"/>
                  </a:lnTo>
                  <a:close/>
                  <a:moveTo>
                    <a:pt x="50" y="99"/>
                  </a:moveTo>
                  <a:lnTo>
                    <a:pt x="29" y="99"/>
                  </a:lnTo>
                  <a:lnTo>
                    <a:pt x="29" y="60"/>
                  </a:lnTo>
                  <a:lnTo>
                    <a:pt x="50" y="60"/>
                  </a:lnTo>
                  <a:lnTo>
                    <a:pt x="50" y="99"/>
                  </a:lnTo>
                  <a:close/>
                  <a:moveTo>
                    <a:pt x="78" y="99"/>
                  </a:moveTo>
                  <a:lnTo>
                    <a:pt x="59" y="99"/>
                  </a:lnTo>
                  <a:lnTo>
                    <a:pt x="59" y="19"/>
                  </a:lnTo>
                  <a:lnTo>
                    <a:pt x="78" y="19"/>
                  </a:lnTo>
                  <a:lnTo>
                    <a:pt x="78" y="99"/>
                  </a:lnTo>
                  <a:close/>
                  <a:moveTo>
                    <a:pt x="109" y="99"/>
                  </a:moveTo>
                  <a:lnTo>
                    <a:pt x="89" y="99"/>
                  </a:lnTo>
                  <a:lnTo>
                    <a:pt x="89" y="39"/>
                  </a:lnTo>
                  <a:lnTo>
                    <a:pt x="109" y="39"/>
                  </a:lnTo>
                  <a:lnTo>
                    <a:pt x="109" y="99"/>
                  </a:lnTo>
                  <a:close/>
                  <a:moveTo>
                    <a:pt x="139" y="99"/>
                  </a:moveTo>
                  <a:lnTo>
                    <a:pt x="119" y="99"/>
                  </a:lnTo>
                  <a:lnTo>
                    <a:pt x="119" y="11"/>
                  </a:lnTo>
                  <a:lnTo>
                    <a:pt x="139" y="11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8" name="组合 20">
            <a:extLst>
              <a:ext uri="{FF2B5EF4-FFF2-40B4-BE49-F238E27FC236}">
                <a16:creationId xmlns:a16="http://schemas.microsoft.com/office/drawing/2014/main" id="{76C74684-6B1E-610B-A33B-05784BCEC46D}"/>
              </a:ext>
            </a:extLst>
          </p:cNvPr>
          <p:cNvGrpSpPr/>
          <p:nvPr/>
        </p:nvGrpSpPr>
        <p:grpSpPr>
          <a:xfrm>
            <a:off x="3848182" y="4221727"/>
            <a:ext cx="926492" cy="847309"/>
            <a:chOff x="4241275" y="4133972"/>
            <a:chExt cx="966528" cy="966528"/>
          </a:xfrm>
        </p:grpSpPr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AE9707AA-855B-2AAC-9803-9016794DFFA8}"/>
                </a:ext>
              </a:extLst>
            </p:cNvPr>
            <p:cNvSpPr/>
            <p:nvPr/>
          </p:nvSpPr>
          <p:spPr>
            <a:xfrm>
              <a:off x="4241275" y="4133972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0" name="组合 22">
              <a:extLst>
                <a:ext uri="{FF2B5EF4-FFF2-40B4-BE49-F238E27FC236}">
                  <a16:creationId xmlns:a16="http://schemas.microsoft.com/office/drawing/2014/main" id="{676BB2E0-EF0F-4FB4-E42F-42215F3CB3FC}"/>
                </a:ext>
              </a:extLst>
            </p:cNvPr>
            <p:cNvGrpSpPr/>
            <p:nvPr/>
          </p:nvGrpSpPr>
          <p:grpSpPr>
            <a:xfrm>
              <a:off x="4573953" y="4445706"/>
              <a:ext cx="301172" cy="343059"/>
              <a:chOff x="9977438" y="4359275"/>
              <a:chExt cx="433388" cy="541338"/>
            </a:xfrm>
            <a:solidFill>
              <a:schemeClr val="tx1"/>
            </a:solidFill>
          </p:grpSpPr>
          <p:sp>
            <p:nvSpPr>
              <p:cNvPr id="21" name="Freeform 162">
                <a:extLst>
                  <a:ext uri="{FF2B5EF4-FFF2-40B4-BE49-F238E27FC236}">
                    <a16:creationId xmlns:a16="http://schemas.microsoft.com/office/drawing/2014/main" id="{585CAE30-0AF6-A21E-CE79-83F4DD5E46C2}"/>
                  </a:ext>
                </a:extLst>
              </p:cNvPr>
              <p:cNvSpPr/>
              <p:nvPr/>
            </p:nvSpPr>
            <p:spPr bwMode="auto">
              <a:xfrm>
                <a:off x="10029826" y="4414838"/>
                <a:ext cx="95250" cy="106363"/>
              </a:xfrm>
              <a:custGeom>
                <a:avLst/>
                <a:gdLst>
                  <a:gd name="T0" fmla="*/ 32 w 34"/>
                  <a:gd name="T1" fmla="*/ 16 h 38"/>
                  <a:gd name="T2" fmla="*/ 6 w 34"/>
                  <a:gd name="T3" fmla="*/ 0 h 38"/>
                  <a:gd name="T4" fmla="*/ 2 w 34"/>
                  <a:gd name="T5" fmla="*/ 0 h 38"/>
                  <a:gd name="T6" fmla="*/ 0 w 34"/>
                  <a:gd name="T7" fmla="*/ 4 h 38"/>
                  <a:gd name="T8" fmla="*/ 0 w 34"/>
                  <a:gd name="T9" fmla="*/ 34 h 38"/>
                  <a:gd name="T10" fmla="*/ 2 w 34"/>
                  <a:gd name="T11" fmla="*/ 38 h 38"/>
                  <a:gd name="T12" fmla="*/ 4 w 34"/>
                  <a:gd name="T13" fmla="*/ 38 h 38"/>
                  <a:gd name="T14" fmla="*/ 6 w 34"/>
                  <a:gd name="T15" fmla="*/ 38 h 38"/>
                  <a:gd name="T16" fmla="*/ 32 w 34"/>
                  <a:gd name="T17" fmla="*/ 22 h 38"/>
                  <a:gd name="T18" fmla="*/ 34 w 34"/>
                  <a:gd name="T19" fmla="*/ 19 h 38"/>
                  <a:gd name="T20" fmla="*/ 32 w 34"/>
                  <a:gd name="T2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38">
                    <a:moveTo>
                      <a:pt x="32" y="16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6"/>
                      <a:pt x="0" y="37"/>
                      <a:pt x="2" y="38"/>
                    </a:cubicBezTo>
                    <a:cubicBezTo>
                      <a:pt x="2" y="38"/>
                      <a:pt x="3" y="38"/>
                      <a:pt x="4" y="38"/>
                    </a:cubicBezTo>
                    <a:cubicBezTo>
                      <a:pt x="4" y="38"/>
                      <a:pt x="5" y="38"/>
                      <a:pt x="6" y="38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4" y="22"/>
                      <a:pt x="34" y="20"/>
                      <a:pt x="34" y="19"/>
                    </a:cubicBezTo>
                    <a:cubicBezTo>
                      <a:pt x="34" y="18"/>
                      <a:pt x="34" y="16"/>
                      <a:pt x="32" y="16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Freeform 163">
                <a:extLst>
                  <a:ext uri="{FF2B5EF4-FFF2-40B4-BE49-F238E27FC236}">
                    <a16:creationId xmlns:a16="http://schemas.microsoft.com/office/drawing/2014/main" id="{4AFD5056-E5CD-2FBE-1418-30EE136C572E}"/>
                  </a:ext>
                </a:extLst>
              </p:cNvPr>
              <p:cNvSpPr/>
              <p:nvPr/>
            </p:nvSpPr>
            <p:spPr bwMode="auto">
              <a:xfrm>
                <a:off x="10028238" y="4498975"/>
                <a:ext cx="82550" cy="125413"/>
              </a:xfrm>
              <a:custGeom>
                <a:avLst/>
                <a:gdLst>
                  <a:gd name="T0" fmla="*/ 26 w 30"/>
                  <a:gd name="T1" fmla="*/ 45 h 45"/>
                  <a:gd name="T2" fmla="*/ 22 w 30"/>
                  <a:gd name="T3" fmla="*/ 43 h 45"/>
                  <a:gd name="T4" fmla="*/ 1 w 30"/>
                  <a:gd name="T5" fmla="*/ 6 h 45"/>
                  <a:gd name="T6" fmla="*/ 3 w 30"/>
                  <a:gd name="T7" fmla="*/ 1 h 45"/>
                  <a:gd name="T8" fmla="*/ 8 w 30"/>
                  <a:gd name="T9" fmla="*/ 2 h 45"/>
                  <a:gd name="T10" fmla="*/ 29 w 30"/>
                  <a:gd name="T11" fmla="*/ 39 h 45"/>
                  <a:gd name="T12" fmla="*/ 28 w 30"/>
                  <a:gd name="T13" fmla="*/ 44 h 45"/>
                  <a:gd name="T14" fmla="*/ 26 w 30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5">
                    <a:moveTo>
                      <a:pt x="26" y="45"/>
                    </a:moveTo>
                    <a:cubicBezTo>
                      <a:pt x="24" y="45"/>
                      <a:pt x="23" y="44"/>
                      <a:pt x="22" y="4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0" y="41"/>
                      <a:pt x="30" y="43"/>
                      <a:pt x="28" y="44"/>
                    </a:cubicBezTo>
                    <a:cubicBezTo>
                      <a:pt x="27" y="45"/>
                      <a:pt x="26" y="45"/>
                      <a:pt x="26" y="4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Freeform 164">
                <a:extLst>
                  <a:ext uri="{FF2B5EF4-FFF2-40B4-BE49-F238E27FC236}">
                    <a16:creationId xmlns:a16="http://schemas.microsoft.com/office/drawing/2014/main" id="{CF40DDFA-06C5-1190-47A0-FDEB52FC5265}"/>
                  </a:ext>
                </a:extLst>
              </p:cNvPr>
              <p:cNvSpPr/>
              <p:nvPr/>
            </p:nvSpPr>
            <p:spPr bwMode="auto">
              <a:xfrm>
                <a:off x="10102851" y="4456113"/>
                <a:ext cx="109538" cy="168275"/>
              </a:xfrm>
              <a:custGeom>
                <a:avLst/>
                <a:gdLst>
                  <a:gd name="T0" fmla="*/ 34 w 39"/>
                  <a:gd name="T1" fmla="*/ 60 h 60"/>
                  <a:gd name="T2" fmla="*/ 31 w 39"/>
                  <a:gd name="T3" fmla="*/ 58 h 60"/>
                  <a:gd name="T4" fmla="*/ 1 w 39"/>
                  <a:gd name="T5" fmla="*/ 6 h 60"/>
                  <a:gd name="T6" fmla="*/ 2 w 39"/>
                  <a:gd name="T7" fmla="*/ 1 h 60"/>
                  <a:gd name="T8" fmla="*/ 8 w 39"/>
                  <a:gd name="T9" fmla="*/ 2 h 60"/>
                  <a:gd name="T10" fmla="*/ 38 w 39"/>
                  <a:gd name="T11" fmla="*/ 54 h 60"/>
                  <a:gd name="T12" fmla="*/ 36 w 39"/>
                  <a:gd name="T13" fmla="*/ 59 h 60"/>
                  <a:gd name="T14" fmla="*/ 34 w 39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60">
                    <a:moveTo>
                      <a:pt x="34" y="60"/>
                    </a:moveTo>
                    <a:cubicBezTo>
                      <a:pt x="33" y="60"/>
                      <a:pt x="31" y="59"/>
                      <a:pt x="31" y="58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4" y="0"/>
                      <a:pt x="7" y="0"/>
                      <a:pt x="8" y="2"/>
                    </a:cubicBezTo>
                    <a:cubicBezTo>
                      <a:pt x="38" y="54"/>
                      <a:pt x="38" y="54"/>
                      <a:pt x="38" y="54"/>
                    </a:cubicBezTo>
                    <a:cubicBezTo>
                      <a:pt x="39" y="56"/>
                      <a:pt x="38" y="58"/>
                      <a:pt x="36" y="59"/>
                    </a:cubicBezTo>
                    <a:cubicBezTo>
                      <a:pt x="36" y="60"/>
                      <a:pt x="35" y="60"/>
                      <a:pt x="34" y="60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" name="Freeform 165">
                <a:extLst>
                  <a:ext uri="{FF2B5EF4-FFF2-40B4-BE49-F238E27FC236}">
                    <a16:creationId xmlns:a16="http://schemas.microsoft.com/office/drawing/2014/main" id="{B902EA39-84F3-40DC-BC3B-11D9971892A4}"/>
                  </a:ext>
                </a:extLst>
              </p:cNvPr>
              <p:cNvSpPr/>
              <p:nvPr/>
            </p:nvSpPr>
            <p:spPr bwMode="auto">
              <a:xfrm>
                <a:off x="10202863" y="4359275"/>
                <a:ext cx="134938" cy="265113"/>
              </a:xfrm>
              <a:custGeom>
                <a:avLst/>
                <a:gdLst>
                  <a:gd name="T0" fmla="*/ 38 w 48"/>
                  <a:gd name="T1" fmla="*/ 95 h 95"/>
                  <a:gd name="T2" fmla="*/ 37 w 48"/>
                  <a:gd name="T3" fmla="*/ 95 h 95"/>
                  <a:gd name="T4" fmla="*/ 34 w 48"/>
                  <a:gd name="T5" fmla="*/ 91 h 95"/>
                  <a:gd name="T6" fmla="*/ 40 w 48"/>
                  <a:gd name="T7" fmla="*/ 26 h 95"/>
                  <a:gd name="T8" fmla="*/ 37 w 48"/>
                  <a:gd name="T9" fmla="*/ 14 h 95"/>
                  <a:gd name="T10" fmla="*/ 29 w 48"/>
                  <a:gd name="T11" fmla="*/ 8 h 95"/>
                  <a:gd name="T12" fmla="*/ 20 w 48"/>
                  <a:gd name="T13" fmla="*/ 12 h 95"/>
                  <a:gd name="T14" fmla="*/ 15 w 48"/>
                  <a:gd name="T15" fmla="*/ 24 h 95"/>
                  <a:gd name="T16" fmla="*/ 9 w 48"/>
                  <a:gd name="T17" fmla="*/ 91 h 95"/>
                  <a:gd name="T18" fmla="*/ 4 w 48"/>
                  <a:gd name="T19" fmla="*/ 95 h 95"/>
                  <a:gd name="T20" fmla="*/ 1 w 48"/>
                  <a:gd name="T21" fmla="*/ 91 h 95"/>
                  <a:gd name="T22" fmla="*/ 7 w 48"/>
                  <a:gd name="T23" fmla="*/ 23 h 95"/>
                  <a:gd name="T24" fmla="*/ 14 w 48"/>
                  <a:gd name="T25" fmla="*/ 7 h 95"/>
                  <a:gd name="T26" fmla="*/ 29 w 48"/>
                  <a:gd name="T27" fmla="*/ 0 h 95"/>
                  <a:gd name="T28" fmla="*/ 43 w 48"/>
                  <a:gd name="T29" fmla="*/ 9 h 95"/>
                  <a:gd name="T30" fmla="*/ 48 w 48"/>
                  <a:gd name="T31" fmla="*/ 27 h 95"/>
                  <a:gd name="T32" fmla="*/ 42 w 48"/>
                  <a:gd name="T33" fmla="*/ 91 h 95"/>
                  <a:gd name="T34" fmla="*/ 38 w 48"/>
                  <a:gd name="T35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95">
                    <a:moveTo>
                      <a:pt x="38" y="95"/>
                    </a:moveTo>
                    <a:cubicBezTo>
                      <a:pt x="38" y="95"/>
                      <a:pt x="37" y="95"/>
                      <a:pt x="37" y="95"/>
                    </a:cubicBezTo>
                    <a:cubicBezTo>
                      <a:pt x="35" y="95"/>
                      <a:pt x="34" y="93"/>
                      <a:pt x="34" y="91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2"/>
                      <a:pt x="39" y="17"/>
                      <a:pt x="37" y="14"/>
                    </a:cubicBezTo>
                    <a:cubicBezTo>
                      <a:pt x="35" y="10"/>
                      <a:pt x="32" y="8"/>
                      <a:pt x="29" y="8"/>
                    </a:cubicBezTo>
                    <a:cubicBezTo>
                      <a:pt x="26" y="8"/>
                      <a:pt x="22" y="9"/>
                      <a:pt x="20" y="12"/>
                    </a:cubicBezTo>
                    <a:cubicBezTo>
                      <a:pt x="17" y="15"/>
                      <a:pt x="15" y="19"/>
                      <a:pt x="15" y="24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8" y="93"/>
                      <a:pt x="6" y="95"/>
                      <a:pt x="4" y="95"/>
                    </a:cubicBezTo>
                    <a:cubicBezTo>
                      <a:pt x="2" y="95"/>
                      <a:pt x="0" y="93"/>
                      <a:pt x="1" y="91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17"/>
                      <a:pt x="10" y="11"/>
                      <a:pt x="14" y="7"/>
                    </a:cubicBezTo>
                    <a:cubicBezTo>
                      <a:pt x="18" y="2"/>
                      <a:pt x="24" y="0"/>
                      <a:pt x="29" y="0"/>
                    </a:cubicBezTo>
                    <a:cubicBezTo>
                      <a:pt x="35" y="1"/>
                      <a:pt x="40" y="4"/>
                      <a:pt x="43" y="9"/>
                    </a:cubicBezTo>
                    <a:cubicBezTo>
                      <a:pt x="47" y="14"/>
                      <a:pt x="48" y="21"/>
                      <a:pt x="48" y="27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2" y="93"/>
                      <a:pt x="40" y="95"/>
                      <a:pt x="38" y="9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Freeform 166">
                <a:extLst>
                  <a:ext uri="{FF2B5EF4-FFF2-40B4-BE49-F238E27FC236}">
                    <a16:creationId xmlns:a16="http://schemas.microsoft.com/office/drawing/2014/main" id="{E576A0B3-C329-484C-22A3-F133FE232979}"/>
                  </a:ext>
                </a:extLst>
              </p:cNvPr>
              <p:cNvSpPr/>
              <p:nvPr/>
            </p:nvSpPr>
            <p:spPr bwMode="auto">
              <a:xfrm>
                <a:off x="9977438" y="4602163"/>
                <a:ext cx="433388" cy="298450"/>
              </a:xfrm>
              <a:custGeom>
                <a:avLst/>
                <a:gdLst>
                  <a:gd name="T0" fmla="*/ 153 w 155"/>
                  <a:gd name="T1" fmla="*/ 5 h 107"/>
                  <a:gd name="T2" fmla="*/ 140 w 155"/>
                  <a:gd name="T3" fmla="*/ 0 h 107"/>
                  <a:gd name="T4" fmla="*/ 15 w 155"/>
                  <a:gd name="T5" fmla="*/ 0 h 107"/>
                  <a:gd name="T6" fmla="*/ 2 w 155"/>
                  <a:gd name="T7" fmla="*/ 5 h 107"/>
                  <a:gd name="T8" fmla="*/ 0 w 155"/>
                  <a:gd name="T9" fmla="*/ 14 h 107"/>
                  <a:gd name="T10" fmla="*/ 14 w 155"/>
                  <a:gd name="T11" fmla="*/ 26 h 107"/>
                  <a:gd name="T12" fmla="*/ 20 w 155"/>
                  <a:gd name="T13" fmla="*/ 34 h 107"/>
                  <a:gd name="T14" fmla="*/ 30 w 155"/>
                  <a:gd name="T15" fmla="*/ 83 h 107"/>
                  <a:gd name="T16" fmla="*/ 29 w 155"/>
                  <a:gd name="T17" fmla="*/ 90 h 107"/>
                  <a:gd name="T18" fmla="*/ 22 w 155"/>
                  <a:gd name="T19" fmla="*/ 93 h 107"/>
                  <a:gd name="T20" fmla="*/ 21 w 155"/>
                  <a:gd name="T21" fmla="*/ 99 h 107"/>
                  <a:gd name="T22" fmla="*/ 39 w 155"/>
                  <a:gd name="T23" fmla="*/ 107 h 107"/>
                  <a:gd name="T24" fmla="*/ 116 w 155"/>
                  <a:gd name="T25" fmla="*/ 107 h 107"/>
                  <a:gd name="T26" fmla="*/ 134 w 155"/>
                  <a:gd name="T27" fmla="*/ 99 h 107"/>
                  <a:gd name="T28" fmla="*/ 133 w 155"/>
                  <a:gd name="T29" fmla="*/ 93 h 107"/>
                  <a:gd name="T30" fmla="*/ 126 w 155"/>
                  <a:gd name="T31" fmla="*/ 90 h 107"/>
                  <a:gd name="T32" fmla="*/ 125 w 155"/>
                  <a:gd name="T33" fmla="*/ 83 h 107"/>
                  <a:gd name="T34" fmla="*/ 135 w 155"/>
                  <a:gd name="T35" fmla="*/ 34 h 107"/>
                  <a:gd name="T36" fmla="*/ 141 w 155"/>
                  <a:gd name="T37" fmla="*/ 26 h 107"/>
                  <a:gd name="T38" fmla="*/ 155 w 155"/>
                  <a:gd name="T39" fmla="*/ 14 h 107"/>
                  <a:gd name="T40" fmla="*/ 153 w 155"/>
                  <a:gd name="T41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5" h="107">
                    <a:moveTo>
                      <a:pt x="153" y="5"/>
                    </a:moveTo>
                    <a:cubicBezTo>
                      <a:pt x="150" y="2"/>
                      <a:pt x="145" y="0"/>
                      <a:pt x="14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0"/>
                      <a:pt x="5" y="2"/>
                      <a:pt x="2" y="5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2" y="21"/>
                      <a:pt x="8" y="26"/>
                      <a:pt x="14" y="26"/>
                    </a:cubicBezTo>
                    <a:cubicBezTo>
                      <a:pt x="16" y="26"/>
                      <a:pt x="19" y="29"/>
                      <a:pt x="20" y="34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7"/>
                      <a:pt x="30" y="89"/>
                      <a:pt x="29" y="90"/>
                    </a:cubicBezTo>
                    <a:cubicBezTo>
                      <a:pt x="26" y="90"/>
                      <a:pt x="24" y="91"/>
                      <a:pt x="22" y="93"/>
                    </a:cubicBezTo>
                    <a:cubicBezTo>
                      <a:pt x="21" y="95"/>
                      <a:pt x="20" y="97"/>
                      <a:pt x="21" y="99"/>
                    </a:cubicBezTo>
                    <a:cubicBezTo>
                      <a:pt x="22" y="105"/>
                      <a:pt x="32" y="107"/>
                      <a:pt x="39" y="107"/>
                    </a:cubicBezTo>
                    <a:cubicBezTo>
                      <a:pt x="116" y="107"/>
                      <a:pt x="116" y="107"/>
                      <a:pt x="116" y="107"/>
                    </a:cubicBezTo>
                    <a:cubicBezTo>
                      <a:pt x="123" y="107"/>
                      <a:pt x="133" y="105"/>
                      <a:pt x="134" y="99"/>
                    </a:cubicBezTo>
                    <a:cubicBezTo>
                      <a:pt x="135" y="97"/>
                      <a:pt x="134" y="95"/>
                      <a:pt x="133" y="93"/>
                    </a:cubicBezTo>
                    <a:cubicBezTo>
                      <a:pt x="131" y="91"/>
                      <a:pt x="129" y="90"/>
                      <a:pt x="126" y="90"/>
                    </a:cubicBezTo>
                    <a:cubicBezTo>
                      <a:pt x="125" y="89"/>
                      <a:pt x="125" y="87"/>
                      <a:pt x="125" y="83"/>
                    </a:cubicBezTo>
                    <a:cubicBezTo>
                      <a:pt x="135" y="34"/>
                      <a:pt x="135" y="34"/>
                      <a:pt x="135" y="34"/>
                    </a:cubicBezTo>
                    <a:cubicBezTo>
                      <a:pt x="136" y="29"/>
                      <a:pt x="139" y="26"/>
                      <a:pt x="141" y="26"/>
                    </a:cubicBezTo>
                    <a:cubicBezTo>
                      <a:pt x="147" y="26"/>
                      <a:pt x="153" y="21"/>
                      <a:pt x="155" y="14"/>
                    </a:cubicBezTo>
                    <a:cubicBezTo>
                      <a:pt x="155" y="11"/>
                      <a:pt x="155" y="8"/>
                      <a:pt x="153" y="5"/>
                    </a:cubicBezTo>
                    <a:close/>
                  </a:path>
                </a:pathLst>
              </a:custGeom>
              <a:solidFill>
                <a:srgbClr val="6069E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" name="Freeform 167">
                <a:extLst>
                  <a:ext uri="{FF2B5EF4-FFF2-40B4-BE49-F238E27FC236}">
                    <a16:creationId xmlns:a16="http://schemas.microsoft.com/office/drawing/2014/main" id="{D4A02C71-96FA-9E8C-E7D5-EB037652C4F3}"/>
                  </a:ext>
                </a:extLst>
              </p:cNvPr>
              <p:cNvSpPr/>
              <p:nvPr/>
            </p:nvSpPr>
            <p:spPr bwMode="auto">
              <a:xfrm>
                <a:off x="10250488" y="4414838"/>
                <a:ext cx="39688" cy="203200"/>
              </a:xfrm>
              <a:custGeom>
                <a:avLst/>
                <a:gdLst>
                  <a:gd name="T0" fmla="*/ 4 w 14"/>
                  <a:gd name="T1" fmla="*/ 73 h 73"/>
                  <a:gd name="T2" fmla="*/ 4 w 14"/>
                  <a:gd name="T3" fmla="*/ 73 h 73"/>
                  <a:gd name="T4" fmla="*/ 0 w 14"/>
                  <a:gd name="T5" fmla="*/ 68 h 73"/>
                  <a:gd name="T6" fmla="*/ 6 w 14"/>
                  <a:gd name="T7" fmla="*/ 4 h 73"/>
                  <a:gd name="T8" fmla="*/ 10 w 14"/>
                  <a:gd name="T9" fmla="*/ 0 h 73"/>
                  <a:gd name="T10" fmla="*/ 14 w 14"/>
                  <a:gd name="T11" fmla="*/ 4 h 73"/>
                  <a:gd name="T12" fmla="*/ 8 w 14"/>
                  <a:gd name="T13" fmla="*/ 69 h 73"/>
                  <a:gd name="T14" fmla="*/ 4 w 14"/>
                  <a:gd name="T15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73">
                    <a:moveTo>
                      <a:pt x="4" y="73"/>
                    </a:moveTo>
                    <a:cubicBezTo>
                      <a:pt x="4" y="73"/>
                      <a:pt x="4" y="73"/>
                      <a:pt x="4" y="73"/>
                    </a:cubicBezTo>
                    <a:cubicBezTo>
                      <a:pt x="2" y="72"/>
                      <a:pt x="0" y="71"/>
                      <a:pt x="0" y="68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2" y="0"/>
                      <a:pt x="14" y="2"/>
                      <a:pt x="14" y="4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1"/>
                      <a:pt x="7" y="73"/>
                      <a:pt x="4" y="73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9">
            <a:extLst>
              <a:ext uri="{FF2B5EF4-FFF2-40B4-BE49-F238E27FC236}">
                <a16:creationId xmlns:a16="http://schemas.microsoft.com/office/drawing/2014/main" id="{23282CBB-91E9-361A-B448-D95BC08E81C2}"/>
              </a:ext>
            </a:extLst>
          </p:cNvPr>
          <p:cNvGrpSpPr/>
          <p:nvPr/>
        </p:nvGrpSpPr>
        <p:grpSpPr>
          <a:xfrm>
            <a:off x="8712964" y="2476607"/>
            <a:ext cx="966528" cy="966528"/>
            <a:chOff x="8023314" y="4088066"/>
            <a:chExt cx="966528" cy="966528"/>
          </a:xfrm>
        </p:grpSpPr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DCA1C703-2C55-AE19-3DE9-255038F16588}"/>
                </a:ext>
              </a:extLst>
            </p:cNvPr>
            <p:cNvSpPr/>
            <p:nvPr/>
          </p:nvSpPr>
          <p:spPr>
            <a:xfrm>
              <a:off x="8023314" y="4088066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KSO_Shape">
              <a:extLst>
                <a:ext uri="{FF2B5EF4-FFF2-40B4-BE49-F238E27FC236}">
                  <a16:creationId xmlns:a16="http://schemas.microsoft.com/office/drawing/2014/main" id="{50B18850-B065-68C0-E328-25D94E930E01}"/>
                </a:ext>
              </a:extLst>
            </p:cNvPr>
            <p:cNvSpPr/>
            <p:nvPr/>
          </p:nvSpPr>
          <p:spPr>
            <a:xfrm>
              <a:off x="8310972" y="4364686"/>
              <a:ext cx="391211" cy="374516"/>
            </a:xfrm>
            <a:custGeom>
              <a:avLst/>
              <a:gdLst/>
              <a:ahLst/>
              <a:cxnLst/>
              <a:rect l="l" t="t" r="r" b="b"/>
              <a:pathLst>
                <a:path w="1889279" h="1810503">
                  <a:moveTo>
                    <a:pt x="1408636" y="1462945"/>
                  </a:moveTo>
                  <a:cubicBezTo>
                    <a:pt x="1471912" y="1494489"/>
                    <a:pt x="1528819" y="1532588"/>
                    <a:pt x="1575786" y="1578162"/>
                  </a:cubicBezTo>
                  <a:cubicBezTo>
                    <a:pt x="1467281" y="1672800"/>
                    <a:pt x="1335058" y="1742507"/>
                    <a:pt x="1188886" y="1779443"/>
                  </a:cubicBezTo>
                  <a:cubicBezTo>
                    <a:pt x="1278166" y="1700386"/>
                    <a:pt x="1353810" y="1592053"/>
                    <a:pt x="1408636" y="1462945"/>
                  </a:cubicBezTo>
                  <a:close/>
                  <a:moveTo>
                    <a:pt x="494888" y="1445849"/>
                  </a:moveTo>
                  <a:cubicBezTo>
                    <a:pt x="556747" y="1590569"/>
                    <a:pt x="643865" y="1709702"/>
                    <a:pt x="747068" y="1790925"/>
                  </a:cubicBezTo>
                  <a:cubicBezTo>
                    <a:pt x="576321" y="1756303"/>
                    <a:pt x="422614" y="1677538"/>
                    <a:pt x="300900" y="1566189"/>
                  </a:cubicBezTo>
                  <a:cubicBezTo>
                    <a:pt x="355309" y="1517036"/>
                    <a:pt x="421005" y="1476420"/>
                    <a:pt x="494888" y="1445849"/>
                  </a:cubicBezTo>
                  <a:close/>
                  <a:moveTo>
                    <a:pt x="900586" y="1355871"/>
                  </a:moveTo>
                  <a:lnTo>
                    <a:pt x="900586" y="1808904"/>
                  </a:lnTo>
                  <a:lnTo>
                    <a:pt x="884222" y="1808113"/>
                  </a:lnTo>
                  <a:cubicBezTo>
                    <a:pt x="745280" y="1742581"/>
                    <a:pt x="627378" y="1604992"/>
                    <a:pt x="551037" y="1423344"/>
                  </a:cubicBezTo>
                  <a:cubicBezTo>
                    <a:pt x="655969" y="1381011"/>
                    <a:pt x="774745" y="1357337"/>
                    <a:pt x="900586" y="1355871"/>
                  </a:cubicBezTo>
                  <a:close/>
                  <a:moveTo>
                    <a:pt x="953521" y="1355186"/>
                  </a:moveTo>
                  <a:cubicBezTo>
                    <a:pt x="1099660" y="1356509"/>
                    <a:pt x="1236550" y="1386650"/>
                    <a:pt x="1354036" y="1440083"/>
                  </a:cubicBezTo>
                  <a:cubicBezTo>
                    <a:pt x="1283551" y="1605630"/>
                    <a:pt x="1178611" y="1734316"/>
                    <a:pt x="1054486" y="1804443"/>
                  </a:cubicBezTo>
                  <a:lnTo>
                    <a:pt x="953521" y="1810503"/>
                  </a:lnTo>
                  <a:close/>
                  <a:moveTo>
                    <a:pt x="1517159" y="931303"/>
                  </a:moveTo>
                  <a:lnTo>
                    <a:pt x="1889279" y="931303"/>
                  </a:lnTo>
                  <a:cubicBezTo>
                    <a:pt x="1883282" y="1167646"/>
                    <a:pt x="1781715" y="1381244"/>
                    <a:pt x="1618873" y="1536894"/>
                  </a:cubicBezTo>
                  <a:cubicBezTo>
                    <a:pt x="1566437" y="1485571"/>
                    <a:pt x="1502786" y="1442774"/>
                    <a:pt x="1431939" y="1407715"/>
                  </a:cubicBezTo>
                  <a:cubicBezTo>
                    <a:pt x="1485774" y="1266553"/>
                    <a:pt x="1516428" y="1104135"/>
                    <a:pt x="1517159" y="931303"/>
                  </a:cubicBezTo>
                  <a:close/>
                  <a:moveTo>
                    <a:pt x="953521" y="931303"/>
                  </a:moveTo>
                  <a:lnTo>
                    <a:pt x="1456842" y="931303"/>
                  </a:lnTo>
                  <a:cubicBezTo>
                    <a:pt x="1456123" y="1096196"/>
                    <a:pt x="1427268" y="1250986"/>
                    <a:pt x="1375819" y="1384691"/>
                  </a:cubicBezTo>
                  <a:cubicBezTo>
                    <a:pt x="1251537" y="1327928"/>
                    <a:pt x="1107288" y="1296191"/>
                    <a:pt x="953521" y="1294902"/>
                  </a:cubicBezTo>
                  <a:close/>
                  <a:moveTo>
                    <a:pt x="448568" y="931303"/>
                  </a:moveTo>
                  <a:lnTo>
                    <a:pt x="900586" y="931303"/>
                  </a:lnTo>
                  <a:lnTo>
                    <a:pt x="900586" y="1295603"/>
                  </a:lnTo>
                  <a:cubicBezTo>
                    <a:pt x="766605" y="1297053"/>
                    <a:pt x="640053" y="1322469"/>
                    <a:pt x="528061" y="1368046"/>
                  </a:cubicBezTo>
                  <a:cubicBezTo>
                    <a:pt x="478984" y="1238632"/>
                    <a:pt x="450499" y="1089843"/>
                    <a:pt x="448568" y="931303"/>
                  </a:cubicBezTo>
                  <a:close/>
                  <a:moveTo>
                    <a:pt x="0" y="931303"/>
                  </a:moveTo>
                  <a:lnTo>
                    <a:pt x="388264" y="931303"/>
                  </a:lnTo>
                  <a:cubicBezTo>
                    <a:pt x="390220" y="1097785"/>
                    <a:pt x="420532" y="1254193"/>
                    <a:pt x="473139" y="1390578"/>
                  </a:cubicBezTo>
                  <a:cubicBezTo>
                    <a:pt x="391203" y="1423988"/>
                    <a:pt x="318506" y="1469260"/>
                    <a:pt x="258353" y="1524144"/>
                  </a:cubicBezTo>
                  <a:cubicBezTo>
                    <a:pt x="102364" y="1370026"/>
                    <a:pt x="5849" y="1161456"/>
                    <a:pt x="0" y="931303"/>
                  </a:cubicBezTo>
                  <a:close/>
                  <a:moveTo>
                    <a:pt x="536834" y="421694"/>
                  </a:moveTo>
                  <a:cubicBezTo>
                    <a:pt x="646682" y="464986"/>
                    <a:pt x="770110" y="489176"/>
                    <a:pt x="900586" y="490537"/>
                  </a:cubicBezTo>
                  <a:lnTo>
                    <a:pt x="900586" y="875390"/>
                  </a:lnTo>
                  <a:lnTo>
                    <a:pt x="448805" y="875390"/>
                  </a:lnTo>
                  <a:cubicBezTo>
                    <a:pt x="451150" y="709592"/>
                    <a:pt x="482649" y="554587"/>
                    <a:pt x="536834" y="421694"/>
                  </a:cubicBezTo>
                  <a:close/>
                  <a:moveTo>
                    <a:pt x="1356131" y="409527"/>
                  </a:moveTo>
                  <a:cubicBezTo>
                    <a:pt x="1415590" y="544412"/>
                    <a:pt x="1451132" y="703874"/>
                    <a:pt x="1455052" y="875390"/>
                  </a:cubicBezTo>
                  <a:lnTo>
                    <a:pt x="953521" y="875390"/>
                  </a:lnTo>
                  <a:lnTo>
                    <a:pt x="953521" y="491238"/>
                  </a:lnTo>
                  <a:cubicBezTo>
                    <a:pt x="1099303" y="490092"/>
                    <a:pt x="1236528" y="461431"/>
                    <a:pt x="1356131" y="409527"/>
                  </a:cubicBezTo>
                  <a:close/>
                  <a:moveTo>
                    <a:pt x="271202" y="273767"/>
                  </a:moveTo>
                  <a:cubicBezTo>
                    <a:pt x="330895" y="324894"/>
                    <a:pt x="401533" y="367494"/>
                    <a:pt x="480768" y="398692"/>
                  </a:cubicBezTo>
                  <a:cubicBezTo>
                    <a:pt x="424147" y="539118"/>
                    <a:pt x="390867" y="701724"/>
                    <a:pt x="388496" y="875390"/>
                  </a:cubicBezTo>
                  <a:lnTo>
                    <a:pt x="238" y="875390"/>
                  </a:lnTo>
                  <a:cubicBezTo>
                    <a:pt x="7162" y="640451"/>
                    <a:pt x="108645" y="428248"/>
                    <a:pt x="271202" y="273767"/>
                  </a:cubicBezTo>
                  <a:close/>
                  <a:moveTo>
                    <a:pt x="1605567" y="261436"/>
                  </a:moveTo>
                  <a:cubicBezTo>
                    <a:pt x="1775300" y="417133"/>
                    <a:pt x="1881942" y="634296"/>
                    <a:pt x="1889035" y="875390"/>
                  </a:cubicBezTo>
                  <a:lnTo>
                    <a:pt x="1515364" y="875390"/>
                  </a:lnTo>
                  <a:cubicBezTo>
                    <a:pt x="1511419" y="696081"/>
                    <a:pt x="1474168" y="529014"/>
                    <a:pt x="1413107" y="386152"/>
                  </a:cubicBezTo>
                  <a:cubicBezTo>
                    <a:pt x="1485941" y="353453"/>
                    <a:pt x="1551126" y="311628"/>
                    <a:pt x="1605567" y="261436"/>
                  </a:cubicBezTo>
                  <a:close/>
                  <a:moveTo>
                    <a:pt x="748157" y="19413"/>
                  </a:moveTo>
                  <a:cubicBezTo>
                    <a:pt x="649482" y="96557"/>
                    <a:pt x="565491" y="208310"/>
                    <a:pt x="504779" y="344256"/>
                  </a:cubicBezTo>
                  <a:cubicBezTo>
                    <a:pt x="432706" y="315858"/>
                    <a:pt x="368354" y="277545"/>
                    <a:pt x="313920" y="231604"/>
                  </a:cubicBezTo>
                  <a:cubicBezTo>
                    <a:pt x="434240" y="127070"/>
                    <a:pt x="583275" y="52667"/>
                    <a:pt x="748157" y="19413"/>
                  </a:cubicBezTo>
                  <a:close/>
                  <a:moveTo>
                    <a:pt x="1137621" y="18543"/>
                  </a:moveTo>
                  <a:cubicBezTo>
                    <a:pt x="1297904" y="50310"/>
                    <a:pt x="1443338" y="120918"/>
                    <a:pt x="1562575" y="219802"/>
                  </a:cubicBezTo>
                  <a:cubicBezTo>
                    <a:pt x="1512842" y="265093"/>
                    <a:pt x="1453308" y="302843"/>
                    <a:pt x="1386970" y="332857"/>
                  </a:cubicBezTo>
                  <a:cubicBezTo>
                    <a:pt x="1323718" y="199817"/>
                    <a:pt x="1237626" y="91674"/>
                    <a:pt x="1137621" y="18543"/>
                  </a:cubicBezTo>
                  <a:close/>
                  <a:moveTo>
                    <a:pt x="900586" y="1702"/>
                  </a:moveTo>
                  <a:lnTo>
                    <a:pt x="900586" y="430269"/>
                  </a:lnTo>
                  <a:cubicBezTo>
                    <a:pt x="778345" y="428899"/>
                    <a:pt x="662774" y="406468"/>
                    <a:pt x="560047" y="366408"/>
                  </a:cubicBezTo>
                  <a:cubicBezTo>
                    <a:pt x="637783" y="193348"/>
                    <a:pt x="753999" y="63227"/>
                    <a:pt x="890213" y="2203"/>
                  </a:cubicBezTo>
                  <a:close/>
                  <a:moveTo>
                    <a:pt x="953521" y="0"/>
                  </a:moveTo>
                  <a:lnTo>
                    <a:pt x="981035" y="1330"/>
                  </a:lnTo>
                  <a:cubicBezTo>
                    <a:pt x="1124068" y="53565"/>
                    <a:pt x="1247786" y="180867"/>
                    <a:pt x="1332000" y="354889"/>
                  </a:cubicBezTo>
                  <a:cubicBezTo>
                    <a:pt x="1219743" y="403080"/>
                    <a:pt x="1090709" y="429800"/>
                    <a:pt x="953521" y="430954"/>
                  </a:cubicBezTo>
                  <a:close/>
                </a:path>
              </a:pathLst>
            </a:custGeom>
            <a:solidFill>
              <a:srgbClr val="6069E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21908" tIns="60954" rIns="121908" bIns="60954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0" name="文本框 32">
            <a:extLst>
              <a:ext uri="{FF2B5EF4-FFF2-40B4-BE49-F238E27FC236}">
                <a16:creationId xmlns:a16="http://schemas.microsoft.com/office/drawing/2014/main" id="{E21F35BB-F71E-2B1D-5078-1C96D367A8D9}"/>
              </a:ext>
            </a:extLst>
          </p:cNvPr>
          <p:cNvSpPr txBox="1"/>
          <p:nvPr/>
        </p:nvSpPr>
        <p:spPr>
          <a:xfrm>
            <a:off x="1820039" y="873636"/>
            <a:ext cx="2086872" cy="135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отсутствует эффективная система учета и хранения архивных документов</a:t>
            </a:r>
            <a:endParaRPr lang="en-US" altLang="zh-CN" sz="1400" b="1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文本框 33">
            <a:extLst>
              <a:ext uri="{FF2B5EF4-FFF2-40B4-BE49-F238E27FC236}">
                <a16:creationId xmlns:a16="http://schemas.microsoft.com/office/drawing/2014/main" id="{663B48D9-A565-E890-8468-519511B41C22}"/>
              </a:ext>
            </a:extLst>
          </p:cNvPr>
          <p:cNvSpPr txBox="1"/>
          <p:nvPr/>
        </p:nvSpPr>
        <p:spPr>
          <a:xfrm>
            <a:off x="4388681" y="856575"/>
            <a:ext cx="2874589" cy="135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не выделяется достаточно ресурсов (финансовых, человеческих) на модернизацию архивной системы</a:t>
            </a:r>
            <a:endParaRPr lang="en-US" altLang="zh-CN" sz="1400" b="1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4">
            <a:extLst>
              <a:ext uri="{FF2B5EF4-FFF2-40B4-BE49-F238E27FC236}">
                <a16:creationId xmlns:a16="http://schemas.microsoft.com/office/drawing/2014/main" id="{E4E912BD-0AF8-B981-E4EF-25994BBACC4F}"/>
              </a:ext>
            </a:extLst>
          </p:cNvPr>
          <p:cNvSpPr txBox="1"/>
          <p:nvPr/>
        </p:nvSpPr>
        <p:spPr>
          <a:xfrm>
            <a:off x="7820877" y="887031"/>
            <a:ext cx="312408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не представлены убедительные данные о влиянии некачественной подшивки на эффективность работы архива и других подразделений университета.</a:t>
            </a:r>
          </a:p>
          <a:p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文本框 35">
            <a:extLst>
              <a:ext uri="{FF2B5EF4-FFF2-40B4-BE49-F238E27FC236}">
                <a16:creationId xmlns:a16="http://schemas.microsoft.com/office/drawing/2014/main" id="{1E13D910-4BA2-19B4-BDE5-5F40423EC852}"/>
              </a:ext>
            </a:extLst>
          </p:cNvPr>
          <p:cNvSpPr txBox="1"/>
          <p:nvPr/>
        </p:nvSpPr>
        <p:spPr>
          <a:xfrm>
            <a:off x="653033" y="4313963"/>
            <a:ext cx="2592897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Проблема:</a:t>
            </a:r>
          </a:p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Длительный поиск  дела</a:t>
            </a:r>
            <a:endParaRPr lang="en-US" altLang="zh-CN" sz="2000" kern="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9C7B5C-8ACB-4C70-F5A1-F1D3D0DA9221}"/>
              </a:ext>
            </a:extLst>
          </p:cNvPr>
          <p:cNvSpPr txBox="1"/>
          <p:nvPr/>
        </p:nvSpPr>
        <p:spPr>
          <a:xfrm>
            <a:off x="824947" y="2713256"/>
            <a:ext cx="941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длительный поиск дела в архиве?</a:t>
            </a: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53122F17-E945-DD90-054A-337AFCCA0C56}"/>
              </a:ext>
            </a:extLst>
          </p:cNvPr>
          <p:cNvSpPr/>
          <p:nvPr/>
        </p:nvSpPr>
        <p:spPr>
          <a:xfrm>
            <a:off x="799186" y="2564414"/>
            <a:ext cx="926492" cy="11646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кругленный прямоугольник 37">
            <a:extLst>
              <a:ext uri="{FF2B5EF4-FFF2-40B4-BE49-F238E27FC236}">
                <a16:creationId xmlns:a16="http://schemas.microsoft.com/office/drawing/2014/main" id="{D8C3DC0B-5B0F-C61E-B2B0-0DB5A6766858}"/>
              </a:ext>
            </a:extLst>
          </p:cNvPr>
          <p:cNvSpPr/>
          <p:nvPr/>
        </p:nvSpPr>
        <p:spPr>
          <a:xfrm>
            <a:off x="3878172" y="2343873"/>
            <a:ext cx="926492" cy="11712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A33ADB-0F9F-F540-B860-8ADFDF52A261}"/>
              </a:ext>
            </a:extLst>
          </p:cNvPr>
          <p:cNvSpPr txBox="1"/>
          <p:nvPr/>
        </p:nvSpPr>
        <p:spPr>
          <a:xfrm>
            <a:off x="3918540" y="2396917"/>
            <a:ext cx="8861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Почему отсутствует эффективная система учета и хранения архивных документов?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3AF070-980E-6504-BD2E-5D96813F9D96}"/>
              </a:ext>
            </a:extLst>
          </p:cNvPr>
          <p:cNvSpPr txBox="1"/>
          <p:nvPr/>
        </p:nvSpPr>
        <p:spPr>
          <a:xfrm>
            <a:off x="3101712" y="5533501"/>
            <a:ext cx="25928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не разработаны или не применяются чёткие инструкции и чек-листы для проверки качества подшивки, и/или отсутствует регулярный аудит архивных дел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B13F77-78B2-5DB1-5EC9-A080ABAE1987}"/>
              </a:ext>
            </a:extLst>
          </p:cNvPr>
          <p:cNvSpPr txBox="1"/>
          <p:nvPr/>
        </p:nvSpPr>
        <p:spPr>
          <a:xfrm>
            <a:off x="5335953" y="3838431"/>
            <a:ext cx="105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Почему не разработаны/не применяются инструкции и чек-листы и/или отсутствует аудит?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D8E69212-32E9-F0AB-0C5D-86524A0DB817}"/>
              </a:ext>
            </a:extLst>
          </p:cNvPr>
          <p:cNvSpPr/>
          <p:nvPr/>
        </p:nvSpPr>
        <p:spPr>
          <a:xfrm>
            <a:off x="7227602" y="2698232"/>
            <a:ext cx="926492" cy="10308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A160E0-6BBE-87BF-B5E9-321CD48F6BD2}"/>
              </a:ext>
            </a:extLst>
          </p:cNvPr>
          <p:cNvSpPr txBox="1"/>
          <p:nvPr/>
        </p:nvSpPr>
        <p:spPr>
          <a:xfrm>
            <a:off x="7263270" y="2683538"/>
            <a:ext cx="90403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Почему не выделяется достаточно ресурсов на модернизацию архивной системы?</a:t>
            </a:r>
          </a:p>
        </p:txBody>
      </p: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99A4918F-B506-A61E-1A57-36F6E419D2BF}"/>
              </a:ext>
            </a:extLst>
          </p:cNvPr>
          <p:cNvSpPr/>
          <p:nvPr/>
        </p:nvSpPr>
        <p:spPr>
          <a:xfrm>
            <a:off x="8747800" y="4031739"/>
            <a:ext cx="988490" cy="91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кругленный прямоугольник 46">
            <a:extLst>
              <a:ext uri="{FF2B5EF4-FFF2-40B4-BE49-F238E27FC236}">
                <a16:creationId xmlns:a16="http://schemas.microsoft.com/office/drawing/2014/main" id="{F12F245A-A07F-482B-159F-CA5E4FDA1678}"/>
              </a:ext>
            </a:extLst>
          </p:cNvPr>
          <p:cNvSpPr/>
          <p:nvPr/>
        </p:nvSpPr>
        <p:spPr>
          <a:xfrm>
            <a:off x="5335953" y="3771157"/>
            <a:ext cx="926492" cy="9906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5B93EE-7BC3-A566-3D15-A2E470405783}"/>
              </a:ext>
            </a:extLst>
          </p:cNvPr>
          <p:cNvSpPr txBox="1"/>
          <p:nvPr/>
        </p:nvSpPr>
        <p:spPr>
          <a:xfrm>
            <a:off x="6213827" y="5568023"/>
            <a:ext cx="30945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руководство архива КФУ не в полной мере осознаёт негативные последствия несоблюдения стандартов подшивки дел (например, сложность поиска информации, нарушение целостности документов, риски при проверках)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5466BD-1861-FD49-4A9D-1792FC88F892}"/>
              </a:ext>
            </a:extLst>
          </p:cNvPr>
          <p:cNvSpPr txBox="1"/>
          <p:nvPr/>
        </p:nvSpPr>
        <p:spPr>
          <a:xfrm>
            <a:off x="8806218" y="4030124"/>
            <a:ext cx="963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Почему руководство КФУ не осознаёт негативных последствий несоблюдения стандартов?</a:t>
            </a:r>
          </a:p>
        </p:txBody>
      </p:sp>
      <p:sp>
        <p:nvSpPr>
          <p:cNvPr id="52" name="Скругленный прямоугольник 51">
            <a:extLst>
              <a:ext uri="{FF2B5EF4-FFF2-40B4-BE49-F238E27FC236}">
                <a16:creationId xmlns:a16="http://schemas.microsoft.com/office/drawing/2014/main" id="{5463A207-27BB-91D5-9E45-10F8D52EC2EF}"/>
              </a:ext>
            </a:extLst>
          </p:cNvPr>
          <p:cNvSpPr/>
          <p:nvPr/>
        </p:nvSpPr>
        <p:spPr>
          <a:xfrm>
            <a:off x="376620" y="178716"/>
            <a:ext cx="2682422" cy="507802"/>
          </a:xfrm>
          <a:prstGeom prst="round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4B4F0B-53BC-F46A-A9E0-D617E6DA5C10}"/>
              </a:ext>
            </a:extLst>
          </p:cNvPr>
          <p:cNvSpPr txBox="1"/>
          <p:nvPr/>
        </p:nvSpPr>
        <p:spPr>
          <a:xfrm>
            <a:off x="1134924" y="221661"/>
            <a:ext cx="192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 почему</a:t>
            </a:r>
          </a:p>
          <a:p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89DE13-D47F-F777-FB31-A224992A8BB4}"/>
              </a:ext>
            </a:extLst>
          </p:cNvPr>
          <p:cNvSpPr txBox="1"/>
          <p:nvPr/>
        </p:nvSpPr>
        <p:spPr>
          <a:xfrm>
            <a:off x="3645725" y="25182"/>
            <a:ext cx="4128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Длительный поиск дела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E51C1045-AA5B-C249-E3B3-74656004A005}"/>
              </a:ext>
            </a:extLst>
          </p:cNvPr>
          <p:cNvSpPr/>
          <p:nvPr/>
        </p:nvSpPr>
        <p:spPr>
          <a:xfrm>
            <a:off x="10406730" y="2540481"/>
            <a:ext cx="1205151" cy="11695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2677B-A6AA-84FB-154B-CE3BAC7D72C8}"/>
              </a:ext>
            </a:extLst>
          </p:cNvPr>
          <p:cNvSpPr txBox="1"/>
          <p:nvPr/>
        </p:nvSpPr>
        <p:spPr>
          <a:xfrm>
            <a:off x="10518970" y="2528739"/>
            <a:ext cx="1161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Почему руководство КФУ не осознает в полной мере важность эффективного архивного управления?</a:t>
            </a:r>
          </a:p>
        </p:txBody>
      </p:sp>
      <p:sp>
        <p:nvSpPr>
          <p:cNvPr id="34" name="U-Turn Arrow 38">
            <a:extLst>
              <a:ext uri="{FF2B5EF4-FFF2-40B4-BE49-F238E27FC236}">
                <a16:creationId xmlns:a16="http://schemas.microsoft.com/office/drawing/2014/main" id="{DB58331C-F99D-FC95-0A4C-B82F39E7F2D0}"/>
              </a:ext>
            </a:extLst>
          </p:cNvPr>
          <p:cNvSpPr/>
          <p:nvPr/>
        </p:nvSpPr>
        <p:spPr>
          <a:xfrm rot="10800000" flipH="1">
            <a:off x="9800574" y="3566329"/>
            <a:ext cx="228878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U-Turn Arrow 39">
            <a:extLst>
              <a:ext uri="{FF2B5EF4-FFF2-40B4-BE49-F238E27FC236}">
                <a16:creationId xmlns:a16="http://schemas.microsoft.com/office/drawing/2014/main" id="{CBFA77EB-1C7B-78FF-EE5E-FD408568530E}"/>
              </a:ext>
            </a:extLst>
          </p:cNvPr>
          <p:cNvSpPr/>
          <p:nvPr/>
        </p:nvSpPr>
        <p:spPr>
          <a:xfrm>
            <a:off x="8285090" y="2056473"/>
            <a:ext cx="2101854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U-Turn Arrow 38">
            <a:extLst>
              <a:ext uri="{FF2B5EF4-FFF2-40B4-BE49-F238E27FC236}">
                <a16:creationId xmlns:a16="http://schemas.microsoft.com/office/drawing/2014/main" id="{94DC746D-8D1B-BF56-1DC6-23D5ECB51BAF}"/>
              </a:ext>
            </a:extLst>
          </p:cNvPr>
          <p:cNvSpPr/>
          <p:nvPr/>
        </p:nvSpPr>
        <p:spPr>
          <a:xfrm rot="10800000" flipH="1">
            <a:off x="6510980" y="3625684"/>
            <a:ext cx="228878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U-Turn Arrow 37">
            <a:extLst>
              <a:ext uri="{FF2B5EF4-FFF2-40B4-BE49-F238E27FC236}">
                <a16:creationId xmlns:a16="http://schemas.microsoft.com/office/drawing/2014/main" id="{0AD72E13-096E-7C28-B64D-03AF42D5D87A}"/>
              </a:ext>
            </a:extLst>
          </p:cNvPr>
          <p:cNvSpPr/>
          <p:nvPr/>
        </p:nvSpPr>
        <p:spPr>
          <a:xfrm>
            <a:off x="4864371" y="2186330"/>
            <a:ext cx="2259638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U-Turn Arrow 36">
            <a:extLst>
              <a:ext uri="{FF2B5EF4-FFF2-40B4-BE49-F238E27FC236}">
                <a16:creationId xmlns:a16="http://schemas.microsoft.com/office/drawing/2014/main" id="{5C9A12DF-D91B-386C-F987-E22AEA745D23}"/>
              </a:ext>
            </a:extLst>
          </p:cNvPr>
          <p:cNvSpPr/>
          <p:nvPr/>
        </p:nvSpPr>
        <p:spPr>
          <a:xfrm rot="10800000" flipH="1">
            <a:off x="3457462" y="3690169"/>
            <a:ext cx="1927913" cy="1877854"/>
          </a:xfrm>
          <a:prstGeom prst="uturnArrow">
            <a:avLst>
              <a:gd name="adj1" fmla="val 20076"/>
              <a:gd name="adj2" fmla="val 21661"/>
              <a:gd name="adj3" fmla="val 23347"/>
              <a:gd name="adj4" fmla="val 49304"/>
              <a:gd name="adj5" fmla="val 100000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U-Turn Arrow 34">
            <a:extLst>
              <a:ext uri="{FF2B5EF4-FFF2-40B4-BE49-F238E27FC236}">
                <a16:creationId xmlns:a16="http://schemas.microsoft.com/office/drawing/2014/main" id="{1598CE8C-A801-0FA6-E8C6-D1F84F7347BE}"/>
              </a:ext>
            </a:extLst>
          </p:cNvPr>
          <p:cNvSpPr/>
          <p:nvPr/>
        </p:nvSpPr>
        <p:spPr>
          <a:xfrm>
            <a:off x="1864009" y="2240332"/>
            <a:ext cx="218224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7754B4-12CA-248A-2364-8D9BF17A3796}"/>
              </a:ext>
            </a:extLst>
          </p:cNvPr>
          <p:cNvSpPr txBox="1"/>
          <p:nvPr/>
        </p:nvSpPr>
        <p:spPr>
          <a:xfrm>
            <a:off x="9679492" y="5533501"/>
            <a:ext cx="247941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нет четких показателей (KPI) эффективности работы архива, и руководство не видит прямой связи между скоростью поиска дел и повышением эффективности других процессов (научных, учебных, административных)</a:t>
            </a:r>
          </a:p>
        </p:txBody>
      </p:sp>
      <p:grpSp>
        <p:nvGrpSpPr>
          <p:cNvPr id="42" name="组合 11">
            <a:extLst>
              <a:ext uri="{FF2B5EF4-FFF2-40B4-BE49-F238E27FC236}">
                <a16:creationId xmlns:a16="http://schemas.microsoft.com/office/drawing/2014/main" id="{6CBEDFC0-433E-FDC8-F683-AE45A7A96AAB}"/>
              </a:ext>
            </a:extLst>
          </p:cNvPr>
          <p:cNvGrpSpPr/>
          <p:nvPr/>
        </p:nvGrpSpPr>
        <p:grpSpPr>
          <a:xfrm>
            <a:off x="2346375" y="2775321"/>
            <a:ext cx="1013383" cy="912428"/>
            <a:chOff x="2800438" y="2695317"/>
            <a:chExt cx="966528" cy="966528"/>
          </a:xfrm>
        </p:grpSpPr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6F48D9EB-2D7D-B1BA-A150-83B1F54615F7}"/>
                </a:ext>
              </a:extLst>
            </p:cNvPr>
            <p:cNvSpPr/>
            <p:nvPr/>
          </p:nvSpPr>
          <p:spPr>
            <a:xfrm>
              <a:off x="2800438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iṧ1ïḍê">
              <a:extLst>
                <a:ext uri="{FF2B5EF4-FFF2-40B4-BE49-F238E27FC236}">
                  <a16:creationId xmlns:a16="http://schemas.microsoft.com/office/drawing/2014/main" id="{16BA604A-4230-E0DD-3516-A546DE81BE6B}"/>
                </a:ext>
              </a:extLst>
            </p:cNvPr>
            <p:cNvSpPr/>
            <p:nvPr/>
          </p:nvSpPr>
          <p:spPr bwMode="auto">
            <a:xfrm>
              <a:off x="3084425" y="3043577"/>
              <a:ext cx="398553" cy="343058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5" name="组合 20">
            <a:extLst>
              <a:ext uri="{FF2B5EF4-FFF2-40B4-BE49-F238E27FC236}">
                <a16:creationId xmlns:a16="http://schemas.microsoft.com/office/drawing/2014/main" id="{2E117472-C90F-8685-547F-10D9C0E2A6E8}"/>
              </a:ext>
            </a:extLst>
          </p:cNvPr>
          <p:cNvGrpSpPr/>
          <p:nvPr/>
        </p:nvGrpSpPr>
        <p:grpSpPr>
          <a:xfrm>
            <a:off x="10327937" y="4005389"/>
            <a:ext cx="966528" cy="966528"/>
            <a:chOff x="4253963" y="4145714"/>
            <a:chExt cx="966528" cy="966528"/>
          </a:xfrm>
        </p:grpSpPr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EBEDF260-1FB2-77D7-7620-6580529021A7}"/>
                </a:ext>
              </a:extLst>
            </p:cNvPr>
            <p:cNvSpPr/>
            <p:nvPr/>
          </p:nvSpPr>
          <p:spPr>
            <a:xfrm>
              <a:off x="4253963" y="4145714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57" name="组合 22">
              <a:extLst>
                <a:ext uri="{FF2B5EF4-FFF2-40B4-BE49-F238E27FC236}">
                  <a16:creationId xmlns:a16="http://schemas.microsoft.com/office/drawing/2014/main" id="{408FB191-C4B0-6918-38CB-BAB5035BADAE}"/>
                </a:ext>
              </a:extLst>
            </p:cNvPr>
            <p:cNvGrpSpPr/>
            <p:nvPr/>
          </p:nvGrpSpPr>
          <p:grpSpPr>
            <a:xfrm>
              <a:off x="4573953" y="4445706"/>
              <a:ext cx="301172" cy="343059"/>
              <a:chOff x="9977438" y="4359275"/>
              <a:chExt cx="433388" cy="541338"/>
            </a:xfrm>
            <a:solidFill>
              <a:schemeClr val="tx1"/>
            </a:solidFill>
          </p:grpSpPr>
          <p:sp>
            <p:nvSpPr>
              <p:cNvPr id="58" name="Freeform 162">
                <a:extLst>
                  <a:ext uri="{FF2B5EF4-FFF2-40B4-BE49-F238E27FC236}">
                    <a16:creationId xmlns:a16="http://schemas.microsoft.com/office/drawing/2014/main" id="{4FDAB8F1-B72D-E9C0-62B7-1E9B4DEF133D}"/>
                  </a:ext>
                </a:extLst>
              </p:cNvPr>
              <p:cNvSpPr/>
              <p:nvPr/>
            </p:nvSpPr>
            <p:spPr bwMode="auto">
              <a:xfrm>
                <a:off x="10029826" y="4414838"/>
                <a:ext cx="95250" cy="106363"/>
              </a:xfrm>
              <a:custGeom>
                <a:avLst/>
                <a:gdLst>
                  <a:gd name="T0" fmla="*/ 32 w 34"/>
                  <a:gd name="T1" fmla="*/ 16 h 38"/>
                  <a:gd name="T2" fmla="*/ 6 w 34"/>
                  <a:gd name="T3" fmla="*/ 0 h 38"/>
                  <a:gd name="T4" fmla="*/ 2 w 34"/>
                  <a:gd name="T5" fmla="*/ 0 h 38"/>
                  <a:gd name="T6" fmla="*/ 0 w 34"/>
                  <a:gd name="T7" fmla="*/ 4 h 38"/>
                  <a:gd name="T8" fmla="*/ 0 w 34"/>
                  <a:gd name="T9" fmla="*/ 34 h 38"/>
                  <a:gd name="T10" fmla="*/ 2 w 34"/>
                  <a:gd name="T11" fmla="*/ 38 h 38"/>
                  <a:gd name="T12" fmla="*/ 4 w 34"/>
                  <a:gd name="T13" fmla="*/ 38 h 38"/>
                  <a:gd name="T14" fmla="*/ 6 w 34"/>
                  <a:gd name="T15" fmla="*/ 38 h 38"/>
                  <a:gd name="T16" fmla="*/ 32 w 34"/>
                  <a:gd name="T17" fmla="*/ 22 h 38"/>
                  <a:gd name="T18" fmla="*/ 34 w 34"/>
                  <a:gd name="T19" fmla="*/ 19 h 38"/>
                  <a:gd name="T20" fmla="*/ 32 w 34"/>
                  <a:gd name="T2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38">
                    <a:moveTo>
                      <a:pt x="32" y="16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6"/>
                      <a:pt x="0" y="37"/>
                      <a:pt x="2" y="38"/>
                    </a:cubicBezTo>
                    <a:cubicBezTo>
                      <a:pt x="2" y="38"/>
                      <a:pt x="3" y="38"/>
                      <a:pt x="4" y="38"/>
                    </a:cubicBezTo>
                    <a:cubicBezTo>
                      <a:pt x="4" y="38"/>
                      <a:pt x="5" y="38"/>
                      <a:pt x="6" y="38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4" y="22"/>
                      <a:pt x="34" y="20"/>
                      <a:pt x="34" y="19"/>
                    </a:cubicBezTo>
                    <a:cubicBezTo>
                      <a:pt x="34" y="18"/>
                      <a:pt x="34" y="16"/>
                      <a:pt x="32" y="16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Freeform 163">
                <a:extLst>
                  <a:ext uri="{FF2B5EF4-FFF2-40B4-BE49-F238E27FC236}">
                    <a16:creationId xmlns:a16="http://schemas.microsoft.com/office/drawing/2014/main" id="{64D654C8-22A3-6F62-D930-521575F85832}"/>
                  </a:ext>
                </a:extLst>
              </p:cNvPr>
              <p:cNvSpPr/>
              <p:nvPr/>
            </p:nvSpPr>
            <p:spPr bwMode="auto">
              <a:xfrm>
                <a:off x="10028238" y="4498975"/>
                <a:ext cx="82550" cy="125413"/>
              </a:xfrm>
              <a:custGeom>
                <a:avLst/>
                <a:gdLst>
                  <a:gd name="T0" fmla="*/ 26 w 30"/>
                  <a:gd name="T1" fmla="*/ 45 h 45"/>
                  <a:gd name="T2" fmla="*/ 22 w 30"/>
                  <a:gd name="T3" fmla="*/ 43 h 45"/>
                  <a:gd name="T4" fmla="*/ 1 w 30"/>
                  <a:gd name="T5" fmla="*/ 6 h 45"/>
                  <a:gd name="T6" fmla="*/ 3 w 30"/>
                  <a:gd name="T7" fmla="*/ 1 h 45"/>
                  <a:gd name="T8" fmla="*/ 8 w 30"/>
                  <a:gd name="T9" fmla="*/ 2 h 45"/>
                  <a:gd name="T10" fmla="*/ 29 w 30"/>
                  <a:gd name="T11" fmla="*/ 39 h 45"/>
                  <a:gd name="T12" fmla="*/ 28 w 30"/>
                  <a:gd name="T13" fmla="*/ 44 h 45"/>
                  <a:gd name="T14" fmla="*/ 26 w 30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5">
                    <a:moveTo>
                      <a:pt x="26" y="45"/>
                    </a:moveTo>
                    <a:cubicBezTo>
                      <a:pt x="24" y="45"/>
                      <a:pt x="23" y="44"/>
                      <a:pt x="22" y="4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0" y="41"/>
                      <a:pt x="30" y="43"/>
                      <a:pt x="28" y="44"/>
                    </a:cubicBezTo>
                    <a:cubicBezTo>
                      <a:pt x="27" y="45"/>
                      <a:pt x="26" y="45"/>
                      <a:pt x="26" y="4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0" name="Freeform 164">
                <a:extLst>
                  <a:ext uri="{FF2B5EF4-FFF2-40B4-BE49-F238E27FC236}">
                    <a16:creationId xmlns:a16="http://schemas.microsoft.com/office/drawing/2014/main" id="{E1603C44-0BF8-AEDE-8E8D-C27206375E37}"/>
                  </a:ext>
                </a:extLst>
              </p:cNvPr>
              <p:cNvSpPr/>
              <p:nvPr/>
            </p:nvSpPr>
            <p:spPr bwMode="auto">
              <a:xfrm>
                <a:off x="10102851" y="4456113"/>
                <a:ext cx="109538" cy="168275"/>
              </a:xfrm>
              <a:custGeom>
                <a:avLst/>
                <a:gdLst>
                  <a:gd name="T0" fmla="*/ 34 w 39"/>
                  <a:gd name="T1" fmla="*/ 60 h 60"/>
                  <a:gd name="T2" fmla="*/ 31 w 39"/>
                  <a:gd name="T3" fmla="*/ 58 h 60"/>
                  <a:gd name="T4" fmla="*/ 1 w 39"/>
                  <a:gd name="T5" fmla="*/ 6 h 60"/>
                  <a:gd name="T6" fmla="*/ 2 w 39"/>
                  <a:gd name="T7" fmla="*/ 1 h 60"/>
                  <a:gd name="T8" fmla="*/ 8 w 39"/>
                  <a:gd name="T9" fmla="*/ 2 h 60"/>
                  <a:gd name="T10" fmla="*/ 38 w 39"/>
                  <a:gd name="T11" fmla="*/ 54 h 60"/>
                  <a:gd name="T12" fmla="*/ 36 w 39"/>
                  <a:gd name="T13" fmla="*/ 59 h 60"/>
                  <a:gd name="T14" fmla="*/ 34 w 39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60">
                    <a:moveTo>
                      <a:pt x="34" y="60"/>
                    </a:moveTo>
                    <a:cubicBezTo>
                      <a:pt x="33" y="60"/>
                      <a:pt x="31" y="59"/>
                      <a:pt x="31" y="58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4" y="0"/>
                      <a:pt x="7" y="0"/>
                      <a:pt x="8" y="2"/>
                    </a:cubicBezTo>
                    <a:cubicBezTo>
                      <a:pt x="38" y="54"/>
                      <a:pt x="38" y="54"/>
                      <a:pt x="38" y="54"/>
                    </a:cubicBezTo>
                    <a:cubicBezTo>
                      <a:pt x="39" y="56"/>
                      <a:pt x="38" y="58"/>
                      <a:pt x="36" y="59"/>
                    </a:cubicBezTo>
                    <a:cubicBezTo>
                      <a:pt x="36" y="60"/>
                      <a:pt x="35" y="60"/>
                      <a:pt x="34" y="60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1" name="Freeform 165">
                <a:extLst>
                  <a:ext uri="{FF2B5EF4-FFF2-40B4-BE49-F238E27FC236}">
                    <a16:creationId xmlns:a16="http://schemas.microsoft.com/office/drawing/2014/main" id="{3A17282C-F7C8-84C6-916B-1E1AD814A863}"/>
                  </a:ext>
                </a:extLst>
              </p:cNvPr>
              <p:cNvSpPr/>
              <p:nvPr/>
            </p:nvSpPr>
            <p:spPr bwMode="auto">
              <a:xfrm>
                <a:off x="10202863" y="4359275"/>
                <a:ext cx="134938" cy="265113"/>
              </a:xfrm>
              <a:custGeom>
                <a:avLst/>
                <a:gdLst>
                  <a:gd name="T0" fmla="*/ 38 w 48"/>
                  <a:gd name="T1" fmla="*/ 95 h 95"/>
                  <a:gd name="T2" fmla="*/ 37 w 48"/>
                  <a:gd name="T3" fmla="*/ 95 h 95"/>
                  <a:gd name="T4" fmla="*/ 34 w 48"/>
                  <a:gd name="T5" fmla="*/ 91 h 95"/>
                  <a:gd name="T6" fmla="*/ 40 w 48"/>
                  <a:gd name="T7" fmla="*/ 26 h 95"/>
                  <a:gd name="T8" fmla="*/ 37 w 48"/>
                  <a:gd name="T9" fmla="*/ 14 h 95"/>
                  <a:gd name="T10" fmla="*/ 29 w 48"/>
                  <a:gd name="T11" fmla="*/ 8 h 95"/>
                  <a:gd name="T12" fmla="*/ 20 w 48"/>
                  <a:gd name="T13" fmla="*/ 12 h 95"/>
                  <a:gd name="T14" fmla="*/ 15 w 48"/>
                  <a:gd name="T15" fmla="*/ 24 h 95"/>
                  <a:gd name="T16" fmla="*/ 9 w 48"/>
                  <a:gd name="T17" fmla="*/ 91 h 95"/>
                  <a:gd name="T18" fmla="*/ 4 w 48"/>
                  <a:gd name="T19" fmla="*/ 95 h 95"/>
                  <a:gd name="T20" fmla="*/ 1 w 48"/>
                  <a:gd name="T21" fmla="*/ 91 h 95"/>
                  <a:gd name="T22" fmla="*/ 7 w 48"/>
                  <a:gd name="T23" fmla="*/ 23 h 95"/>
                  <a:gd name="T24" fmla="*/ 14 w 48"/>
                  <a:gd name="T25" fmla="*/ 7 h 95"/>
                  <a:gd name="T26" fmla="*/ 29 w 48"/>
                  <a:gd name="T27" fmla="*/ 0 h 95"/>
                  <a:gd name="T28" fmla="*/ 43 w 48"/>
                  <a:gd name="T29" fmla="*/ 9 h 95"/>
                  <a:gd name="T30" fmla="*/ 48 w 48"/>
                  <a:gd name="T31" fmla="*/ 27 h 95"/>
                  <a:gd name="T32" fmla="*/ 42 w 48"/>
                  <a:gd name="T33" fmla="*/ 91 h 95"/>
                  <a:gd name="T34" fmla="*/ 38 w 48"/>
                  <a:gd name="T35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95">
                    <a:moveTo>
                      <a:pt x="38" y="95"/>
                    </a:moveTo>
                    <a:cubicBezTo>
                      <a:pt x="38" y="95"/>
                      <a:pt x="37" y="95"/>
                      <a:pt x="37" y="95"/>
                    </a:cubicBezTo>
                    <a:cubicBezTo>
                      <a:pt x="35" y="95"/>
                      <a:pt x="34" y="93"/>
                      <a:pt x="34" y="91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2"/>
                      <a:pt x="39" y="17"/>
                      <a:pt x="37" y="14"/>
                    </a:cubicBezTo>
                    <a:cubicBezTo>
                      <a:pt x="35" y="10"/>
                      <a:pt x="32" y="8"/>
                      <a:pt x="29" y="8"/>
                    </a:cubicBezTo>
                    <a:cubicBezTo>
                      <a:pt x="26" y="8"/>
                      <a:pt x="22" y="9"/>
                      <a:pt x="20" y="12"/>
                    </a:cubicBezTo>
                    <a:cubicBezTo>
                      <a:pt x="17" y="15"/>
                      <a:pt x="15" y="19"/>
                      <a:pt x="15" y="24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8" y="93"/>
                      <a:pt x="6" y="95"/>
                      <a:pt x="4" y="95"/>
                    </a:cubicBezTo>
                    <a:cubicBezTo>
                      <a:pt x="2" y="95"/>
                      <a:pt x="0" y="93"/>
                      <a:pt x="1" y="91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17"/>
                      <a:pt x="10" y="11"/>
                      <a:pt x="14" y="7"/>
                    </a:cubicBezTo>
                    <a:cubicBezTo>
                      <a:pt x="18" y="2"/>
                      <a:pt x="24" y="0"/>
                      <a:pt x="29" y="0"/>
                    </a:cubicBezTo>
                    <a:cubicBezTo>
                      <a:pt x="35" y="1"/>
                      <a:pt x="40" y="4"/>
                      <a:pt x="43" y="9"/>
                    </a:cubicBezTo>
                    <a:cubicBezTo>
                      <a:pt x="47" y="14"/>
                      <a:pt x="48" y="21"/>
                      <a:pt x="48" y="27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2" y="93"/>
                      <a:pt x="40" y="95"/>
                      <a:pt x="38" y="9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2" name="Freeform 166">
                <a:extLst>
                  <a:ext uri="{FF2B5EF4-FFF2-40B4-BE49-F238E27FC236}">
                    <a16:creationId xmlns:a16="http://schemas.microsoft.com/office/drawing/2014/main" id="{82F46CF6-E37D-0219-2827-15AA1575555D}"/>
                  </a:ext>
                </a:extLst>
              </p:cNvPr>
              <p:cNvSpPr/>
              <p:nvPr/>
            </p:nvSpPr>
            <p:spPr bwMode="auto">
              <a:xfrm>
                <a:off x="9977438" y="4602163"/>
                <a:ext cx="433388" cy="298450"/>
              </a:xfrm>
              <a:custGeom>
                <a:avLst/>
                <a:gdLst>
                  <a:gd name="T0" fmla="*/ 153 w 155"/>
                  <a:gd name="T1" fmla="*/ 5 h 107"/>
                  <a:gd name="T2" fmla="*/ 140 w 155"/>
                  <a:gd name="T3" fmla="*/ 0 h 107"/>
                  <a:gd name="T4" fmla="*/ 15 w 155"/>
                  <a:gd name="T5" fmla="*/ 0 h 107"/>
                  <a:gd name="T6" fmla="*/ 2 w 155"/>
                  <a:gd name="T7" fmla="*/ 5 h 107"/>
                  <a:gd name="T8" fmla="*/ 0 w 155"/>
                  <a:gd name="T9" fmla="*/ 14 h 107"/>
                  <a:gd name="T10" fmla="*/ 14 w 155"/>
                  <a:gd name="T11" fmla="*/ 26 h 107"/>
                  <a:gd name="T12" fmla="*/ 20 w 155"/>
                  <a:gd name="T13" fmla="*/ 34 h 107"/>
                  <a:gd name="T14" fmla="*/ 30 w 155"/>
                  <a:gd name="T15" fmla="*/ 83 h 107"/>
                  <a:gd name="T16" fmla="*/ 29 w 155"/>
                  <a:gd name="T17" fmla="*/ 90 h 107"/>
                  <a:gd name="T18" fmla="*/ 22 w 155"/>
                  <a:gd name="T19" fmla="*/ 93 h 107"/>
                  <a:gd name="T20" fmla="*/ 21 w 155"/>
                  <a:gd name="T21" fmla="*/ 99 h 107"/>
                  <a:gd name="T22" fmla="*/ 39 w 155"/>
                  <a:gd name="T23" fmla="*/ 107 h 107"/>
                  <a:gd name="T24" fmla="*/ 116 w 155"/>
                  <a:gd name="T25" fmla="*/ 107 h 107"/>
                  <a:gd name="T26" fmla="*/ 134 w 155"/>
                  <a:gd name="T27" fmla="*/ 99 h 107"/>
                  <a:gd name="T28" fmla="*/ 133 w 155"/>
                  <a:gd name="T29" fmla="*/ 93 h 107"/>
                  <a:gd name="T30" fmla="*/ 126 w 155"/>
                  <a:gd name="T31" fmla="*/ 90 h 107"/>
                  <a:gd name="T32" fmla="*/ 125 w 155"/>
                  <a:gd name="T33" fmla="*/ 83 h 107"/>
                  <a:gd name="T34" fmla="*/ 135 w 155"/>
                  <a:gd name="T35" fmla="*/ 34 h 107"/>
                  <a:gd name="T36" fmla="*/ 141 w 155"/>
                  <a:gd name="T37" fmla="*/ 26 h 107"/>
                  <a:gd name="T38" fmla="*/ 155 w 155"/>
                  <a:gd name="T39" fmla="*/ 14 h 107"/>
                  <a:gd name="T40" fmla="*/ 153 w 155"/>
                  <a:gd name="T41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5" h="107">
                    <a:moveTo>
                      <a:pt x="153" y="5"/>
                    </a:moveTo>
                    <a:cubicBezTo>
                      <a:pt x="150" y="2"/>
                      <a:pt x="145" y="0"/>
                      <a:pt x="14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0"/>
                      <a:pt x="5" y="2"/>
                      <a:pt x="2" y="5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2" y="21"/>
                      <a:pt x="8" y="26"/>
                      <a:pt x="14" y="26"/>
                    </a:cubicBezTo>
                    <a:cubicBezTo>
                      <a:pt x="16" y="26"/>
                      <a:pt x="19" y="29"/>
                      <a:pt x="20" y="34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7"/>
                      <a:pt x="30" y="89"/>
                      <a:pt x="29" y="90"/>
                    </a:cubicBezTo>
                    <a:cubicBezTo>
                      <a:pt x="26" y="90"/>
                      <a:pt x="24" y="91"/>
                      <a:pt x="22" y="93"/>
                    </a:cubicBezTo>
                    <a:cubicBezTo>
                      <a:pt x="21" y="95"/>
                      <a:pt x="20" y="97"/>
                      <a:pt x="21" y="99"/>
                    </a:cubicBezTo>
                    <a:cubicBezTo>
                      <a:pt x="22" y="105"/>
                      <a:pt x="32" y="107"/>
                      <a:pt x="39" y="107"/>
                    </a:cubicBezTo>
                    <a:cubicBezTo>
                      <a:pt x="116" y="107"/>
                      <a:pt x="116" y="107"/>
                      <a:pt x="116" y="107"/>
                    </a:cubicBezTo>
                    <a:cubicBezTo>
                      <a:pt x="123" y="107"/>
                      <a:pt x="133" y="105"/>
                      <a:pt x="134" y="99"/>
                    </a:cubicBezTo>
                    <a:cubicBezTo>
                      <a:pt x="135" y="97"/>
                      <a:pt x="134" y="95"/>
                      <a:pt x="133" y="93"/>
                    </a:cubicBezTo>
                    <a:cubicBezTo>
                      <a:pt x="131" y="91"/>
                      <a:pt x="129" y="90"/>
                      <a:pt x="126" y="90"/>
                    </a:cubicBezTo>
                    <a:cubicBezTo>
                      <a:pt x="125" y="89"/>
                      <a:pt x="125" y="87"/>
                      <a:pt x="125" y="83"/>
                    </a:cubicBezTo>
                    <a:cubicBezTo>
                      <a:pt x="135" y="34"/>
                      <a:pt x="135" y="34"/>
                      <a:pt x="135" y="34"/>
                    </a:cubicBezTo>
                    <a:cubicBezTo>
                      <a:pt x="136" y="29"/>
                      <a:pt x="139" y="26"/>
                      <a:pt x="141" y="26"/>
                    </a:cubicBezTo>
                    <a:cubicBezTo>
                      <a:pt x="147" y="26"/>
                      <a:pt x="153" y="21"/>
                      <a:pt x="155" y="14"/>
                    </a:cubicBezTo>
                    <a:cubicBezTo>
                      <a:pt x="155" y="11"/>
                      <a:pt x="155" y="8"/>
                      <a:pt x="153" y="5"/>
                    </a:cubicBezTo>
                    <a:close/>
                  </a:path>
                </a:pathLst>
              </a:custGeom>
              <a:solidFill>
                <a:srgbClr val="6069E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3" name="Freeform 167">
                <a:extLst>
                  <a:ext uri="{FF2B5EF4-FFF2-40B4-BE49-F238E27FC236}">
                    <a16:creationId xmlns:a16="http://schemas.microsoft.com/office/drawing/2014/main" id="{8F194581-38EC-53D3-2EF3-B75DCCF6AB5B}"/>
                  </a:ext>
                </a:extLst>
              </p:cNvPr>
              <p:cNvSpPr/>
              <p:nvPr/>
            </p:nvSpPr>
            <p:spPr bwMode="auto">
              <a:xfrm>
                <a:off x="10250488" y="4414838"/>
                <a:ext cx="39688" cy="203200"/>
              </a:xfrm>
              <a:custGeom>
                <a:avLst/>
                <a:gdLst>
                  <a:gd name="T0" fmla="*/ 4 w 14"/>
                  <a:gd name="T1" fmla="*/ 73 h 73"/>
                  <a:gd name="T2" fmla="*/ 4 w 14"/>
                  <a:gd name="T3" fmla="*/ 73 h 73"/>
                  <a:gd name="T4" fmla="*/ 0 w 14"/>
                  <a:gd name="T5" fmla="*/ 68 h 73"/>
                  <a:gd name="T6" fmla="*/ 6 w 14"/>
                  <a:gd name="T7" fmla="*/ 4 h 73"/>
                  <a:gd name="T8" fmla="*/ 10 w 14"/>
                  <a:gd name="T9" fmla="*/ 0 h 73"/>
                  <a:gd name="T10" fmla="*/ 14 w 14"/>
                  <a:gd name="T11" fmla="*/ 4 h 73"/>
                  <a:gd name="T12" fmla="*/ 8 w 14"/>
                  <a:gd name="T13" fmla="*/ 69 h 73"/>
                  <a:gd name="T14" fmla="*/ 4 w 14"/>
                  <a:gd name="T15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73">
                    <a:moveTo>
                      <a:pt x="4" y="73"/>
                    </a:moveTo>
                    <a:cubicBezTo>
                      <a:pt x="4" y="73"/>
                      <a:pt x="4" y="73"/>
                      <a:pt x="4" y="73"/>
                    </a:cubicBezTo>
                    <a:cubicBezTo>
                      <a:pt x="2" y="72"/>
                      <a:pt x="0" y="71"/>
                      <a:pt x="0" y="68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2" y="0"/>
                      <a:pt x="14" y="2"/>
                      <a:pt x="14" y="4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1"/>
                      <a:pt x="7" y="73"/>
                      <a:pt x="4" y="73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36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600"/>
                            </p:stCondLst>
                            <p:childTnLst>
                              <p:par>
                                <p:cTn id="6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9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800"/>
                            </p:stCondLst>
                            <p:childTnLst>
                              <p:par>
                                <p:cTn id="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4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4D6CA-DF45-4C1B-90C4-F949ABDAAE79}"/>
              </a:ext>
            </a:extLst>
          </p:cNvPr>
          <p:cNvSpPr txBox="1"/>
          <p:nvPr/>
        </p:nvSpPr>
        <p:spPr>
          <a:xfrm>
            <a:off x="3690842" y="76438"/>
            <a:ext cx="4548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Исполнение заявлений граждан </a:t>
            </a:r>
            <a:r>
              <a:rPr lang="en-US" sz="2800" b="1" dirty="0"/>
              <a:t>IDEF</a:t>
            </a:r>
            <a:r>
              <a:rPr lang="ru-RU" sz="2800" b="1" dirty="0"/>
              <a:t>0</a:t>
            </a:r>
          </a:p>
          <a:p>
            <a:endParaRPr lang="ru-RU" sz="2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89DF71-C0B8-8A66-3B34-A1238194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54" y="1297672"/>
            <a:ext cx="11375691" cy="500099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D850A1-0673-B458-5ED7-4BC92DC70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9" r="7409"/>
          <a:stretch>
            <a:fillRect/>
          </a:stretch>
        </p:blipFill>
        <p:spPr>
          <a:xfrm>
            <a:off x="195574" y="4180114"/>
            <a:ext cx="2109047" cy="24754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58983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80186-804F-9EF4-A8BB-CCF086974BBE}"/>
              </a:ext>
            </a:extLst>
          </p:cNvPr>
          <p:cNvSpPr txBox="1"/>
          <p:nvPr/>
        </p:nvSpPr>
        <p:spPr>
          <a:xfrm>
            <a:off x="627040" y="41192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5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Формирование и подтверждение справки 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BPMN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B184AA-DE2A-DAF8-CA16-FC7803FA5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551493"/>
            <a:ext cx="10881360" cy="515474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A93033-AD6D-9879-85C7-2D4592FF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003" y="988441"/>
            <a:ext cx="1990277" cy="199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8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BBA018-FA75-43BF-99E6-1F52457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673405-BF85-493E-8558-0DCBEDB2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79610"/>
            <a:ext cx="4831130" cy="4078390"/>
          </a:xfrm>
          <a:custGeom>
            <a:avLst/>
            <a:gdLst>
              <a:gd name="connsiteX0" fmla="*/ 1960035 w 4831130"/>
              <a:gd name="connsiteY0" fmla="*/ 0 h 4078390"/>
              <a:gd name="connsiteX1" fmla="*/ 4831130 w 4831130"/>
              <a:gd name="connsiteY1" fmla="*/ 2871095 h 4078390"/>
              <a:gd name="connsiteX2" fmla="*/ 4605505 w 4831130"/>
              <a:gd name="connsiteY2" fmla="*/ 3988655 h 4078390"/>
              <a:gd name="connsiteX3" fmla="*/ 4562278 w 4831130"/>
              <a:gd name="connsiteY3" fmla="*/ 4078390 h 4078390"/>
              <a:gd name="connsiteX4" fmla="*/ 0 w 4831130"/>
              <a:gd name="connsiteY4" fmla="*/ 4078390 h 4078390"/>
              <a:gd name="connsiteX5" fmla="*/ 0 w 4831130"/>
              <a:gd name="connsiteY5" fmla="*/ 777181 h 4078390"/>
              <a:gd name="connsiteX6" fmla="*/ 133752 w 4831130"/>
              <a:gd name="connsiteY6" fmla="*/ 655619 h 4078390"/>
              <a:gd name="connsiteX7" fmla="*/ 1960035 w 4831130"/>
              <a:gd name="connsiteY7" fmla="*/ 0 h 407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130" h="4078390">
                <a:moveTo>
                  <a:pt x="1960035" y="0"/>
                </a:moveTo>
                <a:cubicBezTo>
                  <a:pt x="3545697" y="0"/>
                  <a:pt x="4831130" y="1285433"/>
                  <a:pt x="4831130" y="2871095"/>
                </a:cubicBezTo>
                <a:cubicBezTo>
                  <a:pt x="4831130" y="3267511"/>
                  <a:pt x="4750791" y="3645162"/>
                  <a:pt x="4605505" y="3988655"/>
                </a:cubicBezTo>
                <a:lnTo>
                  <a:pt x="4562278" y="4078390"/>
                </a:lnTo>
                <a:lnTo>
                  <a:pt x="0" y="4078390"/>
                </a:lnTo>
                <a:lnTo>
                  <a:pt x="0" y="777181"/>
                </a:lnTo>
                <a:lnTo>
                  <a:pt x="133752" y="655619"/>
                </a:lnTo>
                <a:cubicBezTo>
                  <a:pt x="630047" y="246040"/>
                  <a:pt x="1266308" y="0"/>
                  <a:pt x="196003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64EAE84-A813-4501-BC71-DBD14BA02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9782" y="1"/>
            <a:ext cx="4195674" cy="3095741"/>
          </a:xfrm>
          <a:custGeom>
            <a:avLst/>
            <a:gdLst>
              <a:gd name="connsiteX0" fmla="*/ 252211 w 4195674"/>
              <a:gd name="connsiteY0" fmla="*/ 0 h 3095741"/>
              <a:gd name="connsiteX1" fmla="*/ 3943464 w 4195674"/>
              <a:gd name="connsiteY1" fmla="*/ 0 h 3095741"/>
              <a:gd name="connsiteX2" fmla="*/ 4030816 w 4195674"/>
              <a:gd name="connsiteY2" fmla="*/ 181331 h 3095741"/>
              <a:gd name="connsiteX3" fmla="*/ 4195674 w 4195674"/>
              <a:gd name="connsiteY3" fmla="*/ 997904 h 3095741"/>
              <a:gd name="connsiteX4" fmla="*/ 2097837 w 4195674"/>
              <a:gd name="connsiteY4" fmla="*/ 3095741 h 3095741"/>
              <a:gd name="connsiteX5" fmla="*/ 0 w 4195674"/>
              <a:gd name="connsiteY5" fmla="*/ 997904 h 3095741"/>
              <a:gd name="connsiteX6" fmla="*/ 164859 w 4195674"/>
              <a:gd name="connsiteY6" fmla="*/ 181331 h 309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3095741">
                <a:moveTo>
                  <a:pt x="252211" y="0"/>
                </a:moveTo>
                <a:lnTo>
                  <a:pt x="3943464" y="0"/>
                </a:lnTo>
                <a:lnTo>
                  <a:pt x="4030816" y="181331"/>
                </a:lnTo>
                <a:cubicBezTo>
                  <a:pt x="4136972" y="432313"/>
                  <a:pt x="4195674" y="708253"/>
                  <a:pt x="4195674" y="997904"/>
                </a:cubicBezTo>
                <a:cubicBezTo>
                  <a:pt x="4195674" y="2156507"/>
                  <a:pt x="3256440" y="3095741"/>
                  <a:pt x="2097837" y="3095741"/>
                </a:cubicBezTo>
                <a:cubicBezTo>
                  <a:pt x="939234" y="3095741"/>
                  <a:pt x="0" y="2156507"/>
                  <a:pt x="0" y="997904"/>
                </a:cubicBezTo>
                <a:cubicBezTo>
                  <a:pt x="0" y="708253"/>
                  <a:pt x="58702" y="432313"/>
                  <a:pt x="164859" y="181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A5F73-5C99-7AF1-A87E-425714A044AC}"/>
              </a:ext>
            </a:extLst>
          </p:cNvPr>
          <p:cNvSpPr txBox="1"/>
          <p:nvPr/>
        </p:nvSpPr>
        <p:spPr>
          <a:xfrm>
            <a:off x="2214939" y="535910"/>
            <a:ext cx="4195675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ru-RU" sz="2000" b="1" dirty="0" err="1"/>
              <a:t>Формировние</a:t>
            </a:r>
            <a:r>
              <a:rPr lang="ru-RU" sz="2000" b="1" dirty="0"/>
              <a:t> и печать справки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 err="1"/>
              <a:t>Блок-схема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53E99D-BDCB-9033-AD08-8C1486A1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54" y="3684772"/>
            <a:ext cx="2752751" cy="2752751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98F7F7-5BDF-B430-5209-43E531D81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636" y="181083"/>
            <a:ext cx="3384689" cy="666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50F2F26-9C2F-D74B-93C0-5356FB580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175742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5759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7F7E2A-7F8F-7210-921A-22F8DDBEE780}"/>
              </a:ext>
            </a:extLst>
          </p:cNvPr>
          <p:cNvSpPr txBox="1"/>
          <p:nvPr/>
        </p:nvSpPr>
        <p:spPr>
          <a:xfrm>
            <a:off x="3048828" y="41279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EB5985D-D379-9039-A10F-44E964B1DD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582387"/>
              </p:ext>
            </p:extLst>
          </p:nvPr>
        </p:nvGraphicFramePr>
        <p:xfrm>
          <a:off x="838200" y="2108258"/>
          <a:ext cx="10515600" cy="1698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0626391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266828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3141143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636268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362498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122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Окончание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Руководитель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Цель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Бюджет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39660"/>
                  </a:ext>
                </a:extLst>
              </a:tr>
              <a:tr h="1058891">
                <a:tc>
                  <a:txBody>
                    <a:bodyPr/>
                    <a:lstStyle/>
                    <a:p>
                      <a:r>
                        <a:rPr lang="ru-RU" dirty="0"/>
                        <a:t>1.09.25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1.12.30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Начальник архива КФУ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-сотрудники архива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Сократить время поиска дел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Затрачено рабочее время сотрудников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0617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CD4F92-C8C5-8236-C6AB-DED56B61C653}"/>
              </a:ext>
            </a:extLst>
          </p:cNvPr>
          <p:cNvSpPr txBox="1"/>
          <p:nvPr/>
        </p:nvSpPr>
        <p:spPr>
          <a:xfrm>
            <a:off x="3190240" y="36662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Паспорт проекта постепенного внесения старых дел в электронную базу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25361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FC7DA-B128-61E0-A6DA-19892E869CD6}"/>
              </a:ext>
            </a:extLst>
          </p:cNvPr>
          <p:cNvSpPr txBox="1"/>
          <p:nvPr/>
        </p:nvSpPr>
        <p:spPr>
          <a:xfrm>
            <a:off x="4490720" y="182880"/>
            <a:ext cx="300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План внедрения</a:t>
            </a:r>
          </a:p>
        </p:txBody>
      </p:sp>
      <p:graphicFrame>
        <p:nvGraphicFramePr>
          <p:cNvPr id="5" name="Таблица 10">
            <a:extLst>
              <a:ext uri="{FF2B5EF4-FFF2-40B4-BE49-F238E27FC236}">
                <a16:creationId xmlns:a16="http://schemas.microsoft.com/office/drawing/2014/main" id="{02B489E1-5310-2E42-0460-02C091465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4610"/>
              </p:ext>
            </p:extLst>
          </p:nvPr>
        </p:nvGraphicFramePr>
        <p:xfrm>
          <a:off x="307975" y="1295490"/>
          <a:ext cx="11576050" cy="4267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1391246831"/>
                    </a:ext>
                  </a:extLst>
                </a:gridCol>
                <a:gridCol w="3929380">
                  <a:extLst>
                    <a:ext uri="{9D8B030D-6E8A-4147-A177-3AD203B41FA5}">
                      <a16:colId xmlns:a16="http://schemas.microsoft.com/office/drawing/2014/main" val="2122519600"/>
                    </a:ext>
                  </a:extLst>
                </a:gridCol>
                <a:gridCol w="2315210">
                  <a:extLst>
                    <a:ext uri="{9D8B030D-6E8A-4147-A177-3AD203B41FA5}">
                      <a16:colId xmlns:a16="http://schemas.microsoft.com/office/drawing/2014/main" val="3385059630"/>
                    </a:ext>
                  </a:extLst>
                </a:gridCol>
                <a:gridCol w="2315210">
                  <a:extLst>
                    <a:ext uri="{9D8B030D-6E8A-4147-A177-3AD203B41FA5}">
                      <a16:colId xmlns:a16="http://schemas.microsoft.com/office/drawing/2014/main" val="2341788557"/>
                    </a:ext>
                  </a:extLst>
                </a:gridCol>
                <a:gridCol w="2315210">
                  <a:extLst>
                    <a:ext uri="{9D8B030D-6E8A-4147-A177-3AD203B41FA5}">
                      <a16:colId xmlns:a16="http://schemas.microsoft.com/office/drawing/2014/main" val="771489915"/>
                    </a:ext>
                  </a:extLst>
                </a:gridCol>
              </a:tblGrid>
              <a:tr h="331873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Мероприятие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Ответственный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начала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Комментарий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083549"/>
                  </a:ext>
                </a:extLst>
              </a:tr>
              <a:tr h="829683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Подготовка архива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Начальник архива, Сотрудники архива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1.09.25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Извлечение и проверка дел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48543"/>
                  </a:ext>
                </a:extLst>
              </a:tr>
              <a:tr h="757528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Оцифровка дел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Начальник архива, Сотрудники архива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Сканирование и контроль качества дел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26"/>
                  </a:ext>
                </a:extLst>
              </a:tr>
              <a:tr h="1078588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Внесение данных в СЭД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Начальник архива, Сотрудники архива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Занесение метаданных и загрузка файлов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30168"/>
                  </a:ext>
                </a:extLst>
              </a:tr>
              <a:tr h="1078588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Контроль эффективности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Начальник архива, Сотрудники архива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30.11.30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Мониторинг времени поиска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963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430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2F8AD-A7DB-A89B-DF05-8B9F0130F741}"/>
              </a:ext>
            </a:extLst>
          </p:cNvPr>
          <p:cNvSpPr txBox="1"/>
          <p:nvPr/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39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птимизаци</a:t>
            </a:r>
            <a:r>
              <a:rPr lang="ru-RU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я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процесса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исполнения заявлений граждан</a:t>
            </a:r>
            <a:endParaRPr lang="en-US" sz="39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Таблица 6">
            <a:extLst>
              <a:ext uri="{FF2B5EF4-FFF2-40B4-BE49-F238E27FC236}">
                <a16:creationId xmlns:a16="http://schemas.microsoft.com/office/drawing/2014/main" id="{405C85EF-6DE8-5A8A-3585-B939FFFDF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01705"/>
              </p:ext>
            </p:extLst>
          </p:nvPr>
        </p:nvGraphicFramePr>
        <p:xfrm>
          <a:off x="6057444" y="2321356"/>
          <a:ext cx="601882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414">
                  <a:extLst>
                    <a:ext uri="{9D8B030D-6E8A-4147-A177-3AD203B41FA5}">
                      <a16:colId xmlns:a16="http://schemas.microsoft.com/office/drawing/2014/main" val="3446526341"/>
                    </a:ext>
                  </a:extLst>
                </a:gridCol>
                <a:gridCol w="3009414">
                  <a:extLst>
                    <a:ext uri="{9D8B030D-6E8A-4147-A177-3AD203B41FA5}">
                      <a16:colId xmlns:a16="http://schemas.microsoft.com/office/drawing/2014/main" val="502971935"/>
                    </a:ext>
                  </a:extLst>
                </a:gridCol>
              </a:tblGrid>
              <a:tr h="282445">
                <a:tc>
                  <a:txBody>
                    <a:bodyPr/>
                    <a:lstStyle/>
                    <a:p>
                      <a:r>
                        <a:rPr lang="ru-RU" dirty="0"/>
                        <a:t>Ключевые параметры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Показатели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36975"/>
                  </a:ext>
                </a:extLst>
              </a:tr>
              <a:tr h="282445">
                <a:tc>
                  <a:txBody>
                    <a:bodyPr/>
                    <a:lstStyle/>
                    <a:p>
                      <a:r>
                        <a:rPr lang="ru-RU" dirty="0"/>
                        <a:t>Зарплата специалиста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 </a:t>
                      </a:r>
                      <a:r>
                        <a:rPr lang="ru-RU" dirty="0" err="1"/>
                        <a:t>руб</a:t>
                      </a:r>
                      <a:r>
                        <a:rPr lang="ru-RU" dirty="0"/>
                        <a:t>/час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68709"/>
                  </a:ext>
                </a:extLst>
              </a:tr>
              <a:tr h="282445">
                <a:tc>
                  <a:txBody>
                    <a:bodyPr/>
                    <a:lstStyle/>
                    <a:p>
                      <a:r>
                        <a:rPr lang="ru-RU" dirty="0"/>
                        <a:t>Ежедневная обработка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заявок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858443"/>
                  </a:ext>
                </a:extLst>
              </a:tr>
              <a:tr h="282445">
                <a:tc>
                  <a:txBody>
                    <a:bodyPr/>
                    <a:lstStyle/>
                    <a:p>
                      <a:r>
                        <a:rPr lang="ru-RU" b="0" i="0" dirty="0">
                          <a:solidFill>
                            <a:srgbClr val="000000"/>
                          </a:solidFill>
                          <a:effectLst/>
                          <a:latin typeface="system-ui"/>
                        </a:rPr>
                        <a:t>Выдача справок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46508"/>
                  </a:ext>
                </a:extLst>
              </a:tr>
              <a:tr h="282445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0000"/>
                          </a:solidFill>
                          <a:latin typeface="system-ui"/>
                        </a:rPr>
                        <a:t>Принятие заявки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04408"/>
                  </a:ext>
                </a:extLst>
              </a:tr>
              <a:tr h="283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latin typeface="system-ui"/>
                        </a:rPr>
                        <a:t>Формирование справок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76844"/>
                  </a:ext>
                </a:extLst>
              </a:tr>
              <a:tr h="282445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0000"/>
                          </a:solidFill>
                          <a:latin typeface="system-ui"/>
                        </a:rPr>
                        <a:t>Поиск дела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240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98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094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4D6CA-DF45-4C1B-90C4-F949ABDAAE79}"/>
              </a:ext>
            </a:extLst>
          </p:cNvPr>
          <p:cNvSpPr txBox="1"/>
          <p:nvPr/>
        </p:nvSpPr>
        <p:spPr>
          <a:xfrm>
            <a:off x="3690842" y="76438"/>
            <a:ext cx="4548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Расчет экономической эффективности</a:t>
            </a:r>
          </a:p>
          <a:p>
            <a:endParaRPr lang="ru-RU" sz="2800" b="1" dirty="0"/>
          </a:p>
        </p:txBody>
      </p:sp>
      <p:graphicFrame>
        <p:nvGraphicFramePr>
          <p:cNvPr id="2" name="Таблица 4">
            <a:extLst>
              <a:ext uri="{FF2B5EF4-FFF2-40B4-BE49-F238E27FC236}">
                <a16:creationId xmlns:a16="http://schemas.microsoft.com/office/drawing/2014/main" id="{DAF12845-DDB8-238D-76FE-6A21A44D8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64169"/>
              </p:ext>
            </p:extLst>
          </p:nvPr>
        </p:nvGraphicFramePr>
        <p:xfrm>
          <a:off x="1691178" y="1187027"/>
          <a:ext cx="891313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522">
                  <a:extLst>
                    <a:ext uri="{9D8B030D-6E8A-4147-A177-3AD203B41FA5}">
                      <a16:colId xmlns:a16="http://schemas.microsoft.com/office/drawing/2014/main" val="2604191095"/>
                    </a:ext>
                  </a:extLst>
                </a:gridCol>
                <a:gridCol w="1485522">
                  <a:extLst>
                    <a:ext uri="{9D8B030D-6E8A-4147-A177-3AD203B41FA5}">
                      <a16:colId xmlns:a16="http://schemas.microsoft.com/office/drawing/2014/main" val="998718590"/>
                    </a:ext>
                  </a:extLst>
                </a:gridCol>
                <a:gridCol w="1485522">
                  <a:extLst>
                    <a:ext uri="{9D8B030D-6E8A-4147-A177-3AD203B41FA5}">
                      <a16:colId xmlns:a16="http://schemas.microsoft.com/office/drawing/2014/main" val="743117315"/>
                    </a:ext>
                  </a:extLst>
                </a:gridCol>
                <a:gridCol w="1485522">
                  <a:extLst>
                    <a:ext uri="{9D8B030D-6E8A-4147-A177-3AD203B41FA5}">
                      <a16:colId xmlns:a16="http://schemas.microsoft.com/office/drawing/2014/main" val="4160738854"/>
                    </a:ext>
                  </a:extLst>
                </a:gridCol>
                <a:gridCol w="1485522">
                  <a:extLst>
                    <a:ext uri="{9D8B030D-6E8A-4147-A177-3AD203B41FA5}">
                      <a16:colId xmlns:a16="http://schemas.microsoft.com/office/drawing/2014/main" val="107368370"/>
                    </a:ext>
                  </a:extLst>
                </a:gridCol>
                <a:gridCol w="1485522">
                  <a:extLst>
                    <a:ext uri="{9D8B030D-6E8A-4147-A177-3AD203B41FA5}">
                      <a16:colId xmlns:a16="http://schemas.microsoft.com/office/drawing/2014/main" val="2525217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в часах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в рублях в 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Годовая экономия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54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Время на поиск 1 дела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 минут = 0,5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0,5*200*22=2200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26 400 рублей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596919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70804E1-C9B5-9386-06E9-7CAD43302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07127"/>
              </p:ext>
            </p:extLst>
          </p:nvPr>
        </p:nvGraphicFramePr>
        <p:xfrm>
          <a:off x="1691178" y="3429000"/>
          <a:ext cx="891313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044">
                  <a:extLst>
                    <a:ext uri="{9D8B030D-6E8A-4147-A177-3AD203B41FA5}">
                      <a16:colId xmlns:a16="http://schemas.microsoft.com/office/drawing/2014/main" val="4160032677"/>
                    </a:ext>
                  </a:extLst>
                </a:gridCol>
                <a:gridCol w="2971044">
                  <a:extLst>
                    <a:ext uri="{9D8B030D-6E8A-4147-A177-3AD203B41FA5}">
                      <a16:colId xmlns:a16="http://schemas.microsoft.com/office/drawing/2014/main" val="3402421553"/>
                    </a:ext>
                  </a:extLst>
                </a:gridCol>
                <a:gridCol w="2971044">
                  <a:extLst>
                    <a:ext uri="{9D8B030D-6E8A-4147-A177-3AD203B41FA5}">
                      <a16:colId xmlns:a16="http://schemas.microsoft.com/office/drawing/2014/main" val="340771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Срок окупаемости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ЧДД за 3 года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1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5000 единоразово</a:t>
                      </a:r>
                    </a:p>
                    <a:p>
                      <a:r>
                        <a:rPr lang="ru-RU" dirty="0"/>
                        <a:t>8800 ежемесячно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2.27 месяца (около 68 дней)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29435 рублей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45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751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ED7614-43C1-A63A-F18E-58328D4E5399}"/>
              </a:ext>
            </a:extLst>
          </p:cNvPr>
          <p:cNvSpPr txBox="1"/>
          <p:nvPr/>
        </p:nvSpPr>
        <p:spPr>
          <a:xfrm>
            <a:off x="747345" y="59319"/>
            <a:ext cx="466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n w="0"/>
                <a:solidFill>
                  <a:schemeClr val="accent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Диаграмма 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SIPOC</a:t>
            </a:r>
            <a:endParaRPr lang="ru-RU" sz="3200" dirty="0">
              <a:ln w="0"/>
              <a:solidFill>
                <a:schemeClr val="accent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5F3991-9425-BD66-6CE1-ACA6820DC459}"/>
              </a:ext>
            </a:extLst>
          </p:cNvPr>
          <p:cNvSpPr txBox="1"/>
          <p:nvPr/>
        </p:nvSpPr>
        <p:spPr>
          <a:xfrm>
            <a:off x="747345" y="788218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Raleway ExtraBold" panose="020B0903030101060003" pitchFamily="34" charset="-52"/>
              </a:rPr>
              <a:t>Исполнение заявлений </a:t>
            </a:r>
            <a:r>
              <a:rPr lang="ru-RU" dirty="0">
                <a:latin typeface="Raleway ExtraBold" panose="020B0903030101060003" pitchFamily="34" charset="-52"/>
              </a:rPr>
              <a:t>ПФР</a:t>
            </a:r>
            <a:endParaRPr lang="ru-RU" dirty="0"/>
          </a:p>
        </p:txBody>
      </p:sp>
      <p:sp>
        <p:nvSpPr>
          <p:cNvPr id="2" name="Стрелка: шеврон 3">
            <a:extLst>
              <a:ext uri="{FF2B5EF4-FFF2-40B4-BE49-F238E27FC236}">
                <a16:creationId xmlns:a16="http://schemas.microsoft.com/office/drawing/2014/main" id="{0F1B5137-7528-A78B-7568-33AEBA014867}"/>
              </a:ext>
            </a:extLst>
          </p:cNvPr>
          <p:cNvSpPr/>
          <p:nvPr/>
        </p:nvSpPr>
        <p:spPr>
          <a:xfrm>
            <a:off x="2777853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Входы</a:t>
            </a:r>
          </a:p>
        </p:txBody>
      </p:sp>
      <p:sp>
        <p:nvSpPr>
          <p:cNvPr id="3" name="Стрелка: шеврон 4">
            <a:extLst>
              <a:ext uri="{FF2B5EF4-FFF2-40B4-BE49-F238E27FC236}">
                <a16:creationId xmlns:a16="http://schemas.microsoft.com/office/drawing/2014/main" id="{403D5456-036F-3DB7-6E62-95FCD7131DE0}"/>
              </a:ext>
            </a:extLst>
          </p:cNvPr>
          <p:cNvSpPr/>
          <p:nvPr/>
        </p:nvSpPr>
        <p:spPr>
          <a:xfrm>
            <a:off x="752648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Результаты</a:t>
            </a:r>
          </a:p>
        </p:txBody>
      </p:sp>
      <p:sp>
        <p:nvSpPr>
          <p:cNvPr id="4" name="Стрелка: шеврон 5">
            <a:extLst>
              <a:ext uri="{FF2B5EF4-FFF2-40B4-BE49-F238E27FC236}">
                <a16:creationId xmlns:a16="http://schemas.microsoft.com/office/drawing/2014/main" id="{8F1FCCF9-8A36-28E7-1618-42750C69E322}"/>
              </a:ext>
            </a:extLst>
          </p:cNvPr>
          <p:cNvSpPr/>
          <p:nvPr/>
        </p:nvSpPr>
        <p:spPr>
          <a:xfrm>
            <a:off x="461723" y="153255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aleway Medium" panose="020B0603030101060003" pitchFamily="34" charset="-52"/>
              </a:rPr>
              <a:t>Поставщики</a:t>
            </a:r>
          </a:p>
        </p:txBody>
      </p:sp>
      <p:sp>
        <p:nvSpPr>
          <p:cNvPr id="5" name="Стрелка: шеврон 6">
            <a:extLst>
              <a:ext uri="{FF2B5EF4-FFF2-40B4-BE49-F238E27FC236}">
                <a16:creationId xmlns:a16="http://schemas.microsoft.com/office/drawing/2014/main" id="{C6CE2C7E-8FE9-A073-C0D1-4CB30B1CA20A}"/>
              </a:ext>
            </a:extLst>
          </p:cNvPr>
          <p:cNvSpPr/>
          <p:nvPr/>
        </p:nvSpPr>
        <p:spPr>
          <a:xfrm>
            <a:off x="9809368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Клиенты</a:t>
            </a:r>
          </a:p>
        </p:txBody>
      </p:sp>
      <p:sp>
        <p:nvSpPr>
          <p:cNvPr id="6" name="Стрелка: шеврон 7">
            <a:extLst>
              <a:ext uri="{FF2B5EF4-FFF2-40B4-BE49-F238E27FC236}">
                <a16:creationId xmlns:a16="http://schemas.microsoft.com/office/drawing/2014/main" id="{9892E7A6-57F5-4CCD-ED18-BA66F5584DFA}"/>
              </a:ext>
            </a:extLst>
          </p:cNvPr>
          <p:cNvSpPr/>
          <p:nvPr/>
        </p:nvSpPr>
        <p:spPr>
          <a:xfrm>
            <a:off x="5160483" y="1486419"/>
            <a:ext cx="2103782" cy="76427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Raleway Medium" panose="020B0603030101060003" pitchFamily="34" charset="-52"/>
              </a:rPr>
              <a:t>Процесс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26F5E6-3163-4728-1088-76EE82FBD6E0}"/>
              </a:ext>
            </a:extLst>
          </p:cNvPr>
          <p:cNvSpPr/>
          <p:nvPr/>
        </p:nvSpPr>
        <p:spPr>
          <a:xfrm>
            <a:off x="2834308" y="2576614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>
                <a:latin typeface="Raleway Medium" panose="020B0603030101060003" pitchFamily="34" charset="-52"/>
              </a:rPr>
              <a:t>-Заявка от ПФР</a:t>
            </a:r>
          </a:p>
          <a:p>
            <a:r>
              <a:rPr lang="ru-RU" sz="1400" dirty="0">
                <a:latin typeface="Raleway Medium" panose="020B0603030101060003" pitchFamily="34" charset="-52"/>
              </a:rPr>
              <a:t>-Личное дело гражданина</a:t>
            </a:r>
          </a:p>
          <a:p>
            <a:r>
              <a:rPr lang="ru-RU" sz="1400" dirty="0">
                <a:latin typeface="Raleway Medium" panose="020B0603030101060003" pitchFamily="34" charset="-52"/>
              </a:rPr>
              <a:t>-Расчетные листы гражданина</a:t>
            </a:r>
          </a:p>
          <a:p>
            <a:pPr algn="ctr"/>
            <a:endParaRPr lang="ru-RU" sz="1400" dirty="0">
              <a:latin typeface="Raleway Medium" panose="020B0603030101060003" pitchFamily="34" charset="-52"/>
            </a:endParaRPr>
          </a:p>
          <a:p>
            <a:pPr algn="ctr"/>
            <a:endParaRPr lang="ru-RU" sz="1400" dirty="0">
              <a:latin typeface="Raleway Medium" panose="020B0603030101060003" pitchFamily="34" charset="-52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222575-730D-96C7-9A3C-86F2BAF6E6E7}"/>
              </a:ext>
            </a:extLst>
          </p:cNvPr>
          <p:cNvSpPr/>
          <p:nvPr/>
        </p:nvSpPr>
        <p:spPr>
          <a:xfrm>
            <a:off x="4973108" y="2576563"/>
            <a:ext cx="2287380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Прием и обработка запросов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 Поиск и подготовка документов в архиве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Формирование и заверение справки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latin typeface="Raleway Medium" panose="020B0603030101060003" pitchFamily="34" charset="-52"/>
              </a:rPr>
              <a:t>Выдача справки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934BD0-8363-57F7-F69E-852D86AB73E8}"/>
              </a:ext>
            </a:extLst>
          </p:cNvPr>
          <p:cNvSpPr/>
          <p:nvPr/>
        </p:nvSpPr>
        <p:spPr>
          <a:xfrm>
            <a:off x="529258" y="2492855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Raleway Medium" panose="020B0603030101060003" pitchFamily="34" charset="-52"/>
              </a:rPr>
              <a:t>Архив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C7D866-CF53-57ED-C5FA-F95BB8A2F975}"/>
              </a:ext>
            </a:extLst>
          </p:cNvPr>
          <p:cNvSpPr/>
          <p:nvPr/>
        </p:nvSpPr>
        <p:spPr>
          <a:xfrm>
            <a:off x="9886949" y="2454032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Raleway Medium" panose="020B0603030101060003" pitchFamily="34" charset="-52"/>
              </a:rPr>
              <a:t>ПФР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7773247-7C5E-7611-8BA5-5A31F1ACE289}"/>
              </a:ext>
            </a:extLst>
          </p:cNvPr>
          <p:cNvSpPr/>
          <p:nvPr/>
        </p:nvSpPr>
        <p:spPr>
          <a:xfrm>
            <a:off x="7581899" y="2542448"/>
            <a:ext cx="1775792" cy="37768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>
                <a:latin typeface="Raleway Medium" panose="020B0603030101060003" pitchFamily="34" charset="-52"/>
              </a:rPr>
              <a:t>Сформированный пакет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861530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31318BF-AB3E-A438-B106-DC5705F38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25261" y="2251515"/>
            <a:ext cx="3126013" cy="312601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6992456-5510-CD64-2AA0-7E572FDDCE0A}"/>
              </a:ext>
            </a:extLst>
          </p:cNvPr>
          <p:cNvSpPr txBox="1"/>
          <p:nvPr/>
        </p:nvSpPr>
        <p:spPr>
          <a:xfrm>
            <a:off x="3244971" y="89734"/>
            <a:ext cx="5109073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perspective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ru-RU" sz="4400" b="1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Value Stream Map</a:t>
            </a: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br>
              <a:rPr lang="en-US" sz="2400" dirty="0">
                <a:ln w="0">
                  <a:solidFill>
                    <a:schemeClr val="tx1"/>
                  </a:solidFill>
                </a:ln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</a:br>
            <a:endParaRPr lang="ru-RU" dirty="0">
              <a:ln w="0">
                <a:solidFill>
                  <a:schemeClr val="tx1"/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0F0CA6-C73E-EFEC-78C1-E38C4B00271A}"/>
              </a:ext>
            </a:extLst>
          </p:cNvPr>
          <p:cNvSpPr txBox="1"/>
          <p:nvPr/>
        </p:nvSpPr>
        <p:spPr>
          <a:xfrm>
            <a:off x="1479227" y="982286"/>
            <a:ext cx="4064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Исполнение заявлений запросов ПФР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F41812-3992-2B62-58A1-BCF3495365D9}"/>
              </a:ext>
            </a:extLst>
          </p:cNvPr>
          <p:cNvSpPr/>
          <p:nvPr/>
        </p:nvSpPr>
        <p:spPr>
          <a:xfrm>
            <a:off x="1462146" y="3120744"/>
            <a:ext cx="908293" cy="54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DF5F8BB-F10B-B707-95F7-3E0E90E03B2A}"/>
              </a:ext>
            </a:extLst>
          </p:cNvPr>
          <p:cNvCxnSpPr>
            <a:cxnSpLocks/>
          </p:cNvCxnSpPr>
          <p:nvPr/>
        </p:nvCxnSpPr>
        <p:spPr>
          <a:xfrm>
            <a:off x="1462146" y="3184635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222275-CE08-98B1-75D2-AE82C297D2AA}"/>
              </a:ext>
            </a:extLst>
          </p:cNvPr>
          <p:cNvCxnSpPr>
            <a:cxnSpLocks/>
          </p:cNvCxnSpPr>
          <p:nvPr/>
        </p:nvCxnSpPr>
        <p:spPr>
          <a:xfrm>
            <a:off x="930158" y="3682314"/>
            <a:ext cx="529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EC49667-FD40-BCFE-60AE-53BE561C8872}"/>
              </a:ext>
            </a:extLst>
          </p:cNvPr>
          <p:cNvCxnSpPr>
            <a:cxnSpLocks/>
          </p:cNvCxnSpPr>
          <p:nvPr/>
        </p:nvCxnSpPr>
        <p:spPr>
          <a:xfrm>
            <a:off x="930158" y="319407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DA4454-4381-7776-244A-032F58A68C68}"/>
              </a:ext>
            </a:extLst>
          </p:cNvPr>
          <p:cNvSpPr/>
          <p:nvPr/>
        </p:nvSpPr>
        <p:spPr>
          <a:xfrm>
            <a:off x="2624505" y="3135273"/>
            <a:ext cx="1774435" cy="49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1AC0EFD-2F18-B015-6578-8EF90E90790C}"/>
              </a:ext>
            </a:extLst>
          </p:cNvPr>
          <p:cNvCxnSpPr>
            <a:cxnSpLocks/>
          </p:cNvCxnSpPr>
          <p:nvPr/>
        </p:nvCxnSpPr>
        <p:spPr>
          <a:xfrm>
            <a:off x="4399101" y="319407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8120114-E12D-829E-EAE7-EDBBE42E6DEA}"/>
              </a:ext>
            </a:extLst>
          </p:cNvPr>
          <p:cNvCxnSpPr>
            <a:cxnSpLocks/>
          </p:cNvCxnSpPr>
          <p:nvPr/>
        </p:nvCxnSpPr>
        <p:spPr>
          <a:xfrm>
            <a:off x="4399101" y="3700707"/>
            <a:ext cx="1113574" cy="8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F04F041-AEDD-A748-1BBA-9D857D6CA174}"/>
              </a:ext>
            </a:extLst>
          </p:cNvPr>
          <p:cNvCxnSpPr>
            <a:cxnSpLocks/>
          </p:cNvCxnSpPr>
          <p:nvPr/>
        </p:nvCxnSpPr>
        <p:spPr>
          <a:xfrm>
            <a:off x="5512675" y="3120744"/>
            <a:ext cx="0" cy="5983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CBAB6D3-99D2-FE2D-25EB-92D602554B46}"/>
              </a:ext>
            </a:extLst>
          </p:cNvPr>
          <p:cNvSpPr/>
          <p:nvPr/>
        </p:nvSpPr>
        <p:spPr>
          <a:xfrm>
            <a:off x="5512675" y="3120769"/>
            <a:ext cx="518555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EA0D16E-BD05-F8FD-6095-14F9DD435E88}"/>
              </a:ext>
            </a:extLst>
          </p:cNvPr>
          <p:cNvCxnSpPr>
            <a:cxnSpLocks/>
          </p:cNvCxnSpPr>
          <p:nvPr/>
        </p:nvCxnSpPr>
        <p:spPr>
          <a:xfrm>
            <a:off x="6031230" y="316648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21441B-9326-5E3B-30A3-E7E79C5D4CD6}"/>
              </a:ext>
            </a:extLst>
          </p:cNvPr>
          <p:cNvCxnSpPr>
            <a:cxnSpLocks/>
          </p:cNvCxnSpPr>
          <p:nvPr/>
        </p:nvCxnSpPr>
        <p:spPr>
          <a:xfrm>
            <a:off x="6042110" y="3660132"/>
            <a:ext cx="1285966" cy="129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478FBD7E-BAB2-68E4-03BC-8341CADC02B8}"/>
              </a:ext>
            </a:extLst>
          </p:cNvPr>
          <p:cNvCxnSpPr>
            <a:cxnSpLocks/>
          </p:cNvCxnSpPr>
          <p:nvPr/>
        </p:nvCxnSpPr>
        <p:spPr>
          <a:xfrm>
            <a:off x="7328076" y="3166488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52E7F08-E359-489C-C912-04017B353873}"/>
              </a:ext>
            </a:extLst>
          </p:cNvPr>
          <p:cNvSpPr/>
          <p:nvPr/>
        </p:nvSpPr>
        <p:spPr>
          <a:xfrm>
            <a:off x="7328076" y="3097719"/>
            <a:ext cx="725213" cy="68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C4F6D-73BB-76A5-D3C2-8B9ACD9A63D5}"/>
              </a:ext>
            </a:extLst>
          </p:cNvPr>
          <p:cNvSpPr txBox="1"/>
          <p:nvPr/>
        </p:nvSpPr>
        <p:spPr>
          <a:xfrm>
            <a:off x="1013664" y="2144422"/>
            <a:ext cx="226382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Принятие заявления  ПФР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2A3B-57A6-C1D4-4A84-A7A2918E28B2}"/>
              </a:ext>
            </a:extLst>
          </p:cNvPr>
          <p:cNvSpPr txBox="1"/>
          <p:nvPr/>
        </p:nvSpPr>
        <p:spPr>
          <a:xfrm>
            <a:off x="1068659" y="3237967"/>
            <a:ext cx="217699" cy="38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18D98-F716-6B06-8BED-B9C6F842486B}"/>
              </a:ext>
            </a:extLst>
          </p:cNvPr>
          <p:cNvSpPr txBox="1"/>
          <p:nvPr/>
        </p:nvSpPr>
        <p:spPr>
          <a:xfrm>
            <a:off x="2914845" y="2245328"/>
            <a:ext cx="163023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Сбор информации (поиск лицевых счетов, личных дел и </a:t>
            </a:r>
            <a:r>
              <a:rPr lang="ru-RU" sz="1050" dirty="0" err="1"/>
              <a:t>тд</a:t>
            </a:r>
            <a:r>
              <a:rPr lang="ru-RU" sz="105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1D4158-C7A4-29DB-BF68-F21EE28521F0}"/>
              </a:ext>
            </a:extLst>
          </p:cNvPr>
          <p:cNvSpPr txBox="1"/>
          <p:nvPr/>
        </p:nvSpPr>
        <p:spPr>
          <a:xfrm>
            <a:off x="4781026" y="3225413"/>
            <a:ext cx="426103" cy="375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ED80A4-8320-1074-F6DE-F093FEC06C08}"/>
              </a:ext>
            </a:extLst>
          </p:cNvPr>
          <p:cNvSpPr txBox="1"/>
          <p:nvPr/>
        </p:nvSpPr>
        <p:spPr>
          <a:xfrm>
            <a:off x="813818" y="3729067"/>
            <a:ext cx="9450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Включение компьютера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05400-24A9-C920-1068-53F23B9AD0E1}"/>
              </a:ext>
            </a:extLst>
          </p:cNvPr>
          <p:cNvSpPr txBox="1"/>
          <p:nvPr/>
        </p:nvSpPr>
        <p:spPr>
          <a:xfrm>
            <a:off x="4444665" y="3799634"/>
            <a:ext cx="109882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Поиск нужной страницы в папках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47FC06-E033-8764-C422-B755A027D5BE}"/>
              </a:ext>
            </a:extLst>
          </p:cNvPr>
          <p:cNvSpPr txBox="1"/>
          <p:nvPr/>
        </p:nvSpPr>
        <p:spPr>
          <a:xfrm>
            <a:off x="4994077" y="2458424"/>
            <a:ext cx="17972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Сканирование</a:t>
            </a:r>
            <a:r>
              <a:rPr lang="en-US" sz="1050" dirty="0"/>
              <a:t>/</a:t>
            </a:r>
            <a:r>
              <a:rPr lang="ru-RU" sz="1050" dirty="0"/>
              <a:t>фотографирование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59EBBB-EEED-7284-4FC3-34797AC699AA}"/>
              </a:ext>
            </a:extLst>
          </p:cNvPr>
          <p:cNvSpPr txBox="1"/>
          <p:nvPr/>
        </p:nvSpPr>
        <p:spPr>
          <a:xfrm>
            <a:off x="6423660" y="3270979"/>
            <a:ext cx="59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95097A-77C6-1EFE-0429-6C05D7CF752B}"/>
              </a:ext>
            </a:extLst>
          </p:cNvPr>
          <p:cNvSpPr txBox="1"/>
          <p:nvPr/>
        </p:nvSpPr>
        <p:spPr>
          <a:xfrm>
            <a:off x="5972245" y="3741885"/>
            <a:ext cx="17184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Формирование ответа в нужном порядке для ПФР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35DB88-8811-1CA8-2946-8A3FE961B35B}"/>
              </a:ext>
            </a:extLst>
          </p:cNvPr>
          <p:cNvSpPr txBox="1"/>
          <p:nvPr/>
        </p:nvSpPr>
        <p:spPr>
          <a:xfrm>
            <a:off x="7113402" y="2454816"/>
            <a:ext cx="15524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Отправка документов 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77AD471-0E32-01D2-D8BB-B532E4540BE7}"/>
              </a:ext>
            </a:extLst>
          </p:cNvPr>
          <p:cNvCxnSpPr>
            <a:cxnSpLocks/>
          </p:cNvCxnSpPr>
          <p:nvPr/>
        </p:nvCxnSpPr>
        <p:spPr>
          <a:xfrm>
            <a:off x="2370439" y="3682314"/>
            <a:ext cx="2540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7955C1DF-FEFF-2F8C-2DE4-BE0F7566BBCB}"/>
              </a:ext>
            </a:extLst>
          </p:cNvPr>
          <p:cNvCxnSpPr>
            <a:cxnSpLocks/>
          </p:cNvCxnSpPr>
          <p:nvPr/>
        </p:nvCxnSpPr>
        <p:spPr>
          <a:xfrm>
            <a:off x="2370439" y="3175686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A10A921-EF26-D651-29FA-173AB09069E2}"/>
              </a:ext>
            </a:extLst>
          </p:cNvPr>
          <p:cNvCxnSpPr>
            <a:cxnSpLocks/>
          </p:cNvCxnSpPr>
          <p:nvPr/>
        </p:nvCxnSpPr>
        <p:spPr>
          <a:xfrm>
            <a:off x="2624505" y="3166489"/>
            <a:ext cx="0" cy="50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EB7E869-A7FF-4A89-FEAA-AA33D5BFCED9}"/>
              </a:ext>
            </a:extLst>
          </p:cNvPr>
          <p:cNvSpPr txBox="1"/>
          <p:nvPr/>
        </p:nvSpPr>
        <p:spPr>
          <a:xfrm>
            <a:off x="2328731" y="3277936"/>
            <a:ext cx="426103" cy="375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3C4B88-1A01-24E1-5F6C-DA6C2B73EEAF}"/>
              </a:ext>
            </a:extLst>
          </p:cNvPr>
          <p:cNvSpPr txBox="1"/>
          <p:nvPr/>
        </p:nvSpPr>
        <p:spPr>
          <a:xfrm>
            <a:off x="2151966" y="3730979"/>
            <a:ext cx="10382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Субъективная обработка запроса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B39663-0786-A50D-DAB2-9F60F856B633}"/>
              </a:ext>
            </a:extLst>
          </p:cNvPr>
          <p:cNvSpPr txBox="1"/>
          <p:nvPr/>
        </p:nvSpPr>
        <p:spPr>
          <a:xfrm>
            <a:off x="1286357" y="5141156"/>
            <a:ext cx="2310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Итого: 160 минут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A16353-4A13-D169-2738-24F17354FEA6}"/>
              </a:ext>
            </a:extLst>
          </p:cNvPr>
          <p:cNvSpPr txBox="1"/>
          <p:nvPr/>
        </p:nvSpPr>
        <p:spPr>
          <a:xfrm>
            <a:off x="1758897" y="2685723"/>
            <a:ext cx="232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0E41C1-43B5-B6E2-C6CD-3ACD65FC6F12}"/>
              </a:ext>
            </a:extLst>
          </p:cNvPr>
          <p:cNvSpPr txBox="1"/>
          <p:nvPr/>
        </p:nvSpPr>
        <p:spPr>
          <a:xfrm>
            <a:off x="3190239" y="2783408"/>
            <a:ext cx="44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6FE4CA-3EEE-8F44-A187-163AB61E0F08}"/>
              </a:ext>
            </a:extLst>
          </p:cNvPr>
          <p:cNvSpPr txBox="1"/>
          <p:nvPr/>
        </p:nvSpPr>
        <p:spPr>
          <a:xfrm>
            <a:off x="5543489" y="2822409"/>
            <a:ext cx="428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379FB6-9AE4-035B-9E2B-1C3CF9E63203}"/>
              </a:ext>
            </a:extLst>
          </p:cNvPr>
          <p:cNvSpPr txBox="1"/>
          <p:nvPr/>
        </p:nvSpPr>
        <p:spPr>
          <a:xfrm>
            <a:off x="7528414" y="2750990"/>
            <a:ext cx="42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10870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ED95D-5787-E472-CC90-3361C1683CC3}"/>
              </a:ext>
            </a:extLst>
          </p:cNvPr>
          <p:cNvSpPr txBox="1"/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 err="1">
                <a:latin typeface="+mj-lt"/>
                <a:ea typeface="+mj-ea"/>
                <a:cs typeface="+mj-cs"/>
              </a:rPr>
              <a:t>Исполнение</a:t>
            </a:r>
            <a:r>
              <a:rPr lang="en-US" sz="3700" b="1" dirty="0">
                <a:latin typeface="+mj-lt"/>
                <a:ea typeface="+mj-ea"/>
                <a:cs typeface="+mj-cs"/>
              </a:rPr>
              <a:t> </a:t>
            </a:r>
            <a:r>
              <a:rPr lang="en-US" sz="3700" b="1" dirty="0" err="1">
                <a:latin typeface="+mj-lt"/>
                <a:ea typeface="+mj-ea"/>
                <a:cs typeface="+mj-cs"/>
              </a:rPr>
              <a:t>заявлений</a:t>
            </a:r>
            <a:r>
              <a:rPr lang="en-US" sz="3700" b="1" dirty="0">
                <a:latin typeface="+mj-lt"/>
                <a:ea typeface="+mj-ea"/>
                <a:cs typeface="+mj-cs"/>
              </a:rPr>
              <a:t> </a:t>
            </a:r>
            <a:r>
              <a:rPr lang="ru-RU" sz="3700" b="1" dirty="0">
                <a:latin typeface="+mj-lt"/>
                <a:ea typeface="+mj-ea"/>
                <a:cs typeface="+mj-cs"/>
              </a:rPr>
              <a:t>ПФР</a:t>
            </a:r>
            <a:endParaRPr lang="en-US" sz="3700" b="1" dirty="0">
              <a:latin typeface="+mj-lt"/>
              <a:ea typeface="+mj-ea"/>
              <a:cs typeface="+mj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30E90E-30F5-5631-9B93-17A829C21875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effectLst/>
              </a:rPr>
              <a:t> Define (Определение)</a:t>
            </a:r>
            <a:endParaRPr lang="en-US" sz="1600" b="0">
              <a:effectLst/>
            </a:endParaRP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effectLst/>
              </a:rPr>
              <a:t>Проблема:</a:t>
            </a:r>
            <a:r>
              <a:rPr lang="en-US" sz="1600" b="0" i="0" u="none" strike="noStrike">
                <a:effectLst/>
              </a:rPr>
              <a:t> длительный поиск и сканирование счетов и дел в архиве КФУ</a:t>
            </a: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effectLst/>
              </a:rPr>
              <a:t>Цель:</a:t>
            </a:r>
            <a:r>
              <a:rPr lang="en-US" sz="1600" b="0" i="0" u="none" strike="noStrike">
                <a:effectLst/>
              </a:rPr>
              <a:t> Сократить время </a:t>
            </a:r>
            <a:r>
              <a:rPr lang="en-US" sz="1600"/>
              <a:t>поиска и время сканирования</a:t>
            </a:r>
            <a:endParaRPr lang="en-US" sz="1600" b="0" i="0" u="none" strike="noStrike">
              <a:effectLst/>
            </a:endParaRPr>
          </a:p>
          <a:p>
            <a:pPr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effectLst/>
              </a:rPr>
              <a:t> Measure (Измерение)</a:t>
            </a:r>
            <a:endParaRPr lang="en-US" sz="1600" b="0">
              <a:effectLst/>
            </a:endParaRP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>
                <a:effectLst/>
              </a:rPr>
              <a:t>Текущее состояние:</a:t>
            </a:r>
            <a:r>
              <a:rPr lang="en-US" sz="1600" b="0" i="0" u="none" strike="noStrike">
                <a:effectLst/>
              </a:rPr>
              <a:t> </a:t>
            </a:r>
          </a:p>
          <a:p>
            <a:pPr marL="457200"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effectLst/>
              </a:rPr>
              <a:t>160 минут – </a:t>
            </a:r>
            <a:r>
              <a:rPr lang="en-US" sz="1600"/>
              <a:t>поиск+сканирование дел и счетов</a:t>
            </a:r>
            <a:r>
              <a:rPr lang="en-US" sz="1600" b="0" i="0" u="none" strike="noStrike">
                <a:effectLst/>
              </a:rPr>
              <a:t> </a:t>
            </a:r>
          </a:p>
          <a:p>
            <a:pPr marL="457200" indent="-228600" fontAlgn="base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effectLst/>
              </a:rPr>
              <a:t>Количество выполненных заявок- </a:t>
            </a:r>
            <a:r>
              <a:rPr lang="en-US" sz="1600"/>
              <a:t>1</a:t>
            </a:r>
            <a:endParaRPr lang="en-US" sz="1600" b="0" i="0" u="none" strike="noStrike"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иллюстрация, мультфильм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696260AB-F3C0-E8DA-38B1-F4F3EC34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" b="3066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501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AC4FB-14D2-DA61-90B0-072F64D6A690}"/>
              </a:ext>
            </a:extLst>
          </p:cNvPr>
          <p:cNvSpPr txBox="1"/>
          <p:nvPr/>
        </p:nvSpPr>
        <p:spPr>
          <a:xfrm>
            <a:off x="9267909" y="2023110"/>
            <a:ext cx="2469624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Диаграмма Исикавы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B8434C-0507-C851-E171-4A7662CE6D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0" t="6430" b="8586"/>
          <a:stretch/>
        </p:blipFill>
        <p:spPr>
          <a:xfrm>
            <a:off x="743159" y="1711095"/>
            <a:ext cx="7390906" cy="343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83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1">
            <a:extLst>
              <a:ext uri="{FF2B5EF4-FFF2-40B4-BE49-F238E27FC236}">
                <a16:creationId xmlns:a16="http://schemas.microsoft.com/office/drawing/2014/main" id="{F6F1209C-B7AA-FEF4-BB40-F3301CBC9AC3}"/>
              </a:ext>
            </a:extLst>
          </p:cNvPr>
          <p:cNvGrpSpPr/>
          <p:nvPr/>
        </p:nvGrpSpPr>
        <p:grpSpPr>
          <a:xfrm>
            <a:off x="7045452" y="4031620"/>
            <a:ext cx="1013383" cy="912428"/>
            <a:chOff x="2800438" y="2695317"/>
            <a:chExt cx="966528" cy="966528"/>
          </a:xfrm>
        </p:grpSpPr>
        <p:sp>
          <p:nvSpPr>
            <p:cNvPr id="10" name="Freeform 41">
              <a:extLst>
                <a:ext uri="{FF2B5EF4-FFF2-40B4-BE49-F238E27FC236}">
                  <a16:creationId xmlns:a16="http://schemas.microsoft.com/office/drawing/2014/main" id="{26C95CF3-41DC-19D6-FC97-B54070FFBF1A}"/>
                </a:ext>
              </a:extLst>
            </p:cNvPr>
            <p:cNvSpPr/>
            <p:nvPr/>
          </p:nvSpPr>
          <p:spPr>
            <a:xfrm>
              <a:off x="2800438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iṧ1ïḍê">
              <a:extLst>
                <a:ext uri="{FF2B5EF4-FFF2-40B4-BE49-F238E27FC236}">
                  <a16:creationId xmlns:a16="http://schemas.microsoft.com/office/drawing/2014/main" id="{53A56734-C488-9115-EFE9-4D6B53EDFDEF}"/>
                </a:ext>
              </a:extLst>
            </p:cNvPr>
            <p:cNvSpPr/>
            <p:nvPr/>
          </p:nvSpPr>
          <p:spPr bwMode="auto">
            <a:xfrm>
              <a:off x="3084425" y="3043577"/>
              <a:ext cx="398553" cy="343058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组合 14">
            <a:extLst>
              <a:ext uri="{FF2B5EF4-FFF2-40B4-BE49-F238E27FC236}">
                <a16:creationId xmlns:a16="http://schemas.microsoft.com/office/drawing/2014/main" id="{C9B3A978-EEA3-152C-5D8D-FF150CE5118A}"/>
              </a:ext>
            </a:extLst>
          </p:cNvPr>
          <p:cNvGrpSpPr/>
          <p:nvPr/>
        </p:nvGrpSpPr>
        <p:grpSpPr>
          <a:xfrm>
            <a:off x="5451382" y="2723641"/>
            <a:ext cx="966528" cy="966528"/>
            <a:chOff x="5693535" y="2695317"/>
            <a:chExt cx="966528" cy="966528"/>
          </a:xfrm>
        </p:grpSpPr>
        <p:sp>
          <p:nvSpPr>
            <p:cNvPr id="13" name="Freeform 43">
              <a:extLst>
                <a:ext uri="{FF2B5EF4-FFF2-40B4-BE49-F238E27FC236}">
                  <a16:creationId xmlns:a16="http://schemas.microsoft.com/office/drawing/2014/main" id="{EFA6B9B2-1549-FF10-5276-B3894700C955}"/>
                </a:ext>
              </a:extLst>
            </p:cNvPr>
            <p:cNvSpPr/>
            <p:nvPr/>
          </p:nvSpPr>
          <p:spPr>
            <a:xfrm>
              <a:off x="5693535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îṡľiḍê">
              <a:extLst>
                <a:ext uri="{FF2B5EF4-FFF2-40B4-BE49-F238E27FC236}">
                  <a16:creationId xmlns:a16="http://schemas.microsoft.com/office/drawing/2014/main" id="{CE57E3F8-B00A-18BF-B676-82F182C351BA}"/>
                </a:ext>
              </a:extLst>
            </p:cNvPr>
            <p:cNvSpPr/>
            <p:nvPr/>
          </p:nvSpPr>
          <p:spPr bwMode="auto">
            <a:xfrm>
              <a:off x="6017971" y="3019262"/>
              <a:ext cx="398553" cy="300177"/>
            </a:xfrm>
            <a:custGeom>
              <a:avLst/>
              <a:gdLst/>
              <a:ahLst/>
              <a:cxnLst>
                <a:cxn ang="0">
                  <a:pos x="158" y="119"/>
                </a:cxn>
                <a:cxn ang="0">
                  <a:pos x="0" y="119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9" y="108"/>
                </a:cxn>
                <a:cxn ang="0">
                  <a:pos x="158" y="108"/>
                </a:cxn>
                <a:cxn ang="0">
                  <a:pos x="158" y="119"/>
                </a:cxn>
                <a:cxn ang="0">
                  <a:pos x="50" y="99"/>
                </a:cxn>
                <a:cxn ang="0">
                  <a:pos x="29" y="99"/>
                </a:cxn>
                <a:cxn ang="0">
                  <a:pos x="29" y="60"/>
                </a:cxn>
                <a:cxn ang="0">
                  <a:pos x="50" y="60"/>
                </a:cxn>
                <a:cxn ang="0">
                  <a:pos x="50" y="99"/>
                </a:cxn>
                <a:cxn ang="0">
                  <a:pos x="78" y="99"/>
                </a:cxn>
                <a:cxn ang="0">
                  <a:pos x="59" y="99"/>
                </a:cxn>
                <a:cxn ang="0">
                  <a:pos x="59" y="19"/>
                </a:cxn>
                <a:cxn ang="0">
                  <a:pos x="78" y="19"/>
                </a:cxn>
                <a:cxn ang="0">
                  <a:pos x="78" y="99"/>
                </a:cxn>
                <a:cxn ang="0">
                  <a:pos x="109" y="99"/>
                </a:cxn>
                <a:cxn ang="0">
                  <a:pos x="89" y="99"/>
                </a:cxn>
                <a:cxn ang="0">
                  <a:pos x="89" y="39"/>
                </a:cxn>
                <a:cxn ang="0">
                  <a:pos x="109" y="39"/>
                </a:cxn>
                <a:cxn ang="0">
                  <a:pos x="109" y="99"/>
                </a:cxn>
                <a:cxn ang="0">
                  <a:pos x="139" y="99"/>
                </a:cxn>
                <a:cxn ang="0">
                  <a:pos x="119" y="99"/>
                </a:cxn>
                <a:cxn ang="0">
                  <a:pos x="119" y="11"/>
                </a:cxn>
                <a:cxn ang="0">
                  <a:pos x="139" y="11"/>
                </a:cxn>
                <a:cxn ang="0">
                  <a:pos x="139" y="99"/>
                </a:cxn>
              </a:cxnLst>
              <a:rect l="0" t="0" r="r" b="b"/>
              <a:pathLst>
                <a:path w="158" h="119">
                  <a:moveTo>
                    <a:pt x="158" y="11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8"/>
                  </a:lnTo>
                  <a:lnTo>
                    <a:pt x="158" y="108"/>
                  </a:lnTo>
                  <a:lnTo>
                    <a:pt x="158" y="119"/>
                  </a:lnTo>
                  <a:close/>
                  <a:moveTo>
                    <a:pt x="50" y="99"/>
                  </a:moveTo>
                  <a:lnTo>
                    <a:pt x="29" y="99"/>
                  </a:lnTo>
                  <a:lnTo>
                    <a:pt x="29" y="60"/>
                  </a:lnTo>
                  <a:lnTo>
                    <a:pt x="50" y="60"/>
                  </a:lnTo>
                  <a:lnTo>
                    <a:pt x="50" y="99"/>
                  </a:lnTo>
                  <a:close/>
                  <a:moveTo>
                    <a:pt x="78" y="99"/>
                  </a:moveTo>
                  <a:lnTo>
                    <a:pt x="59" y="99"/>
                  </a:lnTo>
                  <a:lnTo>
                    <a:pt x="59" y="19"/>
                  </a:lnTo>
                  <a:lnTo>
                    <a:pt x="78" y="19"/>
                  </a:lnTo>
                  <a:lnTo>
                    <a:pt x="78" y="99"/>
                  </a:lnTo>
                  <a:close/>
                  <a:moveTo>
                    <a:pt x="109" y="99"/>
                  </a:moveTo>
                  <a:lnTo>
                    <a:pt x="89" y="99"/>
                  </a:lnTo>
                  <a:lnTo>
                    <a:pt x="89" y="39"/>
                  </a:lnTo>
                  <a:lnTo>
                    <a:pt x="109" y="39"/>
                  </a:lnTo>
                  <a:lnTo>
                    <a:pt x="109" y="99"/>
                  </a:lnTo>
                  <a:close/>
                  <a:moveTo>
                    <a:pt x="139" y="99"/>
                  </a:moveTo>
                  <a:lnTo>
                    <a:pt x="119" y="99"/>
                  </a:lnTo>
                  <a:lnTo>
                    <a:pt x="119" y="11"/>
                  </a:lnTo>
                  <a:lnTo>
                    <a:pt x="139" y="11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8" name="组合 20">
            <a:extLst>
              <a:ext uri="{FF2B5EF4-FFF2-40B4-BE49-F238E27FC236}">
                <a16:creationId xmlns:a16="http://schemas.microsoft.com/office/drawing/2014/main" id="{76C74684-6B1E-610B-A33B-05784BCEC46D}"/>
              </a:ext>
            </a:extLst>
          </p:cNvPr>
          <p:cNvGrpSpPr/>
          <p:nvPr/>
        </p:nvGrpSpPr>
        <p:grpSpPr>
          <a:xfrm>
            <a:off x="3848182" y="4221727"/>
            <a:ext cx="926492" cy="847309"/>
            <a:chOff x="4241275" y="4133972"/>
            <a:chExt cx="966528" cy="966528"/>
          </a:xfrm>
        </p:grpSpPr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AE9707AA-855B-2AAC-9803-9016794DFFA8}"/>
                </a:ext>
              </a:extLst>
            </p:cNvPr>
            <p:cNvSpPr/>
            <p:nvPr/>
          </p:nvSpPr>
          <p:spPr>
            <a:xfrm>
              <a:off x="4241275" y="4133972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0" name="组合 22">
              <a:extLst>
                <a:ext uri="{FF2B5EF4-FFF2-40B4-BE49-F238E27FC236}">
                  <a16:creationId xmlns:a16="http://schemas.microsoft.com/office/drawing/2014/main" id="{676BB2E0-EF0F-4FB4-E42F-42215F3CB3FC}"/>
                </a:ext>
              </a:extLst>
            </p:cNvPr>
            <p:cNvGrpSpPr/>
            <p:nvPr/>
          </p:nvGrpSpPr>
          <p:grpSpPr>
            <a:xfrm>
              <a:off x="4573953" y="4445706"/>
              <a:ext cx="301172" cy="343059"/>
              <a:chOff x="9977438" y="4359275"/>
              <a:chExt cx="433388" cy="541338"/>
            </a:xfrm>
            <a:solidFill>
              <a:schemeClr val="tx1"/>
            </a:solidFill>
          </p:grpSpPr>
          <p:sp>
            <p:nvSpPr>
              <p:cNvPr id="21" name="Freeform 162">
                <a:extLst>
                  <a:ext uri="{FF2B5EF4-FFF2-40B4-BE49-F238E27FC236}">
                    <a16:creationId xmlns:a16="http://schemas.microsoft.com/office/drawing/2014/main" id="{585CAE30-0AF6-A21E-CE79-83F4DD5E46C2}"/>
                  </a:ext>
                </a:extLst>
              </p:cNvPr>
              <p:cNvSpPr/>
              <p:nvPr/>
            </p:nvSpPr>
            <p:spPr bwMode="auto">
              <a:xfrm>
                <a:off x="10029826" y="4414838"/>
                <a:ext cx="95250" cy="106363"/>
              </a:xfrm>
              <a:custGeom>
                <a:avLst/>
                <a:gdLst>
                  <a:gd name="T0" fmla="*/ 32 w 34"/>
                  <a:gd name="T1" fmla="*/ 16 h 38"/>
                  <a:gd name="T2" fmla="*/ 6 w 34"/>
                  <a:gd name="T3" fmla="*/ 0 h 38"/>
                  <a:gd name="T4" fmla="*/ 2 w 34"/>
                  <a:gd name="T5" fmla="*/ 0 h 38"/>
                  <a:gd name="T6" fmla="*/ 0 w 34"/>
                  <a:gd name="T7" fmla="*/ 4 h 38"/>
                  <a:gd name="T8" fmla="*/ 0 w 34"/>
                  <a:gd name="T9" fmla="*/ 34 h 38"/>
                  <a:gd name="T10" fmla="*/ 2 w 34"/>
                  <a:gd name="T11" fmla="*/ 38 h 38"/>
                  <a:gd name="T12" fmla="*/ 4 w 34"/>
                  <a:gd name="T13" fmla="*/ 38 h 38"/>
                  <a:gd name="T14" fmla="*/ 6 w 34"/>
                  <a:gd name="T15" fmla="*/ 38 h 38"/>
                  <a:gd name="T16" fmla="*/ 32 w 34"/>
                  <a:gd name="T17" fmla="*/ 22 h 38"/>
                  <a:gd name="T18" fmla="*/ 34 w 34"/>
                  <a:gd name="T19" fmla="*/ 19 h 38"/>
                  <a:gd name="T20" fmla="*/ 32 w 34"/>
                  <a:gd name="T2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38">
                    <a:moveTo>
                      <a:pt x="32" y="16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6"/>
                      <a:pt x="0" y="37"/>
                      <a:pt x="2" y="38"/>
                    </a:cubicBezTo>
                    <a:cubicBezTo>
                      <a:pt x="2" y="38"/>
                      <a:pt x="3" y="38"/>
                      <a:pt x="4" y="38"/>
                    </a:cubicBezTo>
                    <a:cubicBezTo>
                      <a:pt x="4" y="38"/>
                      <a:pt x="5" y="38"/>
                      <a:pt x="6" y="38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4" y="22"/>
                      <a:pt x="34" y="20"/>
                      <a:pt x="34" y="19"/>
                    </a:cubicBezTo>
                    <a:cubicBezTo>
                      <a:pt x="34" y="18"/>
                      <a:pt x="34" y="16"/>
                      <a:pt x="32" y="16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Freeform 163">
                <a:extLst>
                  <a:ext uri="{FF2B5EF4-FFF2-40B4-BE49-F238E27FC236}">
                    <a16:creationId xmlns:a16="http://schemas.microsoft.com/office/drawing/2014/main" id="{4AFD5056-E5CD-2FBE-1418-30EE136C572E}"/>
                  </a:ext>
                </a:extLst>
              </p:cNvPr>
              <p:cNvSpPr/>
              <p:nvPr/>
            </p:nvSpPr>
            <p:spPr bwMode="auto">
              <a:xfrm>
                <a:off x="10028238" y="4498975"/>
                <a:ext cx="82550" cy="125413"/>
              </a:xfrm>
              <a:custGeom>
                <a:avLst/>
                <a:gdLst>
                  <a:gd name="T0" fmla="*/ 26 w 30"/>
                  <a:gd name="T1" fmla="*/ 45 h 45"/>
                  <a:gd name="T2" fmla="*/ 22 w 30"/>
                  <a:gd name="T3" fmla="*/ 43 h 45"/>
                  <a:gd name="T4" fmla="*/ 1 w 30"/>
                  <a:gd name="T5" fmla="*/ 6 h 45"/>
                  <a:gd name="T6" fmla="*/ 3 w 30"/>
                  <a:gd name="T7" fmla="*/ 1 h 45"/>
                  <a:gd name="T8" fmla="*/ 8 w 30"/>
                  <a:gd name="T9" fmla="*/ 2 h 45"/>
                  <a:gd name="T10" fmla="*/ 29 w 30"/>
                  <a:gd name="T11" fmla="*/ 39 h 45"/>
                  <a:gd name="T12" fmla="*/ 28 w 30"/>
                  <a:gd name="T13" fmla="*/ 44 h 45"/>
                  <a:gd name="T14" fmla="*/ 26 w 30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5">
                    <a:moveTo>
                      <a:pt x="26" y="45"/>
                    </a:moveTo>
                    <a:cubicBezTo>
                      <a:pt x="24" y="45"/>
                      <a:pt x="23" y="44"/>
                      <a:pt x="22" y="4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0" y="41"/>
                      <a:pt x="30" y="43"/>
                      <a:pt x="28" y="44"/>
                    </a:cubicBezTo>
                    <a:cubicBezTo>
                      <a:pt x="27" y="45"/>
                      <a:pt x="26" y="45"/>
                      <a:pt x="26" y="4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Freeform 164">
                <a:extLst>
                  <a:ext uri="{FF2B5EF4-FFF2-40B4-BE49-F238E27FC236}">
                    <a16:creationId xmlns:a16="http://schemas.microsoft.com/office/drawing/2014/main" id="{CF40DDFA-06C5-1190-47A0-FDEB52FC5265}"/>
                  </a:ext>
                </a:extLst>
              </p:cNvPr>
              <p:cNvSpPr/>
              <p:nvPr/>
            </p:nvSpPr>
            <p:spPr bwMode="auto">
              <a:xfrm>
                <a:off x="10102851" y="4456113"/>
                <a:ext cx="109538" cy="168275"/>
              </a:xfrm>
              <a:custGeom>
                <a:avLst/>
                <a:gdLst>
                  <a:gd name="T0" fmla="*/ 34 w 39"/>
                  <a:gd name="T1" fmla="*/ 60 h 60"/>
                  <a:gd name="T2" fmla="*/ 31 w 39"/>
                  <a:gd name="T3" fmla="*/ 58 h 60"/>
                  <a:gd name="T4" fmla="*/ 1 w 39"/>
                  <a:gd name="T5" fmla="*/ 6 h 60"/>
                  <a:gd name="T6" fmla="*/ 2 w 39"/>
                  <a:gd name="T7" fmla="*/ 1 h 60"/>
                  <a:gd name="T8" fmla="*/ 8 w 39"/>
                  <a:gd name="T9" fmla="*/ 2 h 60"/>
                  <a:gd name="T10" fmla="*/ 38 w 39"/>
                  <a:gd name="T11" fmla="*/ 54 h 60"/>
                  <a:gd name="T12" fmla="*/ 36 w 39"/>
                  <a:gd name="T13" fmla="*/ 59 h 60"/>
                  <a:gd name="T14" fmla="*/ 34 w 39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60">
                    <a:moveTo>
                      <a:pt x="34" y="60"/>
                    </a:moveTo>
                    <a:cubicBezTo>
                      <a:pt x="33" y="60"/>
                      <a:pt x="31" y="59"/>
                      <a:pt x="31" y="58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4" y="0"/>
                      <a:pt x="7" y="0"/>
                      <a:pt x="8" y="2"/>
                    </a:cubicBezTo>
                    <a:cubicBezTo>
                      <a:pt x="38" y="54"/>
                      <a:pt x="38" y="54"/>
                      <a:pt x="38" y="54"/>
                    </a:cubicBezTo>
                    <a:cubicBezTo>
                      <a:pt x="39" y="56"/>
                      <a:pt x="38" y="58"/>
                      <a:pt x="36" y="59"/>
                    </a:cubicBezTo>
                    <a:cubicBezTo>
                      <a:pt x="36" y="60"/>
                      <a:pt x="35" y="60"/>
                      <a:pt x="34" y="60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" name="Freeform 165">
                <a:extLst>
                  <a:ext uri="{FF2B5EF4-FFF2-40B4-BE49-F238E27FC236}">
                    <a16:creationId xmlns:a16="http://schemas.microsoft.com/office/drawing/2014/main" id="{B902EA39-84F3-40DC-BC3B-11D9971892A4}"/>
                  </a:ext>
                </a:extLst>
              </p:cNvPr>
              <p:cNvSpPr/>
              <p:nvPr/>
            </p:nvSpPr>
            <p:spPr bwMode="auto">
              <a:xfrm>
                <a:off x="10202863" y="4359275"/>
                <a:ext cx="134938" cy="265113"/>
              </a:xfrm>
              <a:custGeom>
                <a:avLst/>
                <a:gdLst>
                  <a:gd name="T0" fmla="*/ 38 w 48"/>
                  <a:gd name="T1" fmla="*/ 95 h 95"/>
                  <a:gd name="T2" fmla="*/ 37 w 48"/>
                  <a:gd name="T3" fmla="*/ 95 h 95"/>
                  <a:gd name="T4" fmla="*/ 34 w 48"/>
                  <a:gd name="T5" fmla="*/ 91 h 95"/>
                  <a:gd name="T6" fmla="*/ 40 w 48"/>
                  <a:gd name="T7" fmla="*/ 26 h 95"/>
                  <a:gd name="T8" fmla="*/ 37 w 48"/>
                  <a:gd name="T9" fmla="*/ 14 h 95"/>
                  <a:gd name="T10" fmla="*/ 29 w 48"/>
                  <a:gd name="T11" fmla="*/ 8 h 95"/>
                  <a:gd name="T12" fmla="*/ 20 w 48"/>
                  <a:gd name="T13" fmla="*/ 12 h 95"/>
                  <a:gd name="T14" fmla="*/ 15 w 48"/>
                  <a:gd name="T15" fmla="*/ 24 h 95"/>
                  <a:gd name="T16" fmla="*/ 9 w 48"/>
                  <a:gd name="T17" fmla="*/ 91 h 95"/>
                  <a:gd name="T18" fmla="*/ 4 w 48"/>
                  <a:gd name="T19" fmla="*/ 95 h 95"/>
                  <a:gd name="T20" fmla="*/ 1 w 48"/>
                  <a:gd name="T21" fmla="*/ 91 h 95"/>
                  <a:gd name="T22" fmla="*/ 7 w 48"/>
                  <a:gd name="T23" fmla="*/ 23 h 95"/>
                  <a:gd name="T24" fmla="*/ 14 w 48"/>
                  <a:gd name="T25" fmla="*/ 7 h 95"/>
                  <a:gd name="T26" fmla="*/ 29 w 48"/>
                  <a:gd name="T27" fmla="*/ 0 h 95"/>
                  <a:gd name="T28" fmla="*/ 43 w 48"/>
                  <a:gd name="T29" fmla="*/ 9 h 95"/>
                  <a:gd name="T30" fmla="*/ 48 w 48"/>
                  <a:gd name="T31" fmla="*/ 27 h 95"/>
                  <a:gd name="T32" fmla="*/ 42 w 48"/>
                  <a:gd name="T33" fmla="*/ 91 h 95"/>
                  <a:gd name="T34" fmla="*/ 38 w 48"/>
                  <a:gd name="T35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95">
                    <a:moveTo>
                      <a:pt x="38" y="95"/>
                    </a:moveTo>
                    <a:cubicBezTo>
                      <a:pt x="38" y="95"/>
                      <a:pt x="37" y="95"/>
                      <a:pt x="37" y="95"/>
                    </a:cubicBezTo>
                    <a:cubicBezTo>
                      <a:pt x="35" y="95"/>
                      <a:pt x="34" y="93"/>
                      <a:pt x="34" y="91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2"/>
                      <a:pt x="39" y="17"/>
                      <a:pt x="37" y="14"/>
                    </a:cubicBezTo>
                    <a:cubicBezTo>
                      <a:pt x="35" y="10"/>
                      <a:pt x="32" y="8"/>
                      <a:pt x="29" y="8"/>
                    </a:cubicBezTo>
                    <a:cubicBezTo>
                      <a:pt x="26" y="8"/>
                      <a:pt x="22" y="9"/>
                      <a:pt x="20" y="12"/>
                    </a:cubicBezTo>
                    <a:cubicBezTo>
                      <a:pt x="17" y="15"/>
                      <a:pt x="15" y="19"/>
                      <a:pt x="15" y="24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8" y="93"/>
                      <a:pt x="6" y="95"/>
                      <a:pt x="4" y="95"/>
                    </a:cubicBezTo>
                    <a:cubicBezTo>
                      <a:pt x="2" y="95"/>
                      <a:pt x="0" y="93"/>
                      <a:pt x="1" y="91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17"/>
                      <a:pt x="10" y="11"/>
                      <a:pt x="14" y="7"/>
                    </a:cubicBezTo>
                    <a:cubicBezTo>
                      <a:pt x="18" y="2"/>
                      <a:pt x="24" y="0"/>
                      <a:pt x="29" y="0"/>
                    </a:cubicBezTo>
                    <a:cubicBezTo>
                      <a:pt x="35" y="1"/>
                      <a:pt x="40" y="4"/>
                      <a:pt x="43" y="9"/>
                    </a:cubicBezTo>
                    <a:cubicBezTo>
                      <a:pt x="47" y="14"/>
                      <a:pt x="48" y="21"/>
                      <a:pt x="48" y="27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2" y="93"/>
                      <a:pt x="40" y="95"/>
                      <a:pt x="38" y="95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Freeform 166">
                <a:extLst>
                  <a:ext uri="{FF2B5EF4-FFF2-40B4-BE49-F238E27FC236}">
                    <a16:creationId xmlns:a16="http://schemas.microsoft.com/office/drawing/2014/main" id="{E576A0B3-C329-484C-22A3-F133FE232979}"/>
                  </a:ext>
                </a:extLst>
              </p:cNvPr>
              <p:cNvSpPr/>
              <p:nvPr/>
            </p:nvSpPr>
            <p:spPr bwMode="auto">
              <a:xfrm>
                <a:off x="9977438" y="4602163"/>
                <a:ext cx="433388" cy="298450"/>
              </a:xfrm>
              <a:custGeom>
                <a:avLst/>
                <a:gdLst>
                  <a:gd name="T0" fmla="*/ 153 w 155"/>
                  <a:gd name="T1" fmla="*/ 5 h 107"/>
                  <a:gd name="T2" fmla="*/ 140 w 155"/>
                  <a:gd name="T3" fmla="*/ 0 h 107"/>
                  <a:gd name="T4" fmla="*/ 15 w 155"/>
                  <a:gd name="T5" fmla="*/ 0 h 107"/>
                  <a:gd name="T6" fmla="*/ 2 w 155"/>
                  <a:gd name="T7" fmla="*/ 5 h 107"/>
                  <a:gd name="T8" fmla="*/ 0 w 155"/>
                  <a:gd name="T9" fmla="*/ 14 h 107"/>
                  <a:gd name="T10" fmla="*/ 14 w 155"/>
                  <a:gd name="T11" fmla="*/ 26 h 107"/>
                  <a:gd name="T12" fmla="*/ 20 w 155"/>
                  <a:gd name="T13" fmla="*/ 34 h 107"/>
                  <a:gd name="T14" fmla="*/ 30 w 155"/>
                  <a:gd name="T15" fmla="*/ 83 h 107"/>
                  <a:gd name="T16" fmla="*/ 29 w 155"/>
                  <a:gd name="T17" fmla="*/ 90 h 107"/>
                  <a:gd name="T18" fmla="*/ 22 w 155"/>
                  <a:gd name="T19" fmla="*/ 93 h 107"/>
                  <a:gd name="T20" fmla="*/ 21 w 155"/>
                  <a:gd name="T21" fmla="*/ 99 h 107"/>
                  <a:gd name="T22" fmla="*/ 39 w 155"/>
                  <a:gd name="T23" fmla="*/ 107 h 107"/>
                  <a:gd name="T24" fmla="*/ 116 w 155"/>
                  <a:gd name="T25" fmla="*/ 107 h 107"/>
                  <a:gd name="T26" fmla="*/ 134 w 155"/>
                  <a:gd name="T27" fmla="*/ 99 h 107"/>
                  <a:gd name="T28" fmla="*/ 133 w 155"/>
                  <a:gd name="T29" fmla="*/ 93 h 107"/>
                  <a:gd name="T30" fmla="*/ 126 w 155"/>
                  <a:gd name="T31" fmla="*/ 90 h 107"/>
                  <a:gd name="T32" fmla="*/ 125 w 155"/>
                  <a:gd name="T33" fmla="*/ 83 h 107"/>
                  <a:gd name="T34" fmla="*/ 135 w 155"/>
                  <a:gd name="T35" fmla="*/ 34 h 107"/>
                  <a:gd name="T36" fmla="*/ 141 w 155"/>
                  <a:gd name="T37" fmla="*/ 26 h 107"/>
                  <a:gd name="T38" fmla="*/ 155 w 155"/>
                  <a:gd name="T39" fmla="*/ 14 h 107"/>
                  <a:gd name="T40" fmla="*/ 153 w 155"/>
                  <a:gd name="T41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5" h="107">
                    <a:moveTo>
                      <a:pt x="153" y="5"/>
                    </a:moveTo>
                    <a:cubicBezTo>
                      <a:pt x="150" y="2"/>
                      <a:pt x="145" y="0"/>
                      <a:pt x="14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0"/>
                      <a:pt x="5" y="2"/>
                      <a:pt x="2" y="5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2" y="21"/>
                      <a:pt x="8" y="26"/>
                      <a:pt x="14" y="26"/>
                    </a:cubicBezTo>
                    <a:cubicBezTo>
                      <a:pt x="16" y="26"/>
                      <a:pt x="19" y="29"/>
                      <a:pt x="20" y="34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7"/>
                      <a:pt x="30" y="89"/>
                      <a:pt x="29" y="90"/>
                    </a:cubicBezTo>
                    <a:cubicBezTo>
                      <a:pt x="26" y="90"/>
                      <a:pt x="24" y="91"/>
                      <a:pt x="22" y="93"/>
                    </a:cubicBezTo>
                    <a:cubicBezTo>
                      <a:pt x="21" y="95"/>
                      <a:pt x="20" y="97"/>
                      <a:pt x="21" y="99"/>
                    </a:cubicBezTo>
                    <a:cubicBezTo>
                      <a:pt x="22" y="105"/>
                      <a:pt x="32" y="107"/>
                      <a:pt x="39" y="107"/>
                    </a:cubicBezTo>
                    <a:cubicBezTo>
                      <a:pt x="116" y="107"/>
                      <a:pt x="116" y="107"/>
                      <a:pt x="116" y="107"/>
                    </a:cubicBezTo>
                    <a:cubicBezTo>
                      <a:pt x="123" y="107"/>
                      <a:pt x="133" y="105"/>
                      <a:pt x="134" y="99"/>
                    </a:cubicBezTo>
                    <a:cubicBezTo>
                      <a:pt x="135" y="97"/>
                      <a:pt x="134" y="95"/>
                      <a:pt x="133" y="93"/>
                    </a:cubicBezTo>
                    <a:cubicBezTo>
                      <a:pt x="131" y="91"/>
                      <a:pt x="129" y="90"/>
                      <a:pt x="126" y="90"/>
                    </a:cubicBezTo>
                    <a:cubicBezTo>
                      <a:pt x="125" y="89"/>
                      <a:pt x="125" y="87"/>
                      <a:pt x="125" y="83"/>
                    </a:cubicBezTo>
                    <a:cubicBezTo>
                      <a:pt x="135" y="34"/>
                      <a:pt x="135" y="34"/>
                      <a:pt x="135" y="34"/>
                    </a:cubicBezTo>
                    <a:cubicBezTo>
                      <a:pt x="136" y="29"/>
                      <a:pt x="139" y="26"/>
                      <a:pt x="141" y="26"/>
                    </a:cubicBezTo>
                    <a:cubicBezTo>
                      <a:pt x="147" y="26"/>
                      <a:pt x="153" y="21"/>
                      <a:pt x="155" y="14"/>
                    </a:cubicBezTo>
                    <a:cubicBezTo>
                      <a:pt x="155" y="11"/>
                      <a:pt x="155" y="8"/>
                      <a:pt x="153" y="5"/>
                    </a:cubicBezTo>
                    <a:close/>
                  </a:path>
                </a:pathLst>
              </a:custGeom>
              <a:solidFill>
                <a:srgbClr val="6069E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" name="Freeform 167">
                <a:extLst>
                  <a:ext uri="{FF2B5EF4-FFF2-40B4-BE49-F238E27FC236}">
                    <a16:creationId xmlns:a16="http://schemas.microsoft.com/office/drawing/2014/main" id="{D4A02C71-96FA-9E8C-E7D5-EB037652C4F3}"/>
                  </a:ext>
                </a:extLst>
              </p:cNvPr>
              <p:cNvSpPr/>
              <p:nvPr/>
            </p:nvSpPr>
            <p:spPr bwMode="auto">
              <a:xfrm>
                <a:off x="10250488" y="4414838"/>
                <a:ext cx="39688" cy="203200"/>
              </a:xfrm>
              <a:custGeom>
                <a:avLst/>
                <a:gdLst>
                  <a:gd name="T0" fmla="*/ 4 w 14"/>
                  <a:gd name="T1" fmla="*/ 73 h 73"/>
                  <a:gd name="T2" fmla="*/ 4 w 14"/>
                  <a:gd name="T3" fmla="*/ 73 h 73"/>
                  <a:gd name="T4" fmla="*/ 0 w 14"/>
                  <a:gd name="T5" fmla="*/ 68 h 73"/>
                  <a:gd name="T6" fmla="*/ 6 w 14"/>
                  <a:gd name="T7" fmla="*/ 4 h 73"/>
                  <a:gd name="T8" fmla="*/ 10 w 14"/>
                  <a:gd name="T9" fmla="*/ 0 h 73"/>
                  <a:gd name="T10" fmla="*/ 14 w 14"/>
                  <a:gd name="T11" fmla="*/ 4 h 73"/>
                  <a:gd name="T12" fmla="*/ 8 w 14"/>
                  <a:gd name="T13" fmla="*/ 69 h 73"/>
                  <a:gd name="T14" fmla="*/ 4 w 14"/>
                  <a:gd name="T15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73">
                    <a:moveTo>
                      <a:pt x="4" y="73"/>
                    </a:moveTo>
                    <a:cubicBezTo>
                      <a:pt x="4" y="73"/>
                      <a:pt x="4" y="73"/>
                      <a:pt x="4" y="73"/>
                    </a:cubicBezTo>
                    <a:cubicBezTo>
                      <a:pt x="2" y="72"/>
                      <a:pt x="0" y="71"/>
                      <a:pt x="0" y="68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2" y="0"/>
                      <a:pt x="14" y="2"/>
                      <a:pt x="14" y="4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1"/>
                      <a:pt x="7" y="73"/>
                      <a:pt x="4" y="73"/>
                    </a:cubicBezTo>
                    <a:close/>
                  </a:path>
                </a:pathLst>
              </a:custGeom>
              <a:solidFill>
                <a:srgbClr val="17B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9">
            <a:extLst>
              <a:ext uri="{FF2B5EF4-FFF2-40B4-BE49-F238E27FC236}">
                <a16:creationId xmlns:a16="http://schemas.microsoft.com/office/drawing/2014/main" id="{23282CBB-91E9-361A-B448-D95BC08E81C2}"/>
              </a:ext>
            </a:extLst>
          </p:cNvPr>
          <p:cNvGrpSpPr/>
          <p:nvPr/>
        </p:nvGrpSpPr>
        <p:grpSpPr>
          <a:xfrm>
            <a:off x="8712964" y="2476607"/>
            <a:ext cx="966528" cy="966528"/>
            <a:chOff x="8023314" y="4088066"/>
            <a:chExt cx="966528" cy="966528"/>
          </a:xfrm>
        </p:grpSpPr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DCA1C703-2C55-AE19-3DE9-255038F16588}"/>
                </a:ext>
              </a:extLst>
            </p:cNvPr>
            <p:cNvSpPr/>
            <p:nvPr/>
          </p:nvSpPr>
          <p:spPr>
            <a:xfrm>
              <a:off x="8023314" y="4088066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KSO_Shape">
              <a:extLst>
                <a:ext uri="{FF2B5EF4-FFF2-40B4-BE49-F238E27FC236}">
                  <a16:creationId xmlns:a16="http://schemas.microsoft.com/office/drawing/2014/main" id="{50B18850-B065-68C0-E328-25D94E930E01}"/>
                </a:ext>
              </a:extLst>
            </p:cNvPr>
            <p:cNvSpPr/>
            <p:nvPr/>
          </p:nvSpPr>
          <p:spPr>
            <a:xfrm>
              <a:off x="8310972" y="4364686"/>
              <a:ext cx="391211" cy="374516"/>
            </a:xfrm>
            <a:custGeom>
              <a:avLst/>
              <a:gdLst/>
              <a:ahLst/>
              <a:cxnLst/>
              <a:rect l="l" t="t" r="r" b="b"/>
              <a:pathLst>
                <a:path w="1889279" h="1810503">
                  <a:moveTo>
                    <a:pt x="1408636" y="1462945"/>
                  </a:moveTo>
                  <a:cubicBezTo>
                    <a:pt x="1471912" y="1494489"/>
                    <a:pt x="1528819" y="1532588"/>
                    <a:pt x="1575786" y="1578162"/>
                  </a:cubicBezTo>
                  <a:cubicBezTo>
                    <a:pt x="1467281" y="1672800"/>
                    <a:pt x="1335058" y="1742507"/>
                    <a:pt x="1188886" y="1779443"/>
                  </a:cubicBezTo>
                  <a:cubicBezTo>
                    <a:pt x="1278166" y="1700386"/>
                    <a:pt x="1353810" y="1592053"/>
                    <a:pt x="1408636" y="1462945"/>
                  </a:cubicBezTo>
                  <a:close/>
                  <a:moveTo>
                    <a:pt x="494888" y="1445849"/>
                  </a:moveTo>
                  <a:cubicBezTo>
                    <a:pt x="556747" y="1590569"/>
                    <a:pt x="643865" y="1709702"/>
                    <a:pt x="747068" y="1790925"/>
                  </a:cubicBezTo>
                  <a:cubicBezTo>
                    <a:pt x="576321" y="1756303"/>
                    <a:pt x="422614" y="1677538"/>
                    <a:pt x="300900" y="1566189"/>
                  </a:cubicBezTo>
                  <a:cubicBezTo>
                    <a:pt x="355309" y="1517036"/>
                    <a:pt x="421005" y="1476420"/>
                    <a:pt x="494888" y="1445849"/>
                  </a:cubicBezTo>
                  <a:close/>
                  <a:moveTo>
                    <a:pt x="900586" y="1355871"/>
                  </a:moveTo>
                  <a:lnTo>
                    <a:pt x="900586" y="1808904"/>
                  </a:lnTo>
                  <a:lnTo>
                    <a:pt x="884222" y="1808113"/>
                  </a:lnTo>
                  <a:cubicBezTo>
                    <a:pt x="745280" y="1742581"/>
                    <a:pt x="627378" y="1604992"/>
                    <a:pt x="551037" y="1423344"/>
                  </a:cubicBezTo>
                  <a:cubicBezTo>
                    <a:pt x="655969" y="1381011"/>
                    <a:pt x="774745" y="1357337"/>
                    <a:pt x="900586" y="1355871"/>
                  </a:cubicBezTo>
                  <a:close/>
                  <a:moveTo>
                    <a:pt x="953521" y="1355186"/>
                  </a:moveTo>
                  <a:cubicBezTo>
                    <a:pt x="1099660" y="1356509"/>
                    <a:pt x="1236550" y="1386650"/>
                    <a:pt x="1354036" y="1440083"/>
                  </a:cubicBezTo>
                  <a:cubicBezTo>
                    <a:pt x="1283551" y="1605630"/>
                    <a:pt x="1178611" y="1734316"/>
                    <a:pt x="1054486" y="1804443"/>
                  </a:cubicBezTo>
                  <a:lnTo>
                    <a:pt x="953521" y="1810503"/>
                  </a:lnTo>
                  <a:close/>
                  <a:moveTo>
                    <a:pt x="1517159" y="931303"/>
                  </a:moveTo>
                  <a:lnTo>
                    <a:pt x="1889279" y="931303"/>
                  </a:lnTo>
                  <a:cubicBezTo>
                    <a:pt x="1883282" y="1167646"/>
                    <a:pt x="1781715" y="1381244"/>
                    <a:pt x="1618873" y="1536894"/>
                  </a:cubicBezTo>
                  <a:cubicBezTo>
                    <a:pt x="1566437" y="1485571"/>
                    <a:pt x="1502786" y="1442774"/>
                    <a:pt x="1431939" y="1407715"/>
                  </a:cubicBezTo>
                  <a:cubicBezTo>
                    <a:pt x="1485774" y="1266553"/>
                    <a:pt x="1516428" y="1104135"/>
                    <a:pt x="1517159" y="931303"/>
                  </a:cubicBezTo>
                  <a:close/>
                  <a:moveTo>
                    <a:pt x="953521" y="931303"/>
                  </a:moveTo>
                  <a:lnTo>
                    <a:pt x="1456842" y="931303"/>
                  </a:lnTo>
                  <a:cubicBezTo>
                    <a:pt x="1456123" y="1096196"/>
                    <a:pt x="1427268" y="1250986"/>
                    <a:pt x="1375819" y="1384691"/>
                  </a:cubicBezTo>
                  <a:cubicBezTo>
                    <a:pt x="1251537" y="1327928"/>
                    <a:pt x="1107288" y="1296191"/>
                    <a:pt x="953521" y="1294902"/>
                  </a:cubicBezTo>
                  <a:close/>
                  <a:moveTo>
                    <a:pt x="448568" y="931303"/>
                  </a:moveTo>
                  <a:lnTo>
                    <a:pt x="900586" y="931303"/>
                  </a:lnTo>
                  <a:lnTo>
                    <a:pt x="900586" y="1295603"/>
                  </a:lnTo>
                  <a:cubicBezTo>
                    <a:pt x="766605" y="1297053"/>
                    <a:pt x="640053" y="1322469"/>
                    <a:pt x="528061" y="1368046"/>
                  </a:cubicBezTo>
                  <a:cubicBezTo>
                    <a:pt x="478984" y="1238632"/>
                    <a:pt x="450499" y="1089843"/>
                    <a:pt x="448568" y="931303"/>
                  </a:cubicBezTo>
                  <a:close/>
                  <a:moveTo>
                    <a:pt x="0" y="931303"/>
                  </a:moveTo>
                  <a:lnTo>
                    <a:pt x="388264" y="931303"/>
                  </a:lnTo>
                  <a:cubicBezTo>
                    <a:pt x="390220" y="1097785"/>
                    <a:pt x="420532" y="1254193"/>
                    <a:pt x="473139" y="1390578"/>
                  </a:cubicBezTo>
                  <a:cubicBezTo>
                    <a:pt x="391203" y="1423988"/>
                    <a:pt x="318506" y="1469260"/>
                    <a:pt x="258353" y="1524144"/>
                  </a:cubicBezTo>
                  <a:cubicBezTo>
                    <a:pt x="102364" y="1370026"/>
                    <a:pt x="5849" y="1161456"/>
                    <a:pt x="0" y="931303"/>
                  </a:cubicBezTo>
                  <a:close/>
                  <a:moveTo>
                    <a:pt x="536834" y="421694"/>
                  </a:moveTo>
                  <a:cubicBezTo>
                    <a:pt x="646682" y="464986"/>
                    <a:pt x="770110" y="489176"/>
                    <a:pt x="900586" y="490537"/>
                  </a:cubicBezTo>
                  <a:lnTo>
                    <a:pt x="900586" y="875390"/>
                  </a:lnTo>
                  <a:lnTo>
                    <a:pt x="448805" y="875390"/>
                  </a:lnTo>
                  <a:cubicBezTo>
                    <a:pt x="451150" y="709592"/>
                    <a:pt x="482649" y="554587"/>
                    <a:pt x="536834" y="421694"/>
                  </a:cubicBezTo>
                  <a:close/>
                  <a:moveTo>
                    <a:pt x="1356131" y="409527"/>
                  </a:moveTo>
                  <a:cubicBezTo>
                    <a:pt x="1415590" y="544412"/>
                    <a:pt x="1451132" y="703874"/>
                    <a:pt x="1455052" y="875390"/>
                  </a:cubicBezTo>
                  <a:lnTo>
                    <a:pt x="953521" y="875390"/>
                  </a:lnTo>
                  <a:lnTo>
                    <a:pt x="953521" y="491238"/>
                  </a:lnTo>
                  <a:cubicBezTo>
                    <a:pt x="1099303" y="490092"/>
                    <a:pt x="1236528" y="461431"/>
                    <a:pt x="1356131" y="409527"/>
                  </a:cubicBezTo>
                  <a:close/>
                  <a:moveTo>
                    <a:pt x="271202" y="273767"/>
                  </a:moveTo>
                  <a:cubicBezTo>
                    <a:pt x="330895" y="324894"/>
                    <a:pt x="401533" y="367494"/>
                    <a:pt x="480768" y="398692"/>
                  </a:cubicBezTo>
                  <a:cubicBezTo>
                    <a:pt x="424147" y="539118"/>
                    <a:pt x="390867" y="701724"/>
                    <a:pt x="388496" y="875390"/>
                  </a:cubicBezTo>
                  <a:lnTo>
                    <a:pt x="238" y="875390"/>
                  </a:lnTo>
                  <a:cubicBezTo>
                    <a:pt x="7162" y="640451"/>
                    <a:pt x="108645" y="428248"/>
                    <a:pt x="271202" y="273767"/>
                  </a:cubicBezTo>
                  <a:close/>
                  <a:moveTo>
                    <a:pt x="1605567" y="261436"/>
                  </a:moveTo>
                  <a:cubicBezTo>
                    <a:pt x="1775300" y="417133"/>
                    <a:pt x="1881942" y="634296"/>
                    <a:pt x="1889035" y="875390"/>
                  </a:cubicBezTo>
                  <a:lnTo>
                    <a:pt x="1515364" y="875390"/>
                  </a:lnTo>
                  <a:cubicBezTo>
                    <a:pt x="1511419" y="696081"/>
                    <a:pt x="1474168" y="529014"/>
                    <a:pt x="1413107" y="386152"/>
                  </a:cubicBezTo>
                  <a:cubicBezTo>
                    <a:pt x="1485941" y="353453"/>
                    <a:pt x="1551126" y="311628"/>
                    <a:pt x="1605567" y="261436"/>
                  </a:cubicBezTo>
                  <a:close/>
                  <a:moveTo>
                    <a:pt x="748157" y="19413"/>
                  </a:moveTo>
                  <a:cubicBezTo>
                    <a:pt x="649482" y="96557"/>
                    <a:pt x="565491" y="208310"/>
                    <a:pt x="504779" y="344256"/>
                  </a:cubicBezTo>
                  <a:cubicBezTo>
                    <a:pt x="432706" y="315858"/>
                    <a:pt x="368354" y="277545"/>
                    <a:pt x="313920" y="231604"/>
                  </a:cubicBezTo>
                  <a:cubicBezTo>
                    <a:pt x="434240" y="127070"/>
                    <a:pt x="583275" y="52667"/>
                    <a:pt x="748157" y="19413"/>
                  </a:cubicBezTo>
                  <a:close/>
                  <a:moveTo>
                    <a:pt x="1137621" y="18543"/>
                  </a:moveTo>
                  <a:cubicBezTo>
                    <a:pt x="1297904" y="50310"/>
                    <a:pt x="1443338" y="120918"/>
                    <a:pt x="1562575" y="219802"/>
                  </a:cubicBezTo>
                  <a:cubicBezTo>
                    <a:pt x="1512842" y="265093"/>
                    <a:pt x="1453308" y="302843"/>
                    <a:pt x="1386970" y="332857"/>
                  </a:cubicBezTo>
                  <a:cubicBezTo>
                    <a:pt x="1323718" y="199817"/>
                    <a:pt x="1237626" y="91674"/>
                    <a:pt x="1137621" y="18543"/>
                  </a:cubicBezTo>
                  <a:close/>
                  <a:moveTo>
                    <a:pt x="900586" y="1702"/>
                  </a:moveTo>
                  <a:lnTo>
                    <a:pt x="900586" y="430269"/>
                  </a:lnTo>
                  <a:cubicBezTo>
                    <a:pt x="778345" y="428899"/>
                    <a:pt x="662774" y="406468"/>
                    <a:pt x="560047" y="366408"/>
                  </a:cubicBezTo>
                  <a:cubicBezTo>
                    <a:pt x="637783" y="193348"/>
                    <a:pt x="753999" y="63227"/>
                    <a:pt x="890213" y="2203"/>
                  </a:cubicBezTo>
                  <a:close/>
                  <a:moveTo>
                    <a:pt x="953521" y="0"/>
                  </a:moveTo>
                  <a:lnTo>
                    <a:pt x="981035" y="1330"/>
                  </a:lnTo>
                  <a:cubicBezTo>
                    <a:pt x="1124068" y="53565"/>
                    <a:pt x="1247786" y="180867"/>
                    <a:pt x="1332000" y="354889"/>
                  </a:cubicBezTo>
                  <a:cubicBezTo>
                    <a:pt x="1219743" y="403080"/>
                    <a:pt x="1090709" y="429800"/>
                    <a:pt x="953521" y="430954"/>
                  </a:cubicBezTo>
                  <a:close/>
                </a:path>
              </a:pathLst>
            </a:custGeom>
            <a:solidFill>
              <a:srgbClr val="6069E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21908" tIns="60954" rIns="121908" bIns="60954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0" name="文本框 32">
            <a:extLst>
              <a:ext uri="{FF2B5EF4-FFF2-40B4-BE49-F238E27FC236}">
                <a16:creationId xmlns:a16="http://schemas.microsoft.com/office/drawing/2014/main" id="{E21F35BB-F71E-2B1D-5078-1C96D367A8D9}"/>
              </a:ext>
            </a:extLst>
          </p:cNvPr>
          <p:cNvSpPr txBox="1"/>
          <p:nvPr/>
        </p:nvSpPr>
        <p:spPr>
          <a:xfrm>
            <a:off x="1892751" y="1266121"/>
            <a:ext cx="2086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отсутствует эффективная система контроля качества подшивки дел</a:t>
            </a:r>
          </a:p>
        </p:txBody>
      </p:sp>
      <p:sp>
        <p:nvSpPr>
          <p:cNvPr id="31" name="文本框 33">
            <a:extLst>
              <a:ext uri="{FF2B5EF4-FFF2-40B4-BE49-F238E27FC236}">
                <a16:creationId xmlns:a16="http://schemas.microsoft.com/office/drawing/2014/main" id="{663B48D9-A565-E890-8468-519511B41C22}"/>
              </a:ext>
            </a:extLst>
          </p:cNvPr>
          <p:cNvSpPr txBox="1"/>
          <p:nvPr/>
        </p:nvSpPr>
        <p:spPr>
          <a:xfrm>
            <a:off x="4556895" y="1008066"/>
            <a:ext cx="2874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не выделяется достаточно ресурсов (временных, человеческих) на разработку и внедрение системы контроля качества, и руководство архива не уделяет должного внимания этому аспекту</a:t>
            </a:r>
          </a:p>
        </p:txBody>
      </p:sp>
      <p:sp>
        <p:nvSpPr>
          <p:cNvPr id="32" name="文本框 34">
            <a:extLst>
              <a:ext uri="{FF2B5EF4-FFF2-40B4-BE49-F238E27FC236}">
                <a16:creationId xmlns:a16="http://schemas.microsoft.com/office/drawing/2014/main" id="{E4E912BD-0AF8-B981-E4EF-25994BBACC4F}"/>
              </a:ext>
            </a:extLst>
          </p:cNvPr>
          <p:cNvSpPr txBox="1"/>
          <p:nvPr/>
        </p:nvSpPr>
        <p:spPr>
          <a:xfrm>
            <a:off x="7908581" y="911606"/>
            <a:ext cx="29665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руководство КФУ не осознает в полной мере важность эффективного архивного управления для оперативной работы и принятия решений</a:t>
            </a:r>
          </a:p>
        </p:txBody>
      </p:sp>
      <p:sp>
        <p:nvSpPr>
          <p:cNvPr id="33" name="文本框 35">
            <a:extLst>
              <a:ext uri="{FF2B5EF4-FFF2-40B4-BE49-F238E27FC236}">
                <a16:creationId xmlns:a16="http://schemas.microsoft.com/office/drawing/2014/main" id="{1E13D910-4BA2-19B4-BDE5-5F40423EC852}"/>
              </a:ext>
            </a:extLst>
          </p:cNvPr>
          <p:cNvSpPr txBox="1"/>
          <p:nvPr/>
        </p:nvSpPr>
        <p:spPr>
          <a:xfrm>
            <a:off x="653033" y="4313963"/>
            <a:ext cx="259289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ru-RU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Проблема:</a:t>
            </a:r>
          </a:p>
          <a:p>
            <a:pPr algn="ctr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Не по стандарту сшитые дела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лицевые счета в архиве КФУ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9C7B5C-8ACB-4C70-F5A1-F1D3D0DA9221}"/>
              </a:ext>
            </a:extLst>
          </p:cNvPr>
          <p:cNvSpPr txBox="1"/>
          <p:nvPr/>
        </p:nvSpPr>
        <p:spPr>
          <a:xfrm>
            <a:off x="776165" y="2638909"/>
            <a:ext cx="941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Почему дела и лицевые счета в архиве КФУ не сшиваются по стандарту</a:t>
            </a: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53122F17-E945-DD90-054A-337AFCCA0C56}"/>
              </a:ext>
            </a:extLst>
          </p:cNvPr>
          <p:cNvSpPr/>
          <p:nvPr/>
        </p:nvSpPr>
        <p:spPr>
          <a:xfrm>
            <a:off x="799186" y="2564414"/>
            <a:ext cx="926492" cy="11646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кругленный прямоугольник 37">
            <a:extLst>
              <a:ext uri="{FF2B5EF4-FFF2-40B4-BE49-F238E27FC236}">
                <a16:creationId xmlns:a16="http://schemas.microsoft.com/office/drawing/2014/main" id="{D8C3DC0B-5B0F-C61E-B2B0-0DB5A6766858}"/>
              </a:ext>
            </a:extLst>
          </p:cNvPr>
          <p:cNvSpPr/>
          <p:nvPr/>
        </p:nvSpPr>
        <p:spPr>
          <a:xfrm>
            <a:off x="3878172" y="2343873"/>
            <a:ext cx="926492" cy="11712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A33ADB-0F9F-F540-B860-8ADFDF52A261}"/>
              </a:ext>
            </a:extLst>
          </p:cNvPr>
          <p:cNvSpPr txBox="1"/>
          <p:nvPr/>
        </p:nvSpPr>
        <p:spPr>
          <a:xfrm>
            <a:off x="3918540" y="2396917"/>
            <a:ext cx="96652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Почему отсутствует эффективная система контроля качества подшивки дел?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3AF070-980E-6504-BD2E-5D96813F9D96}"/>
              </a:ext>
            </a:extLst>
          </p:cNvPr>
          <p:cNvSpPr txBox="1"/>
          <p:nvPr/>
        </p:nvSpPr>
        <p:spPr>
          <a:xfrm>
            <a:off x="3203182" y="5533501"/>
            <a:ext cx="26741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не разработаны или не применяются чёткие инструкции и чек-листы для проверки качества подшивки, и отсутствует регулярный аудит архивных дел.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B13F77-78B2-5DB1-5EC9-A080ABAE1987}"/>
              </a:ext>
            </a:extLst>
          </p:cNvPr>
          <p:cNvSpPr txBox="1"/>
          <p:nvPr/>
        </p:nvSpPr>
        <p:spPr>
          <a:xfrm>
            <a:off x="5335953" y="3838431"/>
            <a:ext cx="105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Почему не разработаны/не применяются инструкции и чек-листы и отсутствует аудит?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D8E69212-32E9-F0AB-0C5D-86524A0DB817}"/>
              </a:ext>
            </a:extLst>
          </p:cNvPr>
          <p:cNvSpPr/>
          <p:nvPr/>
        </p:nvSpPr>
        <p:spPr>
          <a:xfrm>
            <a:off x="7227602" y="2698232"/>
            <a:ext cx="926492" cy="10308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A160E0-6BBE-87BF-B5E9-321CD48F6BD2}"/>
              </a:ext>
            </a:extLst>
          </p:cNvPr>
          <p:cNvSpPr txBox="1"/>
          <p:nvPr/>
        </p:nvSpPr>
        <p:spPr>
          <a:xfrm>
            <a:off x="7252531" y="2765979"/>
            <a:ext cx="904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Почему не выделяются ресурсы и руководство не уделяет внимания?</a:t>
            </a:r>
          </a:p>
        </p:txBody>
      </p: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99A4918F-B506-A61E-1A57-36F6E419D2BF}"/>
              </a:ext>
            </a:extLst>
          </p:cNvPr>
          <p:cNvSpPr/>
          <p:nvPr/>
        </p:nvSpPr>
        <p:spPr>
          <a:xfrm>
            <a:off x="8747800" y="4031739"/>
            <a:ext cx="988490" cy="9147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кругленный прямоугольник 46">
            <a:extLst>
              <a:ext uri="{FF2B5EF4-FFF2-40B4-BE49-F238E27FC236}">
                <a16:creationId xmlns:a16="http://schemas.microsoft.com/office/drawing/2014/main" id="{F12F245A-A07F-482B-159F-CA5E4FDA1678}"/>
              </a:ext>
            </a:extLst>
          </p:cNvPr>
          <p:cNvSpPr/>
          <p:nvPr/>
        </p:nvSpPr>
        <p:spPr>
          <a:xfrm>
            <a:off x="5335953" y="3771157"/>
            <a:ext cx="926492" cy="9906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5B93EE-7BC3-A566-3D15-A2E470405783}"/>
              </a:ext>
            </a:extLst>
          </p:cNvPr>
          <p:cNvSpPr txBox="1"/>
          <p:nvPr/>
        </p:nvSpPr>
        <p:spPr>
          <a:xfrm>
            <a:off x="6297327" y="5627242"/>
            <a:ext cx="309450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Потому что руководство архива КФУ не в полной мере осознаёт негативные последствия несоблюдения стандартов подшивки дел (например, сложность поиска информации, нарушение целостности документов, риски при проверках)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5466BD-1861-FD49-4A9D-1792FC88F892}"/>
              </a:ext>
            </a:extLst>
          </p:cNvPr>
          <p:cNvSpPr txBox="1"/>
          <p:nvPr/>
        </p:nvSpPr>
        <p:spPr>
          <a:xfrm>
            <a:off x="8747800" y="4066951"/>
            <a:ext cx="963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Почему руководство не считает это важным?</a:t>
            </a:r>
          </a:p>
        </p:txBody>
      </p:sp>
      <p:sp>
        <p:nvSpPr>
          <p:cNvPr id="52" name="Скругленный прямоугольник 51">
            <a:extLst>
              <a:ext uri="{FF2B5EF4-FFF2-40B4-BE49-F238E27FC236}">
                <a16:creationId xmlns:a16="http://schemas.microsoft.com/office/drawing/2014/main" id="{5463A207-27BB-91D5-9E45-10F8D52EC2EF}"/>
              </a:ext>
            </a:extLst>
          </p:cNvPr>
          <p:cNvSpPr/>
          <p:nvPr/>
        </p:nvSpPr>
        <p:spPr>
          <a:xfrm>
            <a:off x="376620" y="178716"/>
            <a:ext cx="2682422" cy="507802"/>
          </a:xfrm>
          <a:prstGeom prst="round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4B4F0B-53BC-F46A-A9E0-D617E6DA5C10}"/>
              </a:ext>
            </a:extLst>
          </p:cNvPr>
          <p:cNvSpPr txBox="1"/>
          <p:nvPr/>
        </p:nvSpPr>
        <p:spPr>
          <a:xfrm>
            <a:off x="1134924" y="221661"/>
            <a:ext cx="192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 почему</a:t>
            </a:r>
          </a:p>
          <a:p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89DE13-D47F-F777-FB31-A224992A8BB4}"/>
              </a:ext>
            </a:extLst>
          </p:cNvPr>
          <p:cNvSpPr txBox="1"/>
          <p:nvPr/>
        </p:nvSpPr>
        <p:spPr>
          <a:xfrm>
            <a:off x="3586441" y="2257"/>
            <a:ext cx="4472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Не по стандарту сшитые дела</a:t>
            </a:r>
            <a:r>
              <a:rPr lang="en-US" sz="2000" b="1" dirty="0">
                <a:solidFill>
                  <a:schemeClr val="tx1"/>
                </a:solidFill>
              </a:rPr>
              <a:t>/</a:t>
            </a:r>
            <a:r>
              <a:rPr lang="ru-RU" sz="2000" b="1" dirty="0">
                <a:solidFill>
                  <a:schemeClr val="tx1"/>
                </a:solidFill>
              </a:rPr>
              <a:t>лицевые счета в архиве КФУ</a:t>
            </a:r>
          </a:p>
        </p:txBody>
      </p:sp>
      <p:sp>
        <p:nvSpPr>
          <p:cNvPr id="3" name="U-Turn Arrow 39">
            <a:extLst>
              <a:ext uri="{FF2B5EF4-FFF2-40B4-BE49-F238E27FC236}">
                <a16:creationId xmlns:a16="http://schemas.microsoft.com/office/drawing/2014/main" id="{CBFA77EB-1C7B-78FF-EE5E-FD408568530E}"/>
              </a:ext>
            </a:extLst>
          </p:cNvPr>
          <p:cNvSpPr/>
          <p:nvPr/>
        </p:nvSpPr>
        <p:spPr>
          <a:xfrm>
            <a:off x="8285090" y="2056473"/>
            <a:ext cx="2101854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U-Turn Arrow 38">
            <a:extLst>
              <a:ext uri="{FF2B5EF4-FFF2-40B4-BE49-F238E27FC236}">
                <a16:creationId xmlns:a16="http://schemas.microsoft.com/office/drawing/2014/main" id="{94DC746D-8D1B-BF56-1DC6-23D5ECB51BAF}"/>
              </a:ext>
            </a:extLst>
          </p:cNvPr>
          <p:cNvSpPr/>
          <p:nvPr/>
        </p:nvSpPr>
        <p:spPr>
          <a:xfrm rot="10800000" flipH="1">
            <a:off x="6510980" y="3625684"/>
            <a:ext cx="228878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U-Turn Arrow 37">
            <a:extLst>
              <a:ext uri="{FF2B5EF4-FFF2-40B4-BE49-F238E27FC236}">
                <a16:creationId xmlns:a16="http://schemas.microsoft.com/office/drawing/2014/main" id="{0AD72E13-096E-7C28-B64D-03AF42D5D87A}"/>
              </a:ext>
            </a:extLst>
          </p:cNvPr>
          <p:cNvSpPr/>
          <p:nvPr/>
        </p:nvSpPr>
        <p:spPr>
          <a:xfrm>
            <a:off x="4864371" y="2186330"/>
            <a:ext cx="2259638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U-Turn Arrow 36">
            <a:extLst>
              <a:ext uri="{FF2B5EF4-FFF2-40B4-BE49-F238E27FC236}">
                <a16:creationId xmlns:a16="http://schemas.microsoft.com/office/drawing/2014/main" id="{5C9A12DF-D91B-386C-F987-E22AEA745D23}"/>
              </a:ext>
            </a:extLst>
          </p:cNvPr>
          <p:cNvSpPr/>
          <p:nvPr/>
        </p:nvSpPr>
        <p:spPr>
          <a:xfrm rot="10800000" flipH="1">
            <a:off x="3457462" y="3690169"/>
            <a:ext cx="1927913" cy="1877854"/>
          </a:xfrm>
          <a:prstGeom prst="uturnArrow">
            <a:avLst>
              <a:gd name="adj1" fmla="val 20076"/>
              <a:gd name="adj2" fmla="val 21661"/>
              <a:gd name="adj3" fmla="val 23347"/>
              <a:gd name="adj4" fmla="val 49304"/>
              <a:gd name="adj5" fmla="val 100000"/>
            </a:avLst>
          </a:prstGeom>
          <a:solidFill>
            <a:srgbClr val="6069E6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U-Turn Arrow 34">
            <a:extLst>
              <a:ext uri="{FF2B5EF4-FFF2-40B4-BE49-F238E27FC236}">
                <a16:creationId xmlns:a16="http://schemas.microsoft.com/office/drawing/2014/main" id="{1598CE8C-A801-0FA6-E8C6-D1F84F7347BE}"/>
              </a:ext>
            </a:extLst>
          </p:cNvPr>
          <p:cNvSpPr/>
          <p:nvPr/>
        </p:nvSpPr>
        <p:spPr>
          <a:xfrm>
            <a:off x="1864009" y="2240332"/>
            <a:ext cx="2182245" cy="1877854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rgbClr val="0AAFF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31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2" name="组合 11">
            <a:extLst>
              <a:ext uri="{FF2B5EF4-FFF2-40B4-BE49-F238E27FC236}">
                <a16:creationId xmlns:a16="http://schemas.microsoft.com/office/drawing/2014/main" id="{6CBEDFC0-433E-FDC8-F683-AE45A7A96AAB}"/>
              </a:ext>
            </a:extLst>
          </p:cNvPr>
          <p:cNvGrpSpPr/>
          <p:nvPr/>
        </p:nvGrpSpPr>
        <p:grpSpPr>
          <a:xfrm>
            <a:off x="2346375" y="2775321"/>
            <a:ext cx="1013383" cy="912428"/>
            <a:chOff x="2800438" y="2695317"/>
            <a:chExt cx="966528" cy="966528"/>
          </a:xfrm>
        </p:grpSpPr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6F48D9EB-2D7D-B1BA-A150-83B1F54615F7}"/>
                </a:ext>
              </a:extLst>
            </p:cNvPr>
            <p:cNvSpPr/>
            <p:nvPr/>
          </p:nvSpPr>
          <p:spPr>
            <a:xfrm>
              <a:off x="2800438" y="2695317"/>
              <a:ext cx="966528" cy="966528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iṧ1ïḍê">
              <a:extLst>
                <a:ext uri="{FF2B5EF4-FFF2-40B4-BE49-F238E27FC236}">
                  <a16:creationId xmlns:a16="http://schemas.microsoft.com/office/drawing/2014/main" id="{16BA604A-4230-E0DD-3516-A546DE81BE6B}"/>
                </a:ext>
              </a:extLst>
            </p:cNvPr>
            <p:cNvSpPr/>
            <p:nvPr/>
          </p:nvSpPr>
          <p:spPr bwMode="auto">
            <a:xfrm>
              <a:off x="3084425" y="3043577"/>
              <a:ext cx="398553" cy="343058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rgbClr val="0AAFF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654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300"/>
                            </p:stCondLst>
                            <p:childTnLst>
                              <p:par>
                                <p:cTn id="6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9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4D6CA-DF45-4C1B-90C4-F949ABDAAE79}"/>
              </a:ext>
            </a:extLst>
          </p:cNvPr>
          <p:cNvSpPr txBox="1"/>
          <p:nvPr/>
        </p:nvSpPr>
        <p:spPr>
          <a:xfrm>
            <a:off x="3690842" y="76438"/>
            <a:ext cx="4548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Исполнение заявлений ПФР </a:t>
            </a:r>
            <a:r>
              <a:rPr lang="en-US" sz="2800" b="1" dirty="0"/>
              <a:t>IDEF</a:t>
            </a:r>
            <a:r>
              <a:rPr lang="ru-RU" sz="2800" b="1" dirty="0"/>
              <a:t>0</a:t>
            </a:r>
          </a:p>
          <a:p>
            <a:endParaRPr lang="ru-RU" sz="28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249EEF-BDF6-6B35-3D31-E3BF63B0C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65" y="1204368"/>
            <a:ext cx="10323614" cy="616639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D850A1-0673-B458-5ED7-4BC92DC70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9" r="7409"/>
          <a:stretch>
            <a:fillRect/>
          </a:stretch>
        </p:blipFill>
        <p:spPr>
          <a:xfrm>
            <a:off x="195574" y="4180114"/>
            <a:ext cx="2109047" cy="24754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52418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80186-804F-9EF4-A8BB-CCF086974BBE}"/>
              </a:ext>
            </a:extLst>
          </p:cNvPr>
          <p:cNvSpPr txBox="1"/>
          <p:nvPr/>
        </p:nvSpPr>
        <p:spPr>
          <a:xfrm>
            <a:off x="627040" y="41192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5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Формирование документов для ответа ПФР 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BPMN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B6184E-2E9E-C9E7-D421-47FC037BA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742" y="2571278"/>
            <a:ext cx="12527204" cy="3776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A93033-AD6D-9879-85C7-2D4592FF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003" y="988441"/>
            <a:ext cx="1990277" cy="199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63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BBA018-FA75-43BF-99E6-1F52457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673405-BF85-493E-8558-0DCBEDB2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79610"/>
            <a:ext cx="4831130" cy="4078390"/>
          </a:xfrm>
          <a:custGeom>
            <a:avLst/>
            <a:gdLst>
              <a:gd name="connsiteX0" fmla="*/ 1960035 w 4831130"/>
              <a:gd name="connsiteY0" fmla="*/ 0 h 4078390"/>
              <a:gd name="connsiteX1" fmla="*/ 4831130 w 4831130"/>
              <a:gd name="connsiteY1" fmla="*/ 2871095 h 4078390"/>
              <a:gd name="connsiteX2" fmla="*/ 4605505 w 4831130"/>
              <a:gd name="connsiteY2" fmla="*/ 3988655 h 4078390"/>
              <a:gd name="connsiteX3" fmla="*/ 4562278 w 4831130"/>
              <a:gd name="connsiteY3" fmla="*/ 4078390 h 4078390"/>
              <a:gd name="connsiteX4" fmla="*/ 0 w 4831130"/>
              <a:gd name="connsiteY4" fmla="*/ 4078390 h 4078390"/>
              <a:gd name="connsiteX5" fmla="*/ 0 w 4831130"/>
              <a:gd name="connsiteY5" fmla="*/ 777181 h 4078390"/>
              <a:gd name="connsiteX6" fmla="*/ 133752 w 4831130"/>
              <a:gd name="connsiteY6" fmla="*/ 655619 h 4078390"/>
              <a:gd name="connsiteX7" fmla="*/ 1960035 w 4831130"/>
              <a:gd name="connsiteY7" fmla="*/ 0 h 407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130" h="4078390">
                <a:moveTo>
                  <a:pt x="1960035" y="0"/>
                </a:moveTo>
                <a:cubicBezTo>
                  <a:pt x="3545697" y="0"/>
                  <a:pt x="4831130" y="1285433"/>
                  <a:pt x="4831130" y="2871095"/>
                </a:cubicBezTo>
                <a:cubicBezTo>
                  <a:pt x="4831130" y="3267511"/>
                  <a:pt x="4750791" y="3645162"/>
                  <a:pt x="4605505" y="3988655"/>
                </a:cubicBezTo>
                <a:lnTo>
                  <a:pt x="4562278" y="4078390"/>
                </a:lnTo>
                <a:lnTo>
                  <a:pt x="0" y="4078390"/>
                </a:lnTo>
                <a:lnTo>
                  <a:pt x="0" y="777181"/>
                </a:lnTo>
                <a:lnTo>
                  <a:pt x="133752" y="655619"/>
                </a:lnTo>
                <a:cubicBezTo>
                  <a:pt x="630047" y="246040"/>
                  <a:pt x="1266308" y="0"/>
                  <a:pt x="196003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64EAE84-A813-4501-BC71-DBD14BA02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9782" y="1"/>
            <a:ext cx="4195674" cy="3095741"/>
          </a:xfrm>
          <a:custGeom>
            <a:avLst/>
            <a:gdLst>
              <a:gd name="connsiteX0" fmla="*/ 252211 w 4195674"/>
              <a:gd name="connsiteY0" fmla="*/ 0 h 3095741"/>
              <a:gd name="connsiteX1" fmla="*/ 3943464 w 4195674"/>
              <a:gd name="connsiteY1" fmla="*/ 0 h 3095741"/>
              <a:gd name="connsiteX2" fmla="*/ 4030816 w 4195674"/>
              <a:gd name="connsiteY2" fmla="*/ 181331 h 3095741"/>
              <a:gd name="connsiteX3" fmla="*/ 4195674 w 4195674"/>
              <a:gd name="connsiteY3" fmla="*/ 997904 h 3095741"/>
              <a:gd name="connsiteX4" fmla="*/ 2097837 w 4195674"/>
              <a:gd name="connsiteY4" fmla="*/ 3095741 h 3095741"/>
              <a:gd name="connsiteX5" fmla="*/ 0 w 4195674"/>
              <a:gd name="connsiteY5" fmla="*/ 997904 h 3095741"/>
              <a:gd name="connsiteX6" fmla="*/ 164859 w 4195674"/>
              <a:gd name="connsiteY6" fmla="*/ 181331 h 309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3095741">
                <a:moveTo>
                  <a:pt x="252211" y="0"/>
                </a:moveTo>
                <a:lnTo>
                  <a:pt x="3943464" y="0"/>
                </a:lnTo>
                <a:lnTo>
                  <a:pt x="4030816" y="181331"/>
                </a:lnTo>
                <a:cubicBezTo>
                  <a:pt x="4136972" y="432313"/>
                  <a:pt x="4195674" y="708253"/>
                  <a:pt x="4195674" y="997904"/>
                </a:cubicBezTo>
                <a:cubicBezTo>
                  <a:pt x="4195674" y="2156507"/>
                  <a:pt x="3256440" y="3095741"/>
                  <a:pt x="2097837" y="3095741"/>
                </a:cubicBezTo>
                <a:cubicBezTo>
                  <a:pt x="939234" y="3095741"/>
                  <a:pt x="0" y="2156507"/>
                  <a:pt x="0" y="997904"/>
                </a:cubicBezTo>
                <a:cubicBezTo>
                  <a:pt x="0" y="708253"/>
                  <a:pt x="58702" y="432313"/>
                  <a:pt x="164859" y="181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A5F73-5C99-7AF1-A87E-425714A044AC}"/>
              </a:ext>
            </a:extLst>
          </p:cNvPr>
          <p:cNvSpPr txBox="1"/>
          <p:nvPr/>
        </p:nvSpPr>
        <p:spPr>
          <a:xfrm>
            <a:off x="2214939" y="535910"/>
            <a:ext cx="4195675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ru-RU" sz="2000" b="1" dirty="0" err="1"/>
              <a:t>Формировние</a:t>
            </a:r>
            <a:r>
              <a:rPr lang="ru-RU" sz="2000" b="1" dirty="0"/>
              <a:t> документов для ответа ПФР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 err="1"/>
              <a:t>Блок-схема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53E99D-BDCB-9033-AD08-8C1486A1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54" y="3684772"/>
            <a:ext cx="2752751" cy="2752751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36D71B-8969-8B70-DAB4-D16D70966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069" y="20782"/>
            <a:ext cx="4005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91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2F8AD-A7DB-A89B-DF05-8B9F0130F741}"/>
              </a:ext>
            </a:extLst>
          </p:cNvPr>
          <p:cNvSpPr txBox="1"/>
          <p:nvPr/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39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птимизаци</a:t>
            </a:r>
            <a:r>
              <a:rPr lang="ru-RU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я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процесса</a:t>
            </a:r>
            <a:r>
              <a:rPr lang="en-US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3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исполнения заявлений </a:t>
            </a:r>
            <a:r>
              <a:rPr lang="ru-RU" sz="39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ПФР</a:t>
            </a:r>
            <a:endParaRPr lang="en-US" sz="39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Таблица 6">
            <a:extLst>
              <a:ext uri="{FF2B5EF4-FFF2-40B4-BE49-F238E27FC236}">
                <a16:creationId xmlns:a16="http://schemas.microsoft.com/office/drawing/2014/main" id="{02FA92B7-1841-1F14-2DA7-CC56F3D5A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33534"/>
              </p:ext>
            </p:extLst>
          </p:nvPr>
        </p:nvGraphicFramePr>
        <p:xfrm>
          <a:off x="6141245" y="2092593"/>
          <a:ext cx="5993732" cy="2665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6866">
                  <a:extLst>
                    <a:ext uri="{9D8B030D-6E8A-4147-A177-3AD203B41FA5}">
                      <a16:colId xmlns:a16="http://schemas.microsoft.com/office/drawing/2014/main" val="3446526341"/>
                    </a:ext>
                  </a:extLst>
                </a:gridCol>
                <a:gridCol w="2996866">
                  <a:extLst>
                    <a:ext uri="{9D8B030D-6E8A-4147-A177-3AD203B41FA5}">
                      <a16:colId xmlns:a16="http://schemas.microsoft.com/office/drawing/2014/main" val="502971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Ключевые параметры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Показатели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3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Зарплата специалиста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 </a:t>
                      </a:r>
                      <a:r>
                        <a:rPr lang="ru-RU" dirty="0" err="1"/>
                        <a:t>руб</a:t>
                      </a:r>
                      <a:r>
                        <a:rPr lang="ru-RU" dirty="0"/>
                        <a:t>/час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6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Ежедневная обработка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заявка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85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0" i="0" dirty="0">
                          <a:solidFill>
                            <a:srgbClr val="000000"/>
                          </a:solidFill>
                          <a:effectLst/>
                          <a:latin typeface="system-ui"/>
                        </a:rPr>
                        <a:t>Отработка</a:t>
                      </a:r>
                      <a:r>
                        <a:rPr lang="ru-RU" b="0" i="0" baseline="0" dirty="0">
                          <a:solidFill>
                            <a:srgbClr val="000000"/>
                          </a:solidFill>
                          <a:effectLst/>
                          <a:latin typeface="system-ui"/>
                        </a:rPr>
                        <a:t> заявок из </a:t>
                      </a:r>
                      <a:r>
                        <a:rPr lang="ru-RU" b="0" i="0" baseline="0" dirty="0" err="1">
                          <a:solidFill>
                            <a:srgbClr val="000000"/>
                          </a:solidFill>
                          <a:effectLst/>
                          <a:latin typeface="system-ui"/>
                        </a:rPr>
                        <a:t>пфр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160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46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0000"/>
                          </a:solidFill>
                          <a:latin typeface="system-ui"/>
                        </a:rPr>
                        <a:t>Принятие заявки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14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04408"/>
                  </a:ext>
                </a:extLst>
              </a:tr>
              <a:tr h="440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latin typeface="system-ui"/>
                        </a:rPr>
                        <a:t>Поиск дел и счетов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7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0000"/>
                          </a:solidFill>
                          <a:latin typeface="system-ui"/>
                        </a:rPr>
                        <a:t>Сканирование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40 мин/день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98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849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4D6CA-DF45-4C1B-90C4-F949ABDAAE79}"/>
              </a:ext>
            </a:extLst>
          </p:cNvPr>
          <p:cNvSpPr txBox="1"/>
          <p:nvPr/>
        </p:nvSpPr>
        <p:spPr>
          <a:xfrm>
            <a:off x="3690842" y="76438"/>
            <a:ext cx="4548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Расчет экономической эффективности</a:t>
            </a:r>
          </a:p>
          <a:p>
            <a:endParaRPr lang="ru-RU" sz="2800" b="1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11CBE1B-B11E-0FC6-11C1-F0FDC4AD4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98237"/>
              </p:ext>
            </p:extLst>
          </p:nvPr>
        </p:nvGraphicFramePr>
        <p:xfrm>
          <a:off x="1222513" y="1308214"/>
          <a:ext cx="96508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470">
                  <a:extLst>
                    <a:ext uri="{9D8B030D-6E8A-4147-A177-3AD203B41FA5}">
                      <a16:colId xmlns:a16="http://schemas.microsoft.com/office/drawing/2014/main" val="2604191095"/>
                    </a:ext>
                  </a:extLst>
                </a:gridCol>
                <a:gridCol w="1214243">
                  <a:extLst>
                    <a:ext uri="{9D8B030D-6E8A-4147-A177-3AD203B41FA5}">
                      <a16:colId xmlns:a16="http://schemas.microsoft.com/office/drawing/2014/main" val="998718590"/>
                    </a:ext>
                  </a:extLst>
                </a:gridCol>
                <a:gridCol w="1461052">
                  <a:extLst>
                    <a:ext uri="{9D8B030D-6E8A-4147-A177-3AD203B41FA5}">
                      <a16:colId xmlns:a16="http://schemas.microsoft.com/office/drawing/2014/main" val="743117315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4160738854"/>
                    </a:ext>
                  </a:extLst>
                </a:gridCol>
                <a:gridCol w="2337289">
                  <a:extLst>
                    <a:ext uri="{9D8B030D-6E8A-4147-A177-3AD203B41FA5}">
                      <a16:colId xmlns:a16="http://schemas.microsoft.com/office/drawing/2014/main" val="107368370"/>
                    </a:ext>
                  </a:extLst>
                </a:gridCol>
                <a:gridCol w="1608470">
                  <a:extLst>
                    <a:ext uri="{9D8B030D-6E8A-4147-A177-3AD203B41FA5}">
                      <a16:colId xmlns:a16="http://schemas.microsoft.com/office/drawing/2014/main" val="2525217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в часах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в рублях в 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Годовая экономия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54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Время на отработку 1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160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 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150 минут = 2,5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2,5*200*22=11000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132000рублей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596919"/>
                  </a:ext>
                </a:extLst>
              </a:tr>
            </a:tbl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8333FD7-9E32-12D0-30D4-ABFE7AD95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15383"/>
              </p:ext>
            </p:extLst>
          </p:nvPr>
        </p:nvGraphicFramePr>
        <p:xfrm>
          <a:off x="1474086" y="3615337"/>
          <a:ext cx="891313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044">
                  <a:extLst>
                    <a:ext uri="{9D8B030D-6E8A-4147-A177-3AD203B41FA5}">
                      <a16:colId xmlns:a16="http://schemas.microsoft.com/office/drawing/2014/main" val="4160032677"/>
                    </a:ext>
                  </a:extLst>
                </a:gridCol>
                <a:gridCol w="2971044">
                  <a:extLst>
                    <a:ext uri="{9D8B030D-6E8A-4147-A177-3AD203B41FA5}">
                      <a16:colId xmlns:a16="http://schemas.microsoft.com/office/drawing/2014/main" val="3402421553"/>
                    </a:ext>
                  </a:extLst>
                </a:gridCol>
                <a:gridCol w="2971044">
                  <a:extLst>
                    <a:ext uri="{9D8B030D-6E8A-4147-A177-3AD203B41FA5}">
                      <a16:colId xmlns:a16="http://schemas.microsoft.com/office/drawing/2014/main" val="340771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Срок окупаемости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ЧДД за 3 года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1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5000 единоразово</a:t>
                      </a:r>
                    </a:p>
                    <a:p>
                      <a:r>
                        <a:rPr lang="ru-RU" dirty="0"/>
                        <a:t>8800 ежемесячно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2.14 месяца (около 65 дней)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49751 рублей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45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757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131817-E27B-E165-10AC-1E8312960190}"/>
              </a:ext>
            </a:extLst>
          </p:cNvPr>
          <p:cNvSpPr/>
          <p:nvPr/>
        </p:nvSpPr>
        <p:spPr>
          <a:xfrm>
            <a:off x="2701661" y="762510"/>
            <a:ext cx="1641740" cy="3634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FEC361-0020-4977-DF26-7A101C28AC92}"/>
              </a:ext>
            </a:extLst>
          </p:cNvPr>
          <p:cNvSpPr/>
          <p:nvPr/>
        </p:nvSpPr>
        <p:spPr>
          <a:xfrm>
            <a:off x="4343400" y="762509"/>
            <a:ext cx="2842591" cy="3634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A0E094-C53A-E703-B5C9-7C4C212A2B94}"/>
              </a:ext>
            </a:extLst>
          </p:cNvPr>
          <p:cNvSpPr/>
          <p:nvPr/>
        </p:nvSpPr>
        <p:spPr>
          <a:xfrm>
            <a:off x="7185991" y="762508"/>
            <a:ext cx="805070" cy="36341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64DC2-AE2F-4626-F527-7B23D40EAA06}"/>
              </a:ext>
            </a:extLst>
          </p:cNvPr>
          <p:cNvSpPr txBox="1"/>
          <p:nvPr/>
        </p:nvSpPr>
        <p:spPr>
          <a:xfrm>
            <a:off x="2701660" y="1125923"/>
            <a:ext cx="2395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Прием/поиск документов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21BCE9-689E-25E2-5373-21FF88C87C18}"/>
              </a:ext>
            </a:extLst>
          </p:cNvPr>
          <p:cNvSpPr txBox="1"/>
          <p:nvPr/>
        </p:nvSpPr>
        <p:spPr>
          <a:xfrm>
            <a:off x="4571999" y="1154364"/>
            <a:ext cx="23853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Проверка документов, исправление ошибок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1D81A-7235-ADC0-0A9C-396AB2521EA2}"/>
              </a:ext>
            </a:extLst>
          </p:cNvPr>
          <p:cNvSpPr txBox="1"/>
          <p:nvPr/>
        </p:nvSpPr>
        <p:spPr>
          <a:xfrm>
            <a:off x="7185991" y="1154364"/>
            <a:ext cx="1212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Сдача в </a:t>
            </a:r>
            <a:r>
              <a:rPr lang="ru-RU" dirty="0" err="1"/>
              <a:t>гос.архив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19F1A3E-E2E4-C293-CF94-A08EA548AFAC}"/>
              </a:ext>
            </a:extLst>
          </p:cNvPr>
          <p:cNvSpPr/>
          <p:nvPr/>
        </p:nvSpPr>
        <p:spPr>
          <a:xfrm>
            <a:off x="2744602" y="3067010"/>
            <a:ext cx="2950520" cy="3634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37388-C3D8-8D29-243E-CB344D974B15}"/>
              </a:ext>
            </a:extLst>
          </p:cNvPr>
          <p:cNvSpPr txBox="1"/>
          <p:nvPr/>
        </p:nvSpPr>
        <p:spPr>
          <a:xfrm>
            <a:off x="3354456" y="3562958"/>
            <a:ext cx="197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Поиск дела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573C02-969B-A633-C13F-49D7D940E8F1}"/>
              </a:ext>
            </a:extLst>
          </p:cNvPr>
          <p:cNvSpPr/>
          <p:nvPr/>
        </p:nvSpPr>
        <p:spPr>
          <a:xfrm>
            <a:off x="5700089" y="3067010"/>
            <a:ext cx="1923224" cy="36341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E68F4-2957-6241-C423-7ACF857306D6}"/>
              </a:ext>
            </a:extLst>
          </p:cNvPr>
          <p:cNvSpPr txBox="1"/>
          <p:nvPr/>
        </p:nvSpPr>
        <p:spPr>
          <a:xfrm>
            <a:off x="5685182" y="3557115"/>
            <a:ext cx="2107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Формирование и подтверждение справки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FF080E8-D4AB-5737-873E-62A1393C9E2E}"/>
              </a:ext>
            </a:extLst>
          </p:cNvPr>
          <p:cNvSpPr/>
          <p:nvPr/>
        </p:nvSpPr>
        <p:spPr>
          <a:xfrm>
            <a:off x="7623313" y="3067009"/>
            <a:ext cx="944217" cy="36341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29DAD-B491-129A-D3EE-94376E5C63C1}"/>
              </a:ext>
            </a:extLst>
          </p:cNvPr>
          <p:cNvSpPr txBox="1"/>
          <p:nvPr/>
        </p:nvSpPr>
        <p:spPr>
          <a:xfrm>
            <a:off x="7623313" y="3557114"/>
            <a:ext cx="1391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Выдача документов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3848CB4-E973-2F05-9C82-557007F819B9}"/>
              </a:ext>
            </a:extLst>
          </p:cNvPr>
          <p:cNvSpPr/>
          <p:nvPr/>
        </p:nvSpPr>
        <p:spPr>
          <a:xfrm>
            <a:off x="2701660" y="5085747"/>
            <a:ext cx="2950520" cy="3634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D34DBD1-0B29-C95A-59AA-ABE14D04B452}"/>
              </a:ext>
            </a:extLst>
          </p:cNvPr>
          <p:cNvSpPr/>
          <p:nvPr/>
        </p:nvSpPr>
        <p:spPr>
          <a:xfrm>
            <a:off x="5652180" y="5085747"/>
            <a:ext cx="1923224" cy="36341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C174A0-0B9D-0E94-B264-4BA40F18F908}"/>
              </a:ext>
            </a:extLst>
          </p:cNvPr>
          <p:cNvSpPr/>
          <p:nvPr/>
        </p:nvSpPr>
        <p:spPr>
          <a:xfrm>
            <a:off x="7588526" y="5085746"/>
            <a:ext cx="944217" cy="36341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EBADB2-4A74-D3B3-38F3-5597AF2FE51A}"/>
              </a:ext>
            </a:extLst>
          </p:cNvPr>
          <p:cNvSpPr txBox="1"/>
          <p:nvPr/>
        </p:nvSpPr>
        <p:spPr>
          <a:xfrm>
            <a:off x="3187976" y="5547411"/>
            <a:ext cx="197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Поиск счетов/дел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3C0F64-C9BE-3671-BFED-569A8A990403}"/>
              </a:ext>
            </a:extLst>
          </p:cNvPr>
          <p:cNvSpPr txBox="1"/>
          <p:nvPr/>
        </p:nvSpPr>
        <p:spPr>
          <a:xfrm>
            <a:off x="5824330" y="5489436"/>
            <a:ext cx="210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Сканирование документов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AF0E06-FD13-FE9F-FE6C-6742B72752B7}"/>
              </a:ext>
            </a:extLst>
          </p:cNvPr>
          <p:cNvSpPr txBox="1"/>
          <p:nvPr/>
        </p:nvSpPr>
        <p:spPr>
          <a:xfrm>
            <a:off x="7575404" y="5547411"/>
            <a:ext cx="210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Формирование и отправка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A5D904-BD07-6F49-A230-0C003CE0C0E7}"/>
              </a:ext>
            </a:extLst>
          </p:cNvPr>
          <p:cNvSpPr txBox="1"/>
          <p:nvPr/>
        </p:nvSpPr>
        <p:spPr>
          <a:xfrm>
            <a:off x="187953" y="785032"/>
            <a:ext cx="214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Делопроизводство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FBDA0B-6E7B-79DF-A041-247420064B48}"/>
              </a:ext>
            </a:extLst>
          </p:cNvPr>
          <p:cNvSpPr txBox="1"/>
          <p:nvPr/>
        </p:nvSpPr>
        <p:spPr>
          <a:xfrm>
            <a:off x="187953" y="2925550"/>
            <a:ext cx="2483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Исполнение заявлений граждан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0B0B4-A988-CC87-71B4-A06ACB0B0FFD}"/>
              </a:ext>
            </a:extLst>
          </p:cNvPr>
          <p:cNvSpPr txBox="1"/>
          <p:nvPr/>
        </p:nvSpPr>
        <p:spPr>
          <a:xfrm>
            <a:off x="221146" y="5019901"/>
            <a:ext cx="2146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Исполнение заявлений ПФР</a:t>
            </a:r>
          </a:p>
        </p:txBody>
      </p:sp>
    </p:spTree>
    <p:extLst>
      <p:ext uri="{BB962C8B-B14F-4D97-AF65-F5344CB8AC3E}">
        <p14:creationId xmlns:p14="http://schemas.microsoft.com/office/powerpoint/2010/main" val="321333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670B4829-68FF-B4A3-C0A4-FE3F6A38B10A}"/>
              </a:ext>
            </a:extLst>
          </p:cNvPr>
          <p:cNvGrpSpPr/>
          <p:nvPr/>
        </p:nvGrpSpPr>
        <p:grpSpPr>
          <a:xfrm>
            <a:off x="106401" y="1869914"/>
            <a:ext cx="2906799" cy="692561"/>
            <a:chOff x="2626230" y="1861456"/>
            <a:chExt cx="1701282" cy="692561"/>
          </a:xfrm>
        </p:grpSpPr>
        <p:sp>
          <p:nvSpPr>
            <p:cNvPr id="3" name="Rounded Rectangle 112">
              <a:extLst>
                <a:ext uri="{FF2B5EF4-FFF2-40B4-BE49-F238E27FC236}">
                  <a16:creationId xmlns:a16="http://schemas.microsoft.com/office/drawing/2014/main" id="{3C5AB86D-3EC5-C81C-F1DC-77476F0260F2}"/>
                </a:ext>
              </a:extLst>
            </p:cNvPr>
            <p:cNvSpPr/>
            <p:nvPr/>
          </p:nvSpPr>
          <p:spPr>
            <a:xfrm>
              <a:off x="2626230" y="1861456"/>
              <a:ext cx="1584176" cy="692561"/>
            </a:xfrm>
            <a:prstGeom prst="roundRect">
              <a:avLst>
                <a:gd name="adj" fmla="val 13643"/>
              </a:avLst>
            </a:prstGeom>
            <a:noFill/>
            <a:ln w="857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4" name="Rounded Rectangle 113">
              <a:extLst>
                <a:ext uri="{FF2B5EF4-FFF2-40B4-BE49-F238E27FC236}">
                  <a16:creationId xmlns:a16="http://schemas.microsoft.com/office/drawing/2014/main" id="{897058A3-7FB9-9150-2E2D-7C5D4EB2956C}"/>
                </a:ext>
              </a:extLst>
            </p:cNvPr>
            <p:cNvSpPr/>
            <p:nvPr/>
          </p:nvSpPr>
          <p:spPr>
            <a:xfrm>
              <a:off x="4188634" y="2027716"/>
              <a:ext cx="138878" cy="360040"/>
            </a:xfrm>
            <a:prstGeom prst="roundRect">
              <a:avLst>
                <a:gd name="adj" fmla="val 355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1" name="Rounded Rectangle 114">
            <a:extLst>
              <a:ext uri="{FF2B5EF4-FFF2-40B4-BE49-F238E27FC236}">
                <a16:creationId xmlns:a16="http://schemas.microsoft.com/office/drawing/2014/main" id="{80785AEB-CBEF-8081-DD42-7C407F087E2D}"/>
              </a:ext>
            </a:extLst>
          </p:cNvPr>
          <p:cNvSpPr/>
          <p:nvPr/>
        </p:nvSpPr>
        <p:spPr>
          <a:xfrm>
            <a:off x="233940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FF0000"/>
              </a:solidFill>
            </a:endParaRPr>
          </a:p>
        </p:txBody>
      </p:sp>
      <p:sp>
        <p:nvSpPr>
          <p:cNvPr id="12" name="Rounded Rectangle 114">
            <a:extLst>
              <a:ext uri="{FF2B5EF4-FFF2-40B4-BE49-F238E27FC236}">
                <a16:creationId xmlns:a16="http://schemas.microsoft.com/office/drawing/2014/main" id="{F80CDC1E-BB99-9625-DFAD-932C69E5A85A}"/>
              </a:ext>
            </a:extLst>
          </p:cNvPr>
          <p:cNvSpPr/>
          <p:nvPr/>
        </p:nvSpPr>
        <p:spPr>
          <a:xfrm>
            <a:off x="475405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3" name="Rounded Rectangle 114">
            <a:extLst>
              <a:ext uri="{FF2B5EF4-FFF2-40B4-BE49-F238E27FC236}">
                <a16:creationId xmlns:a16="http://schemas.microsoft.com/office/drawing/2014/main" id="{21AF5AD8-6654-55D3-F7CE-92C38C641F45}"/>
              </a:ext>
            </a:extLst>
          </p:cNvPr>
          <p:cNvSpPr/>
          <p:nvPr/>
        </p:nvSpPr>
        <p:spPr>
          <a:xfrm>
            <a:off x="720360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4" name="Rounded Rectangle 114">
            <a:extLst>
              <a:ext uri="{FF2B5EF4-FFF2-40B4-BE49-F238E27FC236}">
                <a16:creationId xmlns:a16="http://schemas.microsoft.com/office/drawing/2014/main" id="{AA39428B-A2CD-8674-FA28-88ABCFF05BC0}"/>
              </a:ext>
            </a:extLst>
          </p:cNvPr>
          <p:cNvSpPr/>
          <p:nvPr/>
        </p:nvSpPr>
        <p:spPr>
          <a:xfrm>
            <a:off x="970591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5" name="Rounded Rectangle 114">
            <a:extLst>
              <a:ext uri="{FF2B5EF4-FFF2-40B4-BE49-F238E27FC236}">
                <a16:creationId xmlns:a16="http://schemas.microsoft.com/office/drawing/2014/main" id="{8D07BC37-E1B2-5415-3DA1-13546AEAF0AC}"/>
              </a:ext>
            </a:extLst>
          </p:cNvPr>
          <p:cNvSpPr/>
          <p:nvPr/>
        </p:nvSpPr>
        <p:spPr>
          <a:xfrm>
            <a:off x="1231904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6" name="Rounded Rectangle 114">
            <a:extLst>
              <a:ext uri="{FF2B5EF4-FFF2-40B4-BE49-F238E27FC236}">
                <a16:creationId xmlns:a16="http://schemas.microsoft.com/office/drawing/2014/main" id="{A2C1AC1E-225F-1986-ED66-CC5CBF71327E}"/>
              </a:ext>
            </a:extLst>
          </p:cNvPr>
          <p:cNvSpPr/>
          <p:nvPr/>
        </p:nvSpPr>
        <p:spPr>
          <a:xfrm>
            <a:off x="1492365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7" name="Rounded Rectangle 114">
            <a:extLst>
              <a:ext uri="{FF2B5EF4-FFF2-40B4-BE49-F238E27FC236}">
                <a16:creationId xmlns:a16="http://schemas.microsoft.com/office/drawing/2014/main" id="{0B612074-7160-8994-3B97-6C133BA8F477}"/>
              </a:ext>
            </a:extLst>
          </p:cNvPr>
          <p:cNvSpPr/>
          <p:nvPr/>
        </p:nvSpPr>
        <p:spPr>
          <a:xfrm>
            <a:off x="1752826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8" name="Rounded Rectangle 114">
            <a:extLst>
              <a:ext uri="{FF2B5EF4-FFF2-40B4-BE49-F238E27FC236}">
                <a16:creationId xmlns:a16="http://schemas.microsoft.com/office/drawing/2014/main" id="{310F40B5-7486-1B17-BD4D-E5B634691D19}"/>
              </a:ext>
            </a:extLst>
          </p:cNvPr>
          <p:cNvSpPr/>
          <p:nvPr/>
        </p:nvSpPr>
        <p:spPr>
          <a:xfrm>
            <a:off x="2011696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9" name="Rounded Rectangle 114">
            <a:extLst>
              <a:ext uri="{FF2B5EF4-FFF2-40B4-BE49-F238E27FC236}">
                <a16:creationId xmlns:a16="http://schemas.microsoft.com/office/drawing/2014/main" id="{EE1B6E74-D1AD-E3F5-897B-9137949D1E58}"/>
              </a:ext>
            </a:extLst>
          </p:cNvPr>
          <p:cNvSpPr/>
          <p:nvPr/>
        </p:nvSpPr>
        <p:spPr>
          <a:xfrm>
            <a:off x="2266147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0" name="Rounded Rectangle 114">
            <a:extLst>
              <a:ext uri="{FF2B5EF4-FFF2-40B4-BE49-F238E27FC236}">
                <a16:creationId xmlns:a16="http://schemas.microsoft.com/office/drawing/2014/main" id="{43EEF5D4-EC92-0294-8E22-EF5D3088B04D}"/>
              </a:ext>
            </a:extLst>
          </p:cNvPr>
          <p:cNvSpPr/>
          <p:nvPr/>
        </p:nvSpPr>
        <p:spPr>
          <a:xfrm>
            <a:off x="2523847" y="1964194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CDBA5-3945-2F50-5564-52884CB07F9C}"/>
              </a:ext>
            </a:extLst>
          </p:cNvPr>
          <p:cNvSpPr txBox="1"/>
          <p:nvPr/>
        </p:nvSpPr>
        <p:spPr>
          <a:xfrm>
            <a:off x="573497" y="1222797"/>
            <a:ext cx="243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 оптимизации</a:t>
            </a:r>
          </a:p>
        </p:txBody>
      </p:sp>
      <p:grpSp>
        <p:nvGrpSpPr>
          <p:cNvPr id="32" name="Group 5">
            <a:extLst>
              <a:ext uri="{FF2B5EF4-FFF2-40B4-BE49-F238E27FC236}">
                <a16:creationId xmlns:a16="http://schemas.microsoft.com/office/drawing/2014/main" id="{720EAA62-6668-F0CC-907A-24E6018B8DD3}"/>
              </a:ext>
            </a:extLst>
          </p:cNvPr>
          <p:cNvGrpSpPr/>
          <p:nvPr/>
        </p:nvGrpSpPr>
        <p:grpSpPr>
          <a:xfrm>
            <a:off x="152311" y="3267385"/>
            <a:ext cx="3020768" cy="692561"/>
            <a:chOff x="2626230" y="1861456"/>
            <a:chExt cx="1701282" cy="692561"/>
          </a:xfrm>
        </p:grpSpPr>
        <p:sp>
          <p:nvSpPr>
            <p:cNvPr id="33" name="Rounded Rectangle 112">
              <a:extLst>
                <a:ext uri="{FF2B5EF4-FFF2-40B4-BE49-F238E27FC236}">
                  <a16:creationId xmlns:a16="http://schemas.microsoft.com/office/drawing/2014/main" id="{31F57531-FCDA-227B-1B3D-65A491681369}"/>
                </a:ext>
              </a:extLst>
            </p:cNvPr>
            <p:cNvSpPr/>
            <p:nvPr/>
          </p:nvSpPr>
          <p:spPr>
            <a:xfrm>
              <a:off x="2626230" y="1861456"/>
              <a:ext cx="1584176" cy="692561"/>
            </a:xfrm>
            <a:prstGeom prst="roundRect">
              <a:avLst>
                <a:gd name="adj" fmla="val 13643"/>
              </a:avLst>
            </a:prstGeom>
            <a:noFill/>
            <a:ln w="857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34" name="Rounded Rectangle 113">
              <a:extLst>
                <a:ext uri="{FF2B5EF4-FFF2-40B4-BE49-F238E27FC236}">
                  <a16:creationId xmlns:a16="http://schemas.microsoft.com/office/drawing/2014/main" id="{D795726F-1D3C-256A-3D45-A063314E6D2C}"/>
                </a:ext>
              </a:extLst>
            </p:cNvPr>
            <p:cNvSpPr/>
            <p:nvPr/>
          </p:nvSpPr>
          <p:spPr>
            <a:xfrm>
              <a:off x="4188634" y="2027716"/>
              <a:ext cx="138878" cy="360040"/>
            </a:xfrm>
            <a:prstGeom prst="roundRect">
              <a:avLst>
                <a:gd name="adj" fmla="val 355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38" name="Rounded Rectangle 114">
            <a:extLst>
              <a:ext uri="{FF2B5EF4-FFF2-40B4-BE49-F238E27FC236}">
                <a16:creationId xmlns:a16="http://schemas.microsoft.com/office/drawing/2014/main" id="{7C36B1F1-285F-D547-A100-68B186F8603A}"/>
              </a:ext>
            </a:extLst>
          </p:cNvPr>
          <p:cNvSpPr/>
          <p:nvPr/>
        </p:nvSpPr>
        <p:spPr>
          <a:xfrm>
            <a:off x="247552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9" name="Rounded Rectangle 114">
            <a:extLst>
              <a:ext uri="{FF2B5EF4-FFF2-40B4-BE49-F238E27FC236}">
                <a16:creationId xmlns:a16="http://schemas.microsoft.com/office/drawing/2014/main" id="{939FE854-2775-E89B-DBED-FA4AFF50F054}"/>
              </a:ext>
            </a:extLst>
          </p:cNvPr>
          <p:cNvSpPr/>
          <p:nvPr/>
        </p:nvSpPr>
        <p:spPr>
          <a:xfrm>
            <a:off x="496195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0" name="Rounded Rectangle 114">
            <a:extLst>
              <a:ext uri="{FF2B5EF4-FFF2-40B4-BE49-F238E27FC236}">
                <a16:creationId xmlns:a16="http://schemas.microsoft.com/office/drawing/2014/main" id="{1F9911D1-F25A-B23F-B23A-582E457C6216}"/>
              </a:ext>
            </a:extLst>
          </p:cNvPr>
          <p:cNvSpPr/>
          <p:nvPr/>
        </p:nvSpPr>
        <p:spPr>
          <a:xfrm>
            <a:off x="750658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1" name="Rounded Rectangle 114">
            <a:extLst>
              <a:ext uri="{FF2B5EF4-FFF2-40B4-BE49-F238E27FC236}">
                <a16:creationId xmlns:a16="http://schemas.microsoft.com/office/drawing/2014/main" id="{BC2FC861-851A-2C8E-8BB3-75D5DCB16468}"/>
              </a:ext>
            </a:extLst>
          </p:cNvPr>
          <p:cNvSpPr/>
          <p:nvPr/>
        </p:nvSpPr>
        <p:spPr>
          <a:xfrm>
            <a:off x="1009222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2" name="Rounded Rectangle 114">
            <a:extLst>
              <a:ext uri="{FF2B5EF4-FFF2-40B4-BE49-F238E27FC236}">
                <a16:creationId xmlns:a16="http://schemas.microsoft.com/office/drawing/2014/main" id="{88346066-A157-AEE0-1099-F8D6F345FB21}"/>
              </a:ext>
            </a:extLst>
          </p:cNvPr>
          <p:cNvSpPr/>
          <p:nvPr/>
        </p:nvSpPr>
        <p:spPr>
          <a:xfrm>
            <a:off x="1259828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3" name="Rounded Rectangle 114">
            <a:extLst>
              <a:ext uri="{FF2B5EF4-FFF2-40B4-BE49-F238E27FC236}">
                <a16:creationId xmlns:a16="http://schemas.microsoft.com/office/drawing/2014/main" id="{97930FCE-F9F1-E643-7DF0-3221FE3E2930}"/>
              </a:ext>
            </a:extLst>
          </p:cNvPr>
          <p:cNvSpPr/>
          <p:nvPr/>
        </p:nvSpPr>
        <p:spPr>
          <a:xfrm>
            <a:off x="1528373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4" name="Rounded Rectangle 114">
            <a:extLst>
              <a:ext uri="{FF2B5EF4-FFF2-40B4-BE49-F238E27FC236}">
                <a16:creationId xmlns:a16="http://schemas.microsoft.com/office/drawing/2014/main" id="{81CA31D9-006E-0AF4-20EF-91ADCDDA0BB3}"/>
              </a:ext>
            </a:extLst>
          </p:cNvPr>
          <p:cNvSpPr/>
          <p:nvPr/>
        </p:nvSpPr>
        <p:spPr>
          <a:xfrm>
            <a:off x="1765221" y="3352628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5" name="Rounded Rectangle 114">
            <a:extLst>
              <a:ext uri="{FF2B5EF4-FFF2-40B4-BE49-F238E27FC236}">
                <a16:creationId xmlns:a16="http://schemas.microsoft.com/office/drawing/2014/main" id="{C8329833-18C9-F128-90CA-5D8B32581C12}"/>
              </a:ext>
            </a:extLst>
          </p:cNvPr>
          <p:cNvSpPr/>
          <p:nvPr/>
        </p:nvSpPr>
        <p:spPr>
          <a:xfrm>
            <a:off x="2021498" y="3352628"/>
            <a:ext cx="218051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6" name="Rounded Rectangle 114">
            <a:extLst>
              <a:ext uri="{FF2B5EF4-FFF2-40B4-BE49-F238E27FC236}">
                <a16:creationId xmlns:a16="http://schemas.microsoft.com/office/drawing/2014/main" id="{096FF996-CD5A-53A6-1374-0929487E0D09}"/>
              </a:ext>
            </a:extLst>
          </p:cNvPr>
          <p:cNvSpPr/>
          <p:nvPr/>
        </p:nvSpPr>
        <p:spPr>
          <a:xfrm>
            <a:off x="2277348" y="336166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7" name="Rounded Rectangle 114">
            <a:extLst>
              <a:ext uri="{FF2B5EF4-FFF2-40B4-BE49-F238E27FC236}">
                <a16:creationId xmlns:a16="http://schemas.microsoft.com/office/drawing/2014/main" id="{368561B3-82DA-6A21-1014-D33450004BB2}"/>
              </a:ext>
            </a:extLst>
          </p:cNvPr>
          <p:cNvSpPr/>
          <p:nvPr/>
        </p:nvSpPr>
        <p:spPr>
          <a:xfrm>
            <a:off x="2561622" y="3361665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347679-F322-DADB-DDB3-C3C28B172E0C}"/>
              </a:ext>
            </a:extLst>
          </p:cNvPr>
          <p:cNvSpPr txBox="1"/>
          <p:nvPr/>
        </p:nvSpPr>
        <p:spPr>
          <a:xfrm>
            <a:off x="486532" y="2791766"/>
            <a:ext cx="207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обучения</a:t>
            </a:r>
          </a:p>
        </p:txBody>
      </p:sp>
      <p:grpSp>
        <p:nvGrpSpPr>
          <p:cNvPr id="49" name="Group 5">
            <a:extLst>
              <a:ext uri="{FF2B5EF4-FFF2-40B4-BE49-F238E27FC236}">
                <a16:creationId xmlns:a16="http://schemas.microsoft.com/office/drawing/2014/main" id="{D92BF63C-B9BD-19D0-FDC3-D3D2AF59F9E0}"/>
              </a:ext>
            </a:extLst>
          </p:cNvPr>
          <p:cNvGrpSpPr/>
          <p:nvPr/>
        </p:nvGrpSpPr>
        <p:grpSpPr>
          <a:xfrm>
            <a:off x="157319" y="4698341"/>
            <a:ext cx="3082124" cy="678701"/>
            <a:chOff x="2626230" y="1861456"/>
            <a:chExt cx="1701282" cy="692561"/>
          </a:xfrm>
        </p:grpSpPr>
        <p:sp>
          <p:nvSpPr>
            <p:cNvPr id="50" name="Rounded Rectangle 112">
              <a:extLst>
                <a:ext uri="{FF2B5EF4-FFF2-40B4-BE49-F238E27FC236}">
                  <a16:creationId xmlns:a16="http://schemas.microsoft.com/office/drawing/2014/main" id="{35987197-D2EF-2E33-D30F-DD3C09382CE0}"/>
                </a:ext>
              </a:extLst>
            </p:cNvPr>
            <p:cNvSpPr/>
            <p:nvPr/>
          </p:nvSpPr>
          <p:spPr>
            <a:xfrm>
              <a:off x="2626230" y="1861456"/>
              <a:ext cx="1584176" cy="692561"/>
            </a:xfrm>
            <a:prstGeom prst="roundRect">
              <a:avLst>
                <a:gd name="adj" fmla="val 13643"/>
              </a:avLst>
            </a:prstGeom>
            <a:noFill/>
            <a:ln w="857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1" name="Rounded Rectangle 113">
              <a:extLst>
                <a:ext uri="{FF2B5EF4-FFF2-40B4-BE49-F238E27FC236}">
                  <a16:creationId xmlns:a16="http://schemas.microsoft.com/office/drawing/2014/main" id="{17037C15-EF79-AE5E-C914-A79CAF9E4DC7}"/>
                </a:ext>
              </a:extLst>
            </p:cNvPr>
            <p:cNvSpPr/>
            <p:nvPr/>
          </p:nvSpPr>
          <p:spPr>
            <a:xfrm>
              <a:off x="4188634" y="2027716"/>
              <a:ext cx="138878" cy="360040"/>
            </a:xfrm>
            <a:prstGeom prst="roundRect">
              <a:avLst>
                <a:gd name="adj" fmla="val 355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A3368946-199C-3537-FA0C-DE8958CDC8B3}"/>
              </a:ext>
            </a:extLst>
          </p:cNvPr>
          <p:cNvSpPr txBox="1"/>
          <p:nvPr/>
        </p:nvSpPr>
        <p:spPr>
          <a:xfrm>
            <a:off x="610121" y="4234728"/>
            <a:ext cx="191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ботом</a:t>
            </a:r>
          </a:p>
        </p:txBody>
      </p:sp>
      <p:sp>
        <p:nvSpPr>
          <p:cNvPr id="63" name="Rounded Rectangle 114">
            <a:extLst>
              <a:ext uri="{FF2B5EF4-FFF2-40B4-BE49-F238E27FC236}">
                <a16:creationId xmlns:a16="http://schemas.microsoft.com/office/drawing/2014/main" id="{7EA36F65-B7C1-60E7-DA63-105A134D1C22}"/>
              </a:ext>
            </a:extLst>
          </p:cNvPr>
          <p:cNvSpPr/>
          <p:nvPr/>
        </p:nvSpPr>
        <p:spPr>
          <a:xfrm>
            <a:off x="245064" y="478569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Rounded Rectangle 114">
            <a:extLst>
              <a:ext uri="{FF2B5EF4-FFF2-40B4-BE49-F238E27FC236}">
                <a16:creationId xmlns:a16="http://schemas.microsoft.com/office/drawing/2014/main" id="{C030C901-64E3-8502-3218-681451AB11CD}"/>
              </a:ext>
            </a:extLst>
          </p:cNvPr>
          <p:cNvSpPr/>
          <p:nvPr/>
        </p:nvSpPr>
        <p:spPr>
          <a:xfrm>
            <a:off x="498425" y="478569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Rounded Rectangle 114">
            <a:extLst>
              <a:ext uri="{FF2B5EF4-FFF2-40B4-BE49-F238E27FC236}">
                <a16:creationId xmlns:a16="http://schemas.microsoft.com/office/drawing/2014/main" id="{BB12BF91-C21E-A052-F39E-CCEAF133CD5A}"/>
              </a:ext>
            </a:extLst>
          </p:cNvPr>
          <p:cNvSpPr/>
          <p:nvPr/>
        </p:nvSpPr>
        <p:spPr>
          <a:xfrm>
            <a:off x="752888" y="478569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Rounded Rectangle 114">
            <a:extLst>
              <a:ext uri="{FF2B5EF4-FFF2-40B4-BE49-F238E27FC236}">
                <a16:creationId xmlns:a16="http://schemas.microsoft.com/office/drawing/2014/main" id="{7AB6D13C-5F26-F078-DDE1-BB63DD72C87A}"/>
              </a:ext>
            </a:extLst>
          </p:cNvPr>
          <p:cNvSpPr/>
          <p:nvPr/>
        </p:nvSpPr>
        <p:spPr>
          <a:xfrm>
            <a:off x="1003209" y="478569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67" name="Rounded Rectangle 114">
            <a:extLst>
              <a:ext uri="{FF2B5EF4-FFF2-40B4-BE49-F238E27FC236}">
                <a16:creationId xmlns:a16="http://schemas.microsoft.com/office/drawing/2014/main" id="{E46B0890-05D4-C85E-1EF6-36B9E4FFB00D}"/>
              </a:ext>
            </a:extLst>
          </p:cNvPr>
          <p:cNvSpPr/>
          <p:nvPr/>
        </p:nvSpPr>
        <p:spPr>
          <a:xfrm>
            <a:off x="1245573" y="479662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8" name="Rounded Rectangle 114">
            <a:extLst>
              <a:ext uri="{FF2B5EF4-FFF2-40B4-BE49-F238E27FC236}">
                <a16:creationId xmlns:a16="http://schemas.microsoft.com/office/drawing/2014/main" id="{0FD17491-ED02-C6CE-8DDD-1ED564F1FA05}"/>
              </a:ext>
            </a:extLst>
          </p:cNvPr>
          <p:cNvSpPr/>
          <p:nvPr/>
        </p:nvSpPr>
        <p:spPr>
          <a:xfrm>
            <a:off x="1507841" y="478569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9" name="Rounded Rectangle 114">
            <a:extLst>
              <a:ext uri="{FF2B5EF4-FFF2-40B4-BE49-F238E27FC236}">
                <a16:creationId xmlns:a16="http://schemas.microsoft.com/office/drawing/2014/main" id="{B13931DF-7651-69AE-741E-733EE6579656}"/>
              </a:ext>
            </a:extLst>
          </p:cNvPr>
          <p:cNvSpPr/>
          <p:nvPr/>
        </p:nvSpPr>
        <p:spPr>
          <a:xfrm>
            <a:off x="1765497" y="478569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0" name="Rounded Rectangle 114">
            <a:extLst>
              <a:ext uri="{FF2B5EF4-FFF2-40B4-BE49-F238E27FC236}">
                <a16:creationId xmlns:a16="http://schemas.microsoft.com/office/drawing/2014/main" id="{161EA029-97B4-B54F-6660-47DF135ACF8C}"/>
              </a:ext>
            </a:extLst>
          </p:cNvPr>
          <p:cNvSpPr/>
          <p:nvPr/>
        </p:nvSpPr>
        <p:spPr>
          <a:xfrm>
            <a:off x="2038294" y="479662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1" name="Rounded Rectangle 114">
            <a:extLst>
              <a:ext uri="{FF2B5EF4-FFF2-40B4-BE49-F238E27FC236}">
                <a16:creationId xmlns:a16="http://schemas.microsoft.com/office/drawing/2014/main" id="{36B18546-72D7-E471-7E20-4BDEA1D02338}"/>
              </a:ext>
            </a:extLst>
          </p:cNvPr>
          <p:cNvSpPr/>
          <p:nvPr/>
        </p:nvSpPr>
        <p:spPr>
          <a:xfrm>
            <a:off x="2305415" y="478569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72" name="Rounded Rectangle 114">
            <a:extLst>
              <a:ext uri="{FF2B5EF4-FFF2-40B4-BE49-F238E27FC236}">
                <a16:creationId xmlns:a16="http://schemas.microsoft.com/office/drawing/2014/main" id="{4C800220-3828-480A-34D5-D4984A8B25B0}"/>
              </a:ext>
            </a:extLst>
          </p:cNvPr>
          <p:cNvSpPr/>
          <p:nvPr/>
        </p:nvSpPr>
        <p:spPr>
          <a:xfrm>
            <a:off x="2569315" y="478569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06EBAF-D1DE-A8CF-5679-EE12746C3988}"/>
              </a:ext>
            </a:extLst>
          </p:cNvPr>
          <p:cNvSpPr txBox="1"/>
          <p:nvPr/>
        </p:nvSpPr>
        <p:spPr>
          <a:xfrm>
            <a:off x="3027288" y="1872994"/>
            <a:ext cx="5538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100% 135 минут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2D52BB-679B-0F32-1DC7-B1521B80D7F7}"/>
              </a:ext>
            </a:extLst>
          </p:cNvPr>
          <p:cNvSpPr txBox="1"/>
          <p:nvPr/>
        </p:nvSpPr>
        <p:spPr>
          <a:xfrm>
            <a:off x="3223637" y="3388192"/>
            <a:ext cx="5538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87% 117,5 минут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B4082F-6116-EB3A-2B5F-D4D9917BA402}"/>
              </a:ext>
            </a:extLst>
          </p:cNvPr>
          <p:cNvSpPr txBox="1"/>
          <p:nvPr/>
        </p:nvSpPr>
        <p:spPr>
          <a:xfrm>
            <a:off x="3329889" y="4714525"/>
            <a:ext cx="5538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77% 104 минут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DB1878-09D5-4C23-F53E-5B83671CB9F4}"/>
              </a:ext>
            </a:extLst>
          </p:cNvPr>
          <p:cNvSpPr txBox="1"/>
          <p:nvPr/>
        </p:nvSpPr>
        <p:spPr>
          <a:xfrm>
            <a:off x="7597749" y="1807777"/>
            <a:ext cx="6891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100% 240 минут</a:t>
            </a:r>
          </a:p>
        </p:txBody>
      </p:sp>
      <p:grpSp>
        <p:nvGrpSpPr>
          <p:cNvPr id="87" name="Group 5">
            <a:extLst>
              <a:ext uri="{FF2B5EF4-FFF2-40B4-BE49-F238E27FC236}">
                <a16:creationId xmlns:a16="http://schemas.microsoft.com/office/drawing/2014/main" id="{AA643BFB-2C74-629D-400D-DFA1C7E76427}"/>
              </a:ext>
            </a:extLst>
          </p:cNvPr>
          <p:cNvGrpSpPr/>
          <p:nvPr/>
        </p:nvGrpSpPr>
        <p:grpSpPr>
          <a:xfrm>
            <a:off x="4476997" y="3234514"/>
            <a:ext cx="3082124" cy="678701"/>
            <a:chOff x="2626230" y="1861456"/>
            <a:chExt cx="1701282" cy="692561"/>
          </a:xfrm>
        </p:grpSpPr>
        <p:sp>
          <p:nvSpPr>
            <p:cNvPr id="88" name="Rounded Rectangle 112">
              <a:extLst>
                <a:ext uri="{FF2B5EF4-FFF2-40B4-BE49-F238E27FC236}">
                  <a16:creationId xmlns:a16="http://schemas.microsoft.com/office/drawing/2014/main" id="{5D558B3E-9909-0D4C-517B-053A79652FFB}"/>
                </a:ext>
              </a:extLst>
            </p:cNvPr>
            <p:cNvSpPr/>
            <p:nvPr/>
          </p:nvSpPr>
          <p:spPr>
            <a:xfrm>
              <a:off x="2626230" y="1861456"/>
              <a:ext cx="1584176" cy="692561"/>
            </a:xfrm>
            <a:prstGeom prst="roundRect">
              <a:avLst>
                <a:gd name="adj" fmla="val 13643"/>
              </a:avLst>
            </a:prstGeom>
            <a:noFill/>
            <a:ln w="857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89" name="Rounded Rectangle 113">
              <a:extLst>
                <a:ext uri="{FF2B5EF4-FFF2-40B4-BE49-F238E27FC236}">
                  <a16:creationId xmlns:a16="http://schemas.microsoft.com/office/drawing/2014/main" id="{70A0C7B3-D15D-080A-89B9-F800F6B9B730}"/>
                </a:ext>
              </a:extLst>
            </p:cNvPr>
            <p:cNvSpPr/>
            <p:nvPr/>
          </p:nvSpPr>
          <p:spPr>
            <a:xfrm>
              <a:off x="4188634" y="2027716"/>
              <a:ext cx="138878" cy="360040"/>
            </a:xfrm>
            <a:prstGeom prst="roundRect">
              <a:avLst>
                <a:gd name="adj" fmla="val 355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90" name="Rounded Rectangle 114">
            <a:extLst>
              <a:ext uri="{FF2B5EF4-FFF2-40B4-BE49-F238E27FC236}">
                <a16:creationId xmlns:a16="http://schemas.microsoft.com/office/drawing/2014/main" id="{F61CF229-9BB6-5454-D64C-3D8C71F5C3D8}"/>
              </a:ext>
            </a:extLst>
          </p:cNvPr>
          <p:cNvSpPr/>
          <p:nvPr/>
        </p:nvSpPr>
        <p:spPr>
          <a:xfrm>
            <a:off x="4571001" y="332903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114">
            <a:extLst>
              <a:ext uri="{FF2B5EF4-FFF2-40B4-BE49-F238E27FC236}">
                <a16:creationId xmlns:a16="http://schemas.microsoft.com/office/drawing/2014/main" id="{DF74AD38-5785-6428-A45C-5D06F86D0F8D}"/>
              </a:ext>
            </a:extLst>
          </p:cNvPr>
          <p:cNvSpPr/>
          <p:nvPr/>
        </p:nvSpPr>
        <p:spPr>
          <a:xfrm>
            <a:off x="4865697" y="3329031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Rounded Rectangle 114">
            <a:extLst>
              <a:ext uri="{FF2B5EF4-FFF2-40B4-BE49-F238E27FC236}">
                <a16:creationId xmlns:a16="http://schemas.microsoft.com/office/drawing/2014/main" id="{955D08A8-2CD8-A7A1-518E-C12FD85A8660}"/>
              </a:ext>
            </a:extLst>
          </p:cNvPr>
          <p:cNvSpPr/>
          <p:nvPr/>
        </p:nvSpPr>
        <p:spPr>
          <a:xfrm>
            <a:off x="5132711" y="3321864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94" name="Rounded Rectangle 114">
            <a:extLst>
              <a:ext uri="{FF2B5EF4-FFF2-40B4-BE49-F238E27FC236}">
                <a16:creationId xmlns:a16="http://schemas.microsoft.com/office/drawing/2014/main" id="{EA4208D2-8234-9BF3-8A91-6878B4DB3A78}"/>
              </a:ext>
            </a:extLst>
          </p:cNvPr>
          <p:cNvSpPr/>
          <p:nvPr/>
        </p:nvSpPr>
        <p:spPr>
          <a:xfrm>
            <a:off x="5410881" y="3316547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95" name="Rounded Rectangle 114">
            <a:extLst>
              <a:ext uri="{FF2B5EF4-FFF2-40B4-BE49-F238E27FC236}">
                <a16:creationId xmlns:a16="http://schemas.microsoft.com/office/drawing/2014/main" id="{F4405C58-A012-0463-CE91-DB237A2DEAD7}"/>
              </a:ext>
            </a:extLst>
          </p:cNvPr>
          <p:cNvSpPr/>
          <p:nvPr/>
        </p:nvSpPr>
        <p:spPr>
          <a:xfrm>
            <a:off x="5684128" y="332903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96" name="Rounded Rectangle 114">
            <a:extLst>
              <a:ext uri="{FF2B5EF4-FFF2-40B4-BE49-F238E27FC236}">
                <a16:creationId xmlns:a16="http://schemas.microsoft.com/office/drawing/2014/main" id="{BE5424F0-97A6-071E-7B94-4F3954E17CEB}"/>
              </a:ext>
            </a:extLst>
          </p:cNvPr>
          <p:cNvSpPr/>
          <p:nvPr/>
        </p:nvSpPr>
        <p:spPr>
          <a:xfrm>
            <a:off x="5958914" y="332903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97" name="Rounded Rectangle 114">
            <a:extLst>
              <a:ext uri="{FF2B5EF4-FFF2-40B4-BE49-F238E27FC236}">
                <a16:creationId xmlns:a16="http://schemas.microsoft.com/office/drawing/2014/main" id="{5C5DA802-216F-D42B-0881-DD5EE2E1293E}"/>
              </a:ext>
            </a:extLst>
          </p:cNvPr>
          <p:cNvSpPr/>
          <p:nvPr/>
        </p:nvSpPr>
        <p:spPr>
          <a:xfrm>
            <a:off x="6229312" y="332903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98" name="Rounded Rectangle 114">
            <a:extLst>
              <a:ext uri="{FF2B5EF4-FFF2-40B4-BE49-F238E27FC236}">
                <a16:creationId xmlns:a16="http://schemas.microsoft.com/office/drawing/2014/main" id="{8113D776-B39B-6DF0-2B5E-400862393801}"/>
              </a:ext>
            </a:extLst>
          </p:cNvPr>
          <p:cNvSpPr/>
          <p:nvPr/>
        </p:nvSpPr>
        <p:spPr>
          <a:xfrm>
            <a:off x="6516402" y="3332447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99" name="Rounded Rectangle 114">
            <a:extLst>
              <a:ext uri="{FF2B5EF4-FFF2-40B4-BE49-F238E27FC236}">
                <a16:creationId xmlns:a16="http://schemas.microsoft.com/office/drawing/2014/main" id="{19C5DAC0-AB40-C880-F7E2-D28FC15997C4}"/>
              </a:ext>
            </a:extLst>
          </p:cNvPr>
          <p:cNvSpPr/>
          <p:nvPr/>
        </p:nvSpPr>
        <p:spPr>
          <a:xfrm>
            <a:off x="6798035" y="3331407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00" name="Rounded Rectangle 114">
            <a:extLst>
              <a:ext uri="{FF2B5EF4-FFF2-40B4-BE49-F238E27FC236}">
                <a16:creationId xmlns:a16="http://schemas.microsoft.com/office/drawing/2014/main" id="{BC7DB3A5-1108-335B-9802-CADCCD8EBD81}"/>
              </a:ext>
            </a:extLst>
          </p:cNvPr>
          <p:cNvSpPr/>
          <p:nvPr/>
        </p:nvSpPr>
        <p:spPr>
          <a:xfrm>
            <a:off x="7072500" y="332903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2A7CCC-1DA3-D372-F73F-D67702092B97}"/>
              </a:ext>
            </a:extLst>
          </p:cNvPr>
          <p:cNvSpPr txBox="1"/>
          <p:nvPr/>
        </p:nvSpPr>
        <p:spPr>
          <a:xfrm>
            <a:off x="7559120" y="3379574"/>
            <a:ext cx="6670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12,5% 30 минут</a:t>
            </a:r>
          </a:p>
        </p:txBody>
      </p:sp>
      <p:grpSp>
        <p:nvGrpSpPr>
          <p:cNvPr id="103" name="Group 5">
            <a:extLst>
              <a:ext uri="{FF2B5EF4-FFF2-40B4-BE49-F238E27FC236}">
                <a16:creationId xmlns:a16="http://schemas.microsoft.com/office/drawing/2014/main" id="{9AD2C571-D826-F6DC-A730-08ECB26FE67E}"/>
              </a:ext>
            </a:extLst>
          </p:cNvPr>
          <p:cNvGrpSpPr/>
          <p:nvPr/>
        </p:nvGrpSpPr>
        <p:grpSpPr>
          <a:xfrm>
            <a:off x="8438325" y="3241680"/>
            <a:ext cx="3082124" cy="678701"/>
            <a:chOff x="2626230" y="1861456"/>
            <a:chExt cx="1701282" cy="692561"/>
          </a:xfrm>
        </p:grpSpPr>
        <p:sp>
          <p:nvSpPr>
            <p:cNvPr id="104" name="Rounded Rectangle 112">
              <a:extLst>
                <a:ext uri="{FF2B5EF4-FFF2-40B4-BE49-F238E27FC236}">
                  <a16:creationId xmlns:a16="http://schemas.microsoft.com/office/drawing/2014/main" id="{2D3F0BD5-9EA5-3DEA-90BA-6AE0C134611C}"/>
                </a:ext>
              </a:extLst>
            </p:cNvPr>
            <p:cNvSpPr/>
            <p:nvPr/>
          </p:nvSpPr>
          <p:spPr>
            <a:xfrm>
              <a:off x="2626230" y="1861456"/>
              <a:ext cx="1584176" cy="692561"/>
            </a:xfrm>
            <a:prstGeom prst="roundRect">
              <a:avLst>
                <a:gd name="adj" fmla="val 13643"/>
              </a:avLst>
            </a:prstGeom>
            <a:noFill/>
            <a:ln w="857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05" name="Rounded Rectangle 113">
              <a:extLst>
                <a:ext uri="{FF2B5EF4-FFF2-40B4-BE49-F238E27FC236}">
                  <a16:creationId xmlns:a16="http://schemas.microsoft.com/office/drawing/2014/main" id="{C00B430A-6E4A-DBFD-E9C2-0D141BA4CA29}"/>
                </a:ext>
              </a:extLst>
            </p:cNvPr>
            <p:cNvSpPr/>
            <p:nvPr/>
          </p:nvSpPr>
          <p:spPr>
            <a:xfrm>
              <a:off x="4188634" y="2027716"/>
              <a:ext cx="138878" cy="360040"/>
            </a:xfrm>
            <a:prstGeom prst="roundRect">
              <a:avLst>
                <a:gd name="adj" fmla="val 355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B4AFE9CA-4BA3-CD04-3D53-E8C73FCBD071}"/>
              </a:ext>
            </a:extLst>
          </p:cNvPr>
          <p:cNvSpPr txBox="1"/>
          <p:nvPr/>
        </p:nvSpPr>
        <p:spPr>
          <a:xfrm>
            <a:off x="11618504" y="1805341"/>
            <a:ext cx="5734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100%</a:t>
            </a:r>
            <a:br>
              <a:rPr lang="ru-RU" sz="1000" dirty="0"/>
            </a:br>
            <a:r>
              <a:rPr lang="ru-RU" sz="1000" dirty="0"/>
              <a:t>160 минут</a:t>
            </a:r>
          </a:p>
        </p:txBody>
      </p:sp>
      <p:sp>
        <p:nvSpPr>
          <p:cNvPr id="108" name="Rounded Rectangle 114">
            <a:extLst>
              <a:ext uri="{FF2B5EF4-FFF2-40B4-BE49-F238E27FC236}">
                <a16:creationId xmlns:a16="http://schemas.microsoft.com/office/drawing/2014/main" id="{D1CBA230-59F4-06C7-7BC9-AC9DD903D909}"/>
              </a:ext>
            </a:extLst>
          </p:cNvPr>
          <p:cNvSpPr/>
          <p:nvPr/>
        </p:nvSpPr>
        <p:spPr>
          <a:xfrm>
            <a:off x="8536553" y="3334866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ounded Rectangle 114">
            <a:extLst>
              <a:ext uri="{FF2B5EF4-FFF2-40B4-BE49-F238E27FC236}">
                <a16:creationId xmlns:a16="http://schemas.microsoft.com/office/drawing/2014/main" id="{75F38E93-3CE4-80F2-AE09-95B6E6004F9A}"/>
              </a:ext>
            </a:extLst>
          </p:cNvPr>
          <p:cNvSpPr/>
          <p:nvPr/>
        </p:nvSpPr>
        <p:spPr>
          <a:xfrm>
            <a:off x="8834291" y="3329030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ounded Rectangle 114">
            <a:extLst>
              <a:ext uri="{FF2B5EF4-FFF2-40B4-BE49-F238E27FC236}">
                <a16:creationId xmlns:a16="http://schemas.microsoft.com/office/drawing/2014/main" id="{CC8A070B-E43F-A540-D96A-B712E85EAB1B}"/>
              </a:ext>
            </a:extLst>
          </p:cNvPr>
          <p:cNvSpPr/>
          <p:nvPr/>
        </p:nvSpPr>
        <p:spPr>
          <a:xfrm>
            <a:off x="9118668" y="3333879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1" name="Rounded Rectangle 114">
            <a:extLst>
              <a:ext uri="{FF2B5EF4-FFF2-40B4-BE49-F238E27FC236}">
                <a16:creationId xmlns:a16="http://schemas.microsoft.com/office/drawing/2014/main" id="{7518002F-C497-CFFB-BF77-D7D81B71C5D0}"/>
              </a:ext>
            </a:extLst>
          </p:cNvPr>
          <p:cNvSpPr/>
          <p:nvPr/>
        </p:nvSpPr>
        <p:spPr>
          <a:xfrm>
            <a:off x="9388301" y="3329030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2" name="Rounded Rectangle 114">
            <a:extLst>
              <a:ext uri="{FF2B5EF4-FFF2-40B4-BE49-F238E27FC236}">
                <a16:creationId xmlns:a16="http://schemas.microsoft.com/office/drawing/2014/main" id="{0F8C6A22-11B3-3B79-F224-A7CE01CFA6D4}"/>
              </a:ext>
            </a:extLst>
          </p:cNvPr>
          <p:cNvSpPr/>
          <p:nvPr/>
        </p:nvSpPr>
        <p:spPr>
          <a:xfrm>
            <a:off x="9930069" y="3341481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13" name="Rounded Rectangle 114">
            <a:extLst>
              <a:ext uri="{FF2B5EF4-FFF2-40B4-BE49-F238E27FC236}">
                <a16:creationId xmlns:a16="http://schemas.microsoft.com/office/drawing/2014/main" id="{B8B373B5-B590-2E02-5249-5655B80FFCEF}"/>
              </a:ext>
            </a:extLst>
          </p:cNvPr>
          <p:cNvSpPr/>
          <p:nvPr/>
        </p:nvSpPr>
        <p:spPr>
          <a:xfrm>
            <a:off x="9657934" y="3335515"/>
            <a:ext cx="227853" cy="504000"/>
          </a:xfrm>
          <a:prstGeom prst="roundRect">
            <a:avLst>
              <a:gd name="adj" fmla="val 34808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4" name="Rounded Rectangle 114">
            <a:extLst>
              <a:ext uri="{FF2B5EF4-FFF2-40B4-BE49-F238E27FC236}">
                <a16:creationId xmlns:a16="http://schemas.microsoft.com/office/drawing/2014/main" id="{B14CA12B-2C9A-7A35-4E5C-15E20570A089}"/>
              </a:ext>
            </a:extLst>
          </p:cNvPr>
          <p:cNvSpPr/>
          <p:nvPr/>
        </p:nvSpPr>
        <p:spPr>
          <a:xfrm>
            <a:off x="10202027" y="3344807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D1EF54F2-8768-1927-E9C4-6B39A1C35D0B}"/>
              </a:ext>
            </a:extLst>
          </p:cNvPr>
          <p:cNvSpPr/>
          <p:nvPr/>
        </p:nvSpPr>
        <p:spPr>
          <a:xfrm>
            <a:off x="10477448" y="3338585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16" name="Rounded Rectangle 114">
            <a:extLst>
              <a:ext uri="{FF2B5EF4-FFF2-40B4-BE49-F238E27FC236}">
                <a16:creationId xmlns:a16="http://schemas.microsoft.com/office/drawing/2014/main" id="{7C948E1B-BAFC-99BD-A664-C8532137D266}"/>
              </a:ext>
            </a:extLst>
          </p:cNvPr>
          <p:cNvSpPr/>
          <p:nvPr/>
        </p:nvSpPr>
        <p:spPr>
          <a:xfrm>
            <a:off x="10751018" y="3329030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17" name="Rounded Rectangle 114">
            <a:extLst>
              <a:ext uri="{FF2B5EF4-FFF2-40B4-BE49-F238E27FC236}">
                <a16:creationId xmlns:a16="http://schemas.microsoft.com/office/drawing/2014/main" id="{F7655C5F-7939-467C-60B9-EC475BFBEFEC}"/>
              </a:ext>
            </a:extLst>
          </p:cNvPr>
          <p:cNvSpPr/>
          <p:nvPr/>
        </p:nvSpPr>
        <p:spPr>
          <a:xfrm>
            <a:off x="11023153" y="3329030"/>
            <a:ext cx="227853" cy="504000"/>
          </a:xfrm>
          <a:prstGeom prst="roundRect">
            <a:avLst>
              <a:gd name="adj" fmla="val 348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2"/>
              </a:solidFill>
              <a:highlight>
                <a:srgbClr val="D5DAE2"/>
              </a:highlight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DA1A9B5-ECA4-2099-4327-495EE116B101}"/>
              </a:ext>
            </a:extLst>
          </p:cNvPr>
          <p:cNvSpPr txBox="1"/>
          <p:nvPr/>
        </p:nvSpPr>
        <p:spPr>
          <a:xfrm>
            <a:off x="11538294" y="3310516"/>
            <a:ext cx="593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43%</a:t>
            </a:r>
            <a:br>
              <a:rPr lang="ru-RU" sz="1000" dirty="0"/>
            </a:br>
            <a:r>
              <a:rPr lang="ru-RU" sz="1000" dirty="0"/>
              <a:t>70 минут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D48048E-5F86-57E4-701C-B8BEFFD8549A}"/>
              </a:ext>
            </a:extLst>
          </p:cNvPr>
          <p:cNvSpPr txBox="1"/>
          <p:nvPr/>
        </p:nvSpPr>
        <p:spPr>
          <a:xfrm>
            <a:off x="4798854" y="1059538"/>
            <a:ext cx="1999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 оптимизации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222B27D-8E76-268A-CF4A-DF0EC03C3B3B}"/>
              </a:ext>
            </a:extLst>
          </p:cNvPr>
          <p:cNvSpPr txBox="1"/>
          <p:nvPr/>
        </p:nvSpPr>
        <p:spPr>
          <a:xfrm>
            <a:off x="8856263" y="103813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 оптимизации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F6F645-B11A-D721-73AD-4B0542BBCFFB}"/>
              </a:ext>
            </a:extLst>
          </p:cNvPr>
          <p:cNvSpPr txBox="1"/>
          <p:nvPr/>
        </p:nvSpPr>
        <p:spPr>
          <a:xfrm>
            <a:off x="4865696" y="2732850"/>
            <a:ext cx="257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оптимизации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71B2D0-9834-56C0-A0A6-22C4C804D0D1}"/>
              </a:ext>
            </a:extLst>
          </p:cNvPr>
          <p:cNvSpPr txBox="1"/>
          <p:nvPr/>
        </p:nvSpPr>
        <p:spPr>
          <a:xfrm>
            <a:off x="8834291" y="2700051"/>
            <a:ext cx="7481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После оптимизации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4FB1F8-03B8-DF58-4060-73AA6B35330E}"/>
              </a:ext>
            </a:extLst>
          </p:cNvPr>
          <p:cNvSpPr txBox="1"/>
          <p:nvPr/>
        </p:nvSpPr>
        <p:spPr>
          <a:xfrm>
            <a:off x="639690" y="270177"/>
            <a:ext cx="2454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Сводка дел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86EE4E3-9556-1748-0CA1-5074AA2C261B}"/>
              </a:ext>
            </a:extLst>
          </p:cNvPr>
          <p:cNvSpPr txBox="1"/>
          <p:nvPr/>
        </p:nvSpPr>
        <p:spPr>
          <a:xfrm>
            <a:off x="4798854" y="270177"/>
            <a:ext cx="1999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Поиск дела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A59EA0A-EBF2-692E-140F-9D254A7213D4}"/>
              </a:ext>
            </a:extLst>
          </p:cNvPr>
          <p:cNvSpPr txBox="1"/>
          <p:nvPr/>
        </p:nvSpPr>
        <p:spPr>
          <a:xfrm>
            <a:off x="8668986" y="166255"/>
            <a:ext cx="3075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Поиск счетов и их сканирование</a:t>
            </a:r>
          </a:p>
        </p:txBody>
      </p:sp>
      <p:pic>
        <p:nvPicPr>
          <p:cNvPr id="6" name="Рисунок 5" descr="Изображение выглядит как дизайн&#10;&#10;Автоматически созданное описание с низким доверительным уровнем">
            <a:extLst>
              <a:ext uri="{FF2B5EF4-FFF2-40B4-BE49-F238E27FC236}">
                <a16:creationId xmlns:a16="http://schemas.microsoft.com/office/drawing/2014/main" id="{0B41ECFE-B062-7046-362A-54A69CF8A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703" y="1685097"/>
            <a:ext cx="2962634" cy="915421"/>
          </a:xfrm>
          <a:prstGeom prst="rect">
            <a:avLst/>
          </a:prstGeom>
        </p:spPr>
      </p:pic>
      <p:pic>
        <p:nvPicPr>
          <p:cNvPr id="8" name="Рисунок 7" descr="Изображение выглядит как дизайн&#10;&#10;Автоматически созданное описание с низким доверительным уровнем">
            <a:extLst>
              <a:ext uri="{FF2B5EF4-FFF2-40B4-BE49-F238E27FC236}">
                <a16:creationId xmlns:a16="http://schemas.microsoft.com/office/drawing/2014/main" id="{644F4089-5C82-64F4-FE5C-FA74E291B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577" y="1677124"/>
            <a:ext cx="2805073" cy="8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68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F7D4B-6763-A98F-19EB-3CA0D263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095" y="5289407"/>
            <a:ext cx="4937937" cy="13632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внимание!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1783FCEF-971B-D58B-3AE3-9245FE62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28370" y="3945418"/>
            <a:ext cx="4937936" cy="576738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Объект 14" descr="Изображение выглядит как мультфильм, млекопитающее, зарисовка,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21CA4585-8A67-EE44-F982-BF6114C15EA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907" b="94093" l="9906" r="89623">
                        <a14:foregroundMark x1="58019" y1="91139" x2="58019" y2="91139"/>
                        <a14:foregroundMark x1="77730" y1="69918" x2="76415" y2="59916"/>
                        <a14:foregroundMark x1="79245" y1="81435" x2="78989" y2="79487"/>
                        <a14:foregroundMark x1="80189" y1="81435" x2="82547" y2="78481"/>
                        <a14:foregroundMark x1="26887" y1="13924" x2="30660" y2="6329"/>
                        <a14:foregroundMark x1="41981" y1="94093" x2="50943" y2="94093"/>
                        <a14:foregroundMark x1="38679" y1="15612" x2="37736" y2="18987"/>
                        <a14:foregroundMark x1="45755" y1="20675" x2="50000" y2="22785"/>
                        <a14:backgroundMark x1="74057" y1="71308" x2="78302" y2="797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04" r="6389" b="-2"/>
          <a:stretch/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Рисунок 18" descr="Изображение выглядит как мультфильм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6FC5C69D-587A-4245-5C82-69786CFB2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2" r="10699" b="-2"/>
          <a:stretch/>
        </p:blipFill>
        <p:spPr>
          <a:xfrm>
            <a:off x="9363236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  <p:pic>
        <p:nvPicPr>
          <p:cNvPr id="17" name="Рисунок 16" descr="Изображение выглядит как мультфильм, зарисовка, Мультфильм, Анимация&#10;&#10;Автоматически созданное описание">
            <a:extLst>
              <a:ext uri="{FF2B5EF4-FFF2-40B4-BE49-F238E27FC236}">
                <a16:creationId xmlns:a16="http://schemas.microsoft.com/office/drawing/2014/main" id="{83C1208C-F36C-AA7D-D408-9B25AD668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>
          <a:xfrm>
            <a:off x="9199331" y="28291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pic>
        <p:nvPicPr>
          <p:cNvPr id="28" name="Рисунок 27" descr="Изображение выглядит как Человеческое лицо, одежда, человек, улыбка&#10;&#10;Автоматически созданное описание">
            <a:extLst>
              <a:ext uri="{FF2B5EF4-FFF2-40B4-BE49-F238E27FC236}">
                <a16:creationId xmlns:a16="http://schemas.microsoft.com/office/drawing/2014/main" id="{82D3A637-A1CD-051D-FE7A-C8ABF63ED2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67427" y="1205901"/>
            <a:ext cx="5156068" cy="3867052"/>
          </a:xfrm>
          <a:prstGeom prst="rect">
            <a:avLst/>
          </a:prstGeom>
        </p:spPr>
      </p:pic>
      <p:pic>
        <p:nvPicPr>
          <p:cNvPr id="34" name="Рисунок 33" descr="Изображение выглядит как графическая встав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CDA0C8D0-C039-D551-1C89-19C7DCC1ED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31" y="-354663"/>
            <a:ext cx="2827212" cy="282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2D2DAFA8-B29F-8E80-9022-DA8653968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45921"/>
            <a:ext cx="10515600" cy="44437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Перестановка и таблички:</a:t>
            </a:r>
            <a:r>
              <a:rPr lang="ru-RU" dirty="0">
                <a:solidFill>
                  <a:schemeClr val="tx1"/>
                </a:solidFill>
              </a:rPr>
              <a:t> Ориентировочно 5 000 руб. (включает стоимость упаковочных материалов (коробки, пленка и т.п.), небольшого инвентаря (например, тележки для перевозки документов) и создание/размещение новых маркировочных табличек).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Человеческие трудозатраты: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dirty="0">
                <a:solidFill>
                  <a:schemeClr val="tx1"/>
                </a:solidFill>
              </a:rPr>
              <a:t>Затраты на одного сотрудника в день: 1 часа * 200 руб./час = 200 руб.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b="1" dirty="0">
                <a:solidFill>
                  <a:schemeClr val="tx1"/>
                </a:solidFill>
              </a:rPr>
              <a:t>Предположим, в проекте участвуют 2 сотрудника: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dirty="0">
                <a:solidFill>
                  <a:schemeClr val="tx1"/>
                </a:solidFill>
              </a:rPr>
              <a:t>Общие затраты на сотрудников в день: 200 руб./сотрудник * 2 сотрудника = 400 руб.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b="1" dirty="0">
                <a:solidFill>
                  <a:schemeClr val="tx1"/>
                </a:solidFill>
              </a:rPr>
              <a:t>Затраты в месяц (22 рабочих дня):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chemeClr val="tx1"/>
                </a:solidFill>
              </a:rPr>
              <a:t>Затраты на сотрудников в месяц: 400 руб./день * 22 дня = 8800 руб.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dirty="0">
              <a:solidFill>
                <a:schemeClr val="tx1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chemeClr val="tx1"/>
                </a:solidFill>
              </a:rPr>
              <a:t>Итого: 5000(единоразово)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chemeClr val="tx1"/>
                </a:solidFill>
              </a:rPr>
              <a:t>И 8800 ежемесячно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50652-AB8C-07B8-EA76-94299103F276}"/>
              </a:ext>
            </a:extLst>
          </p:cNvPr>
          <p:cNvSpPr txBox="1"/>
          <p:nvPr/>
        </p:nvSpPr>
        <p:spPr>
          <a:xfrm>
            <a:off x="2783840" y="2382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/>
              <a:t>Затраты на внедрение</a:t>
            </a:r>
          </a:p>
        </p:txBody>
      </p:sp>
    </p:spTree>
    <p:extLst>
      <p:ext uri="{BB962C8B-B14F-4D97-AF65-F5344CB8AC3E}">
        <p14:creationId xmlns:p14="http://schemas.microsoft.com/office/powerpoint/2010/main" val="3552617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2D2DAFA8-B29F-8E80-9022-DA8653968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" y="142240"/>
            <a:ext cx="11805920" cy="6553200"/>
          </a:xfrm>
        </p:spPr>
        <p:txBody>
          <a:bodyPr>
            <a:normAutofit fontScale="25000" lnSpcReduction="20000"/>
          </a:bodyPr>
          <a:lstStyle/>
          <a:p>
            <a:r>
              <a:rPr lang="ru-RU" sz="6400" b="1" dirty="0">
                <a:solidFill>
                  <a:schemeClr val="tx1"/>
                </a:solidFill>
              </a:rPr>
              <a:t>Расчет чистой ежемесячной экономии:</a:t>
            </a:r>
            <a:endParaRPr lang="ru-RU" sz="6400" dirty="0">
              <a:solidFill>
                <a:schemeClr val="tx1"/>
              </a:solidFill>
            </a:endParaRPr>
          </a:p>
          <a:p>
            <a:r>
              <a:rPr lang="ru-RU" sz="6400" dirty="0">
                <a:solidFill>
                  <a:schemeClr val="tx1"/>
                </a:solidFill>
              </a:rPr>
              <a:t>Чистая экономия в месяц: 13186.8 руб. (экономия от времени) - 8800 руб. (затраты на труд) = 4386.8 руб.</a:t>
            </a:r>
          </a:p>
          <a:p>
            <a:endParaRPr lang="ru-RU" sz="6400" dirty="0">
              <a:solidFill>
                <a:schemeClr val="tx1"/>
              </a:solidFill>
            </a:endParaRPr>
          </a:p>
          <a:p>
            <a:r>
              <a:rPr lang="ru-RU" sz="6400" b="1" dirty="0">
                <a:solidFill>
                  <a:schemeClr val="tx1"/>
                </a:solidFill>
              </a:rPr>
              <a:t>Расчет минимального количества заявок в день для прибыльности:</a:t>
            </a:r>
            <a:endParaRPr lang="ru-RU" sz="6400" dirty="0">
              <a:solidFill>
                <a:schemeClr val="tx1"/>
              </a:solidFill>
            </a:endParaRPr>
          </a:p>
          <a:p>
            <a:r>
              <a:rPr lang="ru-RU" sz="6400" dirty="0">
                <a:solidFill>
                  <a:schemeClr val="tx1"/>
                </a:solidFill>
              </a:rPr>
              <a:t>(Количество заявок в день * 22 * 0.5 * 200) - 8800 &gt; 0</a:t>
            </a:r>
          </a:p>
          <a:p>
            <a:r>
              <a:rPr lang="ru-RU" sz="6400" dirty="0">
                <a:solidFill>
                  <a:schemeClr val="tx1"/>
                </a:solidFill>
              </a:rPr>
              <a:t>2200 * Количество заявок в день &gt; 8800</a:t>
            </a:r>
          </a:p>
          <a:p>
            <a:r>
              <a:rPr lang="ru-RU" sz="6400" dirty="0">
                <a:solidFill>
                  <a:schemeClr val="tx1"/>
                </a:solidFill>
              </a:rPr>
              <a:t>Количество заявок в день &gt; 8800 / 2200</a:t>
            </a:r>
          </a:p>
          <a:p>
            <a:r>
              <a:rPr lang="ru-RU" sz="6400" dirty="0">
                <a:solidFill>
                  <a:schemeClr val="tx1"/>
                </a:solidFill>
              </a:rPr>
              <a:t>Количество заявок в день &gt; 4</a:t>
            </a:r>
          </a:p>
          <a:p>
            <a:r>
              <a:rPr lang="ru-RU" sz="6400" dirty="0">
                <a:solidFill>
                  <a:schemeClr val="tx1"/>
                </a:solidFill>
              </a:rPr>
              <a:t>Значит, для того чтобы проект был прибыльным, нужно обрабатывать больше 4 заявок в день. Округлим до </a:t>
            </a:r>
            <a:r>
              <a:rPr lang="ru-RU" sz="6400" b="1" dirty="0">
                <a:solidFill>
                  <a:schemeClr val="tx1"/>
                </a:solidFill>
              </a:rPr>
              <a:t>5 заявок в день</a:t>
            </a:r>
            <a:r>
              <a:rPr lang="ru-RU" sz="6400" dirty="0">
                <a:solidFill>
                  <a:schemeClr val="tx1"/>
                </a:solidFill>
              </a:rPr>
              <a:t>.</a:t>
            </a:r>
          </a:p>
          <a:p>
            <a:endParaRPr lang="ru-RU" sz="6400" dirty="0">
              <a:solidFill>
                <a:schemeClr val="tx1"/>
              </a:solidFill>
            </a:endParaRPr>
          </a:p>
          <a:p>
            <a:r>
              <a:rPr lang="ru-RU" sz="6400" b="1" dirty="0">
                <a:solidFill>
                  <a:schemeClr val="tx1"/>
                </a:solidFill>
              </a:rPr>
              <a:t>Расчет экономических показателей при обработке 5 заявок в день:</a:t>
            </a:r>
          </a:p>
          <a:p>
            <a:r>
              <a:rPr lang="ru-RU" sz="6400" dirty="0">
                <a:solidFill>
                  <a:schemeClr val="tx1"/>
                </a:solidFill>
              </a:rPr>
              <a:t>Экономия времени в день: 5 заявок * 0.5 часа/заявка = 2.5 часа</a:t>
            </a:r>
          </a:p>
          <a:p>
            <a:r>
              <a:rPr lang="ru-RU" sz="6400" dirty="0">
                <a:solidFill>
                  <a:schemeClr val="tx1"/>
                </a:solidFill>
              </a:rPr>
              <a:t>Экономия в день в рублях: 2.5 часа * 200 руб./час = 500 руб.</a:t>
            </a:r>
          </a:p>
          <a:p>
            <a:r>
              <a:rPr lang="ru-RU" sz="6400" dirty="0">
                <a:solidFill>
                  <a:schemeClr val="tx1"/>
                </a:solidFill>
              </a:rPr>
              <a:t>Ежемесячная экономия: 500 руб./день * 22 дня = 11000 руб.</a:t>
            </a:r>
          </a:p>
          <a:p>
            <a:r>
              <a:rPr lang="ru-RU" sz="6400" dirty="0">
                <a:solidFill>
                  <a:schemeClr val="tx1"/>
                </a:solidFill>
              </a:rPr>
              <a:t>Чистая ежемесячная экономия: 11000 руб. - 8800 руб. = 2200 руб.</a:t>
            </a:r>
          </a:p>
          <a:p>
            <a:endParaRPr lang="ru-RU" sz="6400" b="1" dirty="0">
              <a:solidFill>
                <a:schemeClr val="tx1"/>
              </a:solidFill>
            </a:endParaRPr>
          </a:p>
          <a:p>
            <a:r>
              <a:rPr lang="ru-RU" sz="6400" b="1" dirty="0">
                <a:solidFill>
                  <a:schemeClr val="tx1"/>
                </a:solidFill>
              </a:rPr>
              <a:t>Срок окупаемости</a:t>
            </a:r>
            <a:r>
              <a:rPr lang="ru-RU" sz="6400" dirty="0">
                <a:solidFill>
                  <a:schemeClr val="tx1"/>
                </a:solidFill>
              </a:rPr>
              <a:t>: 5000 / 2200 = 2.27 месяца (около 68 дней)</a:t>
            </a:r>
          </a:p>
          <a:p>
            <a:endParaRPr lang="ru-RU" sz="6400" dirty="0">
              <a:solidFill>
                <a:schemeClr val="tx1"/>
              </a:solidFill>
            </a:endParaRPr>
          </a:p>
          <a:p>
            <a:r>
              <a:rPr lang="ru-RU" sz="6400" dirty="0">
                <a:solidFill>
                  <a:schemeClr val="tx1"/>
                </a:solidFill>
              </a:rPr>
              <a:t>ЧДД рассчитан на 3 года для оценки среднесрочной эффективности проекта, и ежемесячные расходы на сотрудников были учтены в расчетах.</a:t>
            </a:r>
          </a:p>
          <a:p>
            <a:r>
              <a:rPr lang="ru-RU" sz="6400" dirty="0">
                <a:solidFill>
                  <a:schemeClr val="tx1"/>
                </a:solidFill>
              </a:rPr>
              <a:t>ЧДД (за 3 года, ставка дисконтирования 21%) = (2200 * 12 / 1.21) + (2200 * 12 / 1.21^2) + (2200 * 12 / 1.21^3) - 5000 - (8800 * (1 - (1 + 0.21)^-3) / 0.21) = 29435.71 </a:t>
            </a:r>
            <a:r>
              <a:rPr lang="ru-RU" sz="6400" dirty="0" err="1">
                <a:solidFill>
                  <a:schemeClr val="tx1"/>
                </a:solidFill>
              </a:rPr>
              <a:t>руб</a:t>
            </a:r>
            <a:r>
              <a:rPr lang="ru-RU" sz="6400" dirty="0">
                <a:solidFill>
                  <a:schemeClr val="tx1"/>
                </a:solidFill>
              </a:rPr>
              <a:t>,</a:t>
            </a:r>
          </a:p>
          <a:p>
            <a:r>
              <a:rPr lang="ru-RU" sz="6400" dirty="0">
                <a:solidFill>
                  <a:schemeClr val="tx1"/>
                </a:solidFill>
              </a:rPr>
              <a:t>где - (8800 \* (1 - (1 + 0.21)^-3) / 0.21) - Приведенная стоимость (</a:t>
            </a:r>
            <a:r>
              <a:rPr lang="ru-RU" sz="6400" dirty="0" err="1">
                <a:solidFill>
                  <a:schemeClr val="tx1"/>
                </a:solidFill>
              </a:rPr>
              <a:t>Present</a:t>
            </a:r>
            <a:r>
              <a:rPr lang="ru-RU" sz="6400" dirty="0">
                <a:solidFill>
                  <a:schemeClr val="tx1"/>
                </a:solidFill>
              </a:rPr>
              <a:t> Value) ежемесячных затрат за период проекта</a:t>
            </a:r>
          </a:p>
          <a:p>
            <a:endParaRPr lang="ru-RU" sz="5600" dirty="0"/>
          </a:p>
          <a:p>
            <a:pPr marL="0" indent="0">
              <a:buNone/>
            </a:pPr>
            <a:endParaRPr lang="ru-RU" sz="56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4125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57C5BA-C00A-9FC7-53D9-A9E8C6690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720090" y="1137920"/>
            <a:ext cx="10515600" cy="5500370"/>
          </a:xfrm>
        </p:spPr>
        <p:txBody>
          <a:bodyPr>
            <a:normAutofit fontScale="82500" lnSpcReduction="20000"/>
          </a:bodyPr>
          <a:lstStyle/>
          <a:p>
            <a:pPr marL="0" indent="0">
              <a:buNone/>
            </a:pPr>
            <a:r>
              <a:rPr lang="ru-RU" sz="2900" b="1" i="0" dirty="0">
                <a:solidFill>
                  <a:schemeClr val="tx1"/>
                </a:solidFill>
                <a:effectLst/>
                <a:latin typeface="system-ui"/>
              </a:rPr>
              <a:t>Что </a:t>
            </a:r>
            <a:r>
              <a:rPr lang="ru-RU" sz="2900" b="1" dirty="0">
                <a:solidFill>
                  <a:schemeClr val="tx1"/>
                </a:solidFill>
                <a:latin typeface="system-ui"/>
              </a:rPr>
              <a:t>делаем</a:t>
            </a:r>
            <a:r>
              <a:rPr lang="ru-RU" sz="2900" b="1" i="0" dirty="0">
                <a:solidFill>
                  <a:schemeClr val="tx1"/>
                </a:solidFill>
                <a:effectLst/>
                <a:latin typeface="system-ui"/>
              </a:rPr>
              <a:t>: </a:t>
            </a:r>
            <a:r>
              <a:rPr lang="ru-RU" sz="2900" b="0" i="0" dirty="0">
                <a:solidFill>
                  <a:schemeClr val="tx1"/>
                </a:solidFill>
                <a:effectLst/>
                <a:latin typeface="system-ui"/>
              </a:rPr>
              <a:t> </a:t>
            </a:r>
            <a:br>
              <a:rPr lang="ru-RU" sz="2900" dirty="0">
                <a:solidFill>
                  <a:schemeClr val="tx1"/>
                </a:solidFill>
              </a:rPr>
            </a:br>
            <a:r>
              <a:rPr lang="ru-RU" sz="2900" b="0" i="0" dirty="0">
                <a:solidFill>
                  <a:schemeClr val="tx1"/>
                </a:solidFill>
                <a:effectLst/>
                <a:latin typeface="system-ui"/>
              </a:rPr>
              <a:t>-</a:t>
            </a:r>
            <a:r>
              <a:rPr lang="ru-RU" sz="2900" dirty="0">
                <a:solidFill>
                  <a:schemeClr val="tx1"/>
                </a:solidFill>
              </a:rPr>
              <a:t> Постепенное внесение дел в электронную базу данных.</a:t>
            </a:r>
            <a:br>
              <a:rPr lang="ru-RU" sz="2900" dirty="0">
                <a:solidFill>
                  <a:schemeClr val="tx1"/>
                </a:solidFill>
              </a:rPr>
            </a:br>
            <a:br>
              <a:rPr lang="ru-RU" sz="2900" b="1" dirty="0">
                <a:solidFill>
                  <a:schemeClr val="tx1"/>
                </a:solidFill>
              </a:rPr>
            </a:br>
            <a:r>
              <a:rPr lang="ru-RU" sz="2900" b="1" i="0" dirty="0">
                <a:solidFill>
                  <a:schemeClr val="tx1"/>
                </a:solidFill>
                <a:effectLst/>
                <a:latin typeface="system-ui"/>
              </a:rPr>
              <a:t>Уменьшение времени на поиск дела</a:t>
            </a:r>
            <a:br>
              <a:rPr lang="ru-RU" sz="2900" dirty="0">
                <a:solidFill>
                  <a:schemeClr val="tx1"/>
                </a:solidFill>
              </a:rPr>
            </a:br>
            <a:r>
              <a:rPr lang="ru-RU" sz="2900" b="0" i="0" dirty="0">
                <a:solidFill>
                  <a:schemeClr val="tx1"/>
                </a:solidFill>
                <a:effectLst/>
                <a:latin typeface="system-ui"/>
              </a:rPr>
              <a:t>Было: 40 мин → Стало: 10 мин (на 1 заявку)</a:t>
            </a:r>
            <a:br>
              <a:rPr lang="ru-RU" sz="2900" dirty="0">
                <a:solidFill>
                  <a:schemeClr val="tx1"/>
                </a:solidFill>
              </a:rPr>
            </a:br>
            <a:r>
              <a:rPr lang="ru-RU" sz="2900" b="0" i="0" dirty="0">
                <a:solidFill>
                  <a:schemeClr val="tx1"/>
                </a:solidFill>
                <a:effectLst/>
                <a:latin typeface="system-ui"/>
              </a:rPr>
              <a:t>Экономия на 1 заявку:</a:t>
            </a:r>
            <a:r>
              <a:rPr lang="ru-RU" sz="2900" b="1" i="0" dirty="0">
                <a:solidFill>
                  <a:schemeClr val="tx1"/>
                </a:solidFill>
                <a:effectLst/>
                <a:latin typeface="system-ui"/>
              </a:rPr>
              <a:t> 30 мин (0,5 часа)</a:t>
            </a:r>
          </a:p>
          <a:p>
            <a:pPr marL="0" indent="0">
              <a:buNone/>
            </a:pPr>
            <a:r>
              <a:rPr lang="ru-RU" sz="2900" b="1" dirty="0">
                <a:solidFill>
                  <a:schemeClr val="tx1"/>
                </a:solidFill>
                <a:latin typeface="system-ui"/>
              </a:rPr>
              <a:t>Экономия в день 30*6= 180 мин/день (3 часа)</a:t>
            </a:r>
          </a:p>
          <a:p>
            <a:pPr marL="0" indent="0">
              <a:buNone/>
            </a:pPr>
            <a:r>
              <a:rPr lang="ru-RU" sz="2900" b="1" dirty="0">
                <a:solidFill>
                  <a:schemeClr val="tx1"/>
                </a:solidFill>
              </a:rPr>
              <a:t>Экономия времени в год: </a:t>
            </a:r>
            <a:r>
              <a:rPr lang="ru-RU" sz="2900" dirty="0">
                <a:solidFill>
                  <a:schemeClr val="tx1"/>
                </a:solidFill>
              </a:rPr>
              <a:t>3 * 22 рабочих дня * 12 месяцев= 792 часа/год</a:t>
            </a:r>
          </a:p>
          <a:p>
            <a:pPr marL="0" indent="0">
              <a:buNone/>
            </a:pPr>
            <a:endParaRPr lang="ru-RU" sz="2900" b="1" dirty="0">
              <a:solidFill>
                <a:schemeClr val="tx1"/>
              </a:solidFill>
              <a:latin typeface="system-ui"/>
            </a:endParaRPr>
          </a:p>
          <a:p>
            <a:pPr marL="0" indent="0">
              <a:buNone/>
            </a:pPr>
            <a:r>
              <a:rPr lang="ru-RU" sz="2900" b="1" dirty="0">
                <a:solidFill>
                  <a:schemeClr val="tx1"/>
                </a:solidFill>
              </a:rPr>
              <a:t>Экономия времени при постепенной оцифровке по годам (допустим в год оцифровано 20% архива):</a:t>
            </a:r>
            <a:endParaRPr lang="ru-RU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Год 1 (20% оцифровано): 792 часа/год * 0.2 = 158.4 часа</a:t>
            </a:r>
          </a:p>
          <a:p>
            <a:pPr marL="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Год 2 (40% оцифровано): 792 часа/год * 0.4 = 316.8 часа</a:t>
            </a:r>
          </a:p>
          <a:p>
            <a:pPr marL="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Год 3 (60% оцифровано): 792 часа/год * 0.6 = 475.2 часа</a:t>
            </a:r>
          </a:p>
          <a:p>
            <a:pPr marL="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Год 4 (80% оцифровано): 792 часа/год * 0.8 = 633.6 часа</a:t>
            </a:r>
          </a:p>
          <a:p>
            <a:pPr marL="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Год 5 (100% оцифровано): 792 часа/год * 1.0 = 792 часа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FCDB6-FE80-2F4E-0743-C3B91754461B}"/>
              </a:ext>
            </a:extLst>
          </p:cNvPr>
          <p:cNvSpPr txBox="1"/>
          <p:nvPr/>
        </p:nvSpPr>
        <p:spPr>
          <a:xfrm>
            <a:off x="2377440" y="111760"/>
            <a:ext cx="644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Raleway ExtraBold" panose="020B0903030101060003" pitchFamily="34" charset="-52"/>
              </a:rPr>
              <a:t>Экономия от постепенного внесение старых дел в электронную базу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79270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D14FF66-5809-4857-17B4-BBF9E2C2D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88963"/>
            <a:ext cx="10515600" cy="5500687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Затраты времени на оцифровку: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2 сотрудника * 1 час/день * 22 дня/месяц * 12 месяцев/год = 528 часов/год</a:t>
            </a: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Сравнение экономии времени и затрат времени на оцифровку: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Чистая экономия времени в год:</a:t>
            </a:r>
            <a:r>
              <a:rPr lang="ru-RU" dirty="0">
                <a:solidFill>
                  <a:schemeClr val="tx1"/>
                </a:solidFill>
              </a:rPr>
              <a:t> 792 часа/год (экономия при полной оцифровке) - 528 часов/год (затраты на оцифровку) = 264 часа/год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Проект оцифровки приводит к чистой экономии рабочего времени, начиная с 5-го года, когда весь архив будет оцифрован. В первые 4 года затраты времени на оцифровку превышают экономию времени на поиске дел. С точки зрения только экономии времени, проект является целесообразным в долгосрочной перспективе (после полной оцифровки).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58106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2508</Words>
  <Application>Microsoft Macintosh PowerPoint</Application>
  <PresentationFormat>Широкоэкранный</PresentationFormat>
  <Paragraphs>526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6" baseType="lpstr">
      <vt:lpstr>微软雅黑</vt:lpstr>
      <vt:lpstr>Arial</vt:lpstr>
      <vt:lpstr>Calibri</vt:lpstr>
      <vt:lpstr>Calibri Light</vt:lpstr>
      <vt:lpstr>Raleway ExtraBold</vt:lpstr>
      <vt:lpstr>Raleway Medium</vt:lpstr>
      <vt:lpstr>Symbol</vt:lpstr>
      <vt:lpstr>system-ui</vt:lpstr>
      <vt:lpstr>Wingdings</vt:lpstr>
      <vt:lpstr>Тема Office</vt:lpstr>
      <vt:lpstr>Архив КФУ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@PennoeBot</cp:lastModifiedBy>
  <cp:revision>15</cp:revision>
  <dcterms:created xsi:type="dcterms:W3CDTF">2021-08-22T09:33:20Z</dcterms:created>
  <dcterms:modified xsi:type="dcterms:W3CDTF">2025-05-05T04:11:56Z</dcterms:modified>
</cp:coreProperties>
</file>