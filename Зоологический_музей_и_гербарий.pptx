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6" r:id="rId11"/>
    <p:sldId id="268" r:id="rId12"/>
    <p:sldId id="270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2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64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43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89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565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74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92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14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41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31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561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5502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762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850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198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612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88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D4CD983-8A06-4BD3-A7D7-15CB92B9434C}" type="datetimeFigureOut">
              <a:rPr lang="ru-RU" smtClean="0"/>
              <a:t>01.05.2025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48FEA15-BF21-4EFA-A685-376E28A5BA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310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446" y="492370"/>
            <a:ext cx="8458200" cy="3105972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FFFF"/>
                </a:solidFill>
                <a:latin typeface="Grandview Display"/>
              </a:rPr>
              <a:t>Проектное задание по дисциплине «Анализ и моделирование бизнес- процессов»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599" y="5143499"/>
            <a:ext cx="5794132" cy="1230923"/>
          </a:xfrm>
        </p:spPr>
        <p:txBody>
          <a:bodyPr>
            <a:noAutofit/>
          </a:bodyPr>
          <a:lstStyle/>
          <a:p>
            <a:r>
              <a:rPr lang="en-US" dirty="0"/>
              <a:t>14.6-112</a:t>
            </a:r>
          </a:p>
          <a:p>
            <a:r>
              <a:rPr lang="ru-RU" dirty="0"/>
              <a:t>Кабанов Дмитрий</a:t>
            </a:r>
          </a:p>
          <a:p>
            <a:r>
              <a:rPr lang="ru-RU" dirty="0"/>
              <a:t>Краевский Лев</a:t>
            </a:r>
          </a:p>
        </p:txBody>
      </p:sp>
    </p:spTree>
    <p:extLst>
      <p:ext uri="{BB962C8B-B14F-4D97-AF65-F5344CB8AC3E}">
        <p14:creationId xmlns:p14="http://schemas.microsoft.com/office/powerpoint/2010/main" val="156257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Зоологический музей и гербарий</a:t>
            </a:r>
            <a:br>
              <a:rPr lang="ru-RU" dirty="0"/>
            </a:b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Экскурсовод – Чернышова Эльмира Ильдаровна</a:t>
            </a:r>
          </a:p>
          <a:p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71" y="2426676"/>
            <a:ext cx="3666392" cy="36927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03" y="2428200"/>
            <a:ext cx="2800076" cy="37334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419" y="2429726"/>
            <a:ext cx="2797790" cy="373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Чем занимается экскурсовод?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-Разработка и проведение экскурсий </a:t>
            </a:r>
          </a:p>
          <a:p>
            <a:r>
              <a:rPr lang="ru-RU" dirty="0">
                <a:effectLst/>
              </a:rPr>
              <a:t>-Информирование посетителей</a:t>
            </a:r>
          </a:p>
          <a:p>
            <a:r>
              <a:rPr lang="ru-RU" dirty="0">
                <a:effectLst/>
              </a:rPr>
              <a:t>-Контроль за соблюдением правил поведения и безопасности</a:t>
            </a:r>
          </a:p>
          <a:p>
            <a:r>
              <a:rPr lang="ru-RU" dirty="0">
                <a:effectLst/>
              </a:rPr>
              <a:t>-Поддержка музейной деятельности</a:t>
            </a:r>
          </a:p>
          <a:p>
            <a:r>
              <a:rPr lang="ru-RU" dirty="0">
                <a:effectLst/>
              </a:rPr>
              <a:t>-Использование технических средств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284" y="1645901"/>
            <a:ext cx="2646485" cy="352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1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Должностные инструкции экскурсовода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019" t="48243" r="11037" b="21019"/>
          <a:stretch/>
        </p:blipFill>
        <p:spPr>
          <a:xfrm>
            <a:off x="396223" y="1942927"/>
            <a:ext cx="11236000" cy="357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1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Хронометраж экскурсовода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2194" t="37402" r="5188" b="40964"/>
          <a:stretch/>
        </p:blipFill>
        <p:spPr>
          <a:xfrm>
            <a:off x="1071388" y="1645466"/>
            <a:ext cx="10489420" cy="391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8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Паспорт проекта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5829" t="32989" r="11563" b="37862"/>
          <a:stretch/>
        </p:blipFill>
        <p:spPr>
          <a:xfrm>
            <a:off x="3163335" y="1656746"/>
            <a:ext cx="6042212" cy="342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Паспорт проекта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243" t="45054" r="32224" b="31463"/>
          <a:stretch/>
        </p:blipFill>
        <p:spPr>
          <a:xfrm>
            <a:off x="1750096" y="2054835"/>
            <a:ext cx="8492716" cy="334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2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USM</a:t>
            </a:r>
            <a:r>
              <a:rPr lang="en-US" dirty="0"/>
              <a:t> </a:t>
            </a:r>
            <a:r>
              <a:rPr lang="ru-RU" dirty="0"/>
              <a:t>( </a:t>
            </a:r>
            <a:r>
              <a:rPr lang="en-CA" dirty="0"/>
              <a:t>Universal Scenario Modeling )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6D0D30-FD12-DA9F-982F-1BDFAB0CD763}"/>
              </a:ext>
            </a:extLst>
          </p:cNvPr>
          <p:cNvSpPr/>
          <p:nvPr/>
        </p:nvSpPr>
        <p:spPr>
          <a:xfrm>
            <a:off x="1841157" y="1732449"/>
            <a:ext cx="2570205" cy="70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Экскурсионный центр 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3E393F7-72EF-BCA8-A66C-89460722C57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1841157" y="2434281"/>
            <a:ext cx="1285103" cy="994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23DD56-ED3E-E006-740E-E78AF35C1306}"/>
              </a:ext>
            </a:extLst>
          </p:cNvPr>
          <p:cNvSpPr/>
          <p:nvPr/>
        </p:nvSpPr>
        <p:spPr>
          <a:xfrm>
            <a:off x="556054" y="3429000"/>
            <a:ext cx="2570205" cy="70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заявки</a:t>
            </a:r>
            <a:br>
              <a:rPr lang="ru-RU" dirty="0"/>
            </a:br>
            <a:r>
              <a:rPr lang="ru-RU" dirty="0"/>
              <a:t>Время: 400 сек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2210704-BF65-5388-4E1A-C1EABA2B93C2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126259" y="3779916"/>
            <a:ext cx="864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FC1D84B-2C29-9A24-6474-8D9161AFDEE5}"/>
              </a:ext>
            </a:extLst>
          </p:cNvPr>
          <p:cNvSpPr/>
          <p:nvPr/>
        </p:nvSpPr>
        <p:spPr>
          <a:xfrm>
            <a:off x="3343530" y="3407962"/>
            <a:ext cx="2570205" cy="70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Подготовка экскурсии</a:t>
            </a:r>
            <a:br>
              <a:rPr lang="ru-RU" sz="1800" dirty="0">
                <a:solidFill>
                  <a:schemeClr val="tx1"/>
                </a:solidFill>
              </a:rPr>
            </a:br>
            <a:r>
              <a:rPr lang="ru-RU" dirty="0"/>
              <a:t>Время: 600 сек</a:t>
            </a:r>
            <a:endParaRPr lang="ru-RU" sz="1800" dirty="0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7202B42-C346-8233-142C-CE56D4D91EB1}"/>
              </a:ext>
            </a:extLst>
          </p:cNvPr>
          <p:cNvCxnSpPr>
            <a:cxnSpLocks/>
          </p:cNvCxnSpPr>
          <p:nvPr/>
        </p:nvCxnSpPr>
        <p:spPr>
          <a:xfrm flipH="1">
            <a:off x="11016043" y="4130832"/>
            <a:ext cx="432487" cy="36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DA1E459-F2E5-BA04-9728-3145105B0919}"/>
              </a:ext>
            </a:extLst>
          </p:cNvPr>
          <p:cNvSpPr/>
          <p:nvPr/>
        </p:nvSpPr>
        <p:spPr>
          <a:xfrm>
            <a:off x="6141307" y="3313083"/>
            <a:ext cx="2570205" cy="933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Встреча и вводный инструктаж</a:t>
            </a:r>
            <a:br>
              <a:rPr lang="ru-RU" sz="1800" dirty="0">
                <a:solidFill>
                  <a:schemeClr val="tx1"/>
                </a:solidFill>
              </a:rPr>
            </a:br>
            <a:r>
              <a:rPr lang="ru-RU" dirty="0"/>
              <a:t>Время: 600 сек</a:t>
            </a:r>
            <a:endParaRPr lang="ru-RU" sz="1800" dirty="0">
              <a:solidFill>
                <a:schemeClr val="tx1"/>
              </a:solidFill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52DEA13-3B2D-8431-85EA-A93F98BF8C02}"/>
              </a:ext>
            </a:extLst>
          </p:cNvPr>
          <p:cNvCxnSpPr>
            <a:cxnSpLocks/>
            <a:stCxn id="20" idx="1"/>
            <a:endCxn id="17" idx="3"/>
          </p:cNvCxnSpPr>
          <p:nvPr/>
        </p:nvCxnSpPr>
        <p:spPr>
          <a:xfrm flipH="1" flipV="1">
            <a:off x="8711512" y="3779916"/>
            <a:ext cx="306864" cy="36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5F8CAFC-CD2D-9841-4862-4A6FAA371F09}"/>
              </a:ext>
            </a:extLst>
          </p:cNvPr>
          <p:cNvSpPr/>
          <p:nvPr/>
        </p:nvSpPr>
        <p:spPr>
          <a:xfrm>
            <a:off x="8913329" y="5096118"/>
            <a:ext cx="2570205" cy="1045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Ответы на вопросы и завершение экскурсии</a:t>
            </a:r>
            <a:br>
              <a:rPr lang="ru-RU" sz="1800" dirty="0">
                <a:solidFill>
                  <a:schemeClr val="tx1"/>
                </a:solidFill>
              </a:rPr>
            </a:br>
            <a:r>
              <a:rPr lang="ru-RU" sz="1800" dirty="0">
                <a:solidFill>
                  <a:schemeClr val="tx1"/>
                </a:solidFill>
              </a:rPr>
              <a:t>Время: 300сек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36C57F5-26B5-5DCD-202D-A0CAC8D939C3}"/>
              </a:ext>
            </a:extLst>
          </p:cNvPr>
          <p:cNvSpPr/>
          <p:nvPr/>
        </p:nvSpPr>
        <p:spPr>
          <a:xfrm>
            <a:off x="9018376" y="3465785"/>
            <a:ext cx="2570205" cy="70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Проведение экскурсии</a:t>
            </a:r>
            <a:br>
              <a:rPr lang="ru-RU" sz="1800" dirty="0">
                <a:solidFill>
                  <a:schemeClr val="tx1"/>
                </a:solidFill>
              </a:rPr>
            </a:br>
            <a:r>
              <a:rPr lang="ru-RU" sz="1800" dirty="0">
                <a:solidFill>
                  <a:schemeClr val="tx1"/>
                </a:solidFill>
              </a:rPr>
              <a:t>Время: 2400 сек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6846D05-0E43-300D-DE79-7D4A3AA2E2D5}"/>
              </a:ext>
            </a:extLst>
          </p:cNvPr>
          <p:cNvCxnSpPr>
            <a:cxnSpLocks/>
            <a:stCxn id="17" idx="1"/>
            <a:endCxn id="13" idx="3"/>
          </p:cNvCxnSpPr>
          <p:nvPr/>
        </p:nvCxnSpPr>
        <p:spPr>
          <a:xfrm flipH="1" flipV="1">
            <a:off x="5913735" y="3758878"/>
            <a:ext cx="227572" cy="21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8EA1F5C-4C48-4C34-0C54-4AC8B9A96CA3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10198432" y="4167617"/>
            <a:ext cx="105047" cy="928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5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SIPOC ( Suppliers, Inputs, Process, Outputs, Customers )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-2118946" y="3727938"/>
            <a:ext cx="1713895" cy="193137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Pentagon 3"/>
          <p:cNvSpPr/>
          <p:nvPr/>
        </p:nvSpPr>
        <p:spPr>
          <a:xfrm>
            <a:off x="959514" y="1987062"/>
            <a:ext cx="1685822" cy="465992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Поставщики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3233274" y="1987062"/>
            <a:ext cx="1661746" cy="457200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Входы</a:t>
            </a:r>
          </a:p>
        </p:txBody>
      </p:sp>
      <p:sp>
        <p:nvSpPr>
          <p:cNvPr id="6" name="Pentagon 5"/>
          <p:cNvSpPr/>
          <p:nvPr/>
        </p:nvSpPr>
        <p:spPr>
          <a:xfrm>
            <a:off x="5482958" y="1995855"/>
            <a:ext cx="1661746" cy="457200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</a:p>
        </p:txBody>
      </p:sp>
      <p:sp>
        <p:nvSpPr>
          <p:cNvPr id="7" name="Pentagon 6"/>
          <p:cNvSpPr/>
          <p:nvPr/>
        </p:nvSpPr>
        <p:spPr>
          <a:xfrm>
            <a:off x="7590064" y="1995855"/>
            <a:ext cx="1661746" cy="457200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</a:p>
        </p:txBody>
      </p:sp>
      <p:sp>
        <p:nvSpPr>
          <p:cNvPr id="8" name="Pentagon 7"/>
          <p:cNvSpPr/>
          <p:nvPr/>
        </p:nvSpPr>
        <p:spPr>
          <a:xfrm>
            <a:off x="9911350" y="1995855"/>
            <a:ext cx="1661746" cy="457200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378" y="2796723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Институты КФУ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378" y="3629651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Тур. операторы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378" y="4501601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Школы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378" y="5372759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Спорт. секции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2574" y="2796723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Экскурсионный центр, эл. почта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5854" y="3629650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Телеграмм, Ватсапп, эк. центр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2574" y="4462577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Экскурсонный центр, Эл. Почта, Ватсапп, телеграмм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05854" y="5341066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Экскурсонный центр, Эл. Почта, Ватсапп, телеграмм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9784" y="2792372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Получение и подтверждение заявки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9784" y="3629650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Подготовка экскурсии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9784" y="4501600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Встреча и вводный инструктаж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9784" y="5373550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Проведение экскурсии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3980" y="2792372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Деньги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176" y="2792371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Посетители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9784" y="6136207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Ответы на вопросы и завершение экскурсии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3980" y="3629649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Отзывы ( в книжной форме и в соц.сетях 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176" y="3629648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Хранитель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38176" y="4501600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Экскурсовод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176" y="5341065"/>
            <a:ext cx="2008094" cy="6364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Министерство культуры</a:t>
            </a:r>
          </a:p>
        </p:txBody>
      </p:sp>
    </p:spTree>
    <p:extLst>
      <p:ext uri="{BB962C8B-B14F-4D97-AF65-F5344CB8AC3E}">
        <p14:creationId xmlns:p14="http://schemas.microsoft.com/office/powerpoint/2010/main" val="424577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BPMN (</a:t>
            </a:r>
            <a:r>
              <a:rPr lang="en-US" dirty="0">
                <a:effectLst/>
              </a:rPr>
              <a:t> Business Process Model and Notation )</a:t>
            </a:r>
            <a:endParaRPr lang="ru-R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502" t="26027" r="12088" b="25797"/>
          <a:stretch/>
        </p:blipFill>
        <p:spPr>
          <a:xfrm>
            <a:off x="913795" y="1837854"/>
            <a:ext cx="10242775" cy="3539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 rot="5400000">
            <a:off x="-158220" y="3626130"/>
            <a:ext cx="3322181" cy="181074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Экскурсовод   экскурсионный центр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6988" t="59717" r="28127" b="31291"/>
          <a:stretch/>
        </p:blipFill>
        <p:spPr>
          <a:xfrm>
            <a:off x="8971984" y="2734148"/>
            <a:ext cx="1113576" cy="22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9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 причин почему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Проблема - экскурсовод 30-50% времени тратит на чистку витрин и обеспыливание</a:t>
            </a:r>
          </a:p>
          <a:p>
            <a:r>
              <a:rPr lang="ru-RU" dirty="0"/>
              <a:t>Почему он это делает? Потому что в музее нет отдельного сотрудника, ответственного за технический уход за экспонатами.</a:t>
            </a:r>
          </a:p>
          <a:p>
            <a:r>
              <a:rPr lang="ru-RU" dirty="0"/>
              <a:t>Почему нет сотрудника? Потому что в штатном расписании не предусмотрена должность тех.специалиста специализирующего на экспонатах.</a:t>
            </a:r>
          </a:p>
          <a:p>
            <a:r>
              <a:rPr lang="ru-RU" dirty="0"/>
              <a:t>Почему нет тех специалиста? Потому что задачи по уходу за экспонатами изначально рассматривались как часть обязанностей экскурсовода.</a:t>
            </a:r>
          </a:p>
          <a:p>
            <a:r>
              <a:rPr lang="ru-RU" dirty="0"/>
              <a:t>Почему так? Потому что не проводился пересмотр распределения обязанностей и эффективности рабочего времени сотрудников.</a:t>
            </a:r>
          </a:p>
          <a:p>
            <a:r>
              <a:rPr lang="ru-RU" dirty="0"/>
              <a:t>Почему не проводился? Потому что отсутствует анализ процессов и внедрение принципов бережливого управления (</a:t>
            </a:r>
            <a:r>
              <a:rPr lang="en-CA" dirty="0"/>
              <a:t>Lean) </a:t>
            </a:r>
            <a:r>
              <a:rPr lang="ru-RU" dirty="0"/>
              <a:t>в музее .</a:t>
            </a:r>
          </a:p>
        </p:txBody>
      </p:sp>
    </p:spTree>
    <p:extLst>
      <p:ext uri="{BB962C8B-B14F-4D97-AF65-F5344CB8AC3E}">
        <p14:creationId xmlns:p14="http://schemas.microsoft.com/office/powerpoint/2010/main" val="1395518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5D02-E9CC-F192-A024-43954A15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FBCE0D9-CD77-2753-59B9-5F82FD78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77ED8960-0D26-5DBF-F4E6-37FC4A193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40" y="295076"/>
            <a:ext cx="11404433" cy="5953323"/>
          </a:xfrm>
        </p:spPr>
      </p:pic>
    </p:spTree>
    <p:extLst>
      <p:ext uri="{BB962C8B-B14F-4D97-AF65-F5344CB8AC3E}">
        <p14:creationId xmlns:p14="http://schemas.microsoft.com/office/powerpoint/2010/main" val="370052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301D-34BE-94C6-96FD-79503EB3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CAAEF3-075B-3556-E6D7-6C731F00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67" y="803189"/>
            <a:ext cx="10725665" cy="57211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8C4211-15FB-C8FE-FB1C-2CC358E84F27}"/>
              </a:ext>
            </a:extLst>
          </p:cNvPr>
          <p:cNvSpPr txBox="1"/>
          <p:nvPr/>
        </p:nvSpPr>
        <p:spPr>
          <a:xfrm>
            <a:off x="2420379" y="1927655"/>
            <a:ext cx="17917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</a:rPr>
              <a:t>Отсутствие стандартизированных инструкций по уборке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8BC853-E784-8B8A-499C-77BE32CA93F0}"/>
              </a:ext>
            </a:extLst>
          </p:cNvPr>
          <p:cNvSpPr txBox="1"/>
          <p:nvPr/>
        </p:nvSpPr>
        <p:spPr>
          <a:xfrm>
            <a:off x="2208771" y="2621357"/>
            <a:ext cx="2214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Нет разграничения обязанностей между хранением и уборкой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D13662-C21B-01B0-7359-0C369B34B1A1}"/>
              </a:ext>
            </a:extLst>
          </p:cNvPr>
          <p:cNvSpPr txBox="1"/>
          <p:nvPr/>
        </p:nvSpPr>
        <p:spPr>
          <a:xfrm>
            <a:off x="2981068" y="3716172"/>
            <a:ext cx="2214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Нет системы приоритизации задач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002147-8980-8B9B-06DE-6D6C560BB724}"/>
              </a:ext>
            </a:extLst>
          </p:cNvPr>
          <p:cNvSpPr txBox="1"/>
          <p:nvPr/>
        </p:nvSpPr>
        <p:spPr>
          <a:xfrm>
            <a:off x="3086101" y="3314577"/>
            <a:ext cx="1844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 используется 5S на рабочих местах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CD480-BA23-F22E-B346-2C83707375F9}"/>
              </a:ext>
            </a:extLst>
          </p:cNvPr>
          <p:cNvSpPr txBox="1"/>
          <p:nvPr/>
        </p:nvSpPr>
        <p:spPr>
          <a:xfrm>
            <a:off x="5003456" y="2067359"/>
            <a:ext cx="17917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Недостаток вспомогательного персонала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EDA7F5-843B-A267-74E8-9DC33C166534}"/>
              </a:ext>
            </a:extLst>
          </p:cNvPr>
          <p:cNvSpPr txBox="1"/>
          <p:nvPr/>
        </p:nvSpPr>
        <p:spPr>
          <a:xfrm>
            <a:off x="4977199" y="2609686"/>
            <a:ext cx="1844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Отсутствие обучения у младших сотрудников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245E4-031A-4DA8-8DFE-6F10773188C6}"/>
              </a:ext>
            </a:extLst>
          </p:cNvPr>
          <p:cNvSpPr txBox="1"/>
          <p:nvPr/>
        </p:nvSpPr>
        <p:spPr>
          <a:xfrm>
            <a:off x="5003456" y="2966304"/>
            <a:ext cx="18442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Главный хранитель выполняет несвойственные функции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E35A3-E6B2-3867-120B-6B825853BE41}"/>
              </a:ext>
            </a:extLst>
          </p:cNvPr>
          <p:cNvSpPr txBox="1"/>
          <p:nvPr/>
        </p:nvSpPr>
        <p:spPr>
          <a:xfrm>
            <a:off x="5003456" y="3429000"/>
            <a:ext cx="2461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Низкая мотивация к делегированию задач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E61C5D-E3F5-1DEE-E5E2-2E239B50D738}"/>
              </a:ext>
            </a:extLst>
          </p:cNvPr>
          <p:cNvSpPr txBox="1"/>
          <p:nvPr/>
        </p:nvSpPr>
        <p:spPr>
          <a:xfrm>
            <a:off x="2540345" y="2965808"/>
            <a:ext cx="2191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Отсутствие специализированного инвентаря для уборки экспонатов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4CB66E-3F8D-9966-9531-2BBF7ED66E39}"/>
              </a:ext>
            </a:extLst>
          </p:cNvPr>
          <p:cNvSpPr txBox="1"/>
          <p:nvPr/>
        </p:nvSpPr>
        <p:spPr>
          <a:xfrm>
            <a:off x="2814251" y="4051451"/>
            <a:ext cx="1844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Старое или неудобное оборудование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25854-D8BE-34EE-7C9A-000A37890920}"/>
              </a:ext>
            </a:extLst>
          </p:cNvPr>
          <p:cNvSpPr txBox="1"/>
          <p:nvPr/>
        </p:nvSpPr>
        <p:spPr>
          <a:xfrm>
            <a:off x="2092927" y="4413710"/>
            <a:ext cx="2214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Нет автоматизированных решений для учёта/учётных работ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C95852-9D83-3D67-0C16-2D9442ACAAC9}"/>
              </a:ext>
            </a:extLst>
          </p:cNvPr>
          <p:cNvSpPr txBox="1"/>
          <p:nvPr/>
        </p:nvSpPr>
        <p:spPr>
          <a:xfrm>
            <a:off x="1696479" y="4810987"/>
            <a:ext cx="19873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Недостаточное количество инструментов для распределения задач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7E926A-0A17-FF87-3D58-5E3718E6DB22}"/>
              </a:ext>
            </a:extLst>
          </p:cNvPr>
          <p:cNvSpPr txBox="1"/>
          <p:nvPr/>
        </p:nvSpPr>
        <p:spPr>
          <a:xfrm>
            <a:off x="4925885" y="3782943"/>
            <a:ext cx="2370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Неэффективное распределение обязанностей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DAE49F-6536-0787-1E08-1B032623C237}"/>
              </a:ext>
            </a:extLst>
          </p:cNvPr>
          <p:cNvSpPr txBox="1"/>
          <p:nvPr/>
        </p:nvSpPr>
        <p:spPr>
          <a:xfrm>
            <a:off x="5095878" y="4085171"/>
            <a:ext cx="1844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Отсутствие контроля за загрузкой сотрудников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91CC00-8C83-0AF4-7154-C259A51A4C9D}"/>
              </a:ext>
            </a:extLst>
          </p:cNvPr>
          <p:cNvSpPr txBox="1"/>
          <p:nvPr/>
        </p:nvSpPr>
        <p:spPr>
          <a:xfrm>
            <a:off x="4704323" y="4485281"/>
            <a:ext cx="1973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1"/>
                </a:solidFill>
              </a:rPr>
              <a:t>Нет анализа эффективности процессов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CA885F-8EDB-6E3E-723E-6903AE24A245}"/>
              </a:ext>
            </a:extLst>
          </p:cNvPr>
          <p:cNvSpPr txBox="1"/>
          <p:nvPr/>
        </p:nvSpPr>
        <p:spPr>
          <a:xfrm>
            <a:off x="4212110" y="4827964"/>
            <a:ext cx="2496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Руководство не отслеживает использование рабочего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410769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540</TotalTime>
  <Words>370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Calisto MT</vt:lpstr>
      <vt:lpstr>Grandview Display</vt:lpstr>
      <vt:lpstr>Times New Roman</vt:lpstr>
      <vt:lpstr>Trebuchet MS</vt:lpstr>
      <vt:lpstr>Wingdings 2</vt:lpstr>
      <vt:lpstr>Slate</vt:lpstr>
      <vt:lpstr>Проектное задание по дисциплине «Анализ и моделирование бизнес- процессов»</vt:lpstr>
      <vt:lpstr>Зоологический музей и гербарий </vt:lpstr>
      <vt:lpstr>Чем занимается экскурсовод?</vt:lpstr>
      <vt:lpstr>Должностные инструкции экскурсовода</vt:lpstr>
      <vt:lpstr>Хронометраж экскурсовода</vt:lpstr>
      <vt:lpstr>Паспорт проекта</vt:lpstr>
      <vt:lpstr>Паспорт проекта </vt:lpstr>
      <vt:lpstr>USM ( Universal Scenario Modeling )</vt:lpstr>
      <vt:lpstr>SIPOC ( Suppliers, Inputs, Process, Outputs, Customers ) </vt:lpstr>
      <vt:lpstr>BPMN ( Business Process Model and Notation )</vt:lpstr>
      <vt:lpstr>5 причин почему 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Проектное задание по дисциплине «Анализ и моделирование бизнес- процессов»</dc:title>
  <dc:creator>dmitriy kabanov</dc:creator>
  <cp:lastModifiedBy>dmitriy kabanov</cp:lastModifiedBy>
  <cp:revision>16</cp:revision>
  <dcterms:created xsi:type="dcterms:W3CDTF">2025-04-29T17:29:03Z</dcterms:created>
  <dcterms:modified xsi:type="dcterms:W3CDTF">2025-05-01T20:33:57Z</dcterms:modified>
</cp:coreProperties>
</file>