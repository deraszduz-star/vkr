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9"/>
  </p:notesMasterIdLst>
  <p:handoutMasterIdLst>
    <p:handoutMasterId r:id="rId30"/>
  </p:handoutMasterIdLst>
  <p:sldIdLst>
    <p:sldId id="256" r:id="rId5"/>
    <p:sldId id="295" r:id="rId6"/>
    <p:sldId id="261" r:id="rId7"/>
    <p:sldId id="296" r:id="rId8"/>
    <p:sldId id="297" r:id="rId9"/>
    <p:sldId id="298" r:id="rId10"/>
    <p:sldId id="300" r:id="rId11"/>
    <p:sldId id="277" r:id="rId12"/>
    <p:sldId id="299" r:id="rId13"/>
    <p:sldId id="265" r:id="rId14"/>
    <p:sldId id="301" r:id="rId15"/>
    <p:sldId id="309" r:id="rId16"/>
    <p:sldId id="289" r:id="rId17"/>
    <p:sldId id="302" r:id="rId18"/>
    <p:sldId id="278" r:id="rId19"/>
    <p:sldId id="258" r:id="rId20"/>
    <p:sldId id="303" r:id="rId21"/>
    <p:sldId id="266" r:id="rId22"/>
    <p:sldId id="305" r:id="rId23"/>
    <p:sldId id="304" r:id="rId24"/>
    <p:sldId id="310" r:id="rId25"/>
    <p:sldId id="306" r:id="rId26"/>
    <p:sldId id="307" r:id="rId27"/>
    <p:sldId id="308" r:id="rId2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D1F85-3029-4BA0-8442-3E5D25131362}" v="2549" dt="2025-05-03T12:51:44.3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4" y="4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C0F8075-1A65-4E2D-86FD-3149223795BF}" type="datetime1">
              <a:rPr lang="ru-RU" smtClean="0"/>
              <a:t>05.05.2025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F6790-AAC1-45DA-A380-9B168CABEF7B}" type="datetime1">
              <a:rPr lang="ru-RU" smtClean="0"/>
              <a:pPr/>
              <a:t>05.05.2025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884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E60486-AB01-8828-E6EA-24F69A5D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59D7E073-229B-D522-A528-74FAE422F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D718B2E9-BC92-E2AB-BAFC-1CA0E4826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77349AEC-5FCC-7051-559F-FAE74F98F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0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E1B06C0-389C-EC62-DAF5-9D7AF4F1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3D9A4475-B9E7-C92B-9764-F227222882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6C56E4CA-65C3-0173-5B48-DBDDCA3EB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1874FEA1-89EF-9637-078C-9DDAC646A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398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B2AF377-C44F-A263-FF92-990571D3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DD86A0C6-C097-CECF-3667-16D183556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D44363C6-37BD-67DB-91F6-81964E6ED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5922B86-FF4C-577B-3920-A21E4B2B4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499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428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99812F-2592-9087-70B7-BF19B75E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AF9E9115-B261-CC41-CA5D-B10562393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7286B1F3-7906-E236-5E58-A2112C27F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B2A53A8-C821-3384-4F5A-04054DCDF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24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DEB455-7995-0B9D-24B4-6333915F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AA91D685-32F6-FE9C-8EAB-E0C4EF9BD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CACAC3D1-3BF9-9751-27AC-6EBBD02B4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5AD4887A-35FB-FFF1-7FDC-085B7ACD1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491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2386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4565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2031A6F-A3C9-4533-EBFE-AF9D889E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6EAF3B9B-A6FB-4421-D0E7-75B04CAF37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3A924DE7-7A5F-02B9-5858-CFC07D88C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21355CB-9FCA-7377-EBB4-7CB9D3591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9708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538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414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86A1F4D-2FAA-163D-D785-3D99B69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1F54B173-9BAD-3959-8152-578A46DE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D92BDB02-2028-ADDC-0D8E-32FDE1294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BB3ADE4F-EB3B-876F-43A4-E4DA4844D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0957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6467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446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41A5ED-6F1C-F124-1B77-0C081576E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C8BD89D1-683A-8D0D-C230-5A6615409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AACF06D8-A72D-4B2A-609F-04C57258C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7AA156F-2E6F-D01C-CE1E-493B13221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24757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30EB42F-8F10-DD01-CAA8-5E8A54B61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xmlns="" id="{89210F7A-D110-E41C-C0CA-CEF834B69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xmlns="" id="{297DE461-4FC6-F981-DF3E-80326566A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B3746BB-F2C8-42BF-AD8D-298A177D2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916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18.sv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xmlns="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Повестка дн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xmlns="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20XX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Графический объект 10">
            <a:extLst>
              <a:ext uri="{FF2B5EF4-FFF2-40B4-BE49-F238E27FC236}">
                <a16:creationId xmlns:a16="http://schemas.microsoft.com/office/drawing/2014/main" xmlns="" id="{9D2AF524-D4B4-4A3A-9CE4-EDAFE1D5A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ЗАГОЛОВОК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xmlns="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8" name="Текст 15">
            <a:extLst>
              <a:ext uri="{FF2B5EF4-FFF2-40B4-BE49-F238E27FC236}">
                <a16:creationId xmlns:a16="http://schemas.microsoft.com/office/drawing/2014/main" xmlns="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xmlns="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4" name="Текст 15">
            <a:extLst>
              <a:ext uri="{FF2B5EF4-FFF2-40B4-BE49-F238E27FC236}">
                <a16:creationId xmlns:a16="http://schemas.microsoft.com/office/drawing/2014/main" xmlns="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5" name="Текст 15">
            <a:extLst>
              <a:ext uri="{FF2B5EF4-FFF2-40B4-BE49-F238E27FC236}">
                <a16:creationId xmlns:a16="http://schemas.microsoft.com/office/drawing/2014/main" xmlns="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6" name="Текст 15">
            <a:extLst>
              <a:ext uri="{FF2B5EF4-FFF2-40B4-BE49-F238E27FC236}">
                <a16:creationId xmlns:a16="http://schemas.microsoft.com/office/drawing/2014/main" xmlns="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sp>
        <p:nvSpPr>
          <p:cNvPr id="37" name="Текст 15">
            <a:extLst>
              <a:ext uri="{FF2B5EF4-FFF2-40B4-BE49-F238E27FC236}">
                <a16:creationId xmlns:a16="http://schemas.microsoft.com/office/drawing/2014/main" xmlns="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стиль текста на образце слайда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xmlns="" id="{D3795F91-C721-4363-956D-756673AE795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xmlns="" id="{8AC14461-E27D-413D-B31A-47B74646AF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4D6AEA4C-7710-4829-BA87-8DD77F15932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E9BD473E-6203-491C-87AC-54AC0AB2333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20XX г.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3 столбцами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1" name="Текст 15">
            <a:extLst>
              <a:ext uri="{FF2B5EF4-FFF2-40B4-BE49-F238E27FC236}">
                <a16:creationId xmlns:a16="http://schemas.microsoft.com/office/drawing/2014/main" xmlns="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2" name="Текст 18">
            <a:extLst>
              <a:ext uri="{FF2B5EF4-FFF2-40B4-BE49-F238E27FC236}">
                <a16:creationId xmlns:a16="http://schemas.microsoft.com/office/drawing/2014/main" xmlns="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3" name="Текст 15">
            <a:extLst>
              <a:ext uri="{FF2B5EF4-FFF2-40B4-BE49-F238E27FC236}">
                <a16:creationId xmlns:a16="http://schemas.microsoft.com/office/drawing/2014/main" xmlns="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34" name="Текст 18">
            <a:extLst>
              <a:ext uri="{FF2B5EF4-FFF2-40B4-BE49-F238E27FC236}">
                <a16:creationId xmlns:a16="http://schemas.microsoft.com/office/drawing/2014/main" xmlns="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2" name="Текст 15">
            <a:extLst>
              <a:ext uri="{FF2B5EF4-FFF2-40B4-BE49-F238E27FC236}">
                <a16:creationId xmlns:a16="http://schemas.microsoft.com/office/drawing/2014/main" xmlns="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3" name="Текст 18">
            <a:extLst>
              <a:ext uri="{FF2B5EF4-FFF2-40B4-BE49-F238E27FC236}">
                <a16:creationId xmlns:a16="http://schemas.microsoft.com/office/drawing/2014/main" xmlns="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xmlns="" id="{9298DCF7-7DC1-4618-8133-F63847B0AF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653A6567-233D-4A3B-B52B-DE7E5E35A17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xmlns="" id="{64D564EB-CA78-42C6-AD76-3C4E7B3AEA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Графический объект 7">
            <a:extLst>
              <a:ext uri="{FF2B5EF4-FFF2-40B4-BE49-F238E27FC236}">
                <a16:creationId xmlns:a16="http://schemas.microsoft.com/office/drawing/2014/main" xmlns="" id="{1CFFBB3A-BDCF-4878-8D04-E8BB9A050E7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с 2 столбц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>
            <a:extLst>
              <a:ext uri="{FF2B5EF4-FFF2-40B4-BE49-F238E27FC236}">
                <a16:creationId xmlns:a16="http://schemas.microsoft.com/office/drawing/2014/main" xmlns="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xmlns="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7" name="Текст 18">
            <a:extLst>
              <a:ext uri="{FF2B5EF4-FFF2-40B4-BE49-F238E27FC236}">
                <a16:creationId xmlns:a16="http://schemas.microsoft.com/office/drawing/2014/main" xmlns="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8" name="Текст 18">
            <a:extLst>
              <a:ext uri="{FF2B5EF4-FFF2-40B4-BE49-F238E27FC236}">
                <a16:creationId xmlns:a16="http://schemas.microsoft.com/office/drawing/2014/main" xmlns="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9" name="Текст 15">
            <a:extLst>
              <a:ext uri="{FF2B5EF4-FFF2-40B4-BE49-F238E27FC236}">
                <a16:creationId xmlns:a16="http://schemas.microsoft.com/office/drawing/2014/main" xmlns="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0" name="Текст 18">
            <a:extLst>
              <a:ext uri="{FF2B5EF4-FFF2-40B4-BE49-F238E27FC236}">
                <a16:creationId xmlns:a16="http://schemas.microsoft.com/office/drawing/2014/main" xmlns="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3" name="Текст 15">
            <a:extLst>
              <a:ext uri="{FF2B5EF4-FFF2-40B4-BE49-F238E27FC236}">
                <a16:creationId xmlns:a16="http://schemas.microsoft.com/office/drawing/2014/main" xmlns="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4" name="Текст 18">
            <a:extLst>
              <a:ext uri="{FF2B5EF4-FFF2-40B4-BE49-F238E27FC236}">
                <a16:creationId xmlns:a16="http://schemas.microsoft.com/office/drawing/2014/main" xmlns="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xmlns="" id="{6D8D9106-8780-461D-9091-E074B0A3C9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Вступлени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Дата 6">
            <a:extLst>
              <a:ext uri="{FF2B5EF4-FFF2-40B4-BE49-F238E27FC236}">
                <a16:creationId xmlns:a16="http://schemas.microsoft.com/office/drawing/2014/main" xmlns="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xmlns="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xmlns="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pic>
        <p:nvPicPr>
          <p:cNvPr id="5" name="Графический объект 4">
            <a:extLst>
              <a:ext uri="{FF2B5EF4-FFF2-40B4-BE49-F238E27FC236}">
                <a16:creationId xmlns:a16="http://schemas.microsoft.com/office/drawing/2014/main" xmlns="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 6">
            <a:extLst>
              <a:ext uri="{FF2B5EF4-FFF2-40B4-BE49-F238E27FC236}">
                <a16:creationId xmlns:a16="http://schemas.microsoft.com/office/drawing/2014/main" xmlns="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15">
            <a:extLst>
              <a:ext uri="{FF2B5EF4-FFF2-40B4-BE49-F238E27FC236}">
                <a16:creationId xmlns:a16="http://schemas.microsoft.com/office/drawing/2014/main" xmlns="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2" name="Текст 18">
            <a:extLst>
              <a:ext uri="{FF2B5EF4-FFF2-40B4-BE49-F238E27FC236}">
                <a16:creationId xmlns:a16="http://schemas.microsoft.com/office/drawing/2014/main" xmlns="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3" name="Текст 15">
            <a:extLst>
              <a:ext uri="{FF2B5EF4-FFF2-40B4-BE49-F238E27FC236}">
                <a16:creationId xmlns:a16="http://schemas.microsoft.com/office/drawing/2014/main" xmlns="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xmlns="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5" name="Текст 15">
            <a:extLst>
              <a:ext uri="{FF2B5EF4-FFF2-40B4-BE49-F238E27FC236}">
                <a16:creationId xmlns:a16="http://schemas.microsoft.com/office/drawing/2014/main" xmlns="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16" name="Текст 18">
            <a:extLst>
              <a:ext uri="{FF2B5EF4-FFF2-40B4-BE49-F238E27FC236}">
                <a16:creationId xmlns:a16="http://schemas.microsoft.com/office/drawing/2014/main" xmlns="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17" name="Дата 2">
            <a:extLst>
              <a:ext uri="{FF2B5EF4-FFF2-40B4-BE49-F238E27FC236}">
                <a16:creationId xmlns:a16="http://schemas.microsoft.com/office/drawing/2014/main" xmlns="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8" name="Нижний колонтитул 3">
            <a:extLst>
              <a:ext uri="{FF2B5EF4-FFF2-40B4-BE49-F238E27FC236}">
                <a16:creationId xmlns:a16="http://schemas.microsoft.com/office/drawing/2014/main" xmlns="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xmlns="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ыночное 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xmlns="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xmlns="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xmlns="" id="{B38B0D13-BD5F-460B-B337-F4A9342026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xmlns="" id="{BE72876B-D3DA-4462-9E24-3354D8D02A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Графический объект 14">
            <a:extLst>
              <a:ext uri="{FF2B5EF4-FFF2-40B4-BE49-F238E27FC236}">
                <a16:creationId xmlns:a16="http://schemas.microsoft.com/office/drawing/2014/main" xmlns="" id="{14A539B6-6E3F-41BA-ACE2-76E8BB65163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Объект 3">
            <a:extLst>
              <a:ext uri="{FF2B5EF4-FFF2-40B4-BE49-F238E27FC236}">
                <a16:creationId xmlns:a16="http://schemas.microsoft.com/office/drawing/2014/main" xmlns="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5">
            <a:extLst>
              <a:ext uri="{FF2B5EF4-FFF2-40B4-BE49-F238E27FC236}">
                <a16:creationId xmlns:a16="http://schemas.microsoft.com/office/drawing/2014/main" xmlns="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27" name="Объект 3">
            <a:extLst>
              <a:ext uri="{FF2B5EF4-FFF2-40B4-BE49-F238E27FC236}">
                <a16:creationId xmlns:a16="http://schemas.microsoft.com/office/drawing/2014/main" xmlns="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Два объект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 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1" name="Графический объект 10">
            <a:extLst>
              <a:ext uri="{FF2B5EF4-FFF2-40B4-BE49-F238E27FC236}">
                <a16:creationId xmlns:a16="http://schemas.microsoft.com/office/drawing/2014/main" xmlns="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Квадра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Заголовок 1">
            <a:extLst>
              <a:ext uri="{FF2B5EF4-FFF2-40B4-BE49-F238E27FC236}">
                <a16:creationId xmlns:a16="http://schemas.microsoft.com/office/drawing/2014/main" xmlns="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xmlns="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8" name="Текст 14">
            <a:extLst>
              <a:ext uri="{FF2B5EF4-FFF2-40B4-BE49-F238E27FC236}">
                <a16:creationId xmlns:a16="http://schemas.microsoft.com/office/drawing/2014/main" xmlns="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6" name="Текст 14">
            <a:extLst>
              <a:ext uri="{FF2B5EF4-FFF2-40B4-BE49-F238E27FC236}">
                <a16:creationId xmlns:a16="http://schemas.microsoft.com/office/drawing/2014/main" xmlns="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xmlns="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7" name="Текст 14">
            <a:extLst>
              <a:ext uri="{FF2B5EF4-FFF2-40B4-BE49-F238E27FC236}">
                <a16:creationId xmlns:a16="http://schemas.microsoft.com/office/drawing/2014/main" xmlns="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0" name="Текст 14">
            <a:extLst>
              <a:ext uri="{FF2B5EF4-FFF2-40B4-BE49-F238E27FC236}">
                <a16:creationId xmlns:a16="http://schemas.microsoft.com/office/drawing/2014/main" xmlns="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9" name="Текст 14">
            <a:extLst>
              <a:ext uri="{FF2B5EF4-FFF2-40B4-BE49-F238E27FC236}">
                <a16:creationId xmlns:a16="http://schemas.microsoft.com/office/drawing/2014/main" xmlns="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1" name="Текст 14">
            <a:extLst>
              <a:ext uri="{FF2B5EF4-FFF2-40B4-BE49-F238E27FC236}">
                <a16:creationId xmlns:a16="http://schemas.microsoft.com/office/drawing/2014/main" xmlns="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16" name="Текст 14">
            <a:extLst>
              <a:ext uri="{FF2B5EF4-FFF2-40B4-BE49-F238E27FC236}">
                <a16:creationId xmlns:a16="http://schemas.microsoft.com/office/drawing/2014/main" xmlns="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xmlns="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Щелкните, чтобы добавить имя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xmlns="" id="{DD194B4E-75F4-47BE-B171-9C64697AB9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FEFDA35F-76DF-4FDC-90C9-F9FEDF3227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Дата 2">
            <a:extLst>
              <a:ext uri="{FF2B5EF4-FFF2-40B4-BE49-F238E27FC236}">
                <a16:creationId xmlns:a16="http://schemas.microsoft.com/office/drawing/2014/main" xmlns="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2" name="Нижний колонтитул 3">
            <a:extLst>
              <a:ext uri="{FF2B5EF4-FFF2-40B4-BE49-F238E27FC236}">
                <a16:creationId xmlns:a16="http://schemas.microsoft.com/office/drawing/2014/main" xmlns="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3" name="Номер слайда 4">
            <a:extLst>
              <a:ext uri="{FF2B5EF4-FFF2-40B4-BE49-F238E27FC236}">
                <a16:creationId xmlns:a16="http://schemas.microsoft.com/office/drawing/2014/main" xmlns="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xmlns="" id="{AE202E03-5C65-4305-B969-65220AD4100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Заголовок 1">
            <a:extLst>
              <a:ext uri="{FF2B5EF4-FFF2-40B4-BE49-F238E27FC236}">
                <a16:creationId xmlns:a16="http://schemas.microsoft.com/office/drawing/2014/main" xmlns="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20" name="Текст 15">
            <a:extLst>
              <a:ext uri="{FF2B5EF4-FFF2-40B4-BE49-F238E27FC236}">
                <a16:creationId xmlns:a16="http://schemas.microsoft.com/office/drawing/2014/main" xmlns="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5" name="Текст 18">
            <a:extLst>
              <a:ext uri="{FF2B5EF4-FFF2-40B4-BE49-F238E27FC236}">
                <a16:creationId xmlns:a16="http://schemas.microsoft.com/office/drawing/2014/main" xmlns="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6" name="Текст 15">
            <a:extLst>
              <a:ext uri="{FF2B5EF4-FFF2-40B4-BE49-F238E27FC236}">
                <a16:creationId xmlns:a16="http://schemas.microsoft.com/office/drawing/2014/main" xmlns="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7" name="Текст 18">
            <a:extLst>
              <a:ext uri="{FF2B5EF4-FFF2-40B4-BE49-F238E27FC236}">
                <a16:creationId xmlns:a16="http://schemas.microsoft.com/office/drawing/2014/main" xmlns="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8" name="Текст 15">
            <a:extLst>
              <a:ext uri="{FF2B5EF4-FFF2-40B4-BE49-F238E27FC236}">
                <a16:creationId xmlns:a16="http://schemas.microsoft.com/office/drawing/2014/main" xmlns="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ru-RU" noProof="0"/>
              <a:t>ЩЕЛКНИТЕ, ЧТОБЫ ДОБАВИТЬ ПОДЗАГОЛОВОК</a:t>
            </a:r>
          </a:p>
        </p:txBody>
      </p:sp>
      <p:sp>
        <p:nvSpPr>
          <p:cNvPr id="29" name="Текст 18">
            <a:extLst>
              <a:ext uri="{FF2B5EF4-FFF2-40B4-BE49-F238E27FC236}">
                <a16:creationId xmlns:a16="http://schemas.microsoft.com/office/drawing/2014/main" xmlns="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Текст слайда</a:t>
            </a:r>
          </a:p>
        </p:txBody>
      </p:sp>
      <p:sp>
        <p:nvSpPr>
          <p:cNvPr id="21" name="Дата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6" name="Текст 10">
            <a:extLst>
              <a:ext uri="{FF2B5EF4-FFF2-40B4-BE49-F238E27FC236}">
                <a16:creationId xmlns:a16="http://schemas.microsoft.com/office/drawing/2014/main" xmlns="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xmlns="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xmlns="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xmlns="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xmlns="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xmlns="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lvl="0" rtl="0"/>
            <a:r>
              <a:rPr lang="ru-RU" noProof="0"/>
              <a:t>Год</a:t>
            </a:r>
          </a:p>
        </p:txBody>
      </p:sp>
      <p:sp>
        <p:nvSpPr>
          <p:cNvPr id="12" name="Текст 10">
            <a:extLst>
              <a:ext uri="{FF2B5EF4-FFF2-40B4-BE49-F238E27FC236}">
                <a16:creationId xmlns:a16="http://schemas.microsoft.com/office/drawing/2014/main" xmlns="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3" name="Текст 10">
            <a:extLst>
              <a:ext uri="{FF2B5EF4-FFF2-40B4-BE49-F238E27FC236}">
                <a16:creationId xmlns:a16="http://schemas.microsoft.com/office/drawing/2014/main" xmlns="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4" name="Текст 10">
            <a:extLst>
              <a:ext uri="{FF2B5EF4-FFF2-40B4-BE49-F238E27FC236}">
                <a16:creationId xmlns:a16="http://schemas.microsoft.com/office/drawing/2014/main" xmlns="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xmlns="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6" name="Текст 10">
            <a:extLst>
              <a:ext uri="{FF2B5EF4-FFF2-40B4-BE49-F238E27FC236}">
                <a16:creationId xmlns:a16="http://schemas.microsoft.com/office/drawing/2014/main" xmlns="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7" name="Текст 10">
            <a:extLst>
              <a:ext uri="{FF2B5EF4-FFF2-40B4-BE49-F238E27FC236}">
                <a16:creationId xmlns:a16="http://schemas.microsoft.com/office/drawing/2014/main" xmlns="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8" name="Текст 10">
            <a:extLst>
              <a:ext uri="{FF2B5EF4-FFF2-40B4-BE49-F238E27FC236}">
                <a16:creationId xmlns:a16="http://schemas.microsoft.com/office/drawing/2014/main" xmlns="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xmlns="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0" name="Текст 10">
            <a:extLst>
              <a:ext uri="{FF2B5EF4-FFF2-40B4-BE49-F238E27FC236}">
                <a16:creationId xmlns:a16="http://schemas.microsoft.com/office/drawing/2014/main" xmlns="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1" name="Текст 10">
            <a:extLst>
              <a:ext uri="{FF2B5EF4-FFF2-40B4-BE49-F238E27FC236}">
                <a16:creationId xmlns:a16="http://schemas.microsoft.com/office/drawing/2014/main" xmlns="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2" name="Текст 10">
            <a:extLst>
              <a:ext uri="{FF2B5EF4-FFF2-40B4-BE49-F238E27FC236}">
                <a16:creationId xmlns:a16="http://schemas.microsoft.com/office/drawing/2014/main" xmlns="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3" name="Текст 10">
            <a:extLst>
              <a:ext uri="{FF2B5EF4-FFF2-40B4-BE49-F238E27FC236}">
                <a16:creationId xmlns:a16="http://schemas.microsoft.com/office/drawing/2014/main" xmlns="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4" name="Текст 10">
            <a:extLst>
              <a:ext uri="{FF2B5EF4-FFF2-40B4-BE49-F238E27FC236}">
                <a16:creationId xmlns:a16="http://schemas.microsoft.com/office/drawing/2014/main" xmlns="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5" name="Текст 10">
            <a:extLst>
              <a:ext uri="{FF2B5EF4-FFF2-40B4-BE49-F238E27FC236}">
                <a16:creationId xmlns:a16="http://schemas.microsoft.com/office/drawing/2014/main" xmlns="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xmlns="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7" name="Текст 10">
            <a:extLst>
              <a:ext uri="{FF2B5EF4-FFF2-40B4-BE49-F238E27FC236}">
                <a16:creationId xmlns:a16="http://schemas.microsoft.com/office/drawing/2014/main" xmlns="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8" name="Текст 10">
            <a:extLst>
              <a:ext uri="{FF2B5EF4-FFF2-40B4-BE49-F238E27FC236}">
                <a16:creationId xmlns:a16="http://schemas.microsoft.com/office/drawing/2014/main" xmlns="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29" name="Текст 10">
            <a:extLst>
              <a:ext uri="{FF2B5EF4-FFF2-40B4-BE49-F238E27FC236}">
                <a16:creationId xmlns:a16="http://schemas.microsoft.com/office/drawing/2014/main" xmlns="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xmlns="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1" name="Текст 10">
            <a:extLst>
              <a:ext uri="{FF2B5EF4-FFF2-40B4-BE49-F238E27FC236}">
                <a16:creationId xmlns:a16="http://schemas.microsoft.com/office/drawing/2014/main" xmlns="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ru-RU" noProof="0"/>
              <a:t>ММ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xmlns="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6" name="Дата 2">
            <a:extLst>
              <a:ext uri="{FF2B5EF4-FFF2-40B4-BE49-F238E27FC236}">
                <a16:creationId xmlns:a16="http://schemas.microsoft.com/office/drawing/2014/main" xmlns="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xmlns="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38" name="Номер слайда 4">
            <a:extLst>
              <a:ext uri="{FF2B5EF4-FFF2-40B4-BE49-F238E27FC236}">
                <a16:creationId xmlns:a16="http://schemas.microsoft.com/office/drawing/2014/main" xmlns="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полнитель графического элемента SmartArt 6">
            <a:extLst>
              <a:ext uri="{FF2B5EF4-FFF2-40B4-BE49-F238E27FC236}">
                <a16:creationId xmlns:a16="http://schemas.microsoft.com/office/drawing/2014/main" xmlns="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графический элемент SmartArt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4 человек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4E4B72DA-52CB-4D39-A342-8857B4D959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21D9BCDA-DFB7-41A4-A7C7-CEE86CEDCBE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лайд команды: 8 челове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xmlns="" id="{B0BDE76A-30A6-4268-9656-28A484C3DCC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7" name="Рисунок 10">
            <a:extLst>
              <a:ext uri="{FF2B5EF4-FFF2-40B4-BE49-F238E27FC236}">
                <a16:creationId xmlns:a16="http://schemas.microsoft.com/office/drawing/2014/main" xmlns="" id="{C4CA5C9C-91D5-44B1-A82A-A49732B469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8" name="Рисунок 10">
            <a:extLst>
              <a:ext uri="{FF2B5EF4-FFF2-40B4-BE49-F238E27FC236}">
                <a16:creationId xmlns:a16="http://schemas.microsoft.com/office/drawing/2014/main" xmlns="" id="{4EBC7D6F-397D-4C5A-AA62-F683F88531A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19" name="Рисунок 10">
            <a:extLst>
              <a:ext uri="{FF2B5EF4-FFF2-40B4-BE49-F238E27FC236}">
                <a16:creationId xmlns:a16="http://schemas.microsoft.com/office/drawing/2014/main" xmlns="" id="{92E6B581-A522-4758-A9A4-8B9C7B860CF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xmlns="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xmlns="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7" name="Текст 2">
            <a:extLst>
              <a:ext uri="{FF2B5EF4-FFF2-40B4-BE49-F238E27FC236}">
                <a16:creationId xmlns:a16="http://schemas.microsoft.com/office/drawing/2014/main" xmlns="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4" name="Текст 2">
            <a:extLst>
              <a:ext uri="{FF2B5EF4-FFF2-40B4-BE49-F238E27FC236}">
                <a16:creationId xmlns:a16="http://schemas.microsoft.com/office/drawing/2014/main" xmlns="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8" name="Текст 2">
            <a:extLst>
              <a:ext uri="{FF2B5EF4-FFF2-40B4-BE49-F238E27FC236}">
                <a16:creationId xmlns:a16="http://schemas.microsoft.com/office/drawing/2014/main" xmlns="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xmlns="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9" name="Текст 2">
            <a:extLst>
              <a:ext uri="{FF2B5EF4-FFF2-40B4-BE49-F238E27FC236}">
                <a16:creationId xmlns:a16="http://schemas.microsoft.com/office/drawing/2014/main" xmlns="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5" name="Рисунок 10">
            <a:extLst>
              <a:ext uri="{FF2B5EF4-FFF2-40B4-BE49-F238E27FC236}">
                <a16:creationId xmlns:a16="http://schemas.microsoft.com/office/drawing/2014/main" xmlns="" id="{1EBAEB1D-A7F9-4F90-B642-4277D3802BA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6" name="Рисунок 10">
            <a:extLst>
              <a:ext uri="{FF2B5EF4-FFF2-40B4-BE49-F238E27FC236}">
                <a16:creationId xmlns:a16="http://schemas.microsoft.com/office/drawing/2014/main" xmlns="" id="{9461A69E-14C8-4325-89AF-D4257C1C05B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7" name="Рисунок 10">
            <a:extLst>
              <a:ext uri="{FF2B5EF4-FFF2-40B4-BE49-F238E27FC236}">
                <a16:creationId xmlns:a16="http://schemas.microsoft.com/office/drawing/2014/main" xmlns="" id="{0FB38616-82FB-4DAD-A82E-3777ACB4114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8" name="Рисунок 10">
            <a:extLst>
              <a:ext uri="{FF2B5EF4-FFF2-40B4-BE49-F238E27FC236}">
                <a16:creationId xmlns:a16="http://schemas.microsoft.com/office/drawing/2014/main" xmlns="" id="{622ED9F4-EB9B-4588-8501-BFECB846EE7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54" name="Текст 2">
            <a:extLst>
              <a:ext uri="{FF2B5EF4-FFF2-40B4-BE49-F238E27FC236}">
                <a16:creationId xmlns:a16="http://schemas.microsoft.com/office/drawing/2014/main" xmlns="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2" name="Текст 2">
            <a:extLst>
              <a:ext uri="{FF2B5EF4-FFF2-40B4-BE49-F238E27FC236}">
                <a16:creationId xmlns:a16="http://schemas.microsoft.com/office/drawing/2014/main" xmlns="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59" name="Текст 2">
            <a:extLst>
              <a:ext uri="{FF2B5EF4-FFF2-40B4-BE49-F238E27FC236}">
                <a16:creationId xmlns:a16="http://schemas.microsoft.com/office/drawing/2014/main" xmlns="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3" name="Текст 2">
            <a:extLst>
              <a:ext uri="{FF2B5EF4-FFF2-40B4-BE49-F238E27FC236}">
                <a16:creationId xmlns:a16="http://schemas.microsoft.com/office/drawing/2014/main" xmlns="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0" name="Текст 2">
            <a:extLst>
              <a:ext uri="{FF2B5EF4-FFF2-40B4-BE49-F238E27FC236}">
                <a16:creationId xmlns:a16="http://schemas.microsoft.com/office/drawing/2014/main" xmlns="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4" name="Текст 2">
            <a:extLst>
              <a:ext uri="{FF2B5EF4-FFF2-40B4-BE49-F238E27FC236}">
                <a16:creationId xmlns:a16="http://schemas.microsoft.com/office/drawing/2014/main" xmlns="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1" name="Текст 2">
            <a:extLst>
              <a:ext uri="{FF2B5EF4-FFF2-40B4-BE49-F238E27FC236}">
                <a16:creationId xmlns:a16="http://schemas.microsoft.com/office/drawing/2014/main" xmlns="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65" name="Текст 2">
            <a:extLst>
              <a:ext uri="{FF2B5EF4-FFF2-40B4-BE49-F238E27FC236}">
                <a16:creationId xmlns:a16="http://schemas.microsoft.com/office/drawing/2014/main" xmlns="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  <p:pic>
        <p:nvPicPr>
          <p:cNvPr id="13" name="Графический объект 12">
            <a:extLst>
              <a:ext uri="{FF2B5EF4-FFF2-40B4-BE49-F238E27FC236}">
                <a16:creationId xmlns:a16="http://schemas.microsoft.com/office/drawing/2014/main" xmlns="" id="{B0DFD584-E5CF-41EF-B51E-679CE22DDF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Графический объект 13">
            <a:extLst>
              <a:ext uri="{FF2B5EF4-FFF2-40B4-BE49-F238E27FC236}">
                <a16:creationId xmlns:a16="http://schemas.microsoft.com/office/drawing/2014/main" xmlns="" id="{E5C02DDF-25A6-42C7-9525-F279CE2095C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содержимо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ЩЕЛКНИТЕ, ЧТОБЫ ИЗМЕНИТЬ СТИЛЬ ЗАГОЛОВКА НА ОБРАЗЦЕ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xmlns="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4" name="Объект 10">
            <a:extLst>
              <a:ext uri="{FF2B5EF4-FFF2-40B4-BE49-F238E27FC236}">
                <a16:creationId xmlns:a16="http://schemas.microsoft.com/office/drawing/2014/main" xmlns="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xmlns="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noProof="0"/>
              <a:t>ЩЕЛКНИТЕ, ЧТОБЫ ИЗМЕНИТЬ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5" name="Объект 10">
            <a:extLst>
              <a:ext uri="{FF2B5EF4-FFF2-40B4-BE49-F238E27FC236}">
                <a16:creationId xmlns:a16="http://schemas.microsoft.com/office/drawing/2014/main" xmlns="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21" name="Текст 2">
            <a:extLst>
              <a:ext uri="{FF2B5EF4-FFF2-40B4-BE49-F238E27FC236}">
                <a16:creationId xmlns:a16="http://schemas.microsoft.com/office/drawing/2014/main" xmlns="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xmlns="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sp>
        <p:nvSpPr>
          <p:cNvPr id="22" name="Объект 3">
            <a:extLst>
              <a:ext uri="{FF2B5EF4-FFF2-40B4-BE49-F238E27FC236}">
                <a16:creationId xmlns:a16="http://schemas.microsoft.com/office/drawing/2014/main" xmlns="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Объект 10">
            <a:extLst>
              <a:ext uri="{FF2B5EF4-FFF2-40B4-BE49-F238E27FC236}">
                <a16:creationId xmlns:a16="http://schemas.microsoft.com/office/drawing/2014/main" xmlns="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ru-RU" noProof="0"/>
              <a:t>Щелкните, чтобы добавить содержимое</a:t>
            </a:r>
          </a:p>
        </p:txBody>
      </p:sp>
      <p:sp>
        <p:nvSpPr>
          <p:cNvPr id="14" name="Текст 2">
            <a:extLst>
              <a:ext uri="{FF2B5EF4-FFF2-40B4-BE49-F238E27FC236}">
                <a16:creationId xmlns:a16="http://schemas.microsoft.com/office/drawing/2014/main" xmlns="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№</a:t>
            </a:r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xmlns="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463D7850-C2A6-43CE-BBE4-8E81A0A593B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EBAD3E03-2E3B-440C-9105-6F9D33006D6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3">
            <a:extLst>
              <a:ext uri="{FF2B5EF4-FFF2-40B4-BE49-F238E27FC236}">
                <a16:creationId xmlns:a16="http://schemas.microsoft.com/office/drawing/2014/main" xmlns="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xmlns="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xmlns="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Дата 6">
            <a:extLst>
              <a:ext uri="{FF2B5EF4-FFF2-40B4-BE49-F238E27FC236}">
                <a16:creationId xmlns:a16="http://schemas.microsoft.com/office/drawing/2014/main" xmlns="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22" name="Нижний колонтитул 7">
            <a:extLst>
              <a:ext uri="{FF2B5EF4-FFF2-40B4-BE49-F238E27FC236}">
                <a16:creationId xmlns:a16="http://schemas.microsoft.com/office/drawing/2014/main" xmlns="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24" name="Номер слайда 8">
            <a:extLst>
              <a:ext uri="{FF2B5EF4-FFF2-40B4-BE49-F238E27FC236}">
                <a16:creationId xmlns:a16="http://schemas.microsoft.com/office/drawing/2014/main" xmlns="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ключ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 noProof="0"/>
              <a:t>СТИЛЬ ОБРАЗЦА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xmlns="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Дата 6">
            <a:extLst>
              <a:ext uri="{FF2B5EF4-FFF2-40B4-BE49-F238E27FC236}">
                <a16:creationId xmlns:a16="http://schemas.microsoft.com/office/drawing/2014/main" xmlns="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20ГГ</a:t>
            </a:r>
          </a:p>
        </p:txBody>
      </p:sp>
      <p:sp>
        <p:nvSpPr>
          <p:cNvPr id="10" name="Нижний колонтитул 7">
            <a:extLst>
              <a:ext uri="{FF2B5EF4-FFF2-40B4-BE49-F238E27FC236}">
                <a16:creationId xmlns:a16="http://schemas.microsoft.com/office/drawing/2014/main" xmlns="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1" name="Номер слайда 8">
            <a:extLst>
              <a:ext uri="{FF2B5EF4-FFF2-40B4-BE49-F238E27FC236}">
                <a16:creationId xmlns:a16="http://schemas.microsoft.com/office/drawing/2014/main" xmlns="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noProof="0"/>
              <a:t>20ГГ</a:t>
            </a:r>
            <a:endParaRPr lang="ru-RU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noProof="0"/>
              <a:t>Набор слайдов для презентации</a:t>
            </a:r>
            <a:endParaRPr lang="ru-RU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noProof="0" smtClean="0"/>
              <a:pPr/>
              <a:t>‹#›</a:t>
            </a:fld>
            <a:endParaRPr lang="ru-RU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5988" y="4083113"/>
            <a:ext cx="5771823" cy="1473929"/>
          </a:xfrm>
        </p:spPr>
        <p:txBody>
          <a:bodyPr rtlCol="0"/>
          <a:lstStyle/>
          <a:p>
            <a:r>
              <a:rPr lang="ru-RU" b="1" dirty="0">
                <a:latin typeface="Arial"/>
                <a:cs typeface="Arial"/>
              </a:rPr>
              <a:t>Управление документооборота и контроля</a:t>
            </a:r>
            <a:endParaRPr lang="ru-RU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2737" y="5575685"/>
            <a:ext cx="5645074" cy="7552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Гайнутдинова </a:t>
            </a:r>
            <a:r>
              <a:rPr lang="ru-RU" dirty="0" err="1">
                <a:latin typeface="Arial"/>
                <a:cs typeface="Arial"/>
              </a:rPr>
              <a:t>Ильсия</a:t>
            </a:r>
            <a:r>
              <a:rPr lang="ru-RU" dirty="0">
                <a:latin typeface="Arial"/>
                <a:cs typeface="Arial"/>
              </a:rPr>
              <a:t>, Гибадуллина Алина, </a:t>
            </a:r>
            <a:r>
              <a:rPr lang="ru-RU" dirty="0" err="1">
                <a:latin typeface="Arial"/>
                <a:cs typeface="Arial"/>
              </a:rPr>
              <a:t>Кутлубаева</a:t>
            </a:r>
            <a:r>
              <a:rPr lang="ru-RU" dirty="0">
                <a:latin typeface="Arial"/>
                <a:cs typeface="Arial"/>
              </a:rPr>
              <a:t> </a:t>
            </a:r>
            <a:r>
              <a:rPr lang="ru-RU" dirty="0" err="1">
                <a:latin typeface="Arial"/>
                <a:cs typeface="Arial"/>
              </a:rPr>
              <a:t>Гузелия</a:t>
            </a:r>
            <a:endParaRPr lang="ru-RU" dirty="0" err="1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ашивка 3"/>
          <p:cNvSpPr/>
          <p:nvPr/>
        </p:nvSpPr>
        <p:spPr>
          <a:xfrm>
            <a:off x="4888866" y="144223"/>
            <a:ext cx="2390114" cy="914400"/>
          </a:xfrm>
          <a:prstGeom prst="chevron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95155" y="1190460"/>
            <a:ext cx="2480649" cy="1004935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входящих документов, рассылка писем по другим подразделениям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95147" y="2319695"/>
            <a:ext cx="2480649" cy="1004935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Резолюция документов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795147" y="3436865"/>
            <a:ext cx="2480649" cy="1004935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Согласование документов, отправка письма ректору на подписание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4795152" y="5694451"/>
            <a:ext cx="2480649" cy="1004935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Отправка ответа на письмо</a:t>
            </a:r>
          </a:p>
        </p:txBody>
      </p:sp>
      <p:cxnSp>
        <p:nvCxnSpPr>
          <p:cNvPr id="10" name="Соединительная линия уступом 9"/>
          <p:cNvCxnSpPr>
            <a:stCxn id="5" idx="2"/>
            <a:endCxn id="6" idx="0"/>
          </p:cNvCxnSpPr>
          <p:nvPr/>
        </p:nvCxnSpPr>
        <p:spPr>
          <a:xfrm rot="5400000">
            <a:off x="5973326" y="2257541"/>
            <a:ext cx="124300" cy="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6" idx="2"/>
            <a:endCxn id="7" idx="0"/>
          </p:cNvCxnSpPr>
          <p:nvPr/>
        </p:nvCxnSpPr>
        <p:spPr>
          <a:xfrm>
            <a:off x="6035472" y="3324630"/>
            <a:ext cx="0" cy="112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stCxn id="7" idx="2"/>
            <a:endCxn id="8" idx="0"/>
          </p:cNvCxnSpPr>
          <p:nvPr/>
        </p:nvCxnSpPr>
        <p:spPr>
          <a:xfrm>
            <a:off x="6035472" y="4441800"/>
            <a:ext cx="5" cy="12526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4795147" y="4565657"/>
            <a:ext cx="2480649" cy="1004935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ответа на письмо</a:t>
            </a:r>
          </a:p>
        </p:txBody>
      </p:sp>
      <p:sp>
        <p:nvSpPr>
          <p:cNvPr id="29" name="Нашивка 28"/>
          <p:cNvSpPr/>
          <p:nvPr/>
        </p:nvSpPr>
        <p:spPr>
          <a:xfrm>
            <a:off x="7070756" y="152644"/>
            <a:ext cx="2643606" cy="914400"/>
          </a:xfrm>
          <a:prstGeom prst="chevron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ru-RU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Нашивка 29"/>
          <p:cNvSpPr/>
          <p:nvPr/>
        </p:nvSpPr>
        <p:spPr>
          <a:xfrm>
            <a:off x="9460870" y="142958"/>
            <a:ext cx="2577221" cy="914400"/>
          </a:xfrm>
          <a:prstGeom prst="chevron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КЛИЕНТЫ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/>
          <p:cNvSpPr/>
          <p:nvPr/>
        </p:nvSpPr>
        <p:spPr>
          <a:xfrm>
            <a:off x="9714362" y="1190460"/>
            <a:ext cx="2323729" cy="3518598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МинОбразования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Правоохранительные органы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Налоговая служба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Граждане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университета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 подразделений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Организации(конференции, выставки, форумы)</a:t>
            </a:r>
          </a:p>
          <a:p>
            <a:pPr marL="285750" indent="-285750" algn="ctr">
              <a:buFontTx/>
              <a:buChar char="-"/>
            </a:pP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Нашивка 31"/>
          <p:cNvSpPr/>
          <p:nvPr/>
        </p:nvSpPr>
        <p:spPr>
          <a:xfrm>
            <a:off x="2706976" y="135802"/>
            <a:ext cx="2390114" cy="914400"/>
          </a:xfrm>
          <a:prstGeom prst="chevron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ВХОДЫ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Нашивка 32"/>
          <p:cNvSpPr/>
          <p:nvPr/>
        </p:nvSpPr>
        <p:spPr>
          <a:xfrm>
            <a:off x="0" y="133905"/>
            <a:ext cx="2915200" cy="914400"/>
          </a:xfrm>
          <a:prstGeom prst="chevron">
            <a:avLst/>
          </a:prstGeom>
          <a:solidFill>
            <a:schemeClr val="bg1"/>
          </a:solidFill>
          <a:ln w="57150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  <a:p>
            <a:pPr algn="ctr"/>
            <a:r>
              <a:rPr lang="ru-RU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ПОСТАВЩИКИ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SUPPLIERS</a:t>
            </a:r>
          </a:p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/>
          <p:cNvSpPr/>
          <p:nvPr/>
        </p:nvSpPr>
        <p:spPr>
          <a:xfrm>
            <a:off x="70271" y="1190460"/>
            <a:ext cx="2345495" cy="3518598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МинОбразования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Правоохранительные органы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Налоговая служба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Граждане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Студенты университета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Сотрудники подразделений</a:t>
            </a:r>
          </a:p>
          <a:p>
            <a:pPr marL="285750" indent="-285750">
              <a:buFontTx/>
              <a:buChar char="-"/>
            </a:pP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Организации(конференции, выставки, форумы)</a:t>
            </a:r>
          </a:p>
          <a:p>
            <a:pPr marL="285750" indent="-285750" algn="ctr">
              <a:buFontTx/>
              <a:buChar char="-"/>
            </a:pP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7402545" y="1190459"/>
            <a:ext cx="2157914" cy="3518599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ВАЖНЫЕ: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минобр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бухгалтерия, налоговая, правоохранительные органы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-приказы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-распоряжения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-положения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-регламенты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-акты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-счета -фактуры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-претензии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-дипломы, аттестаты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-справки для налоговой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-ответы на приглашения</a:t>
            </a:r>
          </a:p>
        </p:txBody>
      </p:sp>
      <p:sp>
        <p:nvSpPr>
          <p:cNvPr id="42" name="Прямоугольник 41"/>
          <p:cNvSpPr/>
          <p:nvPr/>
        </p:nvSpPr>
        <p:spPr>
          <a:xfrm>
            <a:off x="2569670" y="1190460"/>
            <a:ext cx="2098739" cy="4503991"/>
          </a:xfrm>
          <a:prstGeom prst="rect">
            <a:avLst/>
          </a:prstGeom>
          <a:solidFill>
            <a:schemeClr val="bg1"/>
          </a:solidFill>
          <a:ln w="41275" cmpd="sng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ВАЖНЫЕ: </a:t>
            </a:r>
            <a:r>
              <a:rPr lang="ru-RU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минобр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бухгалтерия, налоговая, правоохранительные органы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-бухгалтерия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-распоряжения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-приказы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-справки от налоговой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-приглашения на участие в разной деятельности (конференции, съезды, выставки, заседания, согласования вступить в качестве ведущей организации)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-претензия о задолженности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-акты 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-счета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801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62" y="303272"/>
            <a:ext cx="6086866" cy="677841"/>
          </a:xfrm>
        </p:spPr>
        <p:txBody>
          <a:bodyPr rtlCol="0">
            <a:normAutofit fontScale="90000"/>
          </a:bodyPr>
          <a:lstStyle/>
          <a:p>
            <a:r>
              <a:rPr lang="ru-RU">
                <a:latin typeface="Arial"/>
                <a:cs typeface="Arial"/>
              </a:rPr>
              <a:t>Функции и операции Айгуль</a:t>
            </a:r>
            <a:endParaRPr lang="ru-RU"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ru-RU" dirty="0">
                <a:latin typeface="Arial"/>
                <a:cs typeface="Arial"/>
              </a:rPr>
              <a:t>Открытие почтового ящика и письма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Загрузка письма на компьютере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r>
              <a:rPr lang="ru-RU" dirty="0" err="1">
                <a:latin typeface="Arial"/>
                <a:cs typeface="Arial"/>
              </a:rPr>
              <a:t>ОТкрытие</a:t>
            </a:r>
            <a:r>
              <a:rPr lang="ru-RU" dirty="0">
                <a:latin typeface="Arial"/>
                <a:cs typeface="Arial"/>
              </a:rPr>
              <a:t> вкладки Практики (СЭД)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Обработка файла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Отправка на печать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Присваивание номера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Регистрация распечатанного документа в СЭД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Проверка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xmlns="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3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1028C2A-7A7A-799E-2B24-04D9D9104F14}"/>
              </a:ext>
            </a:extLst>
          </p:cNvPr>
          <p:cNvSpPr txBox="1"/>
          <p:nvPr/>
        </p:nvSpPr>
        <p:spPr>
          <a:xfrm>
            <a:off x="1245813" y="856970"/>
            <a:ext cx="66298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Осуществление регистрации входящих писем</a:t>
            </a:r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31CC34-F71B-425F-FB22-76CAC7B90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7C86AE-27CE-BE1D-EC68-A0C67B26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62" y="303272"/>
            <a:ext cx="6086866" cy="677841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Arial"/>
                <a:cs typeface="Arial"/>
              </a:rPr>
              <a:t>Функции и операции </a:t>
            </a:r>
            <a:r>
              <a:rPr lang="ru-RU">
                <a:latin typeface="Arial"/>
                <a:cs typeface="Arial"/>
              </a:rPr>
              <a:t>Альбины</a:t>
            </a:r>
            <a:endParaRPr lang="ru-RU"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2E70F71-3B61-6702-B0D7-19E1CBD35C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360278" cy="660026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ru-RU" dirty="0">
                <a:latin typeface="Arial"/>
                <a:cs typeface="Arial"/>
              </a:rPr>
              <a:t>Открытие программ: электронный документооборот РТ и Минобрнауки 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7BD63CF5-E74D-5F9D-3EA1-56B1D474E3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Проведение резолюции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7251265-1D8C-353E-4FEA-EB53F131082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r>
              <a:rPr lang="ru-RU" dirty="0" err="1">
                <a:latin typeface="Arial"/>
                <a:cs typeface="Arial"/>
              </a:rPr>
              <a:t>ОТвет</a:t>
            </a:r>
            <a:r>
              <a:rPr lang="ru-RU" dirty="0">
                <a:latin typeface="Arial"/>
                <a:cs typeface="Arial"/>
              </a:rPr>
              <a:t> на входящие звонки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E281BD7A-6504-E4F6-109C-CE44E8FCEF5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Проведение резолюции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CDB3C38D-B8A5-20E1-AC0F-FF592A683A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Открытие и прочтение документа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FA8B01E4-F683-6DC6-BF77-C5A942DCE2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Написание направления от лица руководителя отдела и откладывание документа с целью ожидания ответа от помощника (примерно 2 часа)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DF5E7088-E5AF-AE92-0536-B3040CE017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Создание проекта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B71943B2-4E58-5FA4-4B42-314890F9EC9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Сохранение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xmlns="" id="{6867F8FF-20CD-6960-E512-F955E6B2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4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CC42F83-24BF-00BC-5A5D-6A0CACAABD3E}"/>
              </a:ext>
            </a:extLst>
          </p:cNvPr>
          <p:cNvSpPr txBox="1"/>
          <p:nvPr/>
        </p:nvSpPr>
        <p:spPr>
          <a:xfrm>
            <a:off x="1266269" y="856970"/>
            <a:ext cx="47069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Проведение резолюции документов</a:t>
            </a:r>
          </a:p>
        </p:txBody>
      </p:sp>
    </p:spTree>
    <p:extLst>
      <p:ext uri="{BB962C8B-B14F-4D97-AF65-F5344CB8AC3E}">
        <p14:creationId xmlns:p14="http://schemas.microsoft.com/office/powerpoint/2010/main" val="1920955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52747D2-FCC1-27EB-2092-0BEB1BA34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72BA1A8-017B-D455-B592-A812F5DD4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62" y="303272"/>
            <a:ext cx="8232792" cy="705855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Arial"/>
                <a:cs typeface="Arial"/>
              </a:rPr>
              <a:t>Функции и операции </a:t>
            </a:r>
            <a:r>
              <a:rPr lang="ru-RU">
                <a:latin typeface="Arial"/>
                <a:cs typeface="Arial"/>
              </a:rPr>
              <a:t>Инны рустамовны</a:t>
            </a:r>
            <a:endParaRPr lang="ru-RU"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27E09F0-2156-16E9-FAC2-8870B5E20F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360278" cy="66002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dirty="0">
                <a:latin typeface="Arial"/>
                <a:cs typeface="Arial"/>
              </a:rPr>
              <a:t>Открытие документа на согласование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06A377C-4EB4-B12A-521C-F555B1340C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-2801" y="2579874"/>
            <a:ext cx="2858940" cy="491939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Проверка и письменный комментарий В СЭД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556BD771-202A-DEC0-2B9F-005FB1AE92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978" y="3673007"/>
            <a:ext cx="3329586" cy="475131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Открытие и скачивание документа на согласование в СЭД- второй версии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F1636B56-CE04-715E-A2C9-EECF2C8868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8759" y="4751026"/>
            <a:ext cx="3318005" cy="846766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Открытие и скачивание документа на согласование в СЭД - третьей версии 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CB298EB0-FCFA-5FBA-EFAC-5BD4FBD92F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Скачивание и открытие его на рабочем столе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D7C8D9C0-F222-AC93-86CF-8A1E4D07AB7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Отправка на корректировку и ожидание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1EA30234-5686-A992-E8D7-214D8622C6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Проверка, исправления в самом файле и отправка на корректировку, ожидание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391EA40F-52F1-E61D-527C-A75A09B35A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Проверка и согласование 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xmlns="" id="{D8005300-CCB2-BEC1-E7C8-321755EFF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5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0E6C6E9-662B-D0F8-F078-71E69E372A55}"/>
              </a:ext>
            </a:extLst>
          </p:cNvPr>
          <p:cNvSpPr txBox="1"/>
          <p:nvPr/>
        </p:nvSpPr>
        <p:spPr>
          <a:xfrm>
            <a:off x="1304022" y="856970"/>
            <a:ext cx="9027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Согласовывание организационно-распорядительных документов в СЭД</a:t>
            </a:r>
          </a:p>
        </p:txBody>
      </p:sp>
    </p:spTree>
    <p:extLst>
      <p:ext uri="{BB962C8B-B14F-4D97-AF65-F5344CB8AC3E}">
        <p14:creationId xmlns:p14="http://schemas.microsoft.com/office/powerpoint/2010/main" val="778526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B5CFC97-06A1-1F1C-AC93-43761BA5D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8E9C5F-D345-5AF0-51A6-48CC8CCA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462" y="303272"/>
            <a:ext cx="6086866" cy="677841"/>
          </a:xfrm>
        </p:spPr>
        <p:txBody>
          <a:bodyPr rtlCol="0">
            <a:normAutofit fontScale="90000"/>
          </a:bodyPr>
          <a:lstStyle/>
          <a:p>
            <a:r>
              <a:rPr lang="ru-RU">
                <a:latin typeface="Arial"/>
                <a:cs typeface="Arial"/>
              </a:rPr>
              <a:t>Функции и операции Айзили</a:t>
            </a:r>
            <a:endParaRPr lang="ru-RU">
              <a:cs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C1BB49-B5BA-F287-DA90-54A4ADB512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360278" cy="660026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ru-RU" dirty="0">
                <a:latin typeface="Arial"/>
                <a:cs typeface="Arial"/>
              </a:rPr>
              <a:t>Взвешивание и сортировка писем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534BBAC9-2108-C257-126C-160837C075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5008" y="2579874"/>
            <a:ext cx="2461131" cy="491939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Внос в Excel-таблицу данных по письмам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6427723-5DD8-3745-C85C-A66658A5A3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Исправление недочетов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A51398A0-6AB4-6812-F915-D1C7E171F9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Распечатка списка писем (опись)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46017551-49E9-8543-380A-1877819A18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Создание отправки на сайте почты России по дате отправки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41162571-0CCE-4816-61A8-7BC585FBB7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8256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Загрузка Excel-таблицы с данными писем на сайте почты России для получения трек-номеров и проверка писем в программе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7C6F391C-F1D6-6383-14B5-F7BC28A665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Проверка, распечатка и наклейка трек-номеров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E4745E35-49D9-7446-2B40-10CC3A1DB0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r>
              <a:rPr lang="ru-RU" dirty="0">
                <a:latin typeface="Arial"/>
                <a:cs typeface="Arial"/>
              </a:rPr>
              <a:t>Проставление печатей и подписей, передача писем на отправку</a:t>
            </a:r>
            <a:endParaRPr lang="ru-RU" dirty="0"/>
          </a:p>
          <a:p>
            <a:pPr rtl="0"/>
            <a:endParaRPr lang="ru-RU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xmlns="" id="{762945B2-8A61-8A0C-2F0D-D361FCA6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6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DB022788-EAA1-B523-D34C-4A9D02A66872}"/>
              </a:ext>
            </a:extLst>
          </p:cNvPr>
          <p:cNvSpPr txBox="1"/>
          <p:nvPr/>
        </p:nvSpPr>
        <p:spPr>
          <a:xfrm>
            <a:off x="1309136" y="856970"/>
            <a:ext cx="68580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/>
              <a:t>Осуществление регистрации исходящих писем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96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6C75782-62BA-F466-A4CF-2EFCFB637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436" y="116684"/>
            <a:ext cx="3139440" cy="1325563"/>
          </a:xfrm>
        </p:spPr>
        <p:txBody>
          <a:bodyPr/>
          <a:lstStyle/>
          <a:p>
            <a:pPr algn="ctr"/>
            <a:r>
              <a:rPr lang="ru-RU" sz="3200">
                <a:cs typeface="Arial"/>
              </a:rPr>
              <a:t>IDEF0</a:t>
            </a:r>
            <a:endParaRPr lang="ru-RU" sz="3200">
              <a:solidFill>
                <a:srgbClr val="000000"/>
              </a:solidFill>
              <a:cs typeface="Arial"/>
            </a:endParaRPr>
          </a:p>
          <a:p>
            <a:endParaRPr lang="ru-RU">
              <a:cs typeface="Arial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971D8C38-AF8E-E26E-861F-4E70588284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0E1E2D1-F60B-A194-EBBF-92CDA3FE75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A3590DE0-33AC-103E-31F8-48DDE1ACD21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EBB4F67F-928B-CE10-6DCF-136903868A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xmlns="" id="{98BB0231-A444-89C3-5EF1-5B2999CA2B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DEDFBFA0-FBAC-0332-F527-6A15930861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C151AFED-E58A-0311-9278-BFCE4A6A721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xmlns="" id="{E0A8DD07-A495-566F-A5EF-1BE305DA48C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ижний колонтитул 10">
            <a:extLst>
              <a:ext uri="{FF2B5EF4-FFF2-40B4-BE49-F238E27FC236}">
                <a16:creationId xmlns:a16="http://schemas.microsoft.com/office/drawing/2014/main" xmlns="" id="{EAC7E551-D18D-A1C5-73D6-3DE992735EF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ru-RU" noProof="0"/>
              <a:t>Набор слайдов для презентации</a:t>
            </a: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xmlns="" id="{E3A20D46-8409-CDBE-2443-C44C8C8CEBC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noProof="0" smtClean="0"/>
              <a:pPr rtl="0"/>
              <a:t>7</a:t>
            </a:fld>
            <a:endParaRPr lang="ru-RU" noProof="0"/>
          </a:p>
        </p:txBody>
      </p:sp>
      <p:pic>
        <p:nvPicPr>
          <p:cNvPr id="14" name="Рисунок 13" descr="Изображение выглядит как текст, диаграмма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137FC1BD-8E00-E121-5066-3BDFBD9FE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025" y="1002926"/>
            <a:ext cx="9633214" cy="582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44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19F29B-F233-48AF-8261-F33A4E079E3E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488165"/>
            <a:ext cx="4213972" cy="1325563"/>
          </a:xfrm>
        </p:spPr>
        <p:txBody>
          <a:bodyPr rtlCol="0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BPMN - ведущий документовед (входящий)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8</a:t>
            </a:fld>
            <a:endParaRPr lang="ru-RU"/>
          </a:p>
        </p:txBody>
      </p:sp>
      <p:pic>
        <p:nvPicPr>
          <p:cNvPr id="9" name="Рисунок 8" descr="Изображение выглядит как текст, снимок экрана, диаграмм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C730D731-5E3C-A802-3309-480BB6ADF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5035"/>
            <a:ext cx="12192000" cy="381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2B8BA0E-CF1B-364F-990D-133CA5B03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F65E5EF-F9B1-5661-1A96-570DF3ED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ru-RU">
                <a:latin typeface="Arial"/>
                <a:cs typeface="Arial"/>
              </a:rPr>
              <a:t>Простои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86DB523-A8FA-5C5E-995E-17B1D2004B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5900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>
                <a:latin typeface="Arial"/>
                <a:cs typeface="Arial"/>
              </a:rPr>
              <a:t>Документы </a:t>
            </a:r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892AF1E6-DD28-564C-9D96-4E74AEE74E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485664" y="3070348"/>
            <a:ext cx="4031030" cy="33713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Для регистрации сотрудник затрачивает 2,5 мин. (распечатка, перепроверка, заполнение)</a:t>
            </a:r>
          </a:p>
          <a:p>
            <a:r>
              <a:rPr lang="ru-RU" dirty="0">
                <a:latin typeface="Arial"/>
                <a:cs typeface="Arial"/>
              </a:rPr>
              <a:t>Распечатка и сохранение всех документов для удобства - 40 сек.</a:t>
            </a:r>
            <a:endParaRPr lang="ru-RU" dirty="0"/>
          </a:p>
          <a:p>
            <a:r>
              <a:rPr lang="ru-RU" dirty="0">
                <a:latin typeface="Arial"/>
                <a:cs typeface="Arial"/>
              </a:rPr>
              <a:t>Все документы  находятся в одной папке - сложно искать </a:t>
            </a:r>
          </a:p>
          <a:p>
            <a:r>
              <a:rPr lang="ru-RU" dirty="0">
                <a:latin typeface="Arial"/>
                <a:cs typeface="Arial"/>
              </a:rPr>
              <a:t>Время на спам: прочитать, удалить - 30 сек.</a:t>
            </a:r>
            <a:endParaRPr lang="ru-RU" dirty="0"/>
          </a:p>
          <a:p>
            <a:r>
              <a:rPr lang="ru-RU" dirty="0">
                <a:latin typeface="Arial"/>
                <a:cs typeface="Arial"/>
              </a:rPr>
              <a:t>Поиск документов срочной необходимости среди всех остальных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6BAB49BB-7435-5B5E-DD2B-B17C8D845E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73004" y="2563123"/>
            <a:ext cx="4031945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>
                <a:latin typeface="Arial"/>
                <a:cs typeface="Arial"/>
              </a:rPr>
              <a:t>Прочее </a:t>
            </a:r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xmlns="" id="{D6386335-88D8-35B4-89E7-757D78ED9A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73143" y="3070348"/>
            <a:ext cx="4031030" cy="10573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Помощь сотрудника иностранке - 10 минут</a:t>
            </a:r>
            <a:endParaRPr lang="ru-RU" dirty="0"/>
          </a:p>
          <a:p>
            <a:r>
              <a:rPr lang="ru-RU" dirty="0">
                <a:latin typeface="Arial"/>
                <a:cs typeface="Arial"/>
              </a:rPr>
              <a:t>Время, проведенное в телефоне - 15 минут</a:t>
            </a:r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xmlns="" id="{47A97EFF-2851-DD63-648C-0DD553CB582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12704" y="4756460"/>
            <a:ext cx="4031945" cy="6452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28 регистраций за 3ч. С учетом </a:t>
            </a:r>
            <a:r>
              <a:rPr lang="ru-RU" dirty="0" err="1" smtClean="0">
                <a:latin typeface="Arial"/>
                <a:cs typeface="Arial"/>
              </a:rPr>
              <a:t>отвлеканий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5429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32385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сотруднику приходится вручную перепечатывать данные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165985" y="156591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нет автоматизированного инструмента распознания текста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109085" y="280797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компания не внедрила такое ПО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294120" y="4057649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не было анализа необходимости автоматизации</a:t>
            </a:r>
          </a:p>
        </p:txBody>
      </p:sp>
      <p:sp>
        <p:nvSpPr>
          <p:cNvPr id="13" name="Управляющая кнопка: справка 12">
            <a:hlinkClick r:id="" action="ppaction://noaction" highlightClick="1"/>
          </p:cNvPr>
          <p:cNvSpPr/>
          <p:nvPr/>
        </p:nvSpPr>
        <p:spPr>
          <a:xfrm>
            <a:off x="-253365" y="3261360"/>
            <a:ext cx="3973830" cy="4556760"/>
          </a:xfrm>
          <a:prstGeom prst="actionButtonHelp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93370" y="495681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Почему перенос информации с бумажного носителя в электронный занимает много времени?</a:t>
            </a:r>
          </a:p>
        </p:txBody>
      </p:sp>
      <p:cxnSp>
        <p:nvCxnSpPr>
          <p:cNvPr id="15" name="Соединительная линия уступом 14"/>
          <p:cNvCxnSpPr>
            <a:stCxn id="8" idx="3"/>
            <a:endCxn id="9" idx="0"/>
          </p:cNvCxnSpPr>
          <p:nvPr/>
        </p:nvCxnSpPr>
        <p:spPr>
          <a:xfrm>
            <a:off x="2880360" y="906780"/>
            <a:ext cx="725805" cy="6591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>
            <a:stCxn id="9" idx="3"/>
            <a:endCxn id="10" idx="0"/>
          </p:cNvCxnSpPr>
          <p:nvPr/>
        </p:nvCxnSpPr>
        <p:spPr>
          <a:xfrm>
            <a:off x="5046345" y="2148840"/>
            <a:ext cx="502920" cy="65913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0" idx="3"/>
            <a:endCxn id="11" idx="0"/>
          </p:cNvCxnSpPr>
          <p:nvPr/>
        </p:nvCxnSpPr>
        <p:spPr>
          <a:xfrm>
            <a:off x="6989445" y="3390900"/>
            <a:ext cx="744855" cy="6667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cxnSpLocks/>
            <a:stCxn id="11" idx="3"/>
          </p:cNvCxnSpPr>
          <p:nvPr/>
        </p:nvCxnSpPr>
        <p:spPr>
          <a:xfrm>
            <a:off x="9174480" y="4640579"/>
            <a:ext cx="1030605" cy="66674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Управляющая кнопка: справка 23">
            <a:hlinkClick r:id="" action="ppaction://noaction" highlightClick="1"/>
          </p:cNvPr>
          <p:cNvSpPr/>
          <p:nvPr/>
        </p:nvSpPr>
        <p:spPr>
          <a:xfrm>
            <a:off x="7938135" y="-1569721"/>
            <a:ext cx="3973830" cy="4556760"/>
          </a:xfrm>
          <a:prstGeom prst="actionButtonHelp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8880158" y="49149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5 ПРИЧИН «ПОЧЕМУ?»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FEDEE0-4C69-C81F-9441-48BDFE21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CD4B371-9823-F6FC-95F2-B64093500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7207872B-8076-B4F6-D12E-CC7ED0DDA60E}"/>
              </a:ext>
            </a:extLst>
          </p:cNvPr>
          <p:cNvSpPr/>
          <p:nvPr/>
        </p:nvSpPr>
        <p:spPr>
          <a:xfrm>
            <a:off x="8882678" y="5307104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Потому что руководство не осознавало потерь времени и ошибок при ручном вводе</a:t>
            </a:r>
          </a:p>
        </p:txBody>
      </p:sp>
    </p:spTree>
    <p:extLst>
      <p:ext uri="{BB962C8B-B14F-4D97-AF65-F5344CB8AC3E}">
        <p14:creationId xmlns:p14="http://schemas.microsoft.com/office/powerpoint/2010/main" val="1016431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DCF1D66-01E5-B9F6-C1FC-DF2C73F4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AFE99B3-5542-5AD8-09ED-E933FB60E789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293" y="488165"/>
            <a:ext cx="4213972" cy="1325563"/>
          </a:xfrm>
        </p:spPr>
        <p:txBody>
          <a:bodyPr rtlCol="0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BPMN - ведущий документовед (входящий)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9785CB1-91A3-7B2B-F42F-3DF28FB09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ru-RU" smtClean="0"/>
              <a:pPr rtl="0"/>
              <a:t>11</a:t>
            </a:fld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44403579-EFB9-E9FC-7214-7C683AC60F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6292"/>
            <a:ext cx="12192000" cy="318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65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1">
            <a:extLst>
              <a:ext uri="{FF2B5EF4-FFF2-40B4-BE49-F238E27FC236}">
                <a16:creationId xmlns="" xmlns:a16="http://schemas.microsoft.com/office/drawing/2014/main" id="{36CF84DD-BF8C-B278-C765-7A9EC0962B45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61" y="180003"/>
            <a:ext cx="9671236" cy="563563"/>
          </a:xfrm>
        </p:spPr>
        <p:txBody>
          <a:bodyPr rtlCol="0">
            <a:normAutofit fontScale="90000"/>
          </a:bodyPr>
          <a:lstStyle/>
          <a:p>
            <a:r>
              <a:rPr lang="ru-RU">
                <a:latin typeface="Arial"/>
                <a:cs typeface="Arial"/>
              </a:rPr>
              <a:t>Неоптимизированный процесс регистрации</a:t>
            </a:r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="" xmlns:a16="http://schemas.microsoft.com/office/drawing/2014/main" id="{0A218DFA-BC7A-D061-9E53-062BDDEAC0C0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362635" y="3145079"/>
            <a:ext cx="9671236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>
                <a:latin typeface="Arial"/>
                <a:cs typeface="Arial"/>
              </a:rPr>
              <a:t>оптимизированный</a:t>
            </a:r>
            <a:r>
              <a:rPr lang="ru-RU" dirty="0">
                <a:latin typeface="Arial"/>
                <a:cs typeface="Arial"/>
              </a:rPr>
              <a:t> процесс регистрации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C4828610-0437-B869-5A01-81DFD392C8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61"/>
          <a:stretch/>
        </p:blipFill>
        <p:spPr>
          <a:xfrm>
            <a:off x="1773145" y="3809693"/>
            <a:ext cx="8866842" cy="2549954"/>
          </a:xfrm>
          <a:prstGeom prst="rect">
            <a:avLst/>
          </a:prstGeom>
        </p:spPr>
      </p:pic>
      <p:grpSp>
        <p:nvGrpSpPr>
          <p:cNvPr id="10" name="Group 2"/>
          <p:cNvGrpSpPr/>
          <p:nvPr/>
        </p:nvGrpSpPr>
        <p:grpSpPr>
          <a:xfrm>
            <a:off x="1260661" y="844617"/>
            <a:ext cx="8759882" cy="2304230"/>
            <a:chOff x="0" y="-192881"/>
            <a:chExt cx="13291407" cy="3617973"/>
          </a:xfrm>
        </p:grpSpPr>
        <p:grpSp>
          <p:nvGrpSpPr>
            <p:cNvPr id="11" name="Group 3"/>
            <p:cNvGrpSpPr/>
            <p:nvPr/>
          </p:nvGrpSpPr>
          <p:grpSpPr>
            <a:xfrm>
              <a:off x="0" y="0"/>
              <a:ext cx="1394010" cy="2614617"/>
              <a:chOff x="0" y="0"/>
              <a:chExt cx="275360" cy="516468"/>
            </a:xfrm>
          </p:grpSpPr>
          <p:sp>
            <p:nvSpPr>
              <p:cNvPr id="87" name="Freeform 4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00B05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8" name="TextBox 5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3" name="Group 6"/>
            <p:cNvGrpSpPr/>
            <p:nvPr/>
          </p:nvGrpSpPr>
          <p:grpSpPr>
            <a:xfrm>
              <a:off x="1704539" y="0"/>
              <a:ext cx="1394010" cy="2614617"/>
              <a:chOff x="0" y="0"/>
              <a:chExt cx="275360" cy="516468"/>
            </a:xfrm>
          </p:grpSpPr>
          <p:sp>
            <p:nvSpPr>
              <p:cNvPr id="85" name="Freeform 7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FF000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6" name="TextBox 8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4" name="Group 9"/>
            <p:cNvGrpSpPr/>
            <p:nvPr/>
          </p:nvGrpSpPr>
          <p:grpSpPr>
            <a:xfrm>
              <a:off x="3377418" y="-192881"/>
              <a:ext cx="1419940" cy="2807498"/>
              <a:chOff x="-5122" y="-38100"/>
              <a:chExt cx="280482" cy="554568"/>
            </a:xfrm>
          </p:grpSpPr>
          <p:sp>
            <p:nvSpPr>
              <p:cNvPr id="83" name="Freeform 10"/>
              <p:cNvSpPr/>
              <p:nvPr/>
            </p:nvSpPr>
            <p:spPr>
              <a:xfrm>
                <a:off x="-5122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00B050"/>
              </a:solidFill>
              <a:ln w="57150" cap="sq">
                <a:solidFill>
                  <a:srgbClr val="00B050"/>
                </a:solidFill>
                <a:prstDash val="solid"/>
                <a:miter/>
              </a:ln>
            </p:spPr>
          </p:sp>
          <p:sp>
            <p:nvSpPr>
              <p:cNvPr id="84" name="TextBox 11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6" name="Group 12"/>
            <p:cNvGrpSpPr/>
            <p:nvPr/>
          </p:nvGrpSpPr>
          <p:grpSpPr>
            <a:xfrm>
              <a:off x="5102158" y="0"/>
              <a:ext cx="1394010" cy="2614617"/>
              <a:chOff x="0" y="0"/>
              <a:chExt cx="275360" cy="516468"/>
            </a:xfrm>
          </p:grpSpPr>
          <p:sp>
            <p:nvSpPr>
              <p:cNvPr id="81" name="Freeform 13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FFC00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2" name="TextBox 14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7" name="Group 15"/>
            <p:cNvGrpSpPr/>
            <p:nvPr/>
          </p:nvGrpSpPr>
          <p:grpSpPr>
            <a:xfrm>
              <a:off x="6800968" y="0"/>
              <a:ext cx="1394010" cy="2614617"/>
              <a:chOff x="0" y="0"/>
              <a:chExt cx="275360" cy="516468"/>
            </a:xfrm>
          </p:grpSpPr>
          <p:sp>
            <p:nvSpPr>
              <p:cNvPr id="79" name="Freeform 16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00B05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0" name="TextBox 17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499778" y="0"/>
              <a:ext cx="1394010" cy="2614617"/>
              <a:chOff x="0" y="0"/>
              <a:chExt cx="275360" cy="516468"/>
            </a:xfrm>
          </p:grpSpPr>
          <p:sp>
            <p:nvSpPr>
              <p:cNvPr id="77" name="Freeform 19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00B05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8" name="TextBox 20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19" name="Group 21"/>
            <p:cNvGrpSpPr/>
            <p:nvPr/>
          </p:nvGrpSpPr>
          <p:grpSpPr>
            <a:xfrm>
              <a:off x="10198587" y="0"/>
              <a:ext cx="1394010" cy="2614617"/>
              <a:chOff x="0" y="0"/>
              <a:chExt cx="275360" cy="516468"/>
            </a:xfrm>
          </p:grpSpPr>
          <p:sp>
            <p:nvSpPr>
              <p:cNvPr id="75" name="Freeform 22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00B05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6" name="TextBox 23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grpSp>
          <p:nvGrpSpPr>
            <p:cNvPr id="20" name="Group 24"/>
            <p:cNvGrpSpPr/>
            <p:nvPr/>
          </p:nvGrpSpPr>
          <p:grpSpPr>
            <a:xfrm>
              <a:off x="11897397" y="0"/>
              <a:ext cx="1394010" cy="2614617"/>
              <a:chOff x="0" y="0"/>
              <a:chExt cx="275360" cy="516468"/>
            </a:xfrm>
          </p:grpSpPr>
          <p:sp>
            <p:nvSpPr>
              <p:cNvPr id="73" name="Freeform 25"/>
              <p:cNvSpPr/>
              <p:nvPr/>
            </p:nvSpPr>
            <p:spPr>
              <a:xfrm>
                <a:off x="0" y="0"/>
                <a:ext cx="275360" cy="516468"/>
              </a:xfrm>
              <a:custGeom>
                <a:avLst/>
                <a:gdLst/>
                <a:ahLst/>
                <a:cxnLst/>
                <a:rect l="l" t="t" r="r" b="b"/>
                <a:pathLst>
                  <a:path w="275360" h="516468">
                    <a:moveTo>
                      <a:pt x="0" y="0"/>
                    </a:moveTo>
                    <a:lnTo>
                      <a:pt x="275360" y="0"/>
                    </a:lnTo>
                    <a:lnTo>
                      <a:pt x="275360" y="516468"/>
                    </a:lnTo>
                    <a:lnTo>
                      <a:pt x="0" y="516468"/>
                    </a:lnTo>
                    <a:close/>
                  </a:path>
                </a:pathLst>
              </a:custGeom>
              <a:solidFill>
                <a:srgbClr val="FF0000"/>
              </a:solidFill>
              <a:ln w="571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4" name="TextBox 26"/>
              <p:cNvSpPr txBox="1"/>
              <p:nvPr/>
            </p:nvSpPr>
            <p:spPr>
              <a:xfrm>
                <a:off x="0" y="-38100"/>
                <a:ext cx="275360" cy="55456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sz="1400"/>
              </a:p>
            </p:txBody>
          </p:sp>
        </p:grpSp>
        <p:sp>
          <p:nvSpPr>
            <p:cNvPr id="21" name="TextBox 27"/>
            <p:cNvSpPr txBox="1"/>
            <p:nvPr/>
          </p:nvSpPr>
          <p:spPr>
            <a:xfrm rot="16200000">
              <a:off x="-388481" y="791250"/>
              <a:ext cx="2179718" cy="1032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Открытие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почтового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ящика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и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письма</a:t>
              </a:r>
              <a:endPara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2" name="TextBox 28"/>
            <p:cNvSpPr txBox="1"/>
            <p:nvPr/>
          </p:nvSpPr>
          <p:spPr>
            <a:xfrm rot="16200000">
              <a:off x="1369676" y="1049279"/>
              <a:ext cx="2179718" cy="5160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Отправка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на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печать</a:t>
              </a:r>
              <a:endPara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3" name="TextBox 29"/>
            <p:cNvSpPr txBox="1"/>
            <p:nvPr/>
          </p:nvSpPr>
          <p:spPr>
            <a:xfrm rot="16200000">
              <a:off x="3024784" y="1049279"/>
              <a:ext cx="2179718" cy="51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Загрузка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на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компьютер</a:t>
              </a:r>
              <a:endPara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4" name="TextBox 30"/>
            <p:cNvSpPr txBox="1"/>
            <p:nvPr/>
          </p:nvSpPr>
          <p:spPr>
            <a:xfrm rot="16200000">
              <a:off x="4656878" y="1049279"/>
              <a:ext cx="2179718" cy="51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Присвоение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номера</a:t>
              </a:r>
              <a:endPara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5" name="TextBox 31"/>
            <p:cNvSpPr txBox="1"/>
            <p:nvPr/>
          </p:nvSpPr>
          <p:spPr>
            <a:xfrm rot="16200000">
              <a:off x="6411131" y="920265"/>
              <a:ext cx="2179718" cy="774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2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Открытие</a:t>
              </a:r>
              <a:r>
                <a:rPr lang="en-US" sz="12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  <a:r>
                <a:rPr lang="en-US" sz="12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вкладки</a:t>
              </a:r>
              <a:r>
                <a:rPr lang="en-US" sz="12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“</a:t>
              </a:r>
              <a:r>
                <a:rPr lang="en-US" sz="12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Практика</a:t>
              </a:r>
              <a:r>
                <a:rPr lang="en-US" sz="12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”</a:t>
              </a:r>
            </a:p>
          </p:txBody>
        </p:sp>
        <p:sp>
          <p:nvSpPr>
            <p:cNvPr id="26" name="TextBox 32"/>
            <p:cNvSpPr txBox="1"/>
            <p:nvPr/>
          </p:nvSpPr>
          <p:spPr>
            <a:xfrm rot="16200000">
              <a:off x="9734335" y="1178295"/>
              <a:ext cx="2179718" cy="258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6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Проверка</a:t>
              </a:r>
              <a:endParaRPr lang="en-US" sz="16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7" name="TextBox 33"/>
            <p:cNvSpPr txBox="1"/>
            <p:nvPr/>
          </p:nvSpPr>
          <p:spPr>
            <a:xfrm rot="16200000">
              <a:off x="8121211" y="1178294"/>
              <a:ext cx="2179718" cy="258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2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Регистрация</a:t>
              </a:r>
              <a:r>
                <a:rPr lang="en-US" sz="12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</a:t>
              </a:r>
            </a:p>
          </p:txBody>
        </p:sp>
        <p:sp>
          <p:nvSpPr>
            <p:cNvPr id="28" name="TextBox 34"/>
            <p:cNvSpPr txBox="1"/>
            <p:nvPr/>
          </p:nvSpPr>
          <p:spPr>
            <a:xfrm rot="16200000">
              <a:off x="11518831" y="1049279"/>
              <a:ext cx="2179718" cy="5160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99"/>
                </a:lnSpc>
              </a:pP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Документ</a:t>
              </a:r>
              <a:r>
                <a:rPr lang="en-US" sz="14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 в </a:t>
              </a:r>
              <a:r>
                <a:rPr lang="en-US" sz="1400" b="1" dirty="0" err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сторону</a:t>
              </a:r>
              <a:endParaRPr lang="en-US" sz="140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29" name="AutoShape 35"/>
            <p:cNvSpPr/>
            <p:nvPr/>
          </p:nvSpPr>
          <p:spPr>
            <a:xfrm>
              <a:off x="0" y="3077517"/>
              <a:ext cx="1393514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6"/>
            <p:cNvSpPr/>
            <p:nvPr/>
          </p:nvSpPr>
          <p:spPr>
            <a:xfrm>
              <a:off x="1701342" y="3077517"/>
              <a:ext cx="1393514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7"/>
            <p:cNvSpPr/>
            <p:nvPr/>
          </p:nvSpPr>
          <p:spPr>
            <a:xfrm>
              <a:off x="3419976" y="3077517"/>
              <a:ext cx="1393514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8"/>
            <p:cNvSpPr/>
            <p:nvPr/>
          </p:nvSpPr>
          <p:spPr>
            <a:xfrm flipV="1">
              <a:off x="1361764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9"/>
            <p:cNvSpPr/>
            <p:nvPr/>
          </p:nvSpPr>
          <p:spPr>
            <a:xfrm flipV="1">
              <a:off x="1733092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40"/>
            <p:cNvSpPr/>
            <p:nvPr/>
          </p:nvSpPr>
          <p:spPr>
            <a:xfrm>
              <a:off x="1332554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41"/>
            <p:cNvSpPr/>
            <p:nvPr/>
          </p:nvSpPr>
          <p:spPr>
            <a:xfrm flipV="1">
              <a:off x="3064694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42"/>
            <p:cNvSpPr/>
            <p:nvPr/>
          </p:nvSpPr>
          <p:spPr>
            <a:xfrm flipV="1">
              <a:off x="3436022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7" name="AutoShape 43"/>
            <p:cNvSpPr/>
            <p:nvPr/>
          </p:nvSpPr>
          <p:spPr>
            <a:xfrm>
              <a:off x="3035484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44"/>
            <p:cNvSpPr/>
            <p:nvPr/>
          </p:nvSpPr>
          <p:spPr>
            <a:xfrm flipV="1">
              <a:off x="4787302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45"/>
            <p:cNvSpPr/>
            <p:nvPr/>
          </p:nvSpPr>
          <p:spPr>
            <a:xfrm>
              <a:off x="5128449" y="3077517"/>
              <a:ext cx="1393514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6"/>
            <p:cNvSpPr/>
            <p:nvPr/>
          </p:nvSpPr>
          <p:spPr>
            <a:xfrm flipV="1">
              <a:off x="6839463" y="3077517"/>
              <a:ext cx="1373189" cy="2075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7"/>
            <p:cNvSpPr/>
            <p:nvPr/>
          </p:nvSpPr>
          <p:spPr>
            <a:xfrm>
              <a:off x="8548212" y="3077517"/>
              <a:ext cx="1351968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8"/>
            <p:cNvSpPr/>
            <p:nvPr/>
          </p:nvSpPr>
          <p:spPr>
            <a:xfrm>
              <a:off x="10228656" y="3077517"/>
              <a:ext cx="1357768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9"/>
            <p:cNvSpPr/>
            <p:nvPr/>
          </p:nvSpPr>
          <p:spPr>
            <a:xfrm>
              <a:off x="11903925" y="3077517"/>
              <a:ext cx="1380814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" name="AutoShape 50"/>
            <p:cNvSpPr/>
            <p:nvPr/>
          </p:nvSpPr>
          <p:spPr>
            <a:xfrm flipV="1">
              <a:off x="6492130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5" name="AutoShape 51"/>
            <p:cNvSpPr/>
            <p:nvPr/>
          </p:nvSpPr>
          <p:spPr>
            <a:xfrm flipV="1">
              <a:off x="6863458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6" name="AutoShape 52"/>
            <p:cNvSpPr/>
            <p:nvPr/>
          </p:nvSpPr>
          <p:spPr>
            <a:xfrm>
              <a:off x="6462920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7" name="AutoShape 53"/>
            <p:cNvSpPr/>
            <p:nvPr/>
          </p:nvSpPr>
          <p:spPr>
            <a:xfrm flipV="1">
              <a:off x="8186791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8" name="AutoShape 54"/>
            <p:cNvSpPr/>
            <p:nvPr/>
          </p:nvSpPr>
          <p:spPr>
            <a:xfrm flipV="1">
              <a:off x="8558119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9" name="AutoShape 55"/>
            <p:cNvSpPr/>
            <p:nvPr/>
          </p:nvSpPr>
          <p:spPr>
            <a:xfrm>
              <a:off x="8157581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0" name="AutoShape 56"/>
            <p:cNvSpPr/>
            <p:nvPr/>
          </p:nvSpPr>
          <p:spPr>
            <a:xfrm flipV="1">
              <a:off x="9872354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1" name="AutoShape 57"/>
            <p:cNvSpPr/>
            <p:nvPr/>
          </p:nvSpPr>
          <p:spPr>
            <a:xfrm flipV="1">
              <a:off x="10243683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2" name="AutoShape 58"/>
            <p:cNvSpPr/>
            <p:nvPr/>
          </p:nvSpPr>
          <p:spPr>
            <a:xfrm>
              <a:off x="9843144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3" name="AutoShape 59"/>
            <p:cNvSpPr/>
            <p:nvPr/>
          </p:nvSpPr>
          <p:spPr>
            <a:xfrm flipV="1">
              <a:off x="11556468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4" name="AutoShape 60"/>
            <p:cNvSpPr/>
            <p:nvPr/>
          </p:nvSpPr>
          <p:spPr>
            <a:xfrm flipV="1">
              <a:off x="11927797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5" name="AutoShape 61"/>
            <p:cNvSpPr/>
            <p:nvPr/>
          </p:nvSpPr>
          <p:spPr>
            <a:xfrm>
              <a:off x="11527258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6" name="TextBox 62"/>
            <p:cNvSpPr txBox="1"/>
            <p:nvPr/>
          </p:nvSpPr>
          <p:spPr>
            <a:xfrm>
              <a:off x="6611608" y="3063788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0</a:t>
              </a:r>
            </a:p>
          </p:txBody>
        </p:sp>
        <p:sp>
          <p:nvSpPr>
            <p:cNvPr id="57" name="TextBox 63"/>
            <p:cNvSpPr txBox="1"/>
            <p:nvPr/>
          </p:nvSpPr>
          <p:spPr>
            <a:xfrm>
              <a:off x="8314195" y="3063788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0</a:t>
              </a:r>
            </a:p>
          </p:txBody>
        </p:sp>
        <p:sp>
          <p:nvSpPr>
            <p:cNvPr id="58" name="TextBox 64"/>
            <p:cNvSpPr txBox="1"/>
            <p:nvPr/>
          </p:nvSpPr>
          <p:spPr>
            <a:xfrm>
              <a:off x="9996293" y="3063788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7</a:t>
              </a:r>
            </a:p>
          </p:txBody>
        </p:sp>
        <p:sp>
          <p:nvSpPr>
            <p:cNvPr id="59" name="TextBox 65"/>
            <p:cNvSpPr txBox="1"/>
            <p:nvPr/>
          </p:nvSpPr>
          <p:spPr>
            <a:xfrm>
              <a:off x="11685182" y="3063788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0</a:t>
              </a:r>
            </a:p>
          </p:txBody>
        </p:sp>
        <p:sp>
          <p:nvSpPr>
            <p:cNvPr id="60" name="TextBox 66"/>
            <p:cNvSpPr txBox="1"/>
            <p:nvPr/>
          </p:nvSpPr>
          <p:spPr>
            <a:xfrm>
              <a:off x="12506275" y="2750619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4</a:t>
              </a:r>
            </a:p>
          </p:txBody>
        </p:sp>
        <p:sp>
          <p:nvSpPr>
            <p:cNvPr id="61" name="TextBox 67"/>
            <p:cNvSpPr txBox="1"/>
            <p:nvPr/>
          </p:nvSpPr>
          <p:spPr>
            <a:xfrm>
              <a:off x="10760718" y="2750619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3</a:t>
              </a:r>
            </a:p>
          </p:txBody>
        </p:sp>
        <p:sp>
          <p:nvSpPr>
            <p:cNvPr id="62" name="TextBox 68"/>
            <p:cNvSpPr txBox="1"/>
            <p:nvPr/>
          </p:nvSpPr>
          <p:spPr>
            <a:xfrm>
              <a:off x="8939766" y="2750619"/>
              <a:ext cx="524814" cy="3118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176</a:t>
              </a:r>
              <a:endParaRPr lang="en-US" sz="1050" b="1" dirty="0">
                <a:solidFill>
                  <a:srgbClr val="000000"/>
                </a:solidFill>
                <a:latin typeface="New Standard Bold"/>
                <a:ea typeface="New Standard Bold"/>
                <a:cs typeface="New Standard Bold"/>
                <a:sym typeface="New Standard Bold"/>
              </a:endParaRPr>
            </a:p>
          </p:txBody>
        </p:sp>
        <p:sp>
          <p:nvSpPr>
            <p:cNvPr id="63" name="TextBox 69"/>
            <p:cNvSpPr txBox="1"/>
            <p:nvPr/>
          </p:nvSpPr>
          <p:spPr>
            <a:xfrm>
              <a:off x="5674451" y="2750619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10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4</a:t>
              </a:r>
            </a:p>
          </p:txBody>
        </p:sp>
        <p:sp>
          <p:nvSpPr>
            <p:cNvPr id="64" name="AutoShape 70"/>
            <p:cNvSpPr/>
            <p:nvPr/>
          </p:nvSpPr>
          <p:spPr>
            <a:xfrm flipV="1">
              <a:off x="5158630" y="3047842"/>
              <a:ext cx="0" cy="37725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5" name="AutoShape 71"/>
            <p:cNvSpPr/>
            <p:nvPr/>
          </p:nvSpPr>
          <p:spPr>
            <a:xfrm>
              <a:off x="4758092" y="3393342"/>
              <a:ext cx="422159" cy="0"/>
            </a:xfrm>
            <a:prstGeom prst="line">
              <a:avLst/>
            </a:prstGeom>
            <a:ln w="635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66" name="TextBox 72"/>
            <p:cNvSpPr txBox="1"/>
            <p:nvPr/>
          </p:nvSpPr>
          <p:spPr>
            <a:xfrm>
              <a:off x="549987" y="2721226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 dirty="0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3</a:t>
              </a:r>
            </a:p>
          </p:txBody>
        </p:sp>
        <p:sp>
          <p:nvSpPr>
            <p:cNvPr id="67" name="TextBox 73"/>
            <p:cNvSpPr txBox="1"/>
            <p:nvPr/>
          </p:nvSpPr>
          <p:spPr>
            <a:xfrm>
              <a:off x="1492223" y="3063788"/>
              <a:ext cx="113902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6</a:t>
              </a:r>
            </a:p>
          </p:txBody>
        </p:sp>
        <p:sp>
          <p:nvSpPr>
            <p:cNvPr id="68" name="TextBox 74"/>
            <p:cNvSpPr txBox="1"/>
            <p:nvPr/>
          </p:nvSpPr>
          <p:spPr>
            <a:xfrm>
              <a:off x="3064694" y="3063788"/>
              <a:ext cx="363197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18</a:t>
              </a:r>
            </a:p>
          </p:txBody>
        </p:sp>
        <p:sp>
          <p:nvSpPr>
            <p:cNvPr id="69" name="TextBox 75"/>
            <p:cNvSpPr txBox="1"/>
            <p:nvPr/>
          </p:nvSpPr>
          <p:spPr>
            <a:xfrm>
              <a:off x="4852724" y="3063788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05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2</a:t>
              </a:r>
            </a:p>
          </p:txBody>
        </p:sp>
        <p:sp>
          <p:nvSpPr>
            <p:cNvPr id="70" name="TextBox 76"/>
            <p:cNvSpPr txBox="1"/>
            <p:nvPr/>
          </p:nvSpPr>
          <p:spPr>
            <a:xfrm>
              <a:off x="7356011" y="2750619"/>
              <a:ext cx="341510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40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2</a:t>
              </a:r>
            </a:p>
          </p:txBody>
        </p:sp>
        <p:sp>
          <p:nvSpPr>
            <p:cNvPr id="71" name="TextBox 77"/>
            <p:cNvSpPr txBox="1"/>
            <p:nvPr/>
          </p:nvSpPr>
          <p:spPr>
            <a:xfrm>
              <a:off x="3999044" y="2750619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40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3</a:t>
              </a:r>
            </a:p>
          </p:txBody>
        </p:sp>
        <p:sp>
          <p:nvSpPr>
            <p:cNvPr id="72" name="TextBox 78"/>
            <p:cNvSpPr txBox="1"/>
            <p:nvPr/>
          </p:nvSpPr>
          <p:spPr>
            <a:xfrm>
              <a:off x="2323636" y="2750619"/>
              <a:ext cx="227608" cy="3423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9"/>
                </a:lnSpc>
              </a:pPr>
              <a:r>
                <a:rPr lang="en-US" sz="1400" b="1">
                  <a:solidFill>
                    <a:srgbClr val="000000"/>
                  </a:solidFill>
                  <a:latin typeface="New Standard Bold"/>
                  <a:ea typeface="New Standard Bold"/>
                  <a:cs typeface="New Standard Bold"/>
                  <a:sym typeface="New Standard Bold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59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5418"/>
            <a:ext cx="2725549" cy="1325563"/>
          </a:xfrm>
        </p:spPr>
        <p:txBody>
          <a:bodyPr rtlCol="0">
            <a:normAutofit fontScale="90000"/>
          </a:bodyPr>
          <a:lstStyle/>
          <a:p>
            <a:r>
              <a:rPr lang="ru-RU" dirty="0">
                <a:latin typeface="Arial"/>
                <a:cs typeface="Arial"/>
              </a:rPr>
              <a:t>Разница между процессами</a:t>
            </a:r>
            <a:endParaRPr lang="ru-RU" dirty="0">
              <a:cs typeface="Arial"/>
            </a:endParaRPr>
          </a:p>
        </p:txBody>
      </p:sp>
      <p:graphicFrame>
        <p:nvGraphicFramePr>
          <p:cNvPr id="30" name="Таблица 29">
            <a:extLst>
              <a:ext uri="{FF2B5EF4-FFF2-40B4-BE49-F238E27FC236}">
                <a16:creationId xmlns:a16="http://schemas.microsoft.com/office/drawing/2014/main" xmlns="" id="{2E7E55B7-05D8-5D38-BE84-C22B40F14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24387"/>
              </p:ext>
            </p:extLst>
          </p:nvPr>
        </p:nvGraphicFramePr>
        <p:xfrm>
          <a:off x="2725549" y="0"/>
          <a:ext cx="9162223" cy="6371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77">
                  <a:extLst>
                    <a:ext uri="{9D8B030D-6E8A-4147-A177-3AD203B41FA5}">
                      <a16:colId xmlns:a16="http://schemas.microsoft.com/office/drawing/2014/main" xmlns="" val="3068339545"/>
                    </a:ext>
                  </a:extLst>
                </a:gridCol>
                <a:gridCol w="2199992">
                  <a:extLst>
                    <a:ext uri="{9D8B030D-6E8A-4147-A177-3AD203B41FA5}">
                      <a16:colId xmlns:a16="http://schemas.microsoft.com/office/drawing/2014/main" xmlns="" val="3337064822"/>
                    </a:ext>
                  </a:extLst>
                </a:gridCol>
                <a:gridCol w="2091350">
                  <a:extLst>
                    <a:ext uri="{9D8B030D-6E8A-4147-A177-3AD203B41FA5}">
                      <a16:colId xmlns:a16="http://schemas.microsoft.com/office/drawing/2014/main" xmlns="" val="442023897"/>
                    </a:ext>
                  </a:extLst>
                </a:gridCol>
                <a:gridCol w="1792704">
                  <a:extLst>
                    <a:ext uri="{9D8B030D-6E8A-4147-A177-3AD203B41FA5}">
                      <a16:colId xmlns:a16="http://schemas.microsoft.com/office/drawing/2014/main" xmlns="" val="999697576"/>
                    </a:ext>
                  </a:extLst>
                </a:gridCol>
              </a:tblGrid>
              <a:tr h="1195057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Операции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 smtClean="0">
                          <a:solidFill>
                            <a:srgbClr val="000000"/>
                          </a:solidFill>
                          <a:effectLst/>
                        </a:rPr>
                        <a:t>Оптимизированный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 smtClean="0">
                          <a:solidFill>
                            <a:srgbClr val="000000"/>
                          </a:solidFill>
                          <a:effectLst/>
                        </a:rPr>
                        <a:t>Неоптимизированный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81851836"/>
                  </a:ext>
                </a:extLst>
              </a:tr>
              <a:tr h="924059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Отправка</a:t>
                      </a:r>
                      <a:r>
                        <a:rPr lang="ru-RU" sz="2600" kern="1200" baseline="0" dirty="0">
                          <a:solidFill>
                            <a:srgbClr val="000000"/>
                          </a:solidFill>
                          <a:effectLst/>
                        </a:rPr>
                        <a:t> на печать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0257919"/>
                  </a:ext>
                </a:extLst>
              </a:tr>
              <a:tr h="532033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Процесс</a:t>
                      </a:r>
                      <a:r>
                        <a:rPr lang="ru-RU" sz="2600" kern="1200" baseline="0" dirty="0">
                          <a:solidFill>
                            <a:srgbClr val="000000"/>
                          </a:solidFill>
                          <a:effectLst/>
                        </a:rPr>
                        <a:t> печати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18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2976731"/>
                  </a:ext>
                </a:extLst>
              </a:tr>
              <a:tr h="988344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Загрузка на компьютер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7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5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-2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32033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Присвоение номера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4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4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737556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dirty="0" smtClean="0">
                          <a:effectLst/>
                        </a:rPr>
                        <a:t>Кладет</a:t>
                      </a:r>
                      <a:r>
                        <a:rPr lang="ru-RU" sz="2600" baseline="0" dirty="0" smtClean="0">
                          <a:effectLst/>
                        </a:rPr>
                        <a:t> в сторону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42109734"/>
                  </a:ext>
                </a:extLst>
              </a:tr>
              <a:tr h="669956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Прочтение письма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-30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15269581"/>
                  </a:ext>
                </a:extLst>
              </a:tr>
              <a:tr h="532033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Регистрация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176</a:t>
                      </a:r>
                      <a:endParaRPr lang="ru-RU" sz="260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ru-RU" sz="2600" kern="1200" dirty="0">
                          <a:solidFill>
                            <a:srgbClr val="000000"/>
                          </a:solidFill>
                          <a:effectLst/>
                        </a:rPr>
                        <a:t>76</a:t>
                      </a:r>
                      <a:endParaRPr lang="ru-RU" sz="2600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77240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3419D0B-BAD1-9858-6198-E831AE5AE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C6E9F33-F913-FFF1-5979-19A3C2DF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457" y="-1203"/>
            <a:ext cx="3139440" cy="1325563"/>
          </a:xfrm>
        </p:spPr>
        <p:txBody>
          <a:bodyPr rtlCol="0"/>
          <a:lstStyle/>
          <a:p>
            <a:r>
              <a:rPr lang="ru-RU">
                <a:latin typeface="Arial"/>
                <a:cs typeface="Arial"/>
              </a:rPr>
              <a:t>выводы</a:t>
            </a:r>
            <a:endParaRPr lang="ru-RU">
              <a:cs typeface="Arial"/>
            </a:endParaRPr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xmlns="" id="{4480461B-6D69-950A-70FF-661CC622EB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ru-RU"/>
              <a:t>Набор слайдов для презентации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xmlns="" id="{6D9924AF-B27C-CC10-34F6-3D7376BADE3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14</a:t>
            </a:fld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722A13AE-64D8-4466-530A-B9BFC3B417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505971"/>
              </p:ext>
            </p:extLst>
          </p:nvPr>
        </p:nvGraphicFramePr>
        <p:xfrm>
          <a:off x="4379897" y="3092620"/>
          <a:ext cx="7248951" cy="3420084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5812581">
                  <a:extLst>
                    <a:ext uri="{9D8B030D-6E8A-4147-A177-3AD203B41FA5}">
                      <a16:colId xmlns:a16="http://schemas.microsoft.com/office/drawing/2014/main" xmlns="" val="304178795"/>
                    </a:ext>
                  </a:extLst>
                </a:gridCol>
                <a:gridCol w="1436370">
                  <a:extLst>
                    <a:ext uri="{9D8B030D-6E8A-4147-A177-3AD203B41FA5}">
                      <a16:colId xmlns:a16="http://schemas.microsoft.com/office/drawing/2014/main" xmlns="" val="3366185056"/>
                    </a:ext>
                  </a:extLst>
                </a:gridCol>
              </a:tblGrid>
              <a:tr h="570014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Показатель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Значение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50090440"/>
                  </a:ext>
                </a:extLst>
              </a:tr>
              <a:tr h="570014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времени на документ (сек)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</a:rPr>
                        <a:t>77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938441127"/>
                  </a:ext>
                </a:extLst>
              </a:tr>
              <a:tr h="570014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на 1 документе (</a:t>
                      </a:r>
                      <a:r>
                        <a:rPr lang="ru-RU" sz="2400" kern="120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</a:rPr>
                        <a:t>6,7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275954899"/>
                  </a:ext>
                </a:extLst>
              </a:tr>
              <a:tr h="570014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 день (</a:t>
                      </a:r>
                      <a:r>
                        <a:rPr lang="ru-RU" sz="2400" kern="1200" dirty="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, </a:t>
                      </a: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</a:rPr>
                        <a:t>81 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документов)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400" smtClean="0">
                          <a:effectLst/>
                        </a:rPr>
                        <a:t>542,7</a:t>
                      </a:r>
                      <a:endParaRPr lang="ru-RU" sz="24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3273647136"/>
                  </a:ext>
                </a:extLst>
              </a:tr>
              <a:tr h="570014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 месяц (</a:t>
                      </a:r>
                      <a:r>
                        <a:rPr lang="ru-RU" sz="2400" kern="120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400" kern="1200" dirty="0" smtClean="0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r>
                        <a:rPr lang="ru-RU" sz="2400" kern="1200" baseline="0" dirty="0" smtClean="0">
                          <a:solidFill>
                            <a:srgbClr val="000000"/>
                          </a:solidFill>
                          <a:effectLst/>
                        </a:rPr>
                        <a:t> 939,4</a:t>
                      </a:r>
                      <a:endParaRPr lang="ru-RU" sz="2400" kern="1200" dirty="0" smtClean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4127338007"/>
                  </a:ext>
                </a:extLst>
              </a:tr>
              <a:tr h="570014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Срок окупаемости (</a:t>
                      </a:r>
                      <a:r>
                        <a:rPr lang="ru-RU" sz="2400" kern="1200" err="1">
                          <a:solidFill>
                            <a:srgbClr val="000000"/>
                          </a:solidFill>
                          <a:effectLst/>
                        </a:rPr>
                        <a:t>мес</a:t>
                      </a:r>
                      <a:r>
                        <a:rPr lang="ru-RU" sz="24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400" dirty="0" smtClean="0">
                          <a:effectLst/>
                        </a:rPr>
                        <a:t>2,9</a:t>
                      </a:r>
                      <a:endParaRPr lang="ru-RU" sz="2400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239237198"/>
                  </a:ext>
                </a:extLst>
              </a:tr>
            </a:tbl>
          </a:graphicData>
        </a:graphic>
      </p:graphicFrame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xmlns="" id="{4645C970-8694-0D77-E5B3-D89591BE15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740102"/>
              </p:ext>
            </p:extLst>
          </p:nvPr>
        </p:nvGraphicFramePr>
        <p:xfrm>
          <a:off x="4611187" y="277927"/>
          <a:ext cx="7265772" cy="25955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1692">
                  <a:extLst>
                    <a:ext uri="{9D8B030D-6E8A-4147-A177-3AD203B41FA5}">
                      <a16:colId xmlns:a16="http://schemas.microsoft.com/office/drawing/2014/main" xmlns="" val="1642321618"/>
                    </a:ext>
                  </a:extLst>
                </a:gridCol>
                <a:gridCol w="2421692">
                  <a:extLst>
                    <a:ext uri="{9D8B030D-6E8A-4147-A177-3AD203B41FA5}">
                      <a16:colId xmlns:a16="http://schemas.microsoft.com/office/drawing/2014/main" xmlns="" val="4154157514"/>
                    </a:ext>
                  </a:extLst>
                </a:gridCol>
                <a:gridCol w="2422388">
                  <a:extLst>
                    <a:ext uri="{9D8B030D-6E8A-4147-A177-3AD203B41FA5}">
                      <a16:colId xmlns:a16="http://schemas.microsoft.com/office/drawing/2014/main" xmlns="" val="2546817650"/>
                    </a:ext>
                  </a:extLst>
                </a:gridCol>
              </a:tblGrid>
              <a:tr h="28839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До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После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47548988"/>
                  </a:ext>
                </a:extLst>
              </a:tr>
              <a:tr h="865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Время, потраченное на один документ, сек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235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158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107965072"/>
                  </a:ext>
                </a:extLst>
              </a:tr>
              <a:tr h="288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Доля потерь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0,672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72921200"/>
                  </a:ext>
                </a:extLst>
              </a:tr>
              <a:tr h="288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Производительность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167,2%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096798991"/>
                  </a:ext>
                </a:extLst>
              </a:tr>
              <a:tr h="5767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Документов за одно и то же время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55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81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26029400"/>
                  </a:ext>
                </a:extLst>
              </a:tr>
              <a:tr h="2883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effectLst/>
                        </a:rPr>
                        <a:t>Время такта, мин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8,7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b="0" dirty="0" smtClean="0">
                          <a:solidFill>
                            <a:schemeClr val="tx1"/>
                          </a:solidFill>
                          <a:effectLst/>
                        </a:rPr>
                        <a:t>5,9</a:t>
                      </a:r>
                      <a:endParaRPr lang="ru-RU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25913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032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2" y="1070945"/>
            <a:ext cx="5431971" cy="1280998"/>
          </a:xfrm>
        </p:spPr>
        <p:txBody>
          <a:bodyPr rtlCol="0">
            <a:normAutofit/>
          </a:bodyPr>
          <a:lstStyle/>
          <a:p>
            <a:r>
              <a:rPr lang="ru-RU">
                <a:latin typeface="Arial"/>
                <a:cs typeface="Arial"/>
              </a:rPr>
              <a:t>Basic flowchart</a:t>
            </a:r>
            <a:br>
              <a:rPr lang="ru-RU">
                <a:latin typeface="Arial"/>
                <a:cs typeface="Arial"/>
              </a:rPr>
            </a:br>
            <a:r>
              <a:rPr lang="ru-RU">
                <a:cs typeface="Arial"/>
              </a:rPr>
              <a:t/>
            </a:r>
            <a:br>
              <a:rPr lang="ru-RU">
                <a:cs typeface="Arial"/>
              </a:rPr>
            </a:br>
            <a:r>
              <a:rPr lang="ru-RU">
                <a:latin typeface="Arial"/>
                <a:cs typeface="Arial"/>
              </a:rPr>
              <a:t>начальник отдела</a:t>
            </a:r>
            <a:endParaRPr lang="ru-RU">
              <a:cs typeface="Arial"/>
            </a:endParaRPr>
          </a:p>
        </p:txBody>
      </p:sp>
      <p:pic>
        <p:nvPicPr>
          <p:cNvPr id="23" name="Рисунок 22" descr="Изображение выглядит как текст, диаграмма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8EC35429-DF99-7FAD-E84A-AF9F016DE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827" y="0"/>
            <a:ext cx="67576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16982"/>
            <a:ext cx="8209207" cy="650503"/>
          </a:xfrm>
        </p:spPr>
        <p:txBody>
          <a:bodyPr rtlCol="0"/>
          <a:lstStyle/>
          <a:p>
            <a:r>
              <a:rPr lang="ru-RU" dirty="0" err="1">
                <a:latin typeface="Arial"/>
                <a:cs typeface="Arial"/>
              </a:rPr>
              <a:t>bmpn</a:t>
            </a:r>
            <a:r>
              <a:rPr lang="ru-RU" dirty="0">
                <a:latin typeface="Arial"/>
                <a:cs typeface="Arial"/>
              </a:rPr>
              <a:t> - начальник управления</a:t>
            </a:r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83EF3C63-4920-948B-F1C7-23E9843D4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2602"/>
            <a:ext cx="12192000" cy="345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779B212-CC9C-79F8-037C-B6091659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EBA5E7C-D04E-86BA-984E-F33A2A52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16982"/>
            <a:ext cx="9032575" cy="650503"/>
          </a:xfrm>
        </p:spPr>
        <p:txBody>
          <a:bodyPr rtlCol="0">
            <a:normAutofit fontScale="90000"/>
          </a:bodyPr>
          <a:lstStyle/>
          <a:p>
            <a:r>
              <a:rPr lang="ru-RU" dirty="0" err="1">
                <a:latin typeface="Arial"/>
                <a:cs typeface="Arial"/>
              </a:rPr>
              <a:t>bmpn</a:t>
            </a:r>
            <a:r>
              <a:rPr lang="ru-RU" dirty="0">
                <a:latin typeface="Arial"/>
                <a:cs typeface="Arial"/>
              </a:rPr>
              <a:t> - ведущий документовед (исходящий)</a:t>
            </a:r>
            <a:endParaRPr lang="ru-RU" dirty="0"/>
          </a:p>
        </p:txBody>
      </p:sp>
      <p:pic>
        <p:nvPicPr>
          <p:cNvPr id="6" name="Рисунок 5" descr="Изображение выглядит как текст, снимок экрана, линия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87324E5D-B884-74A3-F895-52B113875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2304"/>
            <a:ext cx="12192000" cy="25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64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r>
              <a:rPr lang="ru-RU">
                <a:latin typeface="Arial"/>
                <a:cs typeface="Arial"/>
              </a:rPr>
              <a:t>простои</a:t>
            </a:r>
            <a:endParaRPr lang="ru-RU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xmlns="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4310" y="2439474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ru-RU" sz="3200" noProof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rtl="0"/>
            <a:endParaRPr lang="ru-RU" sz="1600" noProof="1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77627" y="2439474"/>
            <a:ext cx="2882475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noProof="1">
                <a:latin typeface="Arial"/>
                <a:cs typeface="Arial"/>
              </a:rPr>
              <a:t>В качестве потерь "движение" можно взять передвижения для переноски писем из другого документа. </a:t>
            </a:r>
            <a:endParaRPr lang="ru-RU" sz="2000" dirty="0"/>
          </a:p>
          <a:p>
            <a:endParaRPr lang="ru-RU" sz="1600" noProof="1"/>
          </a:p>
          <a:p>
            <a:endParaRPr lang="ru-RU" sz="1600" dirty="0"/>
          </a:p>
        </p:txBody>
      </p:sp>
      <p:sp>
        <p:nvSpPr>
          <p:cNvPr id="14" name="Объект 13">
            <a:extLst>
              <a:ext uri="{FF2B5EF4-FFF2-40B4-BE49-F238E27FC236}">
                <a16:creationId xmlns:a16="http://schemas.microsoft.com/office/drawing/2014/main" xmlns="" id="{1385C9B7-49A3-7313-11CB-BA96E06D74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58871" y="2439474"/>
            <a:ext cx="2896671" cy="19978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000" dirty="0">
                <a:latin typeface="Arial"/>
                <a:cs typeface="Arial"/>
              </a:rPr>
              <a:t>Долго печатает/ вводит текст в программы</a:t>
            </a:r>
            <a:endParaRPr lang="ru-RU" sz="2000" dirty="0"/>
          </a:p>
        </p:txBody>
      </p:sp>
      <p:sp>
        <p:nvSpPr>
          <p:cNvPr id="16" name="Объект 13">
            <a:extLst>
              <a:ext uri="{FF2B5EF4-FFF2-40B4-BE49-F238E27FC236}">
                <a16:creationId xmlns:a16="http://schemas.microsoft.com/office/drawing/2014/main" xmlns="" id="{2A13AA9C-E09E-5C2C-5864-4C1310941B3E}"/>
              </a:ext>
            </a:extLst>
          </p:cNvPr>
          <p:cNvSpPr txBox="1">
            <a:spLocks/>
          </p:cNvSpPr>
          <p:nvPr/>
        </p:nvSpPr>
        <p:spPr>
          <a:xfrm>
            <a:off x="1029286" y="2440595"/>
            <a:ext cx="2896671" cy="19978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 spc="5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Arial"/>
                <a:cs typeface="Arial"/>
              </a:rPr>
              <a:t>Теряет время на распечатку и вырезание штрих-кодов</a:t>
            </a:r>
            <a:endParaRPr lang="ru-RU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3F84F7CC-E913-146E-9B9B-04E256B7F5C1}"/>
              </a:ext>
            </a:extLst>
          </p:cNvPr>
          <p:cNvSpPr txBox="1"/>
          <p:nvPr/>
        </p:nvSpPr>
        <p:spPr>
          <a:xfrm>
            <a:off x="8077627" y="5006862"/>
            <a:ext cx="269881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000" dirty="0">
                <a:solidFill>
                  <a:srgbClr val="404040"/>
                </a:solidFill>
                <a:latin typeface="Arial"/>
                <a:cs typeface="Arial"/>
              </a:rPr>
              <a:t>11 писем за 1814 секунд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0" y="120017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штрих-коды печатаются отдельно, затем вручную прикрепляются к письмам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2120265" y="1405893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они не печатаются сразу на конвертах/письмах в процессе подготовки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303395" y="2701287"/>
            <a:ext cx="3171825" cy="13563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принтеры / ПО не поддерживают автоматическую печать кодов вместе с основным документом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945630" y="414528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Потому что изначально не были построены на эту задачу</a:t>
            </a:r>
          </a:p>
        </p:txBody>
      </p:sp>
      <p:sp>
        <p:nvSpPr>
          <p:cNvPr id="13" name="Управляющая кнопка: справка 12">
            <a:hlinkClick r:id="" action="ppaction://noaction" highlightClick="1"/>
          </p:cNvPr>
          <p:cNvSpPr/>
          <p:nvPr/>
        </p:nvSpPr>
        <p:spPr>
          <a:xfrm>
            <a:off x="-253365" y="3261360"/>
            <a:ext cx="3973830" cy="4556760"/>
          </a:xfrm>
          <a:prstGeom prst="actionButtonHelp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93370" y="495681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Почему тратится время на распечатку, вырезание и наклеивание штрих-кодов?</a:t>
            </a:r>
          </a:p>
        </p:txBody>
      </p:sp>
      <p:cxnSp>
        <p:nvCxnSpPr>
          <p:cNvPr id="15" name="Соединительная линия уступом 14"/>
          <p:cNvCxnSpPr>
            <a:stCxn id="8" idx="3"/>
            <a:endCxn id="9" idx="0"/>
          </p:cNvCxnSpPr>
          <p:nvPr/>
        </p:nvCxnSpPr>
        <p:spPr>
          <a:xfrm>
            <a:off x="2880360" y="702947"/>
            <a:ext cx="680085" cy="7029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Соединительная линия уступом 18"/>
          <p:cNvCxnSpPr>
            <a:stCxn id="9" idx="3"/>
            <a:endCxn id="10" idx="0"/>
          </p:cNvCxnSpPr>
          <p:nvPr/>
        </p:nvCxnSpPr>
        <p:spPr>
          <a:xfrm>
            <a:off x="5000625" y="1988823"/>
            <a:ext cx="888683" cy="712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ная линия уступом 20"/>
          <p:cNvCxnSpPr>
            <a:stCxn id="10" idx="3"/>
            <a:endCxn id="11" idx="0"/>
          </p:cNvCxnSpPr>
          <p:nvPr/>
        </p:nvCxnSpPr>
        <p:spPr>
          <a:xfrm>
            <a:off x="7475220" y="3379467"/>
            <a:ext cx="910590" cy="76581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ная линия уступом 22"/>
          <p:cNvCxnSpPr>
            <a:cxnSpLocks/>
            <a:stCxn id="11" idx="3"/>
          </p:cNvCxnSpPr>
          <p:nvPr/>
        </p:nvCxnSpPr>
        <p:spPr>
          <a:xfrm>
            <a:off x="9825990" y="4728210"/>
            <a:ext cx="588169" cy="7277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Управляющая кнопка: справка 23">
            <a:hlinkClick r:id="" action="ppaction://noaction" highlightClick="1"/>
          </p:cNvPr>
          <p:cNvSpPr/>
          <p:nvPr/>
        </p:nvSpPr>
        <p:spPr>
          <a:xfrm>
            <a:off x="7938135" y="-1569721"/>
            <a:ext cx="3973830" cy="4556760"/>
          </a:xfrm>
          <a:prstGeom prst="actionButtonHelp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/>
          <p:cNvSpPr/>
          <p:nvPr/>
        </p:nvSpPr>
        <p:spPr>
          <a:xfrm>
            <a:off x="8880158" y="491490"/>
            <a:ext cx="2880360" cy="11658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5 ПРИЧИН «ПОЧЕМУ?»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07F24B-8108-9189-5D81-F5E461CBF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7CAEC43-23F9-2F3E-AC04-98B72874C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0B5DD37-7A7A-B481-992C-8E74E8B0B20F}"/>
              </a:ext>
            </a:extLst>
          </p:cNvPr>
          <p:cNvSpPr/>
          <p:nvPr/>
        </p:nvSpPr>
        <p:spPr>
          <a:xfrm>
            <a:off x="9097441" y="5351372"/>
            <a:ext cx="3030126" cy="14511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Потому что при организации не учитывалась возможность автоматизации печати штрих-кодов</a:t>
            </a:r>
          </a:p>
        </p:txBody>
      </p:sp>
    </p:spTree>
    <p:extLst>
      <p:ext uri="{BB962C8B-B14F-4D97-AF65-F5344CB8AC3E}">
        <p14:creationId xmlns:p14="http://schemas.microsoft.com/office/powerpoint/2010/main" val="361636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E2FD45-0142-4F9D-25E4-9160FCAF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AE993244-8D75-5C28-892E-B6211915E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xmlns="" id="{720FECFA-715C-573C-4F77-26690223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416982"/>
            <a:ext cx="9032575" cy="650503"/>
          </a:xfrm>
        </p:spPr>
        <p:txBody>
          <a:bodyPr rtlCol="0">
            <a:normAutofit fontScale="90000"/>
          </a:bodyPr>
          <a:lstStyle/>
          <a:p>
            <a:r>
              <a:rPr lang="ru-RU" dirty="0" err="1">
                <a:latin typeface="Arial"/>
                <a:cs typeface="Arial"/>
              </a:rPr>
              <a:t>bmpn</a:t>
            </a:r>
            <a:r>
              <a:rPr lang="ru-RU" dirty="0">
                <a:latin typeface="Arial"/>
                <a:cs typeface="Arial"/>
              </a:rPr>
              <a:t> - ведущий документовед (исходящий)</a:t>
            </a:r>
            <a:endParaRPr lang="ru-RU" dirty="0"/>
          </a:p>
        </p:txBody>
      </p:sp>
      <p:pic>
        <p:nvPicPr>
          <p:cNvPr id="17" name="Рисунок 16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xmlns="" id="{62C92132-9036-9CF6-9618-8203CFEC2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672"/>
            <a:ext cx="12192000" cy="317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94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="" xmlns:a16="http://schemas.microsoft.com/office/drawing/2014/main" id="{7C9BF134-8862-B1B2-03DF-71A5F6D0263B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661" y="180003"/>
            <a:ext cx="9671236" cy="563563"/>
          </a:xfrm>
        </p:spPr>
        <p:txBody>
          <a:bodyPr rtlCol="0">
            <a:normAutofit/>
          </a:bodyPr>
          <a:lstStyle/>
          <a:p>
            <a:r>
              <a:rPr lang="ru-RU" dirty="0">
                <a:latin typeface="Arial"/>
                <a:cs typeface="Arial"/>
              </a:rPr>
              <a:t>Неоптимизированный процесс </a:t>
            </a:r>
            <a:r>
              <a:rPr lang="ru-RU" dirty="0" smtClean="0">
                <a:latin typeface="Arial"/>
                <a:cs typeface="Arial"/>
              </a:rPr>
              <a:t>отправки</a:t>
            </a:r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="" xmlns:a16="http://schemas.microsoft.com/office/drawing/2014/main" id="{00885FE8-E817-8D50-7592-9171E8687306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411100" y="3428934"/>
            <a:ext cx="9671236" cy="56356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Arial"/>
                <a:cs typeface="Arial"/>
              </a:rPr>
              <a:t>оптимизированный процесс </a:t>
            </a:r>
            <a:r>
              <a:rPr lang="ru-RU" dirty="0" smtClean="0">
                <a:latin typeface="Arial"/>
                <a:cs typeface="Arial"/>
              </a:rPr>
              <a:t>отправки</a:t>
            </a:r>
            <a:endParaRPr lang="ru-RU" dirty="0"/>
          </a:p>
        </p:txBody>
      </p:sp>
      <p:sp>
        <p:nvSpPr>
          <p:cNvPr id="3" name="Номер слайда 12">
            <a:extLst>
              <a:ext uri="{FF2B5EF4-FFF2-40B4-BE49-F238E27FC236}">
                <a16:creationId xmlns="" xmlns:a16="http://schemas.microsoft.com/office/drawing/2014/main" id="{EE6F8960-C42E-7F5C-2306-2267D085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21</a:t>
            </a:fld>
            <a:endParaRPr lang="ru-RU"/>
          </a:p>
        </p:txBody>
      </p:sp>
      <p:pic>
        <p:nvPicPr>
          <p:cNvPr id="4" name="Рисунок 3" descr="Изображение выглядит как текст, снимок экрана, Публикация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319CFEEF-6822-E1E6-41CE-33D398924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7382" y="4279652"/>
            <a:ext cx="12192000" cy="1895784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Публикация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="" xmlns:a16="http://schemas.microsoft.com/office/drawing/2014/main" id="{BA4B1912-C49E-5D45-DF6A-63057D2BDB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" y="786217"/>
            <a:ext cx="9665074" cy="26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616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09ED75E-E82D-C1BA-A3F5-658ED3EDA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E8C8856-D2E2-E3B0-0714-1967A285B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48" y="290150"/>
            <a:ext cx="3139440" cy="1325563"/>
          </a:xfrm>
        </p:spPr>
        <p:txBody>
          <a:bodyPr rtlCol="0"/>
          <a:lstStyle/>
          <a:p>
            <a:r>
              <a:rPr lang="ru-RU">
                <a:latin typeface="Arial"/>
                <a:cs typeface="Arial"/>
              </a:rPr>
              <a:t>Разница между процессами</a:t>
            </a:r>
            <a:endParaRPr lang="ru-RU">
              <a:cs typeface="Arial"/>
            </a:endParaRPr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xmlns="" id="{E8F78598-34A7-0D7A-CACD-EE9A12DD5E1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ru-RU"/>
              <a:t>Набор слайдов для презентации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xmlns="" id="{93F0F59E-38DA-CC60-3E24-330558D974FB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22</a:t>
            </a:fld>
            <a:endParaRPr lang="ru-RU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C473F7F0-AAE8-7046-9F14-7F6F57614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42005"/>
              </p:ext>
            </p:extLst>
          </p:nvPr>
        </p:nvGraphicFramePr>
        <p:xfrm>
          <a:off x="2952750" y="1619250"/>
          <a:ext cx="9113621" cy="34138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26058">
                  <a:extLst>
                    <a:ext uri="{9D8B030D-6E8A-4147-A177-3AD203B41FA5}">
                      <a16:colId xmlns:a16="http://schemas.microsoft.com/office/drawing/2014/main" xmlns="" val="1969952208"/>
                    </a:ext>
                  </a:extLst>
                </a:gridCol>
                <a:gridCol w="1716075">
                  <a:extLst>
                    <a:ext uri="{9D8B030D-6E8A-4147-A177-3AD203B41FA5}">
                      <a16:colId xmlns:a16="http://schemas.microsoft.com/office/drawing/2014/main" xmlns="" val="3487770068"/>
                    </a:ext>
                  </a:extLst>
                </a:gridCol>
                <a:gridCol w="1696685">
                  <a:extLst>
                    <a:ext uri="{9D8B030D-6E8A-4147-A177-3AD203B41FA5}">
                      <a16:colId xmlns:a16="http://schemas.microsoft.com/office/drawing/2014/main" xmlns="" val="4188146229"/>
                    </a:ext>
                  </a:extLst>
                </a:gridCol>
                <a:gridCol w="2074803">
                  <a:extLst>
                    <a:ext uri="{9D8B030D-6E8A-4147-A177-3AD203B41FA5}">
                      <a16:colId xmlns:a16="http://schemas.microsoft.com/office/drawing/2014/main" xmlns="" val="888504304"/>
                    </a:ext>
                  </a:extLst>
                </a:gridCol>
              </a:tblGrid>
              <a:tr h="1072132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Операция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Было (сек)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Стало (сек)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(сек</a:t>
                      </a:r>
                      <a:r>
                        <a:rPr lang="ru-RU" sz="3200" kern="1200" dirty="0" smtClean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21185778"/>
                  </a:ext>
                </a:extLst>
              </a:tr>
              <a:tr h="1170882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Распечатка трек-номеров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92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17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85218531"/>
                  </a:ext>
                </a:extLst>
              </a:tr>
              <a:tr h="1170882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Проклейка трек-номеров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261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3200" kern="1200" dirty="0">
                          <a:solidFill>
                            <a:srgbClr val="000000"/>
                          </a:solidFill>
                          <a:effectLst/>
                        </a:rPr>
                        <a:t>161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9647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0010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EDA08F2-153D-F9A4-0984-E486383EE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AA9F424-927D-5FCE-C5D9-6D68D72D6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457" y="-1203"/>
            <a:ext cx="3139440" cy="1325563"/>
          </a:xfrm>
        </p:spPr>
        <p:txBody>
          <a:bodyPr rtlCol="0"/>
          <a:lstStyle/>
          <a:p>
            <a:r>
              <a:rPr lang="ru-RU">
                <a:latin typeface="Arial"/>
                <a:cs typeface="Arial"/>
              </a:rPr>
              <a:t>выводы</a:t>
            </a:r>
            <a:endParaRPr lang="ru-RU">
              <a:cs typeface="Arial"/>
            </a:endParaRPr>
          </a:p>
        </p:txBody>
      </p:sp>
      <p:sp>
        <p:nvSpPr>
          <p:cNvPr id="21" name="Нижний колонтитул 20">
            <a:extLst>
              <a:ext uri="{FF2B5EF4-FFF2-40B4-BE49-F238E27FC236}">
                <a16:creationId xmlns:a16="http://schemas.microsoft.com/office/drawing/2014/main" xmlns="" id="{C8CEB9E1-2A79-E9B6-5786-D98A672C29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ru-RU"/>
              <a:t>Набор слайдов для презентации</a:t>
            </a:r>
          </a:p>
        </p:txBody>
      </p:sp>
      <p:sp>
        <p:nvSpPr>
          <p:cNvPr id="22" name="Номер слайда 21">
            <a:extLst>
              <a:ext uri="{FF2B5EF4-FFF2-40B4-BE49-F238E27FC236}">
                <a16:creationId xmlns:a16="http://schemas.microsoft.com/office/drawing/2014/main" xmlns="" id="{C9DDEC29-7F46-3577-143E-757B661726F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ru-RU" smtClean="0"/>
              <a:pPr rtl="0"/>
              <a:t>23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xmlns="" id="{606A4067-C655-DF7F-9521-981C703E38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6264975"/>
              </p:ext>
            </p:extLst>
          </p:nvPr>
        </p:nvGraphicFramePr>
        <p:xfrm>
          <a:off x="3627255" y="3212202"/>
          <a:ext cx="8386763" cy="3476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946978">
                  <a:extLst>
                    <a:ext uri="{9D8B030D-6E8A-4147-A177-3AD203B41FA5}">
                      <a16:colId xmlns:a16="http://schemas.microsoft.com/office/drawing/2014/main" xmlns="" val="734481606"/>
                    </a:ext>
                  </a:extLst>
                </a:gridCol>
                <a:gridCol w="2439785">
                  <a:extLst>
                    <a:ext uri="{9D8B030D-6E8A-4147-A177-3AD203B41FA5}">
                      <a16:colId xmlns:a16="http://schemas.microsoft.com/office/drawing/2014/main" xmlns="" val="589819936"/>
                    </a:ext>
                  </a:extLst>
                </a:gridCol>
              </a:tblGrid>
              <a:tr h="442470"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Показатель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t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Значение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6474704"/>
                  </a:ext>
                </a:extLst>
              </a:tr>
              <a:tr h="630185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времени на документ (сек)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168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2546884446"/>
                  </a:ext>
                </a:extLst>
              </a:tr>
              <a:tr h="44247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на 1 документе (</a:t>
                      </a:r>
                      <a:r>
                        <a:rPr lang="ru-RU" sz="2800" kern="120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14,6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3540384999"/>
                  </a:ext>
                </a:extLst>
              </a:tr>
              <a:tr h="630185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 день (</a:t>
                      </a:r>
                      <a:r>
                        <a:rPr lang="ru-RU" sz="2800" kern="120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, 50 документов)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</a:rPr>
                        <a:t>232,86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143115136"/>
                  </a:ext>
                </a:extLst>
              </a:tr>
              <a:tr h="44247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Экономия в месяц (</a:t>
                      </a:r>
                      <a:r>
                        <a:rPr lang="ru-RU" sz="2800" kern="1200" err="1">
                          <a:solidFill>
                            <a:srgbClr val="000000"/>
                          </a:solidFill>
                          <a:effectLst/>
                        </a:rPr>
                        <a:t>руб</a:t>
                      </a: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en-US" sz="2800" kern="1200" dirty="0">
                          <a:solidFill>
                            <a:srgbClr val="000000"/>
                          </a:solidFill>
                          <a:effectLst/>
                        </a:rPr>
                        <a:t>5144,8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65388851"/>
                  </a:ext>
                </a:extLst>
              </a:tr>
              <a:tr h="44247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buNone/>
                      </a:pP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Срок окупаемости (</a:t>
                      </a:r>
                      <a:r>
                        <a:rPr lang="ru-RU" sz="2800" kern="1200" err="1">
                          <a:solidFill>
                            <a:srgbClr val="000000"/>
                          </a:solidFill>
                          <a:effectLst/>
                        </a:rPr>
                        <a:t>мес</a:t>
                      </a:r>
                      <a:r>
                        <a:rPr lang="ru-RU" sz="2800" kern="120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buNone/>
                      </a:pPr>
                      <a:r>
                        <a:rPr lang="ru-RU" sz="2800" kern="1200" dirty="0" smtClean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r>
                        <a:rPr lang="en-US" sz="2800" kern="1200" dirty="0" smtClean="0">
                          <a:solidFill>
                            <a:srgbClr val="000000"/>
                          </a:solidFill>
                          <a:effectLst/>
                        </a:rPr>
                        <a:t>,9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xmlns="" val="337810980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5ED97F62-01DD-FE9A-CFFD-B0168674F0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031625"/>
              </p:ext>
            </p:extLst>
          </p:nvPr>
        </p:nvGraphicFramePr>
        <p:xfrm>
          <a:off x="3860426" y="661147"/>
          <a:ext cx="8158615" cy="2557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25250">
                  <a:extLst>
                    <a:ext uri="{9D8B030D-6E8A-4147-A177-3AD203B41FA5}">
                      <a16:colId xmlns:a16="http://schemas.microsoft.com/office/drawing/2014/main" xmlns="" val="3750506477"/>
                    </a:ext>
                  </a:extLst>
                </a:gridCol>
                <a:gridCol w="2725250">
                  <a:extLst>
                    <a:ext uri="{9D8B030D-6E8A-4147-A177-3AD203B41FA5}">
                      <a16:colId xmlns:a16="http://schemas.microsoft.com/office/drawing/2014/main" xmlns="" val="4164660225"/>
                    </a:ext>
                  </a:extLst>
                </a:gridCol>
                <a:gridCol w="2708115">
                  <a:extLst>
                    <a:ext uri="{9D8B030D-6E8A-4147-A177-3AD203B41FA5}">
                      <a16:colId xmlns:a16="http://schemas.microsoft.com/office/drawing/2014/main" xmlns="" val="2699891020"/>
                    </a:ext>
                  </a:extLst>
                </a:gridCol>
              </a:tblGrid>
              <a:tr h="31963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20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До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После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417163623"/>
                  </a:ext>
                </a:extLst>
              </a:tr>
              <a:tr h="63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Время, потраченное на один документ, сек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1803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1635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215222366"/>
                  </a:ext>
                </a:extLst>
              </a:tr>
              <a:tr h="319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Доля потерь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0,093%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018549020"/>
                  </a:ext>
                </a:extLst>
              </a:tr>
              <a:tr h="319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Производительность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109,3%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91868984"/>
                  </a:ext>
                </a:extLst>
              </a:tr>
              <a:tr h="639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Документов за одно и то же время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66114786"/>
                  </a:ext>
                </a:extLst>
              </a:tr>
              <a:tr h="319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Время такта, мин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32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000" b="0" dirty="0">
                          <a:solidFill>
                            <a:schemeClr val="tx1"/>
                          </a:solidFill>
                          <a:effectLst/>
                        </a:rPr>
                        <a:t>30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73755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7491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rtl="0"/>
            <a:r>
              <a:rPr lang="ru-RU" noProof="0" smtClean="0"/>
              <a:t>Набор слайдов для презентации</a:t>
            </a:r>
            <a:endParaRPr lang="ru-RU" noProof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ru-RU" noProof="0" smtClean="0"/>
              <a:pPr rtl="0"/>
              <a:t>24</a:t>
            </a:fld>
            <a:endParaRPr lang="ru-RU" noProof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9D6E316B-9BE4-1A29-D1C5-058A1BC94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41319" y="1974210"/>
            <a:ext cx="8564578" cy="37074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ru-RU" sz="4800" dirty="0">
                <a:latin typeface="Arial"/>
                <a:cs typeface="Arial"/>
              </a:rPr>
              <a:t>Совокупный экономический эффект</a:t>
            </a:r>
            <a:endParaRPr lang="ru-RU" sz="7200" dirty="0">
              <a:cs typeface="Arial"/>
            </a:endParaRPr>
          </a:p>
          <a:p>
            <a:pPr algn="ctr"/>
            <a:endParaRPr lang="ru-RU" sz="7200" dirty="0">
              <a:cs typeface="Arial"/>
            </a:endParaRPr>
          </a:p>
          <a:p>
            <a:pPr algn="ctr"/>
            <a:r>
              <a:rPr lang="ru-RU" sz="4800" dirty="0" smtClean="0">
                <a:latin typeface="Arial"/>
                <a:cs typeface="Arial"/>
              </a:rPr>
              <a:t>11 939,4+5 144,8=</a:t>
            </a:r>
            <a:r>
              <a:rPr lang="ru-RU" sz="4800" b="1" dirty="0" smtClean="0">
                <a:latin typeface="Arial"/>
                <a:cs typeface="Arial"/>
              </a:rPr>
              <a:t>17 084,2 </a:t>
            </a:r>
            <a:r>
              <a:rPr lang="ru-RU" sz="4800" dirty="0" smtClean="0">
                <a:latin typeface="Arial"/>
                <a:cs typeface="Arial"/>
              </a:rPr>
              <a:t>руб</a:t>
            </a:r>
            <a:r>
              <a:rPr lang="ru-RU" sz="4800" dirty="0">
                <a:latin typeface="Arial"/>
                <a:cs typeface="Arial"/>
              </a:rPr>
              <a:t>. Экономии в месяц</a:t>
            </a:r>
            <a:endParaRPr lang="ru-RU" sz="48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9321960"/>
      </p:ext>
    </p:extLst>
  </p:cSld>
  <p:clrMapOvr>
    <a:masterClrMapping/>
  </p:clrMapOvr>
</p:sld>
</file>

<file path=ppt/theme/theme1.xml><?xml version="1.0" encoding="utf-8"?>
<a:theme xmlns:a="http://schemas.openxmlformats.org/drawingml/2006/main" name="Одиночная линия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57</TotalTime>
  <Words>941</Words>
  <Application>Microsoft Office PowerPoint</Application>
  <PresentationFormat>Широкоэкранный</PresentationFormat>
  <Paragraphs>285</Paragraphs>
  <Slides>24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0" baseType="lpstr">
      <vt:lpstr>Arial</vt:lpstr>
      <vt:lpstr>Calibri</vt:lpstr>
      <vt:lpstr>New Standard Bold</vt:lpstr>
      <vt:lpstr>Tenorite</vt:lpstr>
      <vt:lpstr>Times New Roman</vt:lpstr>
      <vt:lpstr>Одиночная линия</vt:lpstr>
      <vt:lpstr>Управление документооборота и контроля</vt:lpstr>
      <vt:lpstr>Презентация PowerPoint</vt:lpstr>
      <vt:lpstr>Функции и операции Айгуль</vt:lpstr>
      <vt:lpstr>Функции и операции Альбины</vt:lpstr>
      <vt:lpstr>Функции и операции Инны рустамовны</vt:lpstr>
      <vt:lpstr>Функции и операции Айзили</vt:lpstr>
      <vt:lpstr>IDEF0 </vt:lpstr>
      <vt:lpstr>BPMN - ведущий документовед (входящий)</vt:lpstr>
      <vt:lpstr>Простои</vt:lpstr>
      <vt:lpstr>Презентация PowerPoint</vt:lpstr>
      <vt:lpstr>BPMN - ведущий документовед (входящий)</vt:lpstr>
      <vt:lpstr>Неоптимизированный процесс регистрации</vt:lpstr>
      <vt:lpstr>Разница между процессами</vt:lpstr>
      <vt:lpstr>выводы</vt:lpstr>
      <vt:lpstr>Basic flowchart  начальник отдела</vt:lpstr>
      <vt:lpstr>bmpn - начальник управления</vt:lpstr>
      <vt:lpstr>bmpn - ведущий документовед (исходящий)</vt:lpstr>
      <vt:lpstr>простои</vt:lpstr>
      <vt:lpstr>Презентация PowerPoint</vt:lpstr>
      <vt:lpstr>bmpn - ведущий документовед (исходящий)</vt:lpstr>
      <vt:lpstr>Неоптимизированный процесс отправки</vt:lpstr>
      <vt:lpstr>Разница между процессами</vt:lpstr>
      <vt:lpstr>выводы</vt:lpstr>
      <vt:lpstr>Совокупный экономический эффект  11 939,4+5 144,8=17 084,2 руб. Экономии в месяц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Управление документооборота и контроля</dc:title>
  <dc:creator/>
  <cp:lastModifiedBy>Учетная запись Майкрософт</cp:lastModifiedBy>
  <cp:revision>460</cp:revision>
  <dcterms:created xsi:type="dcterms:W3CDTF">2025-05-01T19:47:36Z</dcterms:created>
  <dcterms:modified xsi:type="dcterms:W3CDTF">2025-05-05T10:13:27Z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