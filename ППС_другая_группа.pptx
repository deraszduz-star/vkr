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77" r:id="rId5"/>
    <p:sldId id="279" r:id="rId6"/>
    <p:sldId id="276" r:id="rId7"/>
    <p:sldId id="281" r:id="rId8"/>
    <p:sldId id="282" r:id="rId9"/>
    <p:sldId id="280" r:id="rId10"/>
    <p:sldId id="260" r:id="rId11"/>
    <p:sldId id="262" r:id="rId12"/>
    <p:sldId id="263" r:id="rId13"/>
    <p:sldId id="264" r:id="rId14"/>
    <p:sldId id="265" r:id="rId15"/>
    <p:sldId id="278" r:id="rId16"/>
    <p:sldId id="283" r:id="rId17"/>
    <p:sldId id="284" r:id="rId18"/>
    <p:sldId id="28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9144000" cy="5143500" type="screen16x9"/>
  <p:notesSz cx="6858000" cy="9144000"/>
  <p:embeddedFontLst>
    <p:embeddedFont>
      <p:font typeface="PT Sans" panose="020B0503020203020204" pitchFamily="34" charset="-52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89FA55-818D-4044-940B-E8AE36749A6D}">
  <a:tblStyle styleId="{5689FA55-818D-4044-940B-E8AE36749A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98" d="100"/>
          <a:sy n="98" d="100"/>
        </p:scale>
        <p:origin x="970" y="82"/>
      </p:cViewPr>
      <p:guideLst>
        <p:guide orient="horz" pos="1620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f91664a7a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4f91664a7a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4" name="Google Shape;104;g34f91664a7a_0_2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1578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2FAF69D-1A1D-74F9-7779-2315BE9D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>
            <a:extLst>
              <a:ext uri="{FF2B5EF4-FFF2-40B4-BE49-F238E27FC236}">
                <a16:creationId xmlns:a16="http://schemas.microsoft.com/office/drawing/2014/main" id="{669BF370-F5B6-A87E-E40D-B89659715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>
            <a:extLst>
              <a:ext uri="{FF2B5EF4-FFF2-40B4-BE49-F238E27FC236}">
                <a16:creationId xmlns:a16="http://schemas.microsoft.com/office/drawing/2014/main" id="{0B522871-1F8E-F103-C274-D0ABE0393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>
            <a:extLst>
              <a:ext uri="{FF2B5EF4-FFF2-40B4-BE49-F238E27FC236}">
                <a16:creationId xmlns:a16="http://schemas.microsoft.com/office/drawing/2014/main" id="{12A713DF-99A0-E954-7DB3-E2D0C2BC55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236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830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EE81E0D-F0FF-22D3-DEBE-A0E42435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>
            <a:extLst>
              <a:ext uri="{FF2B5EF4-FFF2-40B4-BE49-F238E27FC236}">
                <a16:creationId xmlns:a16="http://schemas.microsoft.com/office/drawing/2014/main" id="{AE0BC900-C641-B615-2B45-4DDCF22FE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>
            <a:extLst>
              <a:ext uri="{FF2B5EF4-FFF2-40B4-BE49-F238E27FC236}">
                <a16:creationId xmlns:a16="http://schemas.microsoft.com/office/drawing/2014/main" id="{6758D1BC-8C0B-71AC-0FE9-570FB8A2D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>
            <a:extLst>
              <a:ext uri="{FF2B5EF4-FFF2-40B4-BE49-F238E27FC236}">
                <a16:creationId xmlns:a16="http://schemas.microsoft.com/office/drawing/2014/main" id="{9FCBEC45-2022-B87D-9DF5-1D7D6A290A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135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871CEB3-83F4-AB3A-7C51-75B344EF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>
            <a:extLst>
              <a:ext uri="{FF2B5EF4-FFF2-40B4-BE49-F238E27FC236}">
                <a16:creationId xmlns:a16="http://schemas.microsoft.com/office/drawing/2014/main" id="{B81D23F7-BAAD-3E8C-C836-1C7E41498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>
            <a:extLst>
              <a:ext uri="{FF2B5EF4-FFF2-40B4-BE49-F238E27FC236}">
                <a16:creationId xmlns:a16="http://schemas.microsoft.com/office/drawing/2014/main" id="{727A7F45-5AD4-AAFC-D68B-97A08B72E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>
            <a:extLst>
              <a:ext uri="{FF2B5EF4-FFF2-40B4-BE49-F238E27FC236}">
                <a16:creationId xmlns:a16="http://schemas.microsoft.com/office/drawing/2014/main" id="{FD8A6764-6DF3-F2A2-2D66-B27537F868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6166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9595D62-CF11-EF39-652C-C3BCAE95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91664a7a_0_113:notes">
            <a:extLst>
              <a:ext uri="{FF2B5EF4-FFF2-40B4-BE49-F238E27FC236}">
                <a16:creationId xmlns:a16="http://schemas.microsoft.com/office/drawing/2014/main" id="{BFEA11A6-33F2-44C1-97C2-E4E301DC6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4f91664a7a_0_113:notes">
            <a:extLst>
              <a:ext uri="{FF2B5EF4-FFF2-40B4-BE49-F238E27FC236}">
                <a16:creationId xmlns:a16="http://schemas.microsoft.com/office/drawing/2014/main" id="{9574E9E3-4CEB-2313-2E00-1D3C6BC8D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3" name="Google Shape;113;g34f91664a7a_0_113:notes">
            <a:extLst>
              <a:ext uri="{FF2B5EF4-FFF2-40B4-BE49-F238E27FC236}">
                <a16:creationId xmlns:a16="http://schemas.microsoft.com/office/drawing/2014/main" id="{C061447C-4CD4-8A4E-974D-7382CDE6E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3194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f91664a7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4f91664a7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2" name="Google Shape;122;g34f91664a7a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f91664a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4f91664a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2" name="Google Shape;142;g34f91664a7a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f91664a7a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4f91664a7a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" name="Google Shape;152;g34f91664a7a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f91664a7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4f91664a7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2" name="Google Shape;172;g34f91664a7a_0_1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f91664a7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4f91664a7a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1" name="Google Shape;181;g34f91664a7a_0_1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f91664a7a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4f91664a7a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g34f91664a7a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2152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C4C85CD1-CEB0-F298-DBEA-9ED0C834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f91664a7a_0_160:notes">
            <a:extLst>
              <a:ext uri="{FF2B5EF4-FFF2-40B4-BE49-F238E27FC236}">
                <a16:creationId xmlns:a16="http://schemas.microsoft.com/office/drawing/2014/main" id="{46F620AF-21A6-C256-F1E7-6CC4E207B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4f91664a7a_0_160:notes">
            <a:extLst>
              <a:ext uri="{FF2B5EF4-FFF2-40B4-BE49-F238E27FC236}">
                <a16:creationId xmlns:a16="http://schemas.microsoft.com/office/drawing/2014/main" id="{D9C75F07-F3ED-95CE-9EBC-A1E6EAEB0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g34f91664a7a_0_160:notes">
            <a:extLst>
              <a:ext uri="{FF2B5EF4-FFF2-40B4-BE49-F238E27FC236}">
                <a16:creationId xmlns:a16="http://schemas.microsoft.com/office/drawing/2014/main" id="{E3786599-E545-6A04-056C-4B31E5FB8D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48511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A38CC9F7-78EC-B534-226C-0D41C63F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f91664a7a_0_160:notes">
            <a:extLst>
              <a:ext uri="{FF2B5EF4-FFF2-40B4-BE49-F238E27FC236}">
                <a16:creationId xmlns:a16="http://schemas.microsoft.com/office/drawing/2014/main" id="{0C464789-5182-997E-485A-365A97EE6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4f91664a7a_0_160:notes">
            <a:extLst>
              <a:ext uri="{FF2B5EF4-FFF2-40B4-BE49-F238E27FC236}">
                <a16:creationId xmlns:a16="http://schemas.microsoft.com/office/drawing/2014/main" id="{2042D4C8-A559-FBCD-9E50-42E92BD4A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g34f91664a7a_0_160:notes">
            <a:extLst>
              <a:ext uri="{FF2B5EF4-FFF2-40B4-BE49-F238E27FC236}">
                <a16:creationId xmlns:a16="http://schemas.microsoft.com/office/drawing/2014/main" id="{24776F5B-E52C-E229-BAAF-8DEBBB662E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137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3EF83E83-1309-C0FE-FA2F-7CF4AF34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f91664a7a_0_160:notes">
            <a:extLst>
              <a:ext uri="{FF2B5EF4-FFF2-40B4-BE49-F238E27FC236}">
                <a16:creationId xmlns:a16="http://schemas.microsoft.com/office/drawing/2014/main" id="{9F642175-6E14-F3CD-D137-2CBC20DAE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4f91664a7a_0_160:notes">
            <a:extLst>
              <a:ext uri="{FF2B5EF4-FFF2-40B4-BE49-F238E27FC236}">
                <a16:creationId xmlns:a16="http://schemas.microsoft.com/office/drawing/2014/main" id="{6A85A4EC-E00E-ED0A-C491-6C8971344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0" name="Google Shape;190;g34f91664a7a_0_160:notes">
            <a:extLst>
              <a:ext uri="{FF2B5EF4-FFF2-40B4-BE49-F238E27FC236}">
                <a16:creationId xmlns:a16="http://schemas.microsoft.com/office/drawing/2014/main" id="{85EBCCB2-048A-188B-1274-4C400AFF53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7088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f91664a7a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34f91664a7a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0" name="Google Shape;200;g34f91664a7a_0_1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f91664a7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4f91664a7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9" name="Google Shape;209;g34f91664a7a_0_1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f91664a7a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4f91664a7a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8" name="Google Shape;218;g34f91664a7a_0_2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f91664a7a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4f91664a7a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27" name="Google Shape;227;g34f91664a7a_0_2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4f91664a7a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34f91664a7a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6" name="Google Shape;236;g34f91664a7a_0_2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f91664a7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4f91664a7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45" name="Google Shape;245;g34f91664a7a_0_2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f91664a7a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4f91664a7a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4" name="Google Shape;254;g34f91664a7a_0_2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1" y="1200151"/>
            <a:ext cx="822960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2" y="900113"/>
            <a:ext cx="4038599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1" y="900113"/>
            <a:ext cx="4038599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2" y="1151336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2" y="1631157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7" y="1151336"/>
            <a:ext cx="4041774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7" y="1631157"/>
            <a:ext cx="4041774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3" y="204787"/>
            <a:ext cx="3008312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1" y="204789"/>
            <a:ext cx="5111749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3" y="1076327"/>
            <a:ext cx="3008312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2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874765" y="-1217413"/>
            <a:ext cx="3394472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6012655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821658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1" y="205979"/>
            <a:ext cx="8229601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1" y="1200151"/>
            <a:ext cx="8229601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1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59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11427" y="0"/>
            <a:ext cx="3347865" cy="76925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486008" y="1930648"/>
            <a:ext cx="52566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Тема: </a:t>
            </a:r>
            <a:r>
              <a:rPr lang="ru-RU" sz="2000" b="1" dirty="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Анализ процессов в отделе ППС КФУ</a:t>
            </a:r>
            <a:endParaRPr sz="2000" b="1" dirty="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486008" y="3212852"/>
            <a:ext cx="5334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Алексеева Алина</a:t>
            </a:r>
            <a:endParaRPr b="1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Гараева Исламия</a:t>
            </a:r>
            <a:endParaRPr b="1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Фоминых Никита</a:t>
            </a:r>
            <a:endParaRPr b="1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7F7F7F"/>
                </a:solidFill>
                <a:latin typeface="PT Sans"/>
                <a:ea typeface="PT Sans"/>
                <a:cs typeface="PT Sans"/>
                <a:sym typeface="PT Sans"/>
              </a:rPr>
              <a:t>Группа: 14.6-111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ИУЭФ КФУ</a:t>
            </a:r>
            <a:endParaRPr sz="120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92" name="Google Shape;92;p13" descr="C:\Users\MSShafigullin\Desktop\Проекты\Брендбук\Готовый ББ\Логотипы в png\2_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526" y="236692"/>
            <a:ext cx="2198807" cy="295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23838" y="955938"/>
            <a:ext cx="79914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457200" algn="just"/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Отдел ППС КФУ обеспечивает кадровое сопровождение преподавателей. В проекте изучены процессы ведущего специалиста и специалиста 1-й категории, ответственных за оформление приказов. </a:t>
            </a:r>
          </a:p>
          <a:p>
            <a:pPr lvl="0" indent="457200" algn="just"/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Наш проект основан на методологии </a:t>
            </a:r>
            <a:r>
              <a:rPr lang="ru-RU" sz="1800" dirty="0" err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Гемба</a:t>
            </a:r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– мы изучили реальный рабочий процесс сотрудников отдела ППС (ведущего специалиста и специалиста по персоналу 1-й категории) и выявили </a:t>
            </a:r>
            <a:r>
              <a:rPr lang="ru-RU" sz="18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проблемный процесс</a:t>
            </a:r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создание приказов на отпуска.</a:t>
            </a:r>
            <a:endParaRPr sz="1800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Проблема:</a:t>
            </a:r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избыточность ручных операций. </a:t>
            </a:r>
            <a:endParaRPr sz="1800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lang="ru-RU" sz="1800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автоматизация и сокращение времени на обработку документов.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5"/>
          <p:cNvGraphicFramePr/>
          <p:nvPr>
            <p:extLst>
              <p:ext uri="{D42A27DB-BD31-4B8C-83A1-F6EECF244321}">
                <p14:modId xmlns:p14="http://schemas.microsoft.com/office/powerpoint/2010/main" val="4030313302"/>
              </p:ext>
            </p:extLst>
          </p:nvPr>
        </p:nvGraphicFramePr>
        <p:xfrm>
          <a:off x="1110325" y="163100"/>
          <a:ext cx="7465151" cy="2195825"/>
        </p:xfrm>
        <a:graphic>
          <a:graphicData uri="http://schemas.openxmlformats.org/drawingml/2006/table">
            <a:tbl>
              <a:tblPr>
                <a:noFill/>
                <a:tableStyleId>{5689FA55-818D-4044-940B-E8AE36749A6D}</a:tableStyleId>
              </a:tblPr>
              <a:tblGrid>
                <a:gridCol w="1390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5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975">
                <a:tc row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Специалист 1 категории</a:t>
                      </a:r>
                      <a:endParaRPr sz="9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Документальное сопровождение кадровых процессов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Документальное сопровождение приема, перевода, увольнения работников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электронными системами и корпоративными сервисами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Работает с программой "Парус"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Формирует и отрабатывает приказы по личному составу в ПП "Парус"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Пользуется эл. модулем "Личный кабинет работника" в ИАС КФУ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Учет и управление кадровой информацией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Формирует и ведет личные дела работников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Обеспечивает учет личного состава работников КФУ, хранение и заполнение трудовых книжек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9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Ведет учет личного состава структурных подразделений КФУ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9" name="Google Shape;109;p15"/>
          <p:cNvGraphicFramePr/>
          <p:nvPr/>
        </p:nvGraphicFramePr>
        <p:xfrm>
          <a:off x="1110325" y="2571750"/>
          <a:ext cx="7465150" cy="2263084"/>
        </p:xfrm>
        <a:graphic>
          <a:graphicData uri="http://schemas.openxmlformats.org/drawingml/2006/table">
            <a:tbl>
              <a:tblPr>
                <a:noFill/>
                <a:tableStyleId>{5689FA55-818D-4044-940B-E8AE36749A6D}</a:tableStyleId>
              </a:tblPr>
              <a:tblGrid>
                <a:gridCol w="15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550">
                <a:tc row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Ведущий специалист по персоналу</a:t>
                      </a:r>
                      <a:endParaRPr sz="900" b="1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документационное обеспечение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Ведение и учет кадровой документации в соответствии с действующим законодательством и внутренними регламентами.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Подготовка отчетности по кадровым вопросам и мониторинг состояния трудовых ресурсов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6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организация и координация процессов управления персоналом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-Оформляет прием, перевод, увольнение работников, направление в служебные командировки, предоставление отпусков, привлечение к дисциплинарной ответственности.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-Доводит до сведения персонала организационные, распорядительные и кадровые документы организации.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-Формирует и ведет личные дела работников, вносит в них изменения, связанные с трудовой деятельностью.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5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работа с программными продуктами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Пополняют информацию по количественному и качественному составу работников; Работа с Парус</a:t>
                      </a:r>
                      <a:endParaRPr sz="9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b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3708108" y="75816"/>
            <a:ext cx="3647152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700" b="1" dirty="0">
                <a:solidFill>
                  <a:srgbClr val="40404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Текущий процесс (как есть сейчас)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92135" y="2021741"/>
            <a:ext cx="80843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оформления обычного ежегодного оплачиваемого отпуска (с временными затратами)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896441" y="3669630"/>
            <a:ext cx="128736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время выполнения: 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 мин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сек активной работы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E66E6B-FAA9-5F98-4AC3-EE4F88AE5EBF}"/>
              </a:ext>
            </a:extLst>
          </p:cNvPr>
          <p:cNvSpPr/>
          <p:nvPr/>
        </p:nvSpPr>
        <p:spPr>
          <a:xfrm>
            <a:off x="7701420" y="766396"/>
            <a:ext cx="1287363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время выполнения: 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 часов 12 минут 20 сек</a:t>
            </a:r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E95B83E9-D2ED-7883-3443-CEA7CF7CD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1986733"/>
              </p:ext>
            </p:extLst>
          </p:nvPr>
        </p:nvGraphicFramePr>
        <p:xfrm>
          <a:off x="1054608" y="447704"/>
          <a:ext cx="6276222" cy="157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593545" imgH="2400159" progId="Excel.Sheet.12">
                  <p:embed/>
                </p:oleObj>
              </mc:Choice>
              <mc:Fallback>
                <p:oleObj name="Worksheet" r:id="rId4" imgW="9593545" imgH="24001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4608" y="447704"/>
                        <a:ext cx="6276222" cy="157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EAA2779-23DB-9D04-3BD6-B30F5BBFB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758243"/>
              </p:ext>
            </p:extLst>
          </p:nvPr>
        </p:nvGraphicFramePr>
        <p:xfrm>
          <a:off x="1054609" y="2342887"/>
          <a:ext cx="7628282" cy="1184392"/>
        </p:xfrm>
        <a:graphic>
          <a:graphicData uri="http://schemas.openxmlformats.org/drawingml/2006/table">
            <a:tbl>
              <a:tblPr/>
              <a:tblGrid>
                <a:gridCol w="494361">
                  <a:extLst>
                    <a:ext uri="{9D8B030D-6E8A-4147-A177-3AD203B41FA5}">
                      <a16:colId xmlns:a16="http://schemas.microsoft.com/office/drawing/2014/main" val="1816575828"/>
                    </a:ext>
                  </a:extLst>
                </a:gridCol>
                <a:gridCol w="666017">
                  <a:extLst>
                    <a:ext uri="{9D8B030D-6E8A-4147-A177-3AD203B41FA5}">
                      <a16:colId xmlns:a16="http://schemas.microsoft.com/office/drawing/2014/main" val="4143392810"/>
                    </a:ext>
                  </a:extLst>
                </a:gridCol>
                <a:gridCol w="672881">
                  <a:extLst>
                    <a:ext uri="{9D8B030D-6E8A-4147-A177-3AD203B41FA5}">
                      <a16:colId xmlns:a16="http://schemas.microsoft.com/office/drawing/2014/main" val="3141870660"/>
                    </a:ext>
                  </a:extLst>
                </a:gridCol>
                <a:gridCol w="590488">
                  <a:extLst>
                    <a:ext uri="{9D8B030D-6E8A-4147-A177-3AD203B41FA5}">
                      <a16:colId xmlns:a16="http://schemas.microsoft.com/office/drawing/2014/main" val="1845938856"/>
                    </a:ext>
                  </a:extLst>
                </a:gridCol>
                <a:gridCol w="501228">
                  <a:extLst>
                    <a:ext uri="{9D8B030D-6E8A-4147-A177-3AD203B41FA5}">
                      <a16:colId xmlns:a16="http://schemas.microsoft.com/office/drawing/2014/main" val="2652604205"/>
                    </a:ext>
                  </a:extLst>
                </a:gridCol>
                <a:gridCol w="521827">
                  <a:extLst>
                    <a:ext uri="{9D8B030D-6E8A-4147-A177-3AD203B41FA5}">
                      <a16:colId xmlns:a16="http://schemas.microsoft.com/office/drawing/2014/main" val="1539406460"/>
                    </a:ext>
                  </a:extLst>
                </a:gridCol>
                <a:gridCol w="535559">
                  <a:extLst>
                    <a:ext uri="{9D8B030D-6E8A-4147-A177-3AD203B41FA5}">
                      <a16:colId xmlns:a16="http://schemas.microsoft.com/office/drawing/2014/main" val="1586062006"/>
                    </a:ext>
                  </a:extLst>
                </a:gridCol>
                <a:gridCol w="590488">
                  <a:extLst>
                    <a:ext uri="{9D8B030D-6E8A-4147-A177-3AD203B41FA5}">
                      <a16:colId xmlns:a16="http://schemas.microsoft.com/office/drawing/2014/main" val="2844043037"/>
                    </a:ext>
                  </a:extLst>
                </a:gridCol>
                <a:gridCol w="611086">
                  <a:extLst>
                    <a:ext uri="{9D8B030D-6E8A-4147-A177-3AD203B41FA5}">
                      <a16:colId xmlns:a16="http://schemas.microsoft.com/office/drawing/2014/main" val="2449250128"/>
                    </a:ext>
                  </a:extLst>
                </a:gridCol>
                <a:gridCol w="563024">
                  <a:extLst>
                    <a:ext uri="{9D8B030D-6E8A-4147-A177-3AD203B41FA5}">
                      <a16:colId xmlns:a16="http://schemas.microsoft.com/office/drawing/2014/main" val="2159062445"/>
                    </a:ext>
                  </a:extLst>
                </a:gridCol>
                <a:gridCol w="528693">
                  <a:extLst>
                    <a:ext uri="{9D8B030D-6E8A-4147-A177-3AD203B41FA5}">
                      <a16:colId xmlns:a16="http://schemas.microsoft.com/office/drawing/2014/main" val="4110730633"/>
                    </a:ext>
                  </a:extLst>
                </a:gridCol>
                <a:gridCol w="384503">
                  <a:extLst>
                    <a:ext uri="{9D8B030D-6E8A-4147-A177-3AD203B41FA5}">
                      <a16:colId xmlns:a16="http://schemas.microsoft.com/office/drawing/2014/main" val="191898363"/>
                    </a:ext>
                  </a:extLst>
                </a:gridCol>
                <a:gridCol w="460032">
                  <a:extLst>
                    <a:ext uri="{9D8B030D-6E8A-4147-A177-3AD203B41FA5}">
                      <a16:colId xmlns:a16="http://schemas.microsoft.com/office/drawing/2014/main" val="1678625085"/>
                    </a:ext>
                  </a:extLst>
                </a:gridCol>
                <a:gridCol w="508095">
                  <a:extLst>
                    <a:ext uri="{9D8B030D-6E8A-4147-A177-3AD203B41FA5}">
                      <a16:colId xmlns:a16="http://schemas.microsoft.com/office/drawing/2014/main" val="381475591"/>
                    </a:ext>
                  </a:extLst>
                </a:gridCol>
              </a:tblGrid>
              <a:tr h="99816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Время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сек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866290"/>
                  </a:ext>
                </a:extLst>
              </a:tr>
              <a:tr h="91831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27308"/>
                  </a:ext>
                </a:extLst>
              </a:tr>
              <a:tr h="5749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Действие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Заносим фамилию сотрудника в хронологический список отпусков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Делаем отметку в личном дневнике кадровика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Делаем отметку в общей ХЛ таблице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Открываем журнал отпусков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Находим фамилию сотрудника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Заходим в "Документы и приказы: отпуск"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папку "ОП 2025: ежегодные"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Создаем приказ "Отпуск ежегодный"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Проверяем количество занимаемых должностей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подразделение сотрудника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Вводим фамилию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Указываем даты отпуска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тип отпуска "Ежегодный основной"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496341"/>
                  </a:ext>
                </a:extLst>
              </a:tr>
              <a:tr h="95824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Подготовительный этап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Создание нового приказа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Заполнение данных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693200"/>
                  </a:ext>
                </a:extLst>
              </a:tr>
              <a:tr h="95824">
                <a:tc gridSpan="4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Работа в системе Парус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499507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B771EB6-0D1B-A51A-BB3A-CA9A82482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84305"/>
              </p:ext>
            </p:extLst>
          </p:nvPr>
        </p:nvGraphicFramePr>
        <p:xfrm>
          <a:off x="1046922" y="3644818"/>
          <a:ext cx="6849520" cy="1358240"/>
        </p:xfrm>
        <a:graphic>
          <a:graphicData uri="http://schemas.openxmlformats.org/drawingml/2006/table">
            <a:tbl>
              <a:tblPr/>
              <a:tblGrid>
                <a:gridCol w="545093">
                  <a:extLst>
                    <a:ext uri="{9D8B030D-6E8A-4147-A177-3AD203B41FA5}">
                      <a16:colId xmlns:a16="http://schemas.microsoft.com/office/drawing/2014/main" val="191668058"/>
                    </a:ext>
                  </a:extLst>
                </a:gridCol>
                <a:gridCol w="523576">
                  <a:extLst>
                    <a:ext uri="{9D8B030D-6E8A-4147-A177-3AD203B41FA5}">
                      <a16:colId xmlns:a16="http://schemas.microsoft.com/office/drawing/2014/main" val="1124380824"/>
                    </a:ext>
                  </a:extLst>
                </a:gridCol>
                <a:gridCol w="451853">
                  <a:extLst>
                    <a:ext uri="{9D8B030D-6E8A-4147-A177-3AD203B41FA5}">
                      <a16:colId xmlns:a16="http://schemas.microsoft.com/office/drawing/2014/main" val="3550068556"/>
                    </a:ext>
                  </a:extLst>
                </a:gridCol>
                <a:gridCol w="466198">
                  <a:extLst>
                    <a:ext uri="{9D8B030D-6E8A-4147-A177-3AD203B41FA5}">
                      <a16:colId xmlns:a16="http://schemas.microsoft.com/office/drawing/2014/main" val="254279712"/>
                    </a:ext>
                  </a:extLst>
                </a:gridCol>
                <a:gridCol w="466198">
                  <a:extLst>
                    <a:ext uri="{9D8B030D-6E8A-4147-A177-3AD203B41FA5}">
                      <a16:colId xmlns:a16="http://schemas.microsoft.com/office/drawing/2014/main" val="2996991568"/>
                    </a:ext>
                  </a:extLst>
                </a:gridCol>
                <a:gridCol w="609643">
                  <a:extLst>
                    <a:ext uri="{9D8B030D-6E8A-4147-A177-3AD203B41FA5}">
                      <a16:colId xmlns:a16="http://schemas.microsoft.com/office/drawing/2014/main" val="1449330751"/>
                    </a:ext>
                  </a:extLst>
                </a:gridCol>
                <a:gridCol w="545093">
                  <a:extLst>
                    <a:ext uri="{9D8B030D-6E8A-4147-A177-3AD203B41FA5}">
                      <a16:colId xmlns:a16="http://schemas.microsoft.com/office/drawing/2014/main" val="4193950635"/>
                    </a:ext>
                  </a:extLst>
                </a:gridCol>
                <a:gridCol w="889361">
                  <a:extLst>
                    <a:ext uri="{9D8B030D-6E8A-4147-A177-3AD203B41FA5}">
                      <a16:colId xmlns:a16="http://schemas.microsoft.com/office/drawing/2014/main" val="3316363982"/>
                    </a:ext>
                  </a:extLst>
                </a:gridCol>
                <a:gridCol w="595299">
                  <a:extLst>
                    <a:ext uri="{9D8B030D-6E8A-4147-A177-3AD203B41FA5}">
                      <a16:colId xmlns:a16="http://schemas.microsoft.com/office/drawing/2014/main" val="4155874421"/>
                    </a:ext>
                  </a:extLst>
                </a:gridCol>
                <a:gridCol w="631160">
                  <a:extLst>
                    <a:ext uri="{9D8B030D-6E8A-4147-A177-3AD203B41FA5}">
                      <a16:colId xmlns:a16="http://schemas.microsoft.com/office/drawing/2014/main" val="1765349575"/>
                    </a:ext>
                  </a:extLst>
                </a:gridCol>
                <a:gridCol w="530747">
                  <a:extLst>
                    <a:ext uri="{9D8B030D-6E8A-4147-A177-3AD203B41FA5}">
                      <a16:colId xmlns:a16="http://schemas.microsoft.com/office/drawing/2014/main" val="1015834641"/>
                    </a:ext>
                  </a:extLst>
                </a:gridCol>
                <a:gridCol w="595299">
                  <a:extLst>
                    <a:ext uri="{9D8B030D-6E8A-4147-A177-3AD203B41FA5}">
                      <a16:colId xmlns:a16="http://schemas.microsoft.com/office/drawing/2014/main" val="2849986780"/>
                    </a:ext>
                  </a:extLst>
                </a:gridCol>
              </a:tblGrid>
              <a:tr h="13053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мин 3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мин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мин 15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сек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308865"/>
                  </a:ext>
                </a:extLst>
              </a:tr>
              <a:tr h="12008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78590"/>
                  </a:ext>
                </a:extLst>
              </a:tr>
              <a:tr h="75186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Формируем текст приказа (автоматический шаблон)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Проверяем правильность введенных данных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Сохраняем черновик на рабочий стол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Финальная корректировка приказа в Word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Проверка отпускного баланса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Отрабатываем приказ в системе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Вносим запись в карточку учета отпусков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Выводим приказ на печать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Проверяем распечатанный экземпляр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Вписываем вручную должность руководителя и ФИО</a:t>
                      </a:r>
                      <a:b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Печатаем второй экземпляр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Вкладываем копию приказа в личное дело 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32014"/>
                  </a:ext>
                </a:extLst>
              </a:tr>
              <a:tr h="24572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Оформление приказа</a:t>
                      </a:r>
                    </a:p>
                  </a:txBody>
                  <a:tcPr marL="5170" marR="5170" marT="5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Отработка и проверка</a:t>
                      </a:r>
                    </a:p>
                  </a:txBody>
                  <a:tcPr marL="5170" marR="5170" marT="517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Печать и оформление</a:t>
                      </a:r>
                    </a:p>
                  </a:txBody>
                  <a:tcPr marL="5170" marR="5170" marT="5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Завершающие действия</a:t>
                      </a:r>
                    </a:p>
                  </a:txBody>
                  <a:tcPr marL="5170" marR="5170" marT="5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031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49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1B7102D-F1BC-A6D2-CEDC-138AFC78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B7F8A1F6-3C44-395F-5749-44EBB639BEE4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1FA5EA01-7816-3B3D-4646-59AEF44D40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5CAAF9-AF6C-EF45-3400-1128DB63BFA9}"/>
              </a:ext>
            </a:extLst>
          </p:cNvPr>
          <p:cNvSpPr/>
          <p:nvPr/>
        </p:nvSpPr>
        <p:spPr>
          <a:xfrm>
            <a:off x="3708108" y="60183"/>
            <a:ext cx="330731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7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Процесс, который должен быть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B2C1D2-FF42-92D1-4E12-92F716835B63}"/>
              </a:ext>
            </a:extLst>
          </p:cNvPr>
          <p:cNvSpPr/>
          <p:nvPr/>
        </p:nvSpPr>
        <p:spPr>
          <a:xfrm>
            <a:off x="1192135" y="1982666"/>
            <a:ext cx="80843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оформления обычного ежегодного оплачиваемого отпуска (с временными затратами)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0326F7-98F0-FA6F-C0F0-7C96D18BC0DB}"/>
              </a:ext>
            </a:extLst>
          </p:cNvPr>
          <p:cNvSpPr/>
          <p:nvPr/>
        </p:nvSpPr>
        <p:spPr>
          <a:xfrm>
            <a:off x="7063226" y="3900410"/>
            <a:ext cx="1287363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время выполнения: 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мин 24 сек активной работы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7727B8E-E00E-45C8-3C04-A3DEF997B433}"/>
              </a:ext>
            </a:extLst>
          </p:cNvPr>
          <p:cNvSpPr/>
          <p:nvPr/>
        </p:nvSpPr>
        <p:spPr>
          <a:xfrm>
            <a:off x="6752009" y="765907"/>
            <a:ext cx="1923067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Общее время выполнения: 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часа 7 минут 24 сек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AAE230F-21D4-2843-FB4D-80647734C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133363"/>
              </p:ext>
            </p:extLst>
          </p:nvPr>
        </p:nvGraphicFramePr>
        <p:xfrm>
          <a:off x="1014793" y="439505"/>
          <a:ext cx="5401638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377834" imgH="2278411" progId="Excel.Sheet.12">
                  <p:embed/>
                </p:oleObj>
              </mc:Choice>
              <mc:Fallback>
                <p:oleObj name="Worksheet" r:id="rId4" imgW="6377834" imgH="227841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4793" y="439505"/>
                        <a:ext cx="5401638" cy="159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1B8C71B-2BC1-188F-F7C2-7E80D9F70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13427"/>
              </p:ext>
            </p:extLst>
          </p:nvPr>
        </p:nvGraphicFramePr>
        <p:xfrm>
          <a:off x="980830" y="2386822"/>
          <a:ext cx="8006861" cy="1256500"/>
        </p:xfrm>
        <a:graphic>
          <a:graphicData uri="http://schemas.openxmlformats.org/drawingml/2006/table">
            <a:tbl>
              <a:tblPr/>
              <a:tblGrid>
                <a:gridCol w="536773">
                  <a:extLst>
                    <a:ext uri="{9D8B030D-6E8A-4147-A177-3AD203B41FA5}">
                      <a16:colId xmlns:a16="http://schemas.microsoft.com/office/drawing/2014/main" val="3560776501"/>
                    </a:ext>
                  </a:extLst>
                </a:gridCol>
                <a:gridCol w="723152">
                  <a:extLst>
                    <a:ext uri="{9D8B030D-6E8A-4147-A177-3AD203B41FA5}">
                      <a16:colId xmlns:a16="http://schemas.microsoft.com/office/drawing/2014/main" val="3407811560"/>
                    </a:ext>
                  </a:extLst>
                </a:gridCol>
                <a:gridCol w="1095912">
                  <a:extLst>
                    <a:ext uri="{9D8B030D-6E8A-4147-A177-3AD203B41FA5}">
                      <a16:colId xmlns:a16="http://schemas.microsoft.com/office/drawing/2014/main" val="977101794"/>
                    </a:ext>
                  </a:extLst>
                </a:gridCol>
                <a:gridCol w="544227">
                  <a:extLst>
                    <a:ext uri="{9D8B030D-6E8A-4147-A177-3AD203B41FA5}">
                      <a16:colId xmlns:a16="http://schemas.microsoft.com/office/drawing/2014/main" val="1073292693"/>
                    </a:ext>
                  </a:extLst>
                </a:gridCol>
                <a:gridCol w="566593">
                  <a:extLst>
                    <a:ext uri="{9D8B030D-6E8A-4147-A177-3AD203B41FA5}">
                      <a16:colId xmlns:a16="http://schemas.microsoft.com/office/drawing/2014/main" val="616477458"/>
                    </a:ext>
                  </a:extLst>
                </a:gridCol>
                <a:gridCol w="581504">
                  <a:extLst>
                    <a:ext uri="{9D8B030D-6E8A-4147-A177-3AD203B41FA5}">
                      <a16:colId xmlns:a16="http://schemas.microsoft.com/office/drawing/2014/main" val="3878260213"/>
                    </a:ext>
                  </a:extLst>
                </a:gridCol>
                <a:gridCol w="641145">
                  <a:extLst>
                    <a:ext uri="{9D8B030D-6E8A-4147-A177-3AD203B41FA5}">
                      <a16:colId xmlns:a16="http://schemas.microsoft.com/office/drawing/2014/main" val="2902278972"/>
                    </a:ext>
                  </a:extLst>
                </a:gridCol>
                <a:gridCol w="663511">
                  <a:extLst>
                    <a:ext uri="{9D8B030D-6E8A-4147-A177-3AD203B41FA5}">
                      <a16:colId xmlns:a16="http://schemas.microsoft.com/office/drawing/2014/main" val="2076794901"/>
                    </a:ext>
                  </a:extLst>
                </a:gridCol>
                <a:gridCol w="611325">
                  <a:extLst>
                    <a:ext uri="{9D8B030D-6E8A-4147-A177-3AD203B41FA5}">
                      <a16:colId xmlns:a16="http://schemas.microsoft.com/office/drawing/2014/main" val="611369620"/>
                    </a:ext>
                  </a:extLst>
                </a:gridCol>
                <a:gridCol w="574049">
                  <a:extLst>
                    <a:ext uri="{9D8B030D-6E8A-4147-A177-3AD203B41FA5}">
                      <a16:colId xmlns:a16="http://schemas.microsoft.com/office/drawing/2014/main" val="3357368854"/>
                    </a:ext>
                  </a:extLst>
                </a:gridCol>
                <a:gridCol w="417490">
                  <a:extLst>
                    <a:ext uri="{9D8B030D-6E8A-4147-A177-3AD203B41FA5}">
                      <a16:colId xmlns:a16="http://schemas.microsoft.com/office/drawing/2014/main" val="1995354888"/>
                    </a:ext>
                  </a:extLst>
                </a:gridCol>
                <a:gridCol w="499497">
                  <a:extLst>
                    <a:ext uri="{9D8B030D-6E8A-4147-A177-3AD203B41FA5}">
                      <a16:colId xmlns:a16="http://schemas.microsoft.com/office/drawing/2014/main" val="2841714149"/>
                    </a:ext>
                  </a:extLst>
                </a:gridCol>
                <a:gridCol w="551683">
                  <a:extLst>
                    <a:ext uri="{9D8B030D-6E8A-4147-A177-3AD203B41FA5}">
                      <a16:colId xmlns:a16="http://schemas.microsoft.com/office/drawing/2014/main" val="2847381272"/>
                    </a:ext>
                  </a:extLst>
                </a:gridCol>
              </a:tblGrid>
              <a:tr h="8019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Время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сек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сек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39171"/>
                  </a:ext>
                </a:extLst>
              </a:tr>
              <a:tr h="80198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Этап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69542"/>
                  </a:ext>
                </a:extLst>
              </a:tr>
              <a:tr h="812004">
                <a:tc>
                  <a:txBody>
                    <a:bodyPr/>
                    <a:lstStyle/>
                    <a:p>
                      <a:pPr algn="l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Действие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Заносим фамилию сотрудника в хронологический список отпусков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Делаем отметку в общей таблице Excel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Открываем журнал отпусков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</a:rPr>
                        <a:t>Находим фамилию сотрудника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Заходим в "Документы и приказы: отпуск"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папку "ОП 2025: ежегодные"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Создаем приказ "Отпуск ежегодный"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Проверяем количество занимаемых должностей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подразделение сотрудника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Вводим фамилию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Указываем даты отпуска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Выбираем тип отпуска "Ежегодный основной" 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630020"/>
                  </a:ext>
                </a:extLst>
              </a:tr>
              <a:tr h="100247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Подготовительный этап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Создание нового приказа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Заполнение данных</a:t>
                      </a:r>
                    </a:p>
                  </a:txBody>
                  <a:tcPr marL="4444" marR="4444" marT="44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410758"/>
                  </a:ext>
                </a:extLst>
              </a:tr>
              <a:tr h="96905">
                <a:tc gridSpan="3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Работа в системе Парус</a:t>
                      </a:r>
                    </a:p>
                  </a:txBody>
                  <a:tcPr marL="4444" marR="4444" marT="444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198820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88BEC2-D863-800A-2BCF-C031F8F76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830" y="3746656"/>
            <a:ext cx="6112062" cy="125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4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3585101" y="251184"/>
            <a:ext cx="2801495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IDF0</a:t>
            </a:r>
            <a:r>
              <a:rPr lang="ru-RU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IS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F61694-A63A-F682-1406-D8B08B4E3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54" y="860764"/>
            <a:ext cx="7914838" cy="377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8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A05D4181-EB51-7F73-52BC-AB10C2C1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5B12AA-059C-3521-6A9A-8679C510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1" y="2146767"/>
            <a:ext cx="7870092" cy="1624884"/>
          </a:xfrm>
          <a:prstGeom prst="rect">
            <a:avLst/>
          </a:prstGeom>
        </p:spPr>
      </p:pic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9FC89F66-E408-9C01-53ED-9693A2196640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AE1B4C9A-50FE-3710-8DB0-6D4F508611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FDE4970E-CFEE-4E59-F0FD-B3873CF0DB7C}"/>
              </a:ext>
            </a:extLst>
          </p:cNvPr>
          <p:cNvSpPr txBox="1"/>
          <p:nvPr/>
        </p:nvSpPr>
        <p:spPr>
          <a:xfrm>
            <a:off x="3585101" y="-53615"/>
            <a:ext cx="2801495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 AS IS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28B56C-D5EE-8C0F-61DE-37B433477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861" y="284444"/>
            <a:ext cx="7854461" cy="19051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E617AB9-233F-5C49-A5BD-61F78B3A23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72" y="3566919"/>
            <a:ext cx="7807569" cy="17816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31070B-AF70-5FF5-91D0-644B772FB61E}"/>
              </a:ext>
            </a:extLst>
          </p:cNvPr>
          <p:cNvSpPr txBox="1"/>
          <p:nvPr/>
        </p:nvSpPr>
        <p:spPr>
          <a:xfrm>
            <a:off x="1539630" y="4991748"/>
            <a:ext cx="11801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dirty="0"/>
              <a:t>Сотрудник</a:t>
            </a:r>
          </a:p>
        </p:txBody>
      </p:sp>
    </p:spTree>
    <p:extLst>
      <p:ext uri="{BB962C8B-B14F-4D97-AF65-F5344CB8AC3E}">
        <p14:creationId xmlns:p14="http://schemas.microsoft.com/office/powerpoint/2010/main" val="17499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3029585-70DA-7B65-0B72-E09D840E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3CDFFF26-A171-7A10-9AC9-FB0BC6DBF1F1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4374607A-5D2E-B767-8954-18F2AD284D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06AC9641-1520-F32B-6AA3-BBC7E0C230EB}"/>
              </a:ext>
            </a:extLst>
          </p:cNvPr>
          <p:cNvSpPr txBox="1"/>
          <p:nvPr/>
        </p:nvSpPr>
        <p:spPr>
          <a:xfrm>
            <a:off x="3585101" y="-53615"/>
            <a:ext cx="2801495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BPMN TO BE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16864F-702B-7375-312F-EA77E47B6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42" y="297473"/>
            <a:ext cx="7760676" cy="17909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8F4F5C-7469-C55E-362B-C4168EA36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42" y="2088398"/>
            <a:ext cx="7323016" cy="16743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D64C268-4762-B563-2466-6674642D9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158" y="3701675"/>
            <a:ext cx="3827462" cy="144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9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D58ACB7-D7E5-5CF5-B306-0B73A3D2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03D652B6-211B-0BA1-9349-D3138F87AA07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E54FAAC2-11B3-BECB-FB75-EA23624C10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>
            <a:extLst>
              <a:ext uri="{FF2B5EF4-FFF2-40B4-BE49-F238E27FC236}">
                <a16:creationId xmlns:a16="http://schemas.microsoft.com/office/drawing/2014/main" id="{08528F45-8596-1CBB-8CBD-0E847836EADC}"/>
              </a:ext>
            </a:extLst>
          </p:cNvPr>
          <p:cNvSpPr txBox="1"/>
          <p:nvPr/>
        </p:nvSpPr>
        <p:spPr>
          <a:xfrm>
            <a:off x="3585101" y="251184"/>
            <a:ext cx="2801495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IDF0 TO BE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 descr="Изображение выглядит как текст, диаграмма, Шрифт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5692699-9DFD-DAB0-3BB9-D18A70929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323" y="761184"/>
            <a:ext cx="7073208" cy="427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79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7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1443150" y="312350"/>
            <a:ext cx="7613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Метод: SIPOC (Поставщики – Входы – Процесс – Выходы – Клиенты)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7" name="Google Shape;127;p17"/>
          <p:cNvGraphicFramePr/>
          <p:nvPr>
            <p:extLst>
              <p:ext uri="{D42A27DB-BD31-4B8C-83A1-F6EECF244321}">
                <p14:modId xmlns:p14="http://schemas.microsoft.com/office/powerpoint/2010/main" val="3012088976"/>
              </p:ext>
            </p:extLst>
          </p:nvPr>
        </p:nvGraphicFramePr>
        <p:xfrm>
          <a:off x="1688162" y="954693"/>
          <a:ext cx="5767675" cy="3725359"/>
        </p:xfrm>
        <a:graphic>
          <a:graphicData uri="http://schemas.openxmlformats.org/drawingml/2006/table">
            <a:tbl>
              <a:tblPr>
                <a:noFill/>
                <a:tableStyleId>{5689FA55-818D-4044-940B-E8AE36749A6D}</a:tableStyleId>
              </a:tblPr>
              <a:tblGrid>
                <a:gridCol w="23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Элемент</a:t>
                      </a:r>
                      <a:endParaRPr sz="13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Описание</a:t>
                      </a:r>
                      <a:endParaRPr sz="13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Поставщики</a:t>
                      </a:r>
                      <a:endParaRPr sz="12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Сотрудники институтов; система "Парус"; бухгалтерия.</a:t>
                      </a:r>
                      <a:endParaRPr sz="1200" dirty="0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Входы</a:t>
                      </a:r>
                      <a:endParaRPr sz="12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Пустые графики отпусков, утвержденные даты отпусков, данные из "Парус", реквизиты договоров, подписи, печати.</a:t>
                      </a:r>
                      <a:endParaRPr sz="1200" dirty="0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Процесс</a:t>
                      </a:r>
                      <a:endParaRPr sz="12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Создание графиков → 2. Сбор данных → 3. Анализ → 4. Утверждение → 5. Формирование приказа → 6. Отработка. (При</a:t>
                      </a:r>
                      <a:r>
                        <a:rPr lang="ru-RU" sz="1200" baseline="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этом р</a:t>
                      </a: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учной ввод данных, печать, корректировка в </a:t>
                      </a:r>
                      <a:r>
                        <a:rPr lang="ru-RU" sz="1200" dirty="0" err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</a:t>
                      </a: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учет в тетради, ведение</a:t>
                      </a:r>
                      <a:r>
                        <a:rPr lang="ru-RU" sz="1200" baseline="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карточек учета</a:t>
                      </a: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).</a:t>
                      </a:r>
                      <a:endParaRPr sz="1200" dirty="0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Выходы</a:t>
                      </a:r>
                      <a:endParaRPr sz="12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Приказы на отпуск, обновленные карточки учета, обновленные данные в Парус, добавление данных в личный дневник и ХЛ</a:t>
                      </a:r>
                      <a:endParaRPr sz="1200" dirty="0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9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Клиенты</a:t>
                      </a:r>
                      <a:endParaRPr sz="1200" b="1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Сотрудники ППС, бухгалтерия, архив.</a:t>
                      </a:r>
                      <a:endParaRPr sz="1200" dirty="0">
                        <a:solidFill>
                          <a:srgbClr val="40404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575" marR="28575" marT="19050" marB="19050" anchor="ctr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9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1117535" y="501657"/>
            <a:ext cx="5865688" cy="459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Основные потери:</a:t>
            </a:r>
            <a:endParaRPr sz="16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Times New Roman"/>
              <a:buAutoNum type="arabicPeriod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Избыточность операций:</a:t>
            </a:r>
            <a:endParaRPr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just">
              <a:lnSpc>
                <a:spcPct val="115000"/>
              </a:lnSpc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Двойной ввод данных (графики → "Парус" → </a:t>
            </a:r>
            <a:r>
              <a:rPr lang="ru-RU" dirty="0" err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Excel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Ручная проверка и перепечатка.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Times New Roman"/>
              <a:buAutoNum type="arabicPeriod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Риски ошибок:</a:t>
            </a:r>
            <a:endParaRPr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Человеческий фактор при ручном вводе и при расчете дней отпуска.</a:t>
            </a:r>
          </a:p>
          <a:p>
            <a:pPr marL="914400" lvl="1" indent="-330200" algn="just">
              <a:lnSpc>
                <a:spcPct val="115000"/>
              </a:lnSpc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Неудобство контроля (нужно сверять бумажные и электронные носители)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330200" algn="just">
              <a:lnSpc>
                <a:spcPct val="115000"/>
              </a:lnSpc>
              <a:buClr>
                <a:srgbClr val="404040"/>
              </a:buClr>
              <a:buSzPts val="1600"/>
              <a:buFont typeface="Times New Roman"/>
              <a:buAutoNum type="arabicPeriod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cs typeface="Times New Roman"/>
                <a:sym typeface="Times New Roman"/>
              </a:rPr>
              <a:t>Задержки:</a:t>
            </a:r>
            <a:endParaRPr lang="ru-RU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914400" lvl="1" indent="-330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Необходимость повторных корректировок.</a:t>
            </a:r>
          </a:p>
          <a:p>
            <a:pPr marL="914400" lvl="1" indent="-330200" algn="just">
              <a:lnSpc>
                <a:spcPct val="115000"/>
              </a:lnSpc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Ожидание заполнения графиков сотрудниками.</a:t>
            </a:r>
            <a:endParaRPr lang="ru-RU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cs typeface="Times New Roman"/>
              <a:sym typeface="Times New Roman"/>
            </a:endParaRPr>
          </a:p>
          <a:p>
            <a:pPr marL="4699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+mj-lt"/>
              <a:buAutoNum type="arabicPeriod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Неэффективное использование ПО:</a:t>
            </a:r>
          </a:p>
          <a:p>
            <a:pPr marL="914400" lvl="1" indent="-330200" algn="just">
              <a:lnSpc>
                <a:spcPct val="115000"/>
              </a:lnSpc>
              <a:buClr>
                <a:srgbClr val="404040"/>
              </a:buClr>
              <a:buSzPts val="1600"/>
              <a:buFont typeface="Times New Roman"/>
              <a:buChar char="○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cs typeface="Times New Roman"/>
                <a:sym typeface="Times New Roman"/>
              </a:rPr>
              <a:t>Нет интеграции между "Парус" и личным кабинетом сотрудника</a:t>
            </a:r>
          </a:p>
          <a:p>
            <a:pPr marL="469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+mj-lt"/>
              <a:buAutoNum type="arabicPeriod"/>
            </a:pPr>
            <a:endParaRPr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2400775" y="-88866"/>
            <a:ext cx="6505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Выявленные проблемы и их корневые причины</a:t>
            </a: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599" y="3841682"/>
            <a:ext cx="1539732" cy="1207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7;p18">
            <a:extLst>
              <a:ext uri="{FF2B5EF4-FFF2-40B4-BE49-F238E27FC236}">
                <a16:creationId xmlns:a16="http://schemas.microsoft.com/office/drawing/2014/main" id="{19509B72-7A91-412F-F8A9-726FBDB149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1876" y="1000700"/>
            <a:ext cx="1869177" cy="229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0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4">
            <a:alphaModFix/>
          </a:blip>
          <a:srcRect l="27381" t="4028" r="3733" b="9526"/>
          <a:stretch/>
        </p:blipFill>
        <p:spPr>
          <a:xfrm>
            <a:off x="2465603" y="826350"/>
            <a:ext cx="4357100" cy="41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5834200" y="2529336"/>
            <a:ext cx="137415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избыточность ручных операций.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4144550" y="1062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Люди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2614250" y="1062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Методы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2614250" y="4463375"/>
            <a:ext cx="30000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sym typeface="Roboto"/>
              </a:rPr>
              <a:t>Данные</a:t>
            </a:r>
            <a:endParaRPr dirty="0"/>
          </a:p>
        </p:txBody>
      </p:sp>
      <p:sp>
        <p:nvSpPr>
          <p:cNvPr id="161" name="Google Shape;161;p20"/>
          <p:cNvSpPr txBox="1"/>
          <p:nvPr/>
        </p:nvSpPr>
        <p:spPr>
          <a:xfrm>
            <a:off x="3899836" y="4457614"/>
            <a:ext cx="1099854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404040"/>
                </a:solidFill>
                <a:highlight>
                  <a:srgbClr val="FFFFFF"/>
                </a:highlight>
                <a:latin typeface="Roboto"/>
                <a:ea typeface="Roboto"/>
                <a:sym typeface="Roboto"/>
              </a:rPr>
              <a:t>Технологии</a:t>
            </a:r>
            <a:endParaRPr dirty="0"/>
          </a:p>
        </p:txBody>
      </p:sp>
      <p:sp>
        <p:nvSpPr>
          <p:cNvPr id="162" name="Google Shape;162;p20"/>
          <p:cNvSpPr txBox="1"/>
          <p:nvPr/>
        </p:nvSpPr>
        <p:spPr>
          <a:xfrm>
            <a:off x="4750374" y="1634898"/>
            <a:ext cx="167870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Недостаточная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автоматизация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навыков.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4175" y="1662075"/>
            <a:ext cx="989148" cy="115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4175" y="3217600"/>
            <a:ext cx="989148" cy="115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2041450" y="134325"/>
            <a:ext cx="516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Диаграмма Исикавы (Причины проблем):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00" y="3855485"/>
            <a:ext cx="19800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Нет доступа сотрудников к выбору дат онлайн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822531" y="3128451"/>
            <a:ext cx="12427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200" dirty="0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Разрозненность систем ("Парус", </a:t>
            </a:r>
            <a:r>
              <a:rPr lang="ru-RU" sz="1200" dirty="0" err="1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Excel</a:t>
            </a:r>
            <a:r>
              <a:rPr lang="ru-RU" sz="1200" dirty="0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 Word</a:t>
            </a:r>
            <a:r>
              <a:rPr lang="ru-RU" sz="1200" dirty="0">
                <a:solidFill>
                  <a:srgbClr val="404040"/>
                </a:solidFill>
                <a:latin typeface="Times New Roman" panose="02020603050405020304" pitchFamily="18" charset="0"/>
                <a:ea typeface="Roboto" panose="020B0604020202020204" charset="0"/>
                <a:cs typeface="Times New Roman" panose="02020603050405020304" pitchFamily="18" charset="0"/>
              </a:rPr>
              <a:t>, бумажные носители)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D3B973-27DF-CCAF-B1B8-5274E5A7DD08}"/>
              </a:ext>
            </a:extLst>
          </p:cNvPr>
          <p:cNvSpPr/>
          <p:nvPr/>
        </p:nvSpPr>
        <p:spPr>
          <a:xfrm>
            <a:off x="3289572" y="3426398"/>
            <a:ext cx="957455" cy="185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Google Shape;164;p20"/>
          <p:cNvSpPr txBox="1"/>
          <p:nvPr/>
        </p:nvSpPr>
        <p:spPr>
          <a:xfrm>
            <a:off x="3268063" y="3100658"/>
            <a:ext cx="1181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Зависимость от ручного ввода.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209D4E-8633-B6DD-7820-C19AD955E9A6}"/>
              </a:ext>
            </a:extLst>
          </p:cNvPr>
          <p:cNvSpPr/>
          <p:nvPr/>
        </p:nvSpPr>
        <p:spPr>
          <a:xfrm>
            <a:off x="4732312" y="3445530"/>
            <a:ext cx="957455" cy="185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838F0A-72AB-C99A-ED4D-F70E1E973F49}"/>
              </a:ext>
            </a:extLst>
          </p:cNvPr>
          <p:cNvSpPr/>
          <p:nvPr/>
        </p:nvSpPr>
        <p:spPr>
          <a:xfrm>
            <a:off x="3147898" y="1763579"/>
            <a:ext cx="957455" cy="185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8CBF242-7D8E-F9C1-09E4-E3129EE37EA4}"/>
              </a:ext>
            </a:extLst>
          </p:cNvPr>
          <p:cNvSpPr/>
          <p:nvPr/>
        </p:nvSpPr>
        <p:spPr>
          <a:xfrm>
            <a:off x="3258944" y="2217779"/>
            <a:ext cx="957455" cy="185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</a:t>
            </a:r>
          </a:p>
        </p:txBody>
      </p:sp>
      <p:sp>
        <p:nvSpPr>
          <p:cNvPr id="163" name="Google Shape;163;p20"/>
          <p:cNvSpPr txBox="1"/>
          <p:nvPr/>
        </p:nvSpPr>
        <p:spPr>
          <a:xfrm>
            <a:off x="3289572" y="1624283"/>
            <a:ext cx="10329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Отсутствие единой интеграции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1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2120419" y="87534"/>
            <a:ext cx="6323100" cy="781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Метод "5 Почему" для проблемы дублирования учета:</a:t>
            </a:r>
            <a:endParaRPr sz="1700" b="1" dirty="0">
              <a:solidFill>
                <a:schemeClr val="tx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7600" y="1079696"/>
            <a:ext cx="3267970" cy="311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1276358" y="1432537"/>
            <a:ext cx="468678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процесс долгий?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Нужно ждать заполнения графиков.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Почему графики заполняются медленно?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Сотрудники не имеют доступа к онлайн-вводу.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Почему нет онлайн-доступа?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"Парус" не поддерживает эту функцию.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Почему не внедрена интеграция?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Нет технического решения.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Почему нет решения?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Не было запроса от руководства.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2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964967" y="504083"/>
            <a:ext cx="7673085" cy="4135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Решения: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Создание возможности выбора дат отпусков в ЛК:</a:t>
            </a:r>
          </a:p>
          <a:p>
            <a:pPr marL="285750" lvl="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Личный кабинет в Парусе для выбора отпуска с автоматической проверкой остатка дней.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Уведомления и напоминания:</a:t>
            </a:r>
          </a:p>
          <a:p>
            <a:pPr marL="285750" lvl="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Автоматические оповещения сотрудникам в Парусе о необходимости выбрать даты.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Доработка электронных карточек учета отпусков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Проверка отпускного баланса не вручную, а Парусом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Устранение дублирования учета:</a:t>
            </a:r>
          </a:p>
          <a:p>
            <a:pPr marL="285750" lvl="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Единый цифровой журнал (оставить только общий </a:t>
            </a:r>
            <a:r>
              <a:rPr lang="en-US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Excel 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en-US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Google Forms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>
              <a:spcBef>
                <a:spcPts val="1000"/>
              </a:spcBef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Стандартизация шаблона приказа:</a:t>
            </a:r>
          </a:p>
          <a:p>
            <a:pPr marL="285750" lvl="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Автоматическое форматирование (шрифты, регистр букв).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2902227" y="-122807"/>
            <a:ext cx="4259324" cy="96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Предложения по улучшению</a:t>
            </a: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1048775" y="-122014"/>
            <a:ext cx="7659560" cy="526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14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Паспорт проекта: Оптимизация процесса оформления приказов на отпуска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Сократить время оформления приказов на отпуска на 21% (с ~12 мин 20 сек до ~7 мин 24 сек на 1 приказ). Дополнительно, сократить количество шагов в процессе с 25 до 21.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Метрики: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⦁ Время на оформление 1 приказа (текущее: ~12 мин 20 сек → целевое: ~7 мин 24 сек).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⦁ Количество шагов в процессе (текущее: 25 шагов → 21 шаг).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внедрения (DMAIC):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Анализ ТЗ для интеграции "Парус" с ЛК (1 месяц). </a:t>
            </a:r>
          </a:p>
          <a:p>
            <a:pPr lvl="0"/>
            <a:endParaRPr lang="ru-RU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Измерение: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Замер текущего времени оформления приказов (~12 мин 20 сек) и количества шагов (25). Фиксация текущего процесса "как есть".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Выявление узких мест и причин длительного оформления приказов. Анализ потерь в процессе.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 и тестирование шаблонов на 10 приказах. Тестирование интеграции "Парус" с ЛК на 1 институте (2 недели). Оптимизация процесса до 21 шага.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Обучение сотрудников (3 дня). Полный переход на новый процесс (3 месяца). Мониторинг ошибок и времени оформления приказов.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такта процесса: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⦁ Текущий: 25 шагов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⦁ После оптимизации: 21 шаг</a:t>
            </a:r>
            <a:b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050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78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3DB9B70D-8A25-E91E-EC65-A5729F80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E77972C6-C241-1E55-D512-DD8AEC411E9E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6AA0782F-E840-780F-34C2-AE7C433110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10464BB5-64DE-792C-ACD7-021FA67C9CCC}"/>
              </a:ext>
            </a:extLst>
          </p:cNvPr>
          <p:cNvSpPr txBox="1"/>
          <p:nvPr/>
        </p:nvSpPr>
        <p:spPr>
          <a:xfrm>
            <a:off x="964967" y="-123481"/>
            <a:ext cx="7659560" cy="14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1400"/>
              </a:spcBef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Расчет экономических показателей</a:t>
            </a:r>
          </a:p>
          <a:p>
            <a:pPr lvl="0" algn="ctr">
              <a:spcBef>
                <a:spcPts val="1400"/>
              </a:spcBef>
            </a:pPr>
            <a:endParaRPr lang="ru-RU" sz="1700" b="1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spcBef>
                <a:spcPts val="1400"/>
              </a:spcBef>
            </a:pPr>
            <a:endParaRPr sz="1050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317E5E-80AA-E5C6-FA23-E70EB7A7A4E3}"/>
              </a:ext>
            </a:extLst>
          </p:cNvPr>
          <p:cNvSpPr txBox="1"/>
          <p:nvPr/>
        </p:nvSpPr>
        <p:spPr>
          <a:xfrm>
            <a:off x="1213089" y="478944"/>
            <a:ext cx="7480071" cy="4898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</a:pPr>
            <a:r>
              <a:rPr lang="ru-RU" sz="1200"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Текущий процесс (12 мин 20 сек)</a:t>
            </a:r>
          </a:p>
          <a:p>
            <a:pPr>
              <a:lnSpc>
                <a:spcPct val="115000"/>
              </a:lnSpc>
              <a:buNone/>
            </a:pPr>
            <a:r>
              <a:rPr lang="ru-RU" sz="12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Процесс оформления ежегодного отпуска включает </a:t>
            </a:r>
            <a:r>
              <a:rPr lang="ru-RU" sz="12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12 минут 20 секунд</a:t>
            </a:r>
            <a:r>
              <a:rPr lang="ru-RU" sz="12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чистой работы, но содержит существенные издержки:</a:t>
            </a:r>
            <a:endParaRPr lang="ru-RU" sz="12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Дублирование данных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(учет в личном дневнике + Excel + система "Парус")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Ручная корректировка приказов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в Word (риск ошибок, потеря времени)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Долгий сбор графиков отпусков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Сотрудник рассылает пустые формы → ожидает заполнения → анализирует → согласовывает → только потом формирует приказы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Избыточные проверки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(57 секунд на сверку данных и 3 мин на проверку отпускного баланса)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ru-RU" sz="12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2. Оптимизированный процесс (7 мин 24 сек)</a:t>
            </a:r>
            <a:endParaRPr lang="ru-RU" sz="1200" b="1" dirty="0">
              <a:solidFill>
                <a:srgbClr val="66666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ru-RU" sz="12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Ключевые изменения:</a:t>
            </a:r>
            <a:endParaRPr lang="ru-RU" sz="12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Ликвидация дублирования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Отказ от личного дневника → единая электронная таблица (экономия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10 сек/документ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Автоматизация шаблонов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Исключение ручного редактирования в Word (экономия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1 мин 3 сек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Ускорение проверок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Сокращение времени проверки с 57 до 20 секунд и автоматизируем проверку отпускного баланса (экономим 3 мин)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Цифровизация сбора графиков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Внедрение онлайн-формы вместо бумажного оборота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8910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31762A3A-5114-BBDC-4279-B809C496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593C9787-4447-F276-AC1A-8DD20BAFF837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9D6DEE79-3781-61FA-0DAE-41D42197B6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68BF8FB3-25A1-7D5A-D5B0-9099A127F7CA}"/>
              </a:ext>
            </a:extLst>
          </p:cNvPr>
          <p:cNvSpPr txBox="1"/>
          <p:nvPr/>
        </p:nvSpPr>
        <p:spPr>
          <a:xfrm>
            <a:off x="964967" y="-123481"/>
            <a:ext cx="7659560" cy="14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1400"/>
              </a:spcBef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Расчет экономических показателей</a:t>
            </a:r>
          </a:p>
          <a:p>
            <a:pPr lvl="0" algn="ctr">
              <a:spcBef>
                <a:spcPts val="1400"/>
              </a:spcBef>
            </a:pPr>
            <a:endParaRPr lang="ru-RU" sz="1700" b="1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spcBef>
                <a:spcPts val="1400"/>
              </a:spcBef>
            </a:pPr>
            <a:endParaRPr sz="1050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741B3EC-B5BF-950F-547D-D6ADDD4DA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965107"/>
              </p:ext>
            </p:extLst>
          </p:nvPr>
        </p:nvGraphicFramePr>
        <p:xfrm>
          <a:off x="1847008" y="523645"/>
          <a:ext cx="5730240" cy="1224154"/>
        </p:xfrm>
        <a:graphic>
          <a:graphicData uri="http://schemas.openxmlformats.org/drawingml/2006/table">
            <a:tbl>
              <a:tblPr>
                <a:tableStyleId>{5689FA55-818D-4044-940B-E8AE36749A6D}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79586521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317502746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10178921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934442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оптимизации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 оптимизации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Экономия на 1 документ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770021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оформления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мин 20 сек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мин 24 сек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71000"/>
                        </a:lnSpc>
                        <a:buNone/>
                      </a:pPr>
                      <a:r>
                        <a:rPr lang="ru-RU" sz="11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мин 56 сек</a:t>
                      </a:r>
                      <a:endParaRPr lang="ru-RU" sz="1100" b="1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101600" marB="101600"/>
                </a:tc>
                <a:extLst>
                  <a:ext uri="{0D108BD9-81ED-4DB2-BD59-A6C34878D82A}">
                    <a16:rowId xmlns:a16="http://schemas.microsoft.com/office/drawing/2014/main" val="2341745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1575CD-65D6-9BF6-DBBC-6452221E2722}"/>
              </a:ext>
            </a:extLst>
          </p:cNvPr>
          <p:cNvSpPr txBox="1"/>
          <p:nvPr/>
        </p:nvSpPr>
        <p:spPr>
          <a:xfrm>
            <a:off x="1383323" y="2235200"/>
            <a:ext cx="75652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ru-RU" sz="12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Годовая экономия</a:t>
            </a:r>
            <a:r>
              <a:rPr lang="ru-RU" sz="12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(предположим, что 1 сотрудник отрабатывает отпуска по 500 сотрудникам в год):</a:t>
            </a:r>
            <a:endParaRPr lang="ru-RU" sz="12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</a:rPr>
              <a:t>4,93 мин × 500 = 2 465 мин ≈ 41 час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●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Эквивалент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5 рабочих дней 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специалиста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Экономия ФОТ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Средняя зарплата кадровика: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40 000 руб./</a:t>
            </a:r>
            <a:r>
              <a:rPr lang="ru-RU" sz="1200" b="1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мес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Стоимость 1 часа: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227 руб.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(40 000 / 22 дня / 8 часов)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Годовая экономия: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41 час × 227 руб.  = 9 307 руб.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Clr>
                <a:srgbClr val="404040"/>
              </a:buClr>
              <a:buSzPts val="1200"/>
              <a:buFont typeface="+mj-lt"/>
              <a:buAutoNum type="arabicPeriod"/>
            </a:pP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Косвенная экономия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Clr>
                <a:srgbClr val="404040"/>
              </a:buClr>
              <a:buSzPts val="1200"/>
              <a:buFont typeface="Arial" panose="020B0604020202020204" pitchFamily="34" charset="0"/>
              <a:buChar char="○"/>
            </a:pP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Экономия канцелярии: 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~</a:t>
            </a:r>
            <a:r>
              <a:rPr lang="en-US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5 0</a:t>
            </a:r>
            <a:r>
              <a:rPr lang="ru-RU" sz="1200" b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00 руб./год</a:t>
            </a:r>
            <a:r>
              <a:rPr lang="ru-RU" sz="120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 (меньше печати)</a:t>
            </a:r>
            <a:endParaRPr lang="ru-RU" sz="1200" u="none" strike="noStrike" dirty="0">
              <a:effectLst/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2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Итого годовая экономия</a:t>
            </a:r>
            <a:r>
              <a:rPr lang="ru-RU" sz="12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: </a:t>
            </a:r>
            <a:r>
              <a:rPr lang="ru-RU" sz="12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</a:rPr>
              <a:t>~15 000 руб.</a:t>
            </a:r>
            <a:endParaRPr lang="ru-RU" sz="12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5823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730B8B5D-6519-0898-AB78-D4475F65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>
            <a:extLst>
              <a:ext uri="{FF2B5EF4-FFF2-40B4-BE49-F238E27FC236}">
                <a16:creationId xmlns:a16="http://schemas.microsoft.com/office/drawing/2014/main" id="{29AEC76B-7199-EEE3-BFCC-6FFDB0A14BE5}"/>
              </a:ext>
            </a:extLst>
          </p:cNvPr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15E89FED-F98A-A0EB-2D66-92D9F550DE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F25D6F4C-DF52-7ACD-5786-8B8EF3FEBCAD}"/>
              </a:ext>
            </a:extLst>
          </p:cNvPr>
          <p:cNvSpPr txBox="1"/>
          <p:nvPr/>
        </p:nvSpPr>
        <p:spPr>
          <a:xfrm>
            <a:off x="964967" y="71902"/>
            <a:ext cx="7659560" cy="14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1400"/>
              </a:spcBef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Расчет экономических показателей</a:t>
            </a:r>
          </a:p>
          <a:p>
            <a:pPr lvl="0" algn="ctr">
              <a:spcBef>
                <a:spcPts val="1400"/>
              </a:spcBef>
            </a:pPr>
            <a:endParaRPr lang="ru-RU" sz="1700" b="1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spcBef>
                <a:spcPts val="1400"/>
              </a:spcBef>
            </a:pPr>
            <a:endParaRPr sz="1050" dirty="0">
              <a:solidFill>
                <a:srgbClr val="404040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FE431-FEF3-8857-31AC-6FE59B5C8F60}"/>
              </a:ext>
            </a:extLst>
          </p:cNvPr>
          <p:cNvSpPr txBox="1"/>
          <p:nvPr/>
        </p:nvSpPr>
        <p:spPr>
          <a:xfrm>
            <a:off x="1012101" y="775925"/>
            <a:ext cx="7565292" cy="129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ru-RU" b="1" dirty="0">
                <a:solidFill>
                  <a:srgbClr val="404040"/>
                </a:solidFill>
                <a:latin typeface="Helvetica Neue"/>
                <a:ea typeface="Arial" panose="020B0604020202020204" pitchFamily="34" charset="0"/>
              </a:rPr>
              <a:t>Годовая экономия на 1 сотрудника</a:t>
            </a:r>
            <a:r>
              <a:rPr lang="ru-RU" dirty="0">
                <a:solidFill>
                  <a:srgbClr val="404040"/>
                </a:solidFill>
                <a:latin typeface="Helvetica Neue"/>
                <a:ea typeface="Arial" panose="020B0604020202020204" pitchFamily="34" charset="0"/>
              </a:rPr>
              <a:t>: 15.000р</a:t>
            </a:r>
          </a:p>
          <a:p>
            <a:pPr>
              <a:lnSpc>
                <a:spcPct val="115000"/>
              </a:lnSpc>
              <a:buNone/>
            </a:pPr>
            <a:r>
              <a:rPr lang="ru-RU" b="1" dirty="0">
                <a:solidFill>
                  <a:srgbClr val="404040"/>
                </a:solidFill>
                <a:effectLst/>
                <a:latin typeface="Helvetica Neue"/>
                <a:ea typeface="Arial" panose="020B0604020202020204" pitchFamily="34" charset="0"/>
              </a:rPr>
              <a:t>Затраты</a:t>
            </a:r>
            <a:r>
              <a:rPr lang="ru-RU" dirty="0">
                <a:solidFill>
                  <a:srgbClr val="404040"/>
                </a:solidFill>
                <a:effectLst/>
                <a:latin typeface="Helvetica Neue"/>
                <a:ea typeface="Arial" panose="020B0604020202020204" pitchFamily="34" charset="0"/>
              </a:rPr>
              <a:t>: 40.000р - на доработку П</a:t>
            </a:r>
            <a:r>
              <a:rPr lang="ru-RU" dirty="0">
                <a:solidFill>
                  <a:srgbClr val="404040"/>
                </a:solidFill>
                <a:latin typeface="Helvetica Neue"/>
                <a:ea typeface="Arial" panose="020B0604020202020204" pitchFamily="34" charset="0"/>
              </a:rPr>
              <a:t>аруса (создание возможности выбирать отпуска в ЛК + доработать оформление шаблонов)</a:t>
            </a:r>
          </a:p>
          <a:p>
            <a:pPr>
              <a:lnSpc>
                <a:spcPct val="115000"/>
              </a:lnSpc>
              <a:buNone/>
            </a:pPr>
            <a:r>
              <a:rPr lang="ru-RU" b="1" dirty="0">
                <a:solidFill>
                  <a:srgbClr val="404040"/>
                </a:solidFill>
                <a:effectLst/>
                <a:latin typeface="Helvetica Neue"/>
                <a:ea typeface="Arial" panose="020B0604020202020204" pitchFamily="34" charset="0"/>
              </a:rPr>
              <a:t>Срок окупаемости</a:t>
            </a:r>
            <a:r>
              <a:rPr lang="ru-RU" dirty="0">
                <a:solidFill>
                  <a:srgbClr val="404040"/>
                </a:solidFill>
                <a:effectLst/>
                <a:latin typeface="Helvetica Neue"/>
                <a:ea typeface="Arial" panose="020B0604020202020204" pitchFamily="34" charset="0"/>
              </a:rPr>
              <a:t>: 2.6 года</a:t>
            </a:r>
            <a:endParaRPr lang="ru-RU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ru-RU" dirty="0"/>
          </a:p>
        </p:txBody>
      </p:sp>
      <p:pic>
        <p:nvPicPr>
          <p:cNvPr id="5124" name="Picture 4" descr="Картинки Денег Для Презентации Без Фона – Telegraph">
            <a:extLst>
              <a:ext uri="{FF2B5EF4-FFF2-40B4-BE49-F238E27FC236}">
                <a16:creationId xmlns:a16="http://schemas.microsoft.com/office/drawing/2014/main" id="{564E2C13-123A-5522-4C6C-533FE2552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6944" y="1759317"/>
            <a:ext cx="451485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414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4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1131275" y="535425"/>
            <a:ext cx="7885200" cy="18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5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Рекомендации по ускорению обучения новых сотрудников в отделе ППС</a:t>
            </a:r>
            <a:endParaRPr sz="175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Чтобы новые сотрудники быстрее входили в курс дела и снижали количество ошибок, можно внедрить </a:t>
            </a:r>
            <a:r>
              <a:rPr lang="ru-RU" sz="15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систему адаптации</a:t>
            </a:r>
            <a:endParaRPr sz="150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9975" y="2165800"/>
            <a:ext cx="3314097" cy="246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5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1105200" y="108150"/>
            <a:ext cx="6548400" cy="49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Видео-уроки по ключевым процессам</a:t>
            </a: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Как реализовать:</a:t>
            </a:r>
            <a:b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✅ </a:t>
            </a: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Записать </a:t>
            </a:r>
            <a:r>
              <a:rPr lang="ru-RU" b="1" dirty="0" err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скринкасты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(экран + голос) с пошаговым разбором: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Работа в "Парус" (ввод данных, поиск сотрудников, создание приказов).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Правильное оформление доп. соглашений в Word.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Печать, подпись и учет документов.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✅ </a:t>
            </a: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Структурировать видео по темам:</a:t>
            </a:r>
            <a:endParaRPr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Базовые операции (первые 3 дня).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Сложные случаи (исправление ошибок, работа с бухгалтерией).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●"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"Лайфхаки" (как избежать частых ошибок).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✅ </a:t>
            </a: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Разместить их в корпоративном чате или на Google Диске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 доступом по ссылке.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3400" y="184050"/>
            <a:ext cx="1616173" cy="1616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6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/>
        </p:nvSpPr>
        <p:spPr>
          <a:xfrm>
            <a:off x="1147725" y="297550"/>
            <a:ext cx="5847000" cy="2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7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Чек-листы и гайды</a:t>
            </a:r>
            <a:endParaRPr sz="170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Короткие инструкции в OneNote/Google Docs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 картинками: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○"/>
            </a:pP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"Как создать приказ за 5 шагов".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Times New Roman"/>
              <a:buChar char="○"/>
            </a:pP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"Что проверить перед печатью".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Шаблоны документов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 комментариями (например, где вписывать номер договора).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4725" y="2781850"/>
            <a:ext cx="2056849" cy="205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7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/>
        </p:nvSpPr>
        <p:spPr>
          <a:xfrm>
            <a:off x="1093375" y="308175"/>
            <a:ext cx="5825700" cy="2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7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Система наставничества</a:t>
            </a:r>
            <a:endParaRPr sz="170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Закрепить опытного сотрудника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за новичком на 2 недели.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Проводить разбор ошибок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раз в 3 дня (например, почему приказ "уплыл" при печати).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Давать тестовые задания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(оформить учебный приказ без реальных последствий).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3500" y="2792475"/>
            <a:ext cx="2560265" cy="19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8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1115825" y="255075"/>
            <a:ext cx="4943700" cy="22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Тест-драйв процессов</a:t>
            </a: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Первая неделя: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Новичок только наблюдает.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Вторая неделя: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Делает приказы под контролем наставника.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Третья неделя: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Самостоятельная работа с проверкой.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840" y="2491575"/>
            <a:ext cx="2828934" cy="22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9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/>
        </p:nvSpPr>
        <p:spPr>
          <a:xfrm>
            <a:off x="1087170" y="1527590"/>
            <a:ext cx="5368800" cy="138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Обратная связь и доработка обучения</a:t>
            </a:r>
            <a:endParaRPr sz="1700" b="1"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Опрос новичков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через месяц: что было непонятно?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Обновлять гайды</a:t>
            </a:r>
            <a:r>
              <a:rPr lang="ru-RU" dirty="0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при изменении процессов.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6640" y="1398050"/>
            <a:ext cx="3099925" cy="17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/>
          <p:nvPr/>
        </p:nvSpPr>
        <p:spPr>
          <a:xfrm>
            <a:off x="0" y="0"/>
            <a:ext cx="827700" cy="514350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0" descr="C:\Users\MSShafigullin\Desktop\2020\Презентация КФУ\kfu_logo_circle_ru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267" y="87534"/>
            <a:ext cx="55305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 txBox="1"/>
          <p:nvPr/>
        </p:nvSpPr>
        <p:spPr>
          <a:xfrm>
            <a:off x="2055750" y="250400"/>
            <a:ext cx="6004200" cy="18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Итог:</a:t>
            </a:r>
            <a:endParaRPr sz="1800" b="1"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Видео + чек-листы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быстрое запоминание.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Наставник + тестовые задания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минимум ошибок.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●"/>
            </a:pP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Постепенное усложнение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уверенность в работе.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Это сократит время адаптации с </a:t>
            </a:r>
            <a:r>
              <a:rPr lang="ru-RU" b="1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1,5–2 месяцев до 3–4 недель</a:t>
            </a:r>
            <a:r>
              <a:rPr lang="ru-RU">
                <a:solidFill>
                  <a:srgbClr val="40404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rgbClr val="4040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225" y="2571750"/>
            <a:ext cx="4030165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/>
          <p:nvPr/>
        </p:nvSpPr>
        <p:spPr>
          <a:xfrm>
            <a:off x="0" y="0"/>
            <a:ext cx="3347865" cy="769250"/>
          </a:xfrm>
          <a:prstGeom prst="rect">
            <a:avLst/>
          </a:prstGeom>
          <a:gradFill>
            <a:gsLst>
              <a:gs pos="0">
                <a:srgbClr val="003061"/>
              </a:gs>
              <a:gs pos="50000">
                <a:srgbClr val="00468D"/>
              </a:gs>
              <a:gs pos="100000">
                <a:srgbClr val="0054AA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1" descr="C:\Users\MSShafigullin\Desktop\Проекты\Брендбук\Готовый ББ\Логотипы в png\2_Log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374" y="236692"/>
            <a:ext cx="2198807" cy="29586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 txBox="1"/>
          <p:nvPr/>
        </p:nvSpPr>
        <p:spPr>
          <a:xfrm>
            <a:off x="3347865" y="2371695"/>
            <a:ext cx="50668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СПАСИБО ЗА ВНИМАНИЕ!</a:t>
            </a:r>
            <a:endParaRPr sz="2000">
              <a:solidFill>
                <a:srgbClr val="7F7F7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2024</Words>
  <Application>Microsoft Office PowerPoint</Application>
  <PresentationFormat>Экран (16:9)</PresentationFormat>
  <Paragraphs>357</Paragraphs>
  <Slides>26</Slides>
  <Notes>26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4" baseType="lpstr">
      <vt:lpstr>Helvetica Neue</vt:lpstr>
      <vt:lpstr>PT Sans</vt:lpstr>
      <vt:lpstr>Arial</vt:lpstr>
      <vt:lpstr>Times New Roman</vt:lpstr>
      <vt:lpstr>Calibri</vt:lpstr>
      <vt:lpstr>Roboto</vt:lpstr>
      <vt:lpstr>Тема Office</vt:lpstr>
      <vt:lpstr>Лист Microsoft Excel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 08</dc:creator>
  <cp:lastModifiedBy>Никита Фоминых</cp:lastModifiedBy>
  <cp:revision>56</cp:revision>
  <dcterms:modified xsi:type="dcterms:W3CDTF">2025-04-29T12:37:46Z</dcterms:modified>
</cp:coreProperties>
</file>