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81" r:id="rId2"/>
    <p:sldId id="309" r:id="rId3"/>
    <p:sldId id="310" r:id="rId4"/>
    <p:sldId id="311" r:id="rId5"/>
    <p:sldId id="312" r:id="rId6"/>
    <p:sldId id="313" r:id="rId7"/>
    <p:sldId id="314" r:id="rId8"/>
    <p:sldId id="315" r:id="rId9"/>
    <p:sldId id="316" r:id="rId10"/>
    <p:sldId id="266" r:id="rId11"/>
    <p:sldId id="307" r:id="rId12"/>
    <p:sldId id="261" r:id="rId13"/>
    <p:sldId id="318" r:id="rId14"/>
    <p:sldId id="308" r:id="rId15"/>
    <p:sldId id="322" r:id="rId16"/>
    <p:sldId id="320" r:id="rId17"/>
    <p:sldId id="321" r:id="rId18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4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Средний стиль 3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Темный стиль 1 — акцент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88018" autoAdjust="0"/>
  </p:normalViewPr>
  <p:slideViewPr>
    <p:cSldViewPr>
      <p:cViewPr>
        <p:scale>
          <a:sx n="120" d="100"/>
          <a:sy n="120" d="100"/>
        </p:scale>
        <p:origin x="2964" y="1236"/>
      </p:cViewPr>
      <p:guideLst>
        <p:guide orient="horz" pos="1620"/>
        <p:guide pos="2880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strRef>
              <c:f>Лист1!$A$2:$A$9</c:f>
              <c:strCache>
                <c:ptCount val="8"/>
                <c:pt idx="0">
                  <c:v>Инициация</c:v>
                </c:pt>
                <c:pt idx="1">
                  <c:v>Анализ текущего процесса</c:v>
                </c:pt>
                <c:pt idx="2">
                  <c:v>Выбор решения</c:v>
                </c:pt>
                <c:pt idx="3">
                  <c:v>Закупка и установка оборудования/ПО</c:v>
                </c:pt>
                <c:pt idx="4">
                  <c:v>Тестирование и настройка системы</c:v>
                </c:pt>
                <c:pt idx="5">
                  <c:v>Обучение персонала</c:v>
                </c:pt>
                <c:pt idx="6">
                  <c:v>Пилотный запуск</c:v>
                </c:pt>
                <c:pt idx="7">
                  <c:v>Полный переход и сопровождение</c:v>
                </c:pt>
              </c:strCache>
            </c:strRef>
          </c:cat>
          <c:val>
            <c:numRef>
              <c:f>Лист1!$B$2:$B$9</c:f>
              <c:numCache>
                <c:formatCode>General</c:formatCode>
                <c:ptCount val="8"/>
                <c:pt idx="0">
                  <c:v>0</c:v>
                </c:pt>
                <c:pt idx="1">
                  <c:v>7</c:v>
                </c:pt>
                <c:pt idx="2">
                  <c:v>14</c:v>
                </c:pt>
                <c:pt idx="3">
                  <c:v>21</c:v>
                </c:pt>
                <c:pt idx="4">
                  <c:v>28</c:v>
                </c:pt>
                <c:pt idx="5">
                  <c:v>35</c:v>
                </c:pt>
                <c:pt idx="6">
                  <c:v>38</c:v>
                </c:pt>
                <c:pt idx="7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CF-4330-9801-AE5856D6CA7A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Лист1!$A$2:$A$9</c:f>
              <c:strCache>
                <c:ptCount val="8"/>
                <c:pt idx="0">
                  <c:v>Инициация</c:v>
                </c:pt>
                <c:pt idx="1">
                  <c:v>Анализ текущего процесса</c:v>
                </c:pt>
                <c:pt idx="2">
                  <c:v>Выбор решения</c:v>
                </c:pt>
                <c:pt idx="3">
                  <c:v>Закупка и установка оборудования/ПО</c:v>
                </c:pt>
                <c:pt idx="4">
                  <c:v>Тестирование и настройка системы</c:v>
                </c:pt>
                <c:pt idx="5">
                  <c:v>Обучение персонала</c:v>
                </c:pt>
                <c:pt idx="6">
                  <c:v>Пилотный запуск</c:v>
                </c:pt>
                <c:pt idx="7">
                  <c:v>Полный переход и сопровождение</c:v>
                </c:pt>
              </c:strCache>
            </c:strRef>
          </c:cat>
          <c:val>
            <c:numRef>
              <c:f>Лист1!$C$2:$C$9</c:f>
              <c:numCache>
                <c:formatCode>General</c:formatCode>
                <c:ptCount val="8"/>
                <c:pt idx="0">
                  <c:v>7</c:v>
                </c:pt>
                <c:pt idx="1">
                  <c:v>7</c:v>
                </c:pt>
                <c:pt idx="2">
                  <c:v>7</c:v>
                </c:pt>
                <c:pt idx="3">
                  <c:v>7</c:v>
                </c:pt>
                <c:pt idx="4">
                  <c:v>7</c:v>
                </c:pt>
                <c:pt idx="5">
                  <c:v>3</c:v>
                </c:pt>
                <c:pt idx="6">
                  <c:v>7</c:v>
                </c:pt>
                <c:pt idx="7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7CF-4330-9801-AE5856D6CA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1003061711"/>
        <c:axId val="1003062127"/>
      </c:barChart>
      <c:catAx>
        <c:axId val="1003061711"/>
        <c:scaling>
          <c:orientation val="maxMin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Этапы проекта</a:t>
                </a:r>
              </a:p>
            </c:rich>
          </c:tx>
          <c:layout>
            <c:manualLayout>
              <c:xMode val="edge"/>
              <c:yMode val="edge"/>
              <c:x val="9.399938186683195E-3"/>
              <c:y val="0.3067337078809205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03062127"/>
        <c:crosses val="autoZero"/>
        <c:auto val="1"/>
        <c:lblAlgn val="ctr"/>
        <c:lblOffset val="100"/>
        <c:noMultiLvlLbl val="0"/>
      </c:catAx>
      <c:valAx>
        <c:axId val="100306212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Дни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03061711"/>
        <c:crosses val="max"/>
        <c:crossBetween val="between"/>
        <c:majorUnit val="7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71BDCD-EBE6-4678-8413-13BFAA387E1D}" type="datetimeFigureOut">
              <a:rPr lang="ru-RU" smtClean="0"/>
              <a:t>04.05.2025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A570D4-9143-4E91-8959-8D963457B7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363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0820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1170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09525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7240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39710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70157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50729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40576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82934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434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31022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86719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0411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15342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56497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23799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6399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04.05.2025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04.05.2025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04.05.2025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04.05.2025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SShafigullin\Desktop\Проекты\Брендбук\Гайдлайн\Презентация\презентация шаблон КФУ-0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2"/>
          <a:stretch/>
        </p:blipFill>
        <p:spPr bwMode="auto">
          <a:xfrm>
            <a:off x="0" y="1786"/>
            <a:ext cx="9144000" cy="5141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555526"/>
            <a:ext cx="1152128" cy="112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403648" y="237266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>
                <a:srgbClr val="000000"/>
              </a:buClr>
              <a:buSzPts val="1100"/>
            </a:pPr>
            <a:r>
              <a:rPr lang="ru-RU" sz="2000" b="1" dirty="0">
                <a:solidFill>
                  <a:schemeClr val="lt1"/>
                </a:solidFill>
                <a:latin typeface="PT Sans" panose="020B0503020203020204" pitchFamily="34" charset="-52"/>
              </a:rPr>
              <a:t>Автоматизация процесса нумерации фирменных бланков 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 flipH="1">
            <a:off x="2339753" y="2058086"/>
            <a:ext cx="446449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6A05909-FC74-46C0-8403-B07FE6E74369}"/>
              </a:ext>
            </a:extLst>
          </p:cNvPr>
          <p:cNvSpPr txBox="1"/>
          <p:nvPr/>
        </p:nvSpPr>
        <p:spPr>
          <a:xfrm>
            <a:off x="0" y="4437882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1800" b="1" i="0" u="none" strike="noStrike" kern="1200" cap="none" spc="-1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T Sans" panose="020B0503020203020204" pitchFamily="34" charset="-52"/>
                <a:cs typeface="Calibri"/>
              </a:rPr>
              <a:t>Подготовили: Зинченко Е., Крапивина В.</a:t>
            </a:r>
            <a:br>
              <a:rPr kumimoji="0" lang="ru-RU" sz="1800" b="1" i="0" u="none" strike="noStrike" kern="1200" cap="none" spc="-1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T Sans" panose="020B0503020203020204" pitchFamily="34" charset="-52"/>
                <a:cs typeface="Calibri"/>
              </a:rPr>
            </a:br>
            <a:r>
              <a:rPr kumimoji="0" lang="ru-RU" sz="1800" b="1" i="0" u="none" strike="noStrike" kern="1200" cap="none" spc="-1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T Sans" panose="020B0503020203020204" pitchFamily="34" charset="-52"/>
                <a:cs typeface="Calibri"/>
              </a:rPr>
              <a:t>Гр.: 14.6-110</a:t>
            </a:r>
            <a:endParaRPr lang="ru-RU" b="1" dirty="0">
              <a:solidFill>
                <a:schemeClr val="bg1"/>
              </a:solidFill>
              <a:latin typeface="PT Sans" panose="020B0503020203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745109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1924"/>
            <a:ext cx="9144000" cy="832664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67" y="148256"/>
            <a:ext cx="55305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27584" y="233590"/>
            <a:ext cx="7344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PT Sans" panose="020B0503020203020204" pitchFamily="34" charset="-52"/>
              </a:rPr>
              <a:t>DMAIC</a:t>
            </a:r>
            <a:r>
              <a:rPr lang="ru-RU" b="1" dirty="0">
                <a:solidFill>
                  <a:schemeClr val="bg1"/>
                </a:solidFill>
                <a:latin typeface="PT Sans" panose="020B0503020203020204" pitchFamily="34" charset="-52"/>
              </a:rPr>
              <a:t> / </a:t>
            </a:r>
            <a:r>
              <a:rPr lang="en-US" b="1" dirty="0">
                <a:solidFill>
                  <a:schemeClr val="bg1"/>
                </a:solidFill>
                <a:latin typeface="PT Sans" panose="020B0503020203020204" pitchFamily="34" charset="-52"/>
              </a:rPr>
              <a:t>Define</a:t>
            </a:r>
            <a:r>
              <a:rPr lang="ru-RU" b="1" dirty="0">
                <a:solidFill>
                  <a:schemeClr val="bg1"/>
                </a:solidFill>
                <a:latin typeface="PT Sans" panose="020B0503020203020204" pitchFamily="34" charset="-52"/>
              </a:rPr>
              <a:t> / 1.1 Формулировка проблемы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C2950C-D792-49D2-8D0D-6810C8FE0B37}"/>
              </a:ext>
            </a:extLst>
          </p:cNvPr>
          <p:cNvSpPr txBox="1"/>
          <p:nvPr/>
        </p:nvSpPr>
        <p:spPr>
          <a:xfrm>
            <a:off x="126610" y="1563638"/>
            <a:ext cx="883787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В течение рабочего дня сотрудники университета обращаются в подразделение УДК с целью получения фирменных бланков, требующих предварительной нумерации. Процесс нумерации осуществляется вручную, что обуславливает значительные затраты рабочего времени и увеличивает нагрузку на специалиста. В среднем на подготовку бланков затрачивается более одного часа.</a:t>
            </a:r>
          </a:p>
        </p:txBody>
      </p:sp>
    </p:spTree>
    <p:extLst>
      <p:ext uri="{BB962C8B-B14F-4D97-AF65-F5344CB8AC3E}">
        <p14:creationId xmlns:p14="http://schemas.microsoft.com/office/powerpoint/2010/main" val="3385039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1924"/>
            <a:ext cx="9144000" cy="832664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67" y="148256"/>
            <a:ext cx="55305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27584" y="233590"/>
            <a:ext cx="7344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PT Sans" panose="020B0503020203020204" pitchFamily="34" charset="-52"/>
              </a:rPr>
              <a:t>DMAIC</a:t>
            </a:r>
            <a:r>
              <a:rPr lang="ru-RU" b="1" dirty="0">
                <a:solidFill>
                  <a:schemeClr val="bg1"/>
                </a:solidFill>
                <a:latin typeface="PT Sans" panose="020B0503020203020204" pitchFamily="34" charset="-52"/>
              </a:rPr>
              <a:t> / </a:t>
            </a:r>
            <a:r>
              <a:rPr lang="en-US" b="1" dirty="0">
                <a:solidFill>
                  <a:schemeClr val="bg1"/>
                </a:solidFill>
                <a:latin typeface="PT Sans" panose="020B0503020203020204" pitchFamily="34" charset="-52"/>
              </a:rPr>
              <a:t>Define </a:t>
            </a:r>
            <a:r>
              <a:rPr lang="ru-RU" b="1" dirty="0">
                <a:solidFill>
                  <a:schemeClr val="bg1"/>
                </a:solidFill>
                <a:latin typeface="PT Sans" panose="020B0503020203020204" pitchFamily="34" charset="-52"/>
              </a:rPr>
              <a:t>/ 1.2 </a:t>
            </a:r>
            <a:r>
              <a:rPr lang="en-US" b="1" dirty="0">
                <a:solidFill>
                  <a:schemeClr val="bg1"/>
                </a:solidFill>
                <a:latin typeface="PT Sans" panose="020B0503020203020204" pitchFamily="34" charset="-52"/>
              </a:rPr>
              <a:t>SIPOC</a:t>
            </a:r>
          </a:p>
          <a:p>
            <a:r>
              <a:rPr lang="ru-RU" b="1" dirty="0">
                <a:solidFill>
                  <a:schemeClr val="bg1"/>
                </a:solidFill>
                <a:latin typeface="PT Sans" panose="020B0503020203020204" pitchFamily="34" charset="-52"/>
              </a:rPr>
              <a:t> 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DD99B69-3675-4B0A-9343-C885EF81FE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001" y="903440"/>
            <a:ext cx="6817981" cy="409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23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1924"/>
            <a:ext cx="9144000" cy="832664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67" y="148256"/>
            <a:ext cx="55305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27584" y="233590"/>
            <a:ext cx="7344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PT Sans" panose="020B0503020203020204" pitchFamily="34" charset="-52"/>
              </a:rPr>
              <a:t>DMAIC</a:t>
            </a:r>
            <a:r>
              <a:rPr lang="ru-RU" b="1" dirty="0">
                <a:solidFill>
                  <a:schemeClr val="bg1"/>
                </a:solidFill>
                <a:latin typeface="PT Sans" panose="020B0503020203020204" pitchFamily="34" charset="-52"/>
              </a:rPr>
              <a:t> / </a:t>
            </a:r>
            <a:r>
              <a:rPr lang="en-US" b="1" dirty="0">
                <a:solidFill>
                  <a:schemeClr val="bg1"/>
                </a:solidFill>
                <a:latin typeface="PT Sans" panose="020B0503020203020204" pitchFamily="34" charset="-52"/>
              </a:rPr>
              <a:t>Define </a:t>
            </a:r>
            <a:r>
              <a:rPr lang="ru-RU" b="1" dirty="0">
                <a:solidFill>
                  <a:schemeClr val="bg1"/>
                </a:solidFill>
                <a:latin typeface="PT Sans" panose="020B0503020203020204" pitchFamily="34" charset="-52"/>
              </a:rPr>
              <a:t>/ 2.1 Определение требований клиентов</a:t>
            </a:r>
            <a:endParaRPr lang="en-US" b="1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r>
              <a:rPr lang="ru-RU" b="1" dirty="0">
                <a:solidFill>
                  <a:schemeClr val="bg1"/>
                </a:solidFill>
                <a:latin typeface="PT Sans" panose="020B0503020203020204" pitchFamily="34" charset="-52"/>
              </a:rPr>
              <a:t> </a:t>
            </a:r>
          </a:p>
        </p:txBody>
      </p:sp>
      <p:sp>
        <p:nvSpPr>
          <p:cNvPr id="2" name="Прямоугольник: усеченные противолежащие углы 1">
            <a:extLst>
              <a:ext uri="{FF2B5EF4-FFF2-40B4-BE49-F238E27FC236}">
                <a16:creationId xmlns:a16="http://schemas.microsoft.com/office/drawing/2014/main" id="{92D88F86-7350-4BD2-BDA6-16D7034BFDFD}"/>
              </a:ext>
            </a:extLst>
          </p:cNvPr>
          <p:cNvSpPr/>
          <p:nvPr/>
        </p:nvSpPr>
        <p:spPr>
          <a:xfrm>
            <a:off x="1115616" y="2386788"/>
            <a:ext cx="2079196" cy="864096"/>
          </a:xfrm>
          <a:prstGeom prst="snip2Diag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800" b="1" kern="0" spc="-10" dirty="0">
                <a:cs typeface="Calibri"/>
              </a:rPr>
              <a:t>Клиент</a:t>
            </a:r>
            <a:endParaRPr lang="ru-RU" sz="1800" kern="0" dirty="0">
              <a:cs typeface="Calibri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DE2DC43D-B544-48B8-B2F7-B5731839E33C}"/>
              </a:ext>
            </a:extLst>
          </p:cNvPr>
          <p:cNvSpPr/>
          <p:nvPr/>
        </p:nvSpPr>
        <p:spPr>
          <a:xfrm>
            <a:off x="3995936" y="1291607"/>
            <a:ext cx="3312368" cy="1280143"/>
          </a:xfrm>
          <a:prstGeom prst="roundRect">
            <a:avLst>
              <a:gd name="adj" fmla="val 14875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ru-RU" sz="1600" b="1" dirty="0"/>
              <a:t>Внешний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Контролирующие органы (МВД и др.)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Аккредитационные и лицензирующие структуры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Студенты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/>
          </a:p>
          <a:p>
            <a:endParaRPr lang="ru-RU" sz="1200" dirty="0"/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E5D144E7-6540-4AEB-8053-D73F8906D192}"/>
              </a:ext>
            </a:extLst>
          </p:cNvPr>
          <p:cNvSpPr/>
          <p:nvPr/>
        </p:nvSpPr>
        <p:spPr>
          <a:xfrm>
            <a:off x="3995936" y="3108825"/>
            <a:ext cx="3312368" cy="1280143"/>
          </a:xfrm>
          <a:prstGeom prst="roundRect">
            <a:avLst>
              <a:gd name="adj" fmla="val 14875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600" b="1" dirty="0"/>
          </a:p>
          <a:p>
            <a:pPr algn="ctr">
              <a:lnSpc>
                <a:spcPct val="150000"/>
              </a:lnSpc>
            </a:pPr>
            <a:r>
              <a:rPr lang="ru-RU" sz="1600" b="1" dirty="0"/>
              <a:t>Внутренний</a:t>
            </a:r>
            <a:endParaRPr lang="ru-RU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00" dirty="0"/>
              <a:t>Сотрудники кафедр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00" dirty="0"/>
              <a:t>Административные подразделения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00" dirty="0"/>
              <a:t>Руководство университета</a:t>
            </a:r>
          </a:p>
          <a:p>
            <a:endParaRPr lang="ru-RU" b="1" dirty="0"/>
          </a:p>
          <a:p>
            <a:endParaRPr lang="ru-RU" b="1" dirty="0"/>
          </a:p>
          <a:p>
            <a:pPr algn="ctr"/>
            <a:endParaRPr lang="ru-RU" dirty="0"/>
          </a:p>
        </p:txBody>
      </p: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AB738E2C-831B-4B87-91E5-0EE676E03E98}"/>
              </a:ext>
            </a:extLst>
          </p:cNvPr>
          <p:cNvCxnSpPr/>
          <p:nvPr/>
        </p:nvCxnSpPr>
        <p:spPr>
          <a:xfrm flipV="1">
            <a:off x="3194812" y="2100713"/>
            <a:ext cx="729116" cy="3600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7BBE37E4-13ED-4FF1-B4E5-FF9D68B649DE}"/>
              </a:ext>
            </a:extLst>
          </p:cNvPr>
          <p:cNvCxnSpPr>
            <a:cxnSpLocks/>
          </p:cNvCxnSpPr>
          <p:nvPr/>
        </p:nvCxnSpPr>
        <p:spPr>
          <a:xfrm>
            <a:off x="3275856" y="3108825"/>
            <a:ext cx="648072" cy="5397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1310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1924"/>
            <a:ext cx="9144000" cy="832664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67" y="148256"/>
            <a:ext cx="55305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27584" y="233590"/>
            <a:ext cx="7344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PT Sans" panose="020B0503020203020204" pitchFamily="34" charset="-52"/>
              </a:rPr>
              <a:t>DMAIC</a:t>
            </a:r>
            <a:r>
              <a:rPr lang="ru-RU" b="1" dirty="0">
                <a:solidFill>
                  <a:schemeClr val="bg1"/>
                </a:solidFill>
                <a:latin typeface="PT Sans" panose="020B0503020203020204" pitchFamily="34" charset="-52"/>
              </a:rPr>
              <a:t> / </a:t>
            </a:r>
            <a:r>
              <a:rPr lang="en-US" b="1" dirty="0">
                <a:solidFill>
                  <a:schemeClr val="bg1"/>
                </a:solidFill>
                <a:latin typeface="PT Sans" panose="020B0503020203020204" pitchFamily="34" charset="-52"/>
              </a:rPr>
              <a:t>Define </a:t>
            </a:r>
            <a:r>
              <a:rPr lang="ru-RU" b="1" dirty="0">
                <a:solidFill>
                  <a:schemeClr val="bg1"/>
                </a:solidFill>
                <a:latin typeface="PT Sans" panose="020B0503020203020204" pitchFamily="34" charset="-52"/>
              </a:rPr>
              <a:t>/ 2.1 Определение требований клиентов</a:t>
            </a:r>
            <a:endParaRPr lang="en-US" b="1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r>
              <a:rPr lang="ru-RU" b="1" dirty="0">
                <a:solidFill>
                  <a:schemeClr val="bg1"/>
                </a:solidFill>
                <a:latin typeface="PT Sans" panose="020B0503020203020204" pitchFamily="34" charset="-52"/>
              </a:rPr>
              <a:t> </a:t>
            </a:r>
          </a:p>
        </p:txBody>
      </p:sp>
      <p:graphicFrame>
        <p:nvGraphicFramePr>
          <p:cNvPr id="9" name="Таблица 9">
            <a:extLst>
              <a:ext uri="{FF2B5EF4-FFF2-40B4-BE49-F238E27FC236}">
                <a16:creationId xmlns:a16="http://schemas.microsoft.com/office/drawing/2014/main" id="{6543EB8B-E89C-466A-981E-E30D4A74A3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827044"/>
              </p:ext>
            </p:extLst>
          </p:nvPr>
        </p:nvGraphicFramePr>
        <p:xfrm>
          <a:off x="152508" y="947252"/>
          <a:ext cx="8838983" cy="365760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148500">
                  <a:extLst>
                    <a:ext uri="{9D8B030D-6E8A-4147-A177-3AD203B41FA5}">
                      <a16:colId xmlns:a16="http://schemas.microsoft.com/office/drawing/2014/main" val="2305678960"/>
                    </a:ext>
                  </a:extLst>
                </a:gridCol>
                <a:gridCol w="2268251">
                  <a:extLst>
                    <a:ext uri="{9D8B030D-6E8A-4147-A177-3AD203B41FA5}">
                      <a16:colId xmlns:a16="http://schemas.microsoft.com/office/drawing/2014/main" val="515579348"/>
                    </a:ext>
                  </a:extLst>
                </a:gridCol>
                <a:gridCol w="2599701">
                  <a:extLst>
                    <a:ext uri="{9D8B030D-6E8A-4147-A177-3AD203B41FA5}">
                      <a16:colId xmlns:a16="http://schemas.microsoft.com/office/drawing/2014/main" val="2067126367"/>
                    </a:ext>
                  </a:extLst>
                </a:gridCol>
                <a:gridCol w="1894984">
                  <a:extLst>
                    <a:ext uri="{9D8B030D-6E8A-4147-A177-3AD203B41FA5}">
                      <a16:colId xmlns:a16="http://schemas.microsoft.com/office/drawing/2014/main" val="654527001"/>
                    </a:ext>
                  </a:extLst>
                </a:gridCol>
                <a:gridCol w="927547">
                  <a:extLst>
                    <a:ext uri="{9D8B030D-6E8A-4147-A177-3AD203B41FA5}">
                      <a16:colId xmlns:a16="http://schemas.microsoft.com/office/drawing/2014/main" val="40747383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Сегмент клиентов</a:t>
                      </a:r>
                    </a:p>
                    <a:p>
                      <a:pPr algn="ctr"/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Голос клиента (</a:t>
                      </a:r>
                      <a:r>
                        <a:rPr lang="en-US" sz="1400" dirty="0"/>
                        <a:t>VOC)</a:t>
                      </a:r>
                    </a:p>
                    <a:p>
                      <a:pPr algn="ctr"/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Потребность клиента (что клиент хочет)</a:t>
                      </a:r>
                    </a:p>
                    <a:p>
                      <a:pPr algn="ctr"/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CTQ</a:t>
                      </a:r>
                    </a:p>
                    <a:p>
                      <a:pPr algn="ctr"/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Важность</a:t>
                      </a:r>
                    </a:p>
                    <a:p>
                      <a:pPr algn="ctr"/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515278"/>
                  </a:ext>
                </a:extLst>
              </a:tr>
              <a:tr h="470440">
                <a:tc>
                  <a:txBody>
                    <a:bodyPr/>
                    <a:lstStyle/>
                    <a:p>
                      <a:r>
                        <a:rPr lang="ru-RU" sz="1200" dirty="0"/>
                        <a:t>Внутренний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«Слишком долго сохнет гербовая печать»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Необходима быстрая фиксация печати без риска смазывания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Время высыхания печати ≤ 10 секунд, отсутствие размазанного оттиска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7650448"/>
                  </a:ext>
                </a:extLst>
              </a:tr>
              <a:tr h="470440">
                <a:tc>
                  <a:txBody>
                    <a:bodyPr/>
                    <a:lstStyle/>
                    <a:p>
                      <a:r>
                        <a:rPr lang="ru-RU" sz="1200" dirty="0"/>
                        <a:t>Внутренний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«Слишком долгий процесс нумерации фирменных бланков»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Нужна оперативная нумерация бланков с минимальными временными затратами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Время нумерации ≤ 1 сек/бланк, автоматизация, отсутствие ошибок в номере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7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053733"/>
                  </a:ext>
                </a:extLst>
              </a:tr>
              <a:tr h="470440">
                <a:tc>
                  <a:txBody>
                    <a:bodyPr/>
                    <a:lstStyle/>
                    <a:p>
                      <a:r>
                        <a:rPr lang="ru-RU" sz="1200" dirty="0"/>
                        <a:t>Внутренний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«Приносят неверно оформленные документы»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Требуется понятный и доступный стандарт оформления документов для заявителей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Уровень корректно оформленных документов ≥ 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1795028"/>
                  </a:ext>
                </a:extLst>
              </a:tr>
              <a:tr h="470440">
                <a:tc>
                  <a:txBody>
                    <a:bodyPr/>
                    <a:lstStyle/>
                    <a:p>
                      <a:r>
                        <a:rPr lang="ru-RU" sz="1200" dirty="0"/>
                        <a:t>Внешний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«Большая очередь к сотруднику»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Необходима оптимизация процесса обслуживания для сокращения времени ожидания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Среднее время ожидания ≤ 5 минут, равномерная загрузка сотрудника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6634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351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1924"/>
            <a:ext cx="9144000" cy="832664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67" y="148256"/>
            <a:ext cx="55305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27584" y="233590"/>
            <a:ext cx="7344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PT Sans" panose="020B0503020203020204" pitchFamily="34" charset="-52"/>
              </a:rPr>
              <a:t>DMAIC</a:t>
            </a:r>
            <a:r>
              <a:rPr lang="ru-RU" b="1" dirty="0">
                <a:solidFill>
                  <a:schemeClr val="bg1"/>
                </a:solidFill>
                <a:latin typeface="PT Sans" panose="020B0503020203020204" pitchFamily="34" charset="-52"/>
              </a:rPr>
              <a:t> / </a:t>
            </a:r>
            <a:r>
              <a:rPr lang="en-US" b="1" dirty="0">
                <a:solidFill>
                  <a:schemeClr val="bg1"/>
                </a:solidFill>
                <a:latin typeface="PT Sans" panose="020B0503020203020204" pitchFamily="34" charset="-52"/>
              </a:rPr>
              <a:t>Define </a:t>
            </a:r>
            <a:r>
              <a:rPr lang="ru-RU" b="1" dirty="0">
                <a:solidFill>
                  <a:schemeClr val="bg1"/>
                </a:solidFill>
                <a:latin typeface="PT Sans" panose="020B0503020203020204" pitchFamily="34" charset="-52"/>
              </a:rPr>
              <a:t>/ 3.1. Формулировка цели по SMART 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E7861AA-C339-4C91-9DD9-F0191C28DBC9}"/>
              </a:ext>
            </a:extLst>
          </p:cNvPr>
          <p:cNvSpPr/>
          <p:nvPr/>
        </p:nvSpPr>
        <p:spPr>
          <a:xfrm>
            <a:off x="323528" y="1419622"/>
            <a:ext cx="2304256" cy="43204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spc="-35" dirty="0">
                <a:solidFill>
                  <a:schemeClr val="tx1"/>
                </a:solidFill>
                <a:latin typeface="Calibri"/>
                <a:cs typeface="Calibri"/>
              </a:rPr>
              <a:t>Specific</a:t>
            </a:r>
            <a:r>
              <a:rPr lang="en-US" sz="1400" b="1" spc="-9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1400" spc="-30" dirty="0">
                <a:solidFill>
                  <a:schemeClr val="tx1"/>
                </a:solidFill>
                <a:latin typeface="Calibri"/>
                <a:cs typeface="Calibri"/>
              </a:rPr>
              <a:t>(</a:t>
            </a:r>
            <a:r>
              <a:rPr lang="ru-RU" sz="1400" spc="-30" dirty="0">
                <a:solidFill>
                  <a:schemeClr val="tx1"/>
                </a:solidFill>
                <a:latin typeface="Calibri"/>
                <a:cs typeface="Calibri"/>
              </a:rPr>
              <a:t>Конкретный</a:t>
            </a:r>
            <a:r>
              <a:rPr lang="en-US" sz="1400" spc="-30" dirty="0">
                <a:solidFill>
                  <a:schemeClr val="tx1"/>
                </a:solidFill>
                <a:latin typeface="Calibri"/>
                <a:cs typeface="Calibri"/>
              </a:rPr>
              <a:t>)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620EED7-7CF3-412D-BD51-2584B8DB0910}"/>
              </a:ext>
            </a:extLst>
          </p:cNvPr>
          <p:cNvSpPr/>
          <p:nvPr/>
        </p:nvSpPr>
        <p:spPr>
          <a:xfrm>
            <a:off x="323528" y="2093432"/>
            <a:ext cx="2304256" cy="43204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Measurable</a:t>
            </a:r>
            <a:r>
              <a:rPr lang="en-US" sz="1400" dirty="0">
                <a:solidFill>
                  <a:schemeClr val="tx1"/>
                </a:solidFill>
              </a:rPr>
              <a:t> (</a:t>
            </a:r>
            <a:r>
              <a:rPr lang="ru-RU" sz="1400" dirty="0">
                <a:solidFill>
                  <a:schemeClr val="tx1"/>
                </a:solidFill>
              </a:rPr>
              <a:t>Измеримый)</a:t>
            </a:r>
          </a:p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EA48B19-9B43-454C-891B-4D0B9EC49377}"/>
              </a:ext>
            </a:extLst>
          </p:cNvPr>
          <p:cNvSpPr/>
          <p:nvPr/>
        </p:nvSpPr>
        <p:spPr>
          <a:xfrm>
            <a:off x="323528" y="2767242"/>
            <a:ext cx="2304256" cy="43204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Achievable</a:t>
            </a:r>
            <a:r>
              <a:rPr lang="en-US" sz="1400" dirty="0">
                <a:solidFill>
                  <a:schemeClr val="tx1"/>
                </a:solidFill>
              </a:rPr>
              <a:t> (</a:t>
            </a:r>
            <a:r>
              <a:rPr lang="ru-RU" sz="1400" dirty="0">
                <a:solidFill>
                  <a:schemeClr val="tx1"/>
                </a:solidFill>
              </a:rPr>
              <a:t>Достижимый)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AC040F5-37B6-4D67-918E-5BE770138012}"/>
              </a:ext>
            </a:extLst>
          </p:cNvPr>
          <p:cNvSpPr/>
          <p:nvPr/>
        </p:nvSpPr>
        <p:spPr>
          <a:xfrm>
            <a:off x="323528" y="3443516"/>
            <a:ext cx="2304256" cy="43204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Relevant</a:t>
            </a:r>
            <a:r>
              <a:rPr lang="en-US" sz="1400" dirty="0">
                <a:solidFill>
                  <a:schemeClr val="tx1"/>
                </a:solidFill>
              </a:rPr>
              <a:t> (</a:t>
            </a:r>
            <a:r>
              <a:rPr lang="ru-RU" sz="1400" dirty="0">
                <a:solidFill>
                  <a:schemeClr val="tx1"/>
                </a:solidFill>
              </a:rPr>
              <a:t>Актуальный)</a:t>
            </a:r>
          </a:p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6FAC444-D2EC-467C-8540-143BDB8EF709}"/>
              </a:ext>
            </a:extLst>
          </p:cNvPr>
          <p:cNvSpPr/>
          <p:nvPr/>
        </p:nvSpPr>
        <p:spPr>
          <a:xfrm>
            <a:off x="323528" y="4119790"/>
            <a:ext cx="2304256" cy="43204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ru-RU" sz="1400" b="1" dirty="0">
                <a:solidFill>
                  <a:schemeClr val="tx1"/>
                </a:solidFill>
              </a:rPr>
              <a:t>Time </a:t>
            </a:r>
            <a:r>
              <a:rPr lang="ru-RU" sz="1400" b="1" dirty="0" err="1">
                <a:solidFill>
                  <a:schemeClr val="tx1"/>
                </a:solidFill>
              </a:rPr>
              <a:t>bound</a:t>
            </a:r>
            <a:r>
              <a:rPr lang="ru-RU" sz="1400" b="1" dirty="0">
                <a:solidFill>
                  <a:schemeClr val="tx1"/>
                </a:solidFill>
              </a:rPr>
              <a:t> </a:t>
            </a:r>
            <a:r>
              <a:rPr lang="ru-RU" sz="1400" dirty="0">
                <a:solidFill>
                  <a:schemeClr val="tx1"/>
                </a:solidFill>
              </a:rPr>
              <a:t>(Ограниченный во времени)</a:t>
            </a:r>
          </a:p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6F751C-7B5D-4717-B971-BDCFCE3F4D68}"/>
              </a:ext>
            </a:extLst>
          </p:cNvPr>
          <p:cNvSpPr txBox="1"/>
          <p:nvPr/>
        </p:nvSpPr>
        <p:spPr>
          <a:xfrm>
            <a:off x="2828473" y="1462361"/>
            <a:ext cx="56886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spc="-30" dirty="0">
                <a:solidFill>
                  <a:schemeClr val="tx1"/>
                </a:solidFill>
                <a:latin typeface="Calibri"/>
                <a:cs typeface="Calibri"/>
              </a:rPr>
              <a:t>автоматизация нумерации фирменных бланков</a:t>
            </a:r>
            <a:endParaRPr lang="ru-RU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84CEAC-179F-4F81-AE1E-DC3738835813}"/>
              </a:ext>
            </a:extLst>
          </p:cNvPr>
          <p:cNvSpPr txBox="1"/>
          <p:nvPr/>
        </p:nvSpPr>
        <p:spPr>
          <a:xfrm>
            <a:off x="2828473" y="2138635"/>
            <a:ext cx="59766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spc="-30" dirty="0">
                <a:solidFill>
                  <a:schemeClr val="tx1"/>
                </a:solidFill>
                <a:latin typeface="Calibri"/>
                <a:cs typeface="Calibri"/>
              </a:rPr>
              <a:t>время сокращается с 7 до 1 секунды, экономия ≥ 5 часов в неделю</a:t>
            </a:r>
            <a:endParaRPr lang="ru-RU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D7AC0E-7270-457D-9423-9C5718256A0E}"/>
              </a:ext>
            </a:extLst>
          </p:cNvPr>
          <p:cNvSpPr txBox="1"/>
          <p:nvPr/>
        </p:nvSpPr>
        <p:spPr>
          <a:xfrm>
            <a:off x="2828473" y="2814214"/>
            <a:ext cx="59766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spc="-30" dirty="0">
                <a:solidFill>
                  <a:schemeClr val="tx1"/>
                </a:solidFill>
                <a:latin typeface="Calibri"/>
                <a:cs typeface="Calibri"/>
              </a:rPr>
              <a:t>внедрение ПО и настройка печати возможно в пределах 2 месяцев</a:t>
            </a:r>
            <a:endParaRPr lang="ru-RU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C10409-E0D0-4C6E-861E-5ED035E53C94}"/>
              </a:ext>
            </a:extLst>
          </p:cNvPr>
          <p:cNvSpPr txBox="1"/>
          <p:nvPr/>
        </p:nvSpPr>
        <p:spPr>
          <a:xfrm>
            <a:off x="2828473" y="3490263"/>
            <a:ext cx="56886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spc="-30" dirty="0">
                <a:solidFill>
                  <a:schemeClr val="tx1"/>
                </a:solidFill>
                <a:latin typeface="Calibri"/>
                <a:cs typeface="Calibri"/>
              </a:rPr>
              <a:t>соответствует цели повышения эффективности работы УДК</a:t>
            </a:r>
            <a:endParaRPr lang="ru-RU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DD8C5D-5AC4-44FD-BBB6-81394CAC104B}"/>
              </a:ext>
            </a:extLst>
          </p:cNvPr>
          <p:cNvSpPr txBox="1"/>
          <p:nvPr/>
        </p:nvSpPr>
        <p:spPr>
          <a:xfrm>
            <a:off x="2828473" y="4166537"/>
            <a:ext cx="56886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spc="-30" dirty="0">
                <a:solidFill>
                  <a:schemeClr val="tx1"/>
                </a:solidFill>
                <a:latin typeface="Calibri"/>
                <a:cs typeface="Calibri"/>
              </a:rPr>
              <a:t>срок реализации: 2 месяца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68249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1924"/>
            <a:ext cx="9144000" cy="832664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67" y="148256"/>
            <a:ext cx="55305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27584" y="233590"/>
            <a:ext cx="7344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PT Sans" panose="020B0503020203020204" pitchFamily="34" charset="-52"/>
              </a:rPr>
              <a:t>DMAIC</a:t>
            </a:r>
            <a:r>
              <a:rPr lang="ru-RU" b="1" dirty="0">
                <a:solidFill>
                  <a:schemeClr val="bg1"/>
                </a:solidFill>
                <a:latin typeface="PT Sans" panose="020B0503020203020204" pitchFamily="34" charset="-52"/>
              </a:rPr>
              <a:t> / </a:t>
            </a:r>
            <a:r>
              <a:rPr lang="en-US" b="1" dirty="0">
                <a:solidFill>
                  <a:schemeClr val="bg1"/>
                </a:solidFill>
                <a:latin typeface="PT Sans" panose="020B0503020203020204" pitchFamily="34" charset="-52"/>
              </a:rPr>
              <a:t>Define </a:t>
            </a:r>
            <a:r>
              <a:rPr lang="ru-RU" b="1" dirty="0">
                <a:solidFill>
                  <a:schemeClr val="bg1"/>
                </a:solidFill>
                <a:latin typeface="PT Sans" panose="020B0503020203020204" pitchFamily="34" charset="-52"/>
              </a:rPr>
              <a:t>/ 3.2. Определение ожидаемых выгод</a:t>
            </a:r>
          </a:p>
        </p:txBody>
      </p:sp>
      <p:sp>
        <p:nvSpPr>
          <p:cNvPr id="3" name="Прямоугольник: усеченные противолежащие углы 2">
            <a:extLst>
              <a:ext uri="{FF2B5EF4-FFF2-40B4-BE49-F238E27FC236}">
                <a16:creationId xmlns:a16="http://schemas.microsoft.com/office/drawing/2014/main" id="{BF31B214-F503-4ECC-A174-23F129B5CE89}"/>
              </a:ext>
            </a:extLst>
          </p:cNvPr>
          <p:cNvSpPr/>
          <p:nvPr/>
        </p:nvSpPr>
        <p:spPr>
          <a:xfrm>
            <a:off x="128436" y="2427734"/>
            <a:ext cx="2160240" cy="576064"/>
          </a:xfrm>
          <a:prstGeom prst="snip2Diag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/>
              <a:t>Эффект от реализации проекта</a:t>
            </a:r>
          </a:p>
        </p:txBody>
      </p:sp>
      <p:sp>
        <p:nvSpPr>
          <p:cNvPr id="18" name="Прямоугольник: усеченные противолежащие углы 17">
            <a:extLst>
              <a:ext uri="{FF2B5EF4-FFF2-40B4-BE49-F238E27FC236}">
                <a16:creationId xmlns:a16="http://schemas.microsoft.com/office/drawing/2014/main" id="{09611859-7A53-4D34-9374-31A78A45AFA6}"/>
              </a:ext>
            </a:extLst>
          </p:cNvPr>
          <p:cNvSpPr/>
          <p:nvPr/>
        </p:nvSpPr>
        <p:spPr>
          <a:xfrm>
            <a:off x="2564161" y="3435846"/>
            <a:ext cx="2160240" cy="576064"/>
          </a:xfrm>
          <a:prstGeom prst="snip2Diag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/>
              <a:t>Неэкономический</a:t>
            </a:r>
          </a:p>
        </p:txBody>
      </p:sp>
      <p:sp>
        <p:nvSpPr>
          <p:cNvPr id="19" name="Прямоугольник: усеченные противолежащие углы 18">
            <a:extLst>
              <a:ext uri="{FF2B5EF4-FFF2-40B4-BE49-F238E27FC236}">
                <a16:creationId xmlns:a16="http://schemas.microsoft.com/office/drawing/2014/main" id="{A6CA1B84-0CEB-426C-A884-6AD00EC020AE}"/>
              </a:ext>
            </a:extLst>
          </p:cNvPr>
          <p:cNvSpPr/>
          <p:nvPr/>
        </p:nvSpPr>
        <p:spPr>
          <a:xfrm>
            <a:off x="2564161" y="1347321"/>
            <a:ext cx="2160240" cy="576064"/>
          </a:xfrm>
          <a:prstGeom prst="snip2Diag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/>
              <a:t>Экономический</a:t>
            </a: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E9404A2B-6D15-4FE2-8C9C-A05B3D217113}"/>
              </a:ext>
            </a:extLst>
          </p:cNvPr>
          <p:cNvCxnSpPr/>
          <p:nvPr/>
        </p:nvCxnSpPr>
        <p:spPr>
          <a:xfrm flipV="1">
            <a:off x="2288676" y="1923385"/>
            <a:ext cx="275485" cy="5043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7CC01FCC-C9C9-4104-9165-AD344406584C}"/>
              </a:ext>
            </a:extLst>
          </p:cNvPr>
          <p:cNvCxnSpPr/>
          <p:nvPr/>
        </p:nvCxnSpPr>
        <p:spPr>
          <a:xfrm>
            <a:off x="2302820" y="3040096"/>
            <a:ext cx="275485" cy="3600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74E10899-8429-46BB-A1E6-60E0F146B728}"/>
              </a:ext>
            </a:extLst>
          </p:cNvPr>
          <p:cNvSpPr/>
          <p:nvPr/>
        </p:nvSpPr>
        <p:spPr>
          <a:xfrm>
            <a:off x="5091778" y="1722504"/>
            <a:ext cx="3699967" cy="913196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ru-RU" sz="1050" dirty="0"/>
              <a:t>Снижение затрат на оплату труда</a:t>
            </a:r>
          </a:p>
          <a:p>
            <a:pPr algn="ctr"/>
            <a:r>
              <a:rPr lang="ru-RU" sz="1050" dirty="0"/>
              <a:t>Освобождение около 5 часов в неделю = 20 часов в месяц. Это эквивалентно снижению трудозатрат на 0,125 ставки, что может перераспределяться без дополнительных расходов.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7B690175-B8E3-41AA-AA90-DA3FCE2E4702}"/>
              </a:ext>
            </a:extLst>
          </p:cNvPr>
          <p:cNvSpPr/>
          <p:nvPr/>
        </p:nvSpPr>
        <p:spPr>
          <a:xfrm>
            <a:off x="4991043" y="859441"/>
            <a:ext cx="3253365" cy="80443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ru-RU" sz="1050" dirty="0"/>
              <a:t>Повышение пропускной способности</a:t>
            </a:r>
          </a:p>
          <a:p>
            <a:pPr algn="ctr"/>
            <a:r>
              <a:rPr lang="ru-RU" sz="1050" dirty="0"/>
              <a:t>Возможность обработки большего количества документов Экономия только на рабочем времени составляет ≈ 9,600 ₽ в месяц (или 115,500 ₽ в год)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005044EE-BB1A-414A-9427-1182AF493634}"/>
              </a:ext>
            </a:extLst>
          </p:cNvPr>
          <p:cNvSpPr/>
          <p:nvPr/>
        </p:nvSpPr>
        <p:spPr>
          <a:xfrm>
            <a:off x="5264521" y="3595454"/>
            <a:ext cx="3699967" cy="74542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ru-RU" sz="1050" dirty="0"/>
              <a:t>Снижение стресса и нагрузки на </a:t>
            </a:r>
            <a:r>
              <a:rPr lang="ru-RU" sz="1050" dirty="0" err="1"/>
              <a:t>документоведа</a:t>
            </a:r>
            <a:endParaRPr lang="ru-RU" sz="1050" dirty="0"/>
          </a:p>
          <a:p>
            <a:pPr algn="ctr"/>
            <a:r>
              <a:rPr lang="ru-RU" sz="1050" dirty="0"/>
              <a:t>Сокращение монотонной и ручной работы снижает утомляемость, повышает концентрацию на более важных задачах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3A08E2CE-8497-4850-8CAD-F2D65DE37E1D}"/>
              </a:ext>
            </a:extLst>
          </p:cNvPr>
          <p:cNvSpPr/>
          <p:nvPr/>
        </p:nvSpPr>
        <p:spPr>
          <a:xfrm>
            <a:off x="5264521" y="2731342"/>
            <a:ext cx="3699967" cy="786596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ru-RU" sz="1000" dirty="0"/>
              <a:t>Повышение точности и качества документации</a:t>
            </a:r>
          </a:p>
          <a:p>
            <a:pPr algn="ctr"/>
            <a:r>
              <a:rPr lang="ru-RU" sz="1000" dirty="0"/>
              <a:t>Исключение человеческих ошибок при нумерации, особенно при больших объёмах</a:t>
            </a: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74CF5B89-B142-4DC0-8F67-672F99839DA5}"/>
              </a:ext>
            </a:extLst>
          </p:cNvPr>
          <p:cNvSpPr/>
          <p:nvPr/>
        </p:nvSpPr>
        <p:spPr>
          <a:xfrm>
            <a:off x="4211960" y="4405854"/>
            <a:ext cx="4752528" cy="57606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ru-RU" sz="1050" dirty="0"/>
              <a:t>Рост имиджа отдела и университета в целом</a:t>
            </a:r>
          </a:p>
          <a:p>
            <a:pPr algn="ctr"/>
            <a:r>
              <a:rPr lang="ru-RU" sz="1050" dirty="0"/>
              <a:t>Внедрение цифрового решения воспринимается как шаг к современному и эффективному управлению</a:t>
            </a:r>
          </a:p>
        </p:txBody>
      </p: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984897BA-37D3-4154-BE48-00C0B8A05F3B}"/>
              </a:ext>
            </a:extLst>
          </p:cNvPr>
          <p:cNvCxnSpPr>
            <a:cxnSpLocks/>
          </p:cNvCxnSpPr>
          <p:nvPr/>
        </p:nvCxnSpPr>
        <p:spPr>
          <a:xfrm flipV="1">
            <a:off x="4781522" y="1234678"/>
            <a:ext cx="152400" cy="14430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9B7F47F3-6BC3-4B04-917D-079396F5E684}"/>
              </a:ext>
            </a:extLst>
          </p:cNvPr>
          <p:cNvCxnSpPr>
            <a:cxnSpLocks/>
          </p:cNvCxnSpPr>
          <p:nvPr/>
        </p:nvCxnSpPr>
        <p:spPr>
          <a:xfrm>
            <a:off x="4781522" y="1779076"/>
            <a:ext cx="275485" cy="2536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57CAE357-DA22-4DD3-9513-CB86350E5870}"/>
              </a:ext>
            </a:extLst>
          </p:cNvPr>
          <p:cNvCxnSpPr>
            <a:cxnSpLocks/>
          </p:cNvCxnSpPr>
          <p:nvPr/>
        </p:nvCxnSpPr>
        <p:spPr>
          <a:xfrm>
            <a:off x="4773381" y="4054956"/>
            <a:ext cx="198855" cy="2859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EF167CC5-245D-4769-A1F9-6C1A0CB284B3}"/>
              </a:ext>
            </a:extLst>
          </p:cNvPr>
          <p:cNvCxnSpPr>
            <a:cxnSpLocks/>
          </p:cNvCxnSpPr>
          <p:nvPr/>
        </p:nvCxnSpPr>
        <p:spPr>
          <a:xfrm flipV="1">
            <a:off x="4724401" y="3124640"/>
            <a:ext cx="495671" cy="3283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424B0566-04E5-4F66-8BF3-E7A8ABE376C5}"/>
              </a:ext>
            </a:extLst>
          </p:cNvPr>
          <p:cNvCxnSpPr>
            <a:cxnSpLocks/>
          </p:cNvCxnSpPr>
          <p:nvPr/>
        </p:nvCxnSpPr>
        <p:spPr>
          <a:xfrm>
            <a:off x="4824334" y="3778393"/>
            <a:ext cx="366096" cy="1613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3080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1924"/>
            <a:ext cx="9144000" cy="832664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67" y="148256"/>
            <a:ext cx="55305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27584" y="233590"/>
            <a:ext cx="7344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PT Sans" panose="020B0503020203020204" pitchFamily="34" charset="-52"/>
              </a:rPr>
              <a:t>DMAIC</a:t>
            </a:r>
            <a:r>
              <a:rPr lang="ru-RU" b="1" dirty="0">
                <a:solidFill>
                  <a:schemeClr val="bg1"/>
                </a:solidFill>
                <a:latin typeface="PT Sans" panose="020B0503020203020204" pitchFamily="34" charset="-52"/>
              </a:rPr>
              <a:t> / </a:t>
            </a:r>
            <a:r>
              <a:rPr lang="en-US" b="1" dirty="0">
                <a:solidFill>
                  <a:schemeClr val="bg1"/>
                </a:solidFill>
                <a:latin typeface="PT Sans" panose="020B0503020203020204" pitchFamily="34" charset="-52"/>
              </a:rPr>
              <a:t>Define </a:t>
            </a:r>
            <a:r>
              <a:rPr lang="ru-RU" b="1" dirty="0">
                <a:solidFill>
                  <a:schemeClr val="bg1"/>
                </a:solidFill>
                <a:latin typeface="PT Sans" panose="020B0503020203020204" pitchFamily="34" charset="-52"/>
              </a:rPr>
              <a:t>/ 3.5. Определение рисков проекта</a:t>
            </a:r>
          </a:p>
        </p:txBody>
      </p:sp>
      <p:graphicFrame>
        <p:nvGraphicFramePr>
          <p:cNvPr id="2" name="Таблица 3">
            <a:extLst>
              <a:ext uri="{FF2B5EF4-FFF2-40B4-BE49-F238E27FC236}">
                <a16:creationId xmlns:a16="http://schemas.microsoft.com/office/drawing/2014/main" id="{A09482FD-E766-45AB-9ADD-16705087E9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898527"/>
              </p:ext>
            </p:extLst>
          </p:nvPr>
        </p:nvGraphicFramePr>
        <p:xfrm>
          <a:off x="122385" y="1066254"/>
          <a:ext cx="8899229" cy="370840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921223">
                  <a:extLst>
                    <a:ext uri="{9D8B030D-6E8A-4147-A177-3AD203B41FA5}">
                      <a16:colId xmlns:a16="http://schemas.microsoft.com/office/drawing/2014/main" val="198789875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1648576960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86789809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761936321"/>
                    </a:ext>
                  </a:extLst>
                </a:gridCol>
                <a:gridCol w="2433390">
                  <a:extLst>
                    <a:ext uri="{9D8B030D-6E8A-4147-A177-3AD203B41FA5}">
                      <a16:colId xmlns:a16="http://schemas.microsoft.com/office/drawing/2014/main" val="5195379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Приоритет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Риск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Описание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Тип риска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Меры предотвращения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4821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sz="1050" dirty="0"/>
                        <a:t>Высокий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50" dirty="0"/>
                        <a:t>Несовместимость программного обеспечения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50" dirty="0"/>
                        <a:t>ПО для </a:t>
                      </a:r>
                      <a:r>
                        <a:rPr lang="ru-RU" sz="1050" dirty="0" err="1"/>
                        <a:t>автонумерации</a:t>
                      </a:r>
                      <a:r>
                        <a:rPr lang="ru-RU" sz="1050" dirty="0"/>
                        <a:t> может не поддерживаться существующими принтерами или форматами бланков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50" dirty="0"/>
                        <a:t>Технический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1050" dirty="0"/>
                        <a:t>Предварительное тестирование ПО на текущем оборудовании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1050" dirty="0"/>
                        <a:t>Участие ИТ-специалиста в выборе решения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818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sz="1050" dirty="0"/>
                        <a:t>Средний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50" dirty="0"/>
                        <a:t>Ошибки в настройке или сбоях системы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50" dirty="0"/>
                        <a:t>Автоматическая нумерация может давать сбои, дублировать или пропускать номера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50" dirty="0"/>
                        <a:t>Операционный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1050" dirty="0"/>
                        <a:t>Привлечение специалиста для установки и настройки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1050" dirty="0"/>
                        <a:t>Пошаговое тестирование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860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sz="1050" dirty="0"/>
                        <a:t>Высокий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50" dirty="0"/>
                        <a:t>Сопротивление изменениям со стороны персонала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50" dirty="0"/>
                        <a:t>Сотрудники могут не принять новую технологию или отказываться её использовать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50" dirty="0"/>
                        <a:t>Организационный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1050" dirty="0"/>
                        <a:t>Проведение обучения и инструктажа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1050" dirty="0"/>
                        <a:t>Объяснение выгод сотрудникам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1050" dirty="0"/>
                        <a:t>Вовлечение в процесс внедрения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58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sz="1050" dirty="0"/>
                        <a:t>Высокий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50" dirty="0"/>
                        <a:t>Отсутствие финансирования на оборудование/ПО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50" dirty="0"/>
                        <a:t>Не будет выделено финансирование на закупку нужного ПО или оборудования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50" dirty="0"/>
                        <a:t>Финансовый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1050" dirty="0"/>
                        <a:t>Составление подробной сметы с обоснованием экономии времени/ресурсов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1050" dirty="0"/>
                        <a:t>Поддержка руководства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1376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sz="1050" dirty="0"/>
                        <a:t>Средний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50" dirty="0"/>
                        <a:t>Перерывы в работе оборудования (принтер, компьютер)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50" dirty="0"/>
                        <a:t>Простои из-за технических неполадок замедлят процесс вместо ускорения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50" dirty="0"/>
                        <a:t>Технический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1050" dirty="0"/>
                        <a:t>Регулярное техническое обслуживание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1050" dirty="0"/>
                        <a:t>Наличие резервной техники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0694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8912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1924"/>
            <a:ext cx="9144000" cy="832664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67" y="148256"/>
            <a:ext cx="55305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27584" y="233590"/>
            <a:ext cx="7344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PT Sans" panose="020B0503020203020204" pitchFamily="34" charset="-52"/>
              </a:rPr>
              <a:t>DMAIC</a:t>
            </a:r>
            <a:r>
              <a:rPr lang="ru-RU" b="1" dirty="0">
                <a:solidFill>
                  <a:schemeClr val="bg1"/>
                </a:solidFill>
                <a:latin typeface="PT Sans" panose="020B0503020203020204" pitchFamily="34" charset="-52"/>
              </a:rPr>
              <a:t> / </a:t>
            </a:r>
            <a:r>
              <a:rPr lang="en-US" b="1" dirty="0">
                <a:solidFill>
                  <a:schemeClr val="bg1"/>
                </a:solidFill>
                <a:latin typeface="PT Sans" panose="020B0503020203020204" pitchFamily="34" charset="-52"/>
              </a:rPr>
              <a:t>Define </a:t>
            </a:r>
            <a:r>
              <a:rPr lang="ru-RU" b="1" dirty="0">
                <a:solidFill>
                  <a:schemeClr val="bg1"/>
                </a:solidFill>
                <a:latin typeface="PT Sans" panose="020B0503020203020204" pitchFamily="34" charset="-52"/>
              </a:rPr>
              <a:t>/ 3.6. Планирование проекта</a:t>
            </a:r>
          </a:p>
        </p:txBody>
      </p:sp>
      <p:graphicFrame>
        <p:nvGraphicFramePr>
          <p:cNvPr id="8" name="Объект 11">
            <a:extLst>
              <a:ext uri="{FF2B5EF4-FFF2-40B4-BE49-F238E27FC236}">
                <a16:creationId xmlns:a16="http://schemas.microsoft.com/office/drawing/2014/main" id="{DF1FFE3B-4C41-4B12-8E16-3B47D6B047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5666807"/>
              </p:ext>
            </p:extLst>
          </p:nvPr>
        </p:nvGraphicFramePr>
        <p:xfrm>
          <a:off x="251520" y="1066254"/>
          <a:ext cx="8522444" cy="3554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967303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1924"/>
            <a:ext cx="9144000" cy="832664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67" y="148256"/>
            <a:ext cx="55305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27584" y="233590"/>
            <a:ext cx="8179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PT Sans" panose="020B0503020203020204" pitchFamily="34" charset="-52"/>
              </a:rPr>
              <a:t>DMAIC / Measure / AS IS</a:t>
            </a:r>
            <a:r>
              <a:rPr lang="ru-RU" b="1" dirty="0">
                <a:solidFill>
                  <a:schemeClr val="bg1"/>
                </a:solidFill>
                <a:latin typeface="PT Sans" panose="020B0503020203020204" pitchFamily="34" charset="-52"/>
              </a:rPr>
              <a:t> / Первый уровень </a:t>
            </a:r>
            <a:r>
              <a:rPr lang="en-US" b="1" dirty="0">
                <a:solidFill>
                  <a:schemeClr val="bg1"/>
                </a:solidFill>
                <a:latin typeface="PT Sans" panose="020B0503020203020204" pitchFamily="34" charset="-52"/>
              </a:rPr>
              <a:t>IDEF0</a:t>
            </a:r>
            <a:endParaRPr lang="ru-RU" b="1" dirty="0">
              <a:solidFill>
                <a:schemeClr val="bg1"/>
              </a:solidFill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EB924FE-9E39-4E56-9EF3-B2CA661954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987574"/>
            <a:ext cx="3875509" cy="357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315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1924"/>
            <a:ext cx="9144000" cy="832664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67" y="148256"/>
            <a:ext cx="55305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99592" y="264367"/>
            <a:ext cx="7344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PT Sans" panose="020B0503020203020204" pitchFamily="34" charset="-52"/>
              </a:rPr>
              <a:t>DMAIC / Measure / AS IS / </a:t>
            </a:r>
            <a:r>
              <a:rPr lang="ru-RU" b="1" dirty="0">
                <a:solidFill>
                  <a:schemeClr val="bg1"/>
                </a:solidFill>
                <a:latin typeface="PT Sans" panose="020B0503020203020204" pitchFamily="34" charset="-52"/>
              </a:rPr>
              <a:t> Второй уровень </a:t>
            </a:r>
            <a:r>
              <a:rPr lang="en-US" b="1" dirty="0">
                <a:solidFill>
                  <a:schemeClr val="bg1"/>
                </a:solidFill>
                <a:latin typeface="PT Sans" panose="020B0503020203020204" pitchFamily="34" charset="-52"/>
              </a:rPr>
              <a:t>CFFC</a:t>
            </a:r>
            <a:endParaRPr lang="ru-RU" b="1" dirty="0">
              <a:solidFill>
                <a:schemeClr val="bg1"/>
              </a:solidFill>
              <a:latin typeface="PT Sans" panose="020B0503020203020204" pitchFamily="34" charset="-52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208304A-547D-4193-B74B-4A1B9A77C3B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37" r="634"/>
          <a:stretch/>
        </p:blipFill>
        <p:spPr>
          <a:xfrm>
            <a:off x="2667955" y="688256"/>
            <a:ext cx="3783929" cy="4388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227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Picture 2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AFB6F7B3-AF4A-5971-CF0E-52F33CBFB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67" y="148256"/>
            <a:ext cx="55305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1F7AC8-160B-4141-8038-5FB37D47A23B}"/>
              </a:ext>
            </a:extLst>
          </p:cNvPr>
          <p:cNvSpPr txBox="1"/>
          <p:nvPr/>
        </p:nvSpPr>
        <p:spPr>
          <a:xfrm rot="16200000">
            <a:off x="-1780349" y="2248585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PT Sans" panose="020B0503020203020204" pitchFamily="34" charset="-52"/>
              </a:rPr>
              <a:t>DMAIC / Measure / AS IS / </a:t>
            </a:r>
            <a:endParaRPr lang="ru-RU" b="1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r>
              <a:rPr lang="ru-RU" b="1" dirty="0">
                <a:solidFill>
                  <a:schemeClr val="bg1"/>
                </a:solidFill>
                <a:latin typeface="PT Sans" panose="020B0503020203020204" pitchFamily="34" charset="-52"/>
              </a:rPr>
              <a:t>Третий уровень </a:t>
            </a:r>
            <a:r>
              <a:rPr lang="en-US" b="1" dirty="0">
                <a:solidFill>
                  <a:schemeClr val="bg1"/>
                </a:solidFill>
                <a:latin typeface="PT Sans" panose="020B0503020203020204" pitchFamily="34" charset="-52"/>
              </a:rPr>
              <a:t>EPC</a:t>
            </a:r>
            <a:endParaRPr lang="ru-RU" b="1" dirty="0">
              <a:solidFill>
                <a:schemeClr val="bg1"/>
              </a:solidFill>
              <a:latin typeface="PT Sans" panose="020B0503020203020204" pitchFamily="34" charset="-52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3CBC9ED-4A3C-4636-9EDC-721814AE20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773" y="693899"/>
            <a:ext cx="3935822" cy="3755702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2670527-F87D-465A-BC47-C8E77650E1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5783" y="245105"/>
            <a:ext cx="3743156" cy="4612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468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1924"/>
            <a:ext cx="9144000" cy="832664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67" y="148256"/>
            <a:ext cx="55305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27584" y="233590"/>
            <a:ext cx="8179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PT Sans" panose="020B0503020203020204" pitchFamily="34" charset="-52"/>
              </a:rPr>
              <a:t>DMAIC / Measure / </a:t>
            </a:r>
            <a:r>
              <a:rPr lang="ru-RU" b="1" dirty="0">
                <a:solidFill>
                  <a:schemeClr val="bg1"/>
                </a:solidFill>
                <a:latin typeface="PT Sans" panose="020B0503020203020204" pitchFamily="34" charset="-52"/>
              </a:rPr>
              <a:t>Диаграмма </a:t>
            </a:r>
            <a:r>
              <a:rPr lang="ru-RU" b="1" dirty="0" err="1">
                <a:solidFill>
                  <a:schemeClr val="bg1"/>
                </a:solidFill>
                <a:latin typeface="PT Sans" panose="020B0503020203020204" pitchFamily="34" charset="-52"/>
              </a:rPr>
              <a:t>Ишикавы</a:t>
            </a:r>
            <a:endParaRPr lang="ru-RU" b="1" dirty="0">
              <a:solidFill>
                <a:schemeClr val="bg1"/>
              </a:solidFill>
              <a:latin typeface="PT Sans" panose="020B0503020203020204" pitchFamily="34" charset="-52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0ED7AAD-C624-46E2-BF71-DFF288735F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783" y="1203598"/>
            <a:ext cx="8116433" cy="342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401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1924"/>
            <a:ext cx="9144000" cy="832664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67" y="148256"/>
            <a:ext cx="55305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27584" y="233590"/>
            <a:ext cx="7344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PT Sans" panose="020B0503020203020204" pitchFamily="34" charset="-52"/>
              </a:rPr>
              <a:t>DMAIC</a:t>
            </a:r>
            <a:endParaRPr lang="ru-RU" b="1" dirty="0">
              <a:solidFill>
                <a:schemeClr val="bg1"/>
              </a:solidFill>
              <a:latin typeface="PT Sans" panose="020B0503020203020204" pitchFamily="34" charset="-52"/>
            </a:endParaRPr>
          </a:p>
        </p:txBody>
      </p:sp>
      <p:sp>
        <p:nvSpPr>
          <p:cNvPr id="21" name="Стрелка: пятиугольник 20">
            <a:extLst>
              <a:ext uri="{FF2B5EF4-FFF2-40B4-BE49-F238E27FC236}">
                <a16:creationId xmlns:a16="http://schemas.microsoft.com/office/drawing/2014/main" id="{5787582B-9EFD-4415-B46D-45C7D01884C1}"/>
              </a:ext>
            </a:extLst>
          </p:cNvPr>
          <p:cNvSpPr/>
          <p:nvPr/>
        </p:nvSpPr>
        <p:spPr>
          <a:xfrm>
            <a:off x="412371" y="1059868"/>
            <a:ext cx="1584176" cy="495086"/>
          </a:xfrm>
          <a:prstGeom prst="homePlat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b="1" dirty="0"/>
              <a:t>ОПРЕДЕЛЕНИЕ</a:t>
            </a:r>
          </a:p>
          <a:p>
            <a:pPr algn="ctr"/>
            <a:r>
              <a:rPr lang="en-US" sz="1100" dirty="0"/>
              <a:t>Define</a:t>
            </a:r>
          </a:p>
        </p:txBody>
      </p:sp>
      <p:sp>
        <p:nvSpPr>
          <p:cNvPr id="22" name="Стрелка: пятиугольник 21">
            <a:extLst>
              <a:ext uri="{FF2B5EF4-FFF2-40B4-BE49-F238E27FC236}">
                <a16:creationId xmlns:a16="http://schemas.microsoft.com/office/drawing/2014/main" id="{5363B883-78DA-4730-810D-5898D90EA8A8}"/>
              </a:ext>
            </a:extLst>
          </p:cNvPr>
          <p:cNvSpPr/>
          <p:nvPr/>
        </p:nvSpPr>
        <p:spPr>
          <a:xfrm>
            <a:off x="2101362" y="1059868"/>
            <a:ext cx="1584176" cy="495086"/>
          </a:xfrm>
          <a:prstGeom prst="homePlat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b="1" dirty="0"/>
              <a:t>ИЗМЕРЕНИЕ</a:t>
            </a:r>
          </a:p>
          <a:p>
            <a:pPr algn="ctr"/>
            <a:r>
              <a:rPr lang="en-US" sz="1100" dirty="0"/>
              <a:t>Measure</a:t>
            </a:r>
          </a:p>
        </p:txBody>
      </p:sp>
      <p:sp>
        <p:nvSpPr>
          <p:cNvPr id="23" name="Стрелка: пятиугольник 22">
            <a:extLst>
              <a:ext uri="{FF2B5EF4-FFF2-40B4-BE49-F238E27FC236}">
                <a16:creationId xmlns:a16="http://schemas.microsoft.com/office/drawing/2014/main" id="{4C3DF4D4-4782-4F28-9A85-33C45110C5D1}"/>
              </a:ext>
            </a:extLst>
          </p:cNvPr>
          <p:cNvSpPr/>
          <p:nvPr/>
        </p:nvSpPr>
        <p:spPr>
          <a:xfrm>
            <a:off x="3790353" y="1059868"/>
            <a:ext cx="1584176" cy="495086"/>
          </a:xfrm>
          <a:prstGeom prst="homePlat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b="1" dirty="0"/>
              <a:t>АНАЛИЗ</a:t>
            </a:r>
          </a:p>
          <a:p>
            <a:pPr algn="ctr"/>
            <a:r>
              <a:rPr lang="en-US" sz="1100" dirty="0"/>
              <a:t>Analyze</a:t>
            </a:r>
          </a:p>
        </p:txBody>
      </p:sp>
      <p:sp>
        <p:nvSpPr>
          <p:cNvPr id="24" name="Стрелка: пятиугольник 23">
            <a:extLst>
              <a:ext uri="{FF2B5EF4-FFF2-40B4-BE49-F238E27FC236}">
                <a16:creationId xmlns:a16="http://schemas.microsoft.com/office/drawing/2014/main" id="{08278427-3BD7-42B4-9D67-A8ADAA66524D}"/>
              </a:ext>
            </a:extLst>
          </p:cNvPr>
          <p:cNvSpPr/>
          <p:nvPr/>
        </p:nvSpPr>
        <p:spPr>
          <a:xfrm>
            <a:off x="5479344" y="1059868"/>
            <a:ext cx="1584176" cy="495086"/>
          </a:xfrm>
          <a:prstGeom prst="homePlat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000" b="1" dirty="0"/>
              <a:t>СОВЕРШЕНСТВОВАНИЕ</a:t>
            </a:r>
          </a:p>
          <a:p>
            <a:pPr algn="ctr"/>
            <a:r>
              <a:rPr lang="en-US" sz="1000" dirty="0"/>
              <a:t>Improve</a:t>
            </a:r>
          </a:p>
        </p:txBody>
      </p:sp>
      <p:sp>
        <p:nvSpPr>
          <p:cNvPr id="25" name="Стрелка: пятиугольник 24">
            <a:extLst>
              <a:ext uri="{FF2B5EF4-FFF2-40B4-BE49-F238E27FC236}">
                <a16:creationId xmlns:a16="http://schemas.microsoft.com/office/drawing/2014/main" id="{D685849D-6452-4676-9E59-9319AD656CDE}"/>
              </a:ext>
            </a:extLst>
          </p:cNvPr>
          <p:cNvSpPr/>
          <p:nvPr/>
        </p:nvSpPr>
        <p:spPr>
          <a:xfrm>
            <a:off x="7168335" y="1059868"/>
            <a:ext cx="1584176" cy="495086"/>
          </a:xfrm>
          <a:prstGeom prst="homePlat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100" b="1" dirty="0"/>
              <a:t>КОНТРОЛЬ</a:t>
            </a:r>
          </a:p>
          <a:p>
            <a:pPr algn="ctr"/>
            <a:r>
              <a:rPr lang="en-US" sz="1100" dirty="0"/>
              <a:t>Control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B74C1597-5AC7-4449-8089-117B4C775119}"/>
              </a:ext>
            </a:extLst>
          </p:cNvPr>
          <p:cNvSpPr/>
          <p:nvPr/>
        </p:nvSpPr>
        <p:spPr>
          <a:xfrm>
            <a:off x="412371" y="1780234"/>
            <a:ext cx="1351317" cy="44084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" dirty="0"/>
              <a:t>Определение проблемы и процесса на высоком уровне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781D895D-E5E8-4408-AD8F-9F2734B724D8}"/>
              </a:ext>
            </a:extLst>
          </p:cNvPr>
          <p:cNvSpPr/>
          <p:nvPr/>
        </p:nvSpPr>
        <p:spPr>
          <a:xfrm>
            <a:off x="2100591" y="1766579"/>
            <a:ext cx="1351317" cy="44084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" dirty="0"/>
              <a:t>понимание процесса и его текущего</a:t>
            </a:r>
          </a:p>
          <a:p>
            <a:pPr algn="ctr"/>
            <a:r>
              <a:rPr lang="ru-RU" sz="800" dirty="0"/>
              <a:t>уровня бездефектности</a:t>
            </a:r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67FAE4A2-F736-4A1A-9877-0353E7CBE8E5}"/>
              </a:ext>
            </a:extLst>
          </p:cNvPr>
          <p:cNvSpPr/>
          <p:nvPr/>
        </p:nvSpPr>
        <p:spPr>
          <a:xfrm>
            <a:off x="3788811" y="1766579"/>
            <a:ext cx="1351317" cy="44084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700" dirty="0"/>
              <a:t>поиск основных источников проблем</a:t>
            </a:r>
          </a:p>
          <a:p>
            <a:pPr algn="ctr"/>
            <a:r>
              <a:rPr lang="ru-RU" sz="700" dirty="0"/>
              <a:t>и возможностей для совершенствования</a:t>
            </a: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0F451C36-DFDD-4070-B842-4C9A5EA36B7A}"/>
              </a:ext>
            </a:extLst>
          </p:cNvPr>
          <p:cNvSpPr/>
          <p:nvPr/>
        </p:nvSpPr>
        <p:spPr>
          <a:xfrm>
            <a:off x="5477031" y="1766579"/>
            <a:ext cx="1351317" cy="44084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" dirty="0"/>
              <a:t>разработка и внедрение решений</a:t>
            </a:r>
          </a:p>
          <a:p>
            <a:pPr algn="ctr"/>
            <a:r>
              <a:rPr lang="ru-RU" sz="800" dirty="0"/>
              <a:t>по улучшению процесса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B67DF9EF-5C02-4895-9D90-E1D2FF8D49EB}"/>
              </a:ext>
            </a:extLst>
          </p:cNvPr>
          <p:cNvSpPr/>
          <p:nvPr/>
        </p:nvSpPr>
        <p:spPr>
          <a:xfrm>
            <a:off x="7165251" y="1766579"/>
            <a:ext cx="1351317" cy="44084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700" dirty="0"/>
              <a:t>закрепление разработанных решений и создание системного подхода по управлению процессом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6B4A5683-5CE9-4596-B58D-9C6C52877AFC}"/>
              </a:ext>
            </a:extLst>
          </p:cNvPr>
          <p:cNvSpPr/>
          <p:nvPr/>
        </p:nvSpPr>
        <p:spPr>
          <a:xfrm>
            <a:off x="412371" y="2355726"/>
            <a:ext cx="1351317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Определение проблемы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9667800F-B899-4DB5-AFA0-E573E4ED88FF}"/>
              </a:ext>
            </a:extLst>
          </p:cNvPr>
          <p:cNvSpPr/>
          <p:nvPr/>
        </p:nvSpPr>
        <p:spPr>
          <a:xfrm>
            <a:off x="2102159" y="2355726"/>
            <a:ext cx="1351317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Описание процесса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619228F9-4D26-4FF9-A731-6EFFA4EB9D34}"/>
              </a:ext>
            </a:extLst>
          </p:cNvPr>
          <p:cNvSpPr/>
          <p:nvPr/>
        </p:nvSpPr>
        <p:spPr>
          <a:xfrm>
            <a:off x="3788811" y="2349739"/>
            <a:ext cx="1351317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Анализ причин по диаграмме </a:t>
            </a:r>
            <a:r>
              <a:rPr lang="ru-RU" sz="800" dirty="0" err="1">
                <a:solidFill>
                  <a:schemeClr val="tx1"/>
                </a:solidFill>
              </a:rPr>
              <a:t>Ишикавы</a:t>
            </a:r>
            <a:endParaRPr lang="ru-RU" sz="800" dirty="0">
              <a:solidFill>
                <a:schemeClr val="tx1"/>
              </a:solidFill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A6C40F29-4177-426A-ABA3-D4814AB0F60F}"/>
              </a:ext>
            </a:extLst>
          </p:cNvPr>
          <p:cNvSpPr/>
          <p:nvPr/>
        </p:nvSpPr>
        <p:spPr>
          <a:xfrm>
            <a:off x="5477031" y="2349739"/>
            <a:ext cx="1351317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Предлагаемое решение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CB3F13D8-E64B-4BB1-8645-FE8E865B5B0E}"/>
              </a:ext>
            </a:extLst>
          </p:cNvPr>
          <p:cNvSpPr/>
          <p:nvPr/>
        </p:nvSpPr>
        <p:spPr>
          <a:xfrm>
            <a:off x="7165251" y="2349739"/>
            <a:ext cx="1351317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Контроль улучшений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894FB91-9DBD-481A-8896-41EA22FAD510}"/>
              </a:ext>
            </a:extLst>
          </p:cNvPr>
          <p:cNvSpPr txBox="1"/>
          <p:nvPr/>
        </p:nvSpPr>
        <p:spPr>
          <a:xfrm>
            <a:off x="412370" y="2706398"/>
            <a:ext cx="1351317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800" dirty="0"/>
              <a:t>В течение рабочего дня сотрудники университета обращаются в подразделение УДК с целью получения фирменных бланков, требующих предварительной нумерации. Процесс нумерации осуществляется вручную, что обуславливает значительные затраты рабочего времени и увеличивает нагрузку на специалиста. В среднем на подготовку бланков затрачивается более одного часа.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D6DB333-149B-447A-AE79-D48F3A0DF342}"/>
              </a:ext>
            </a:extLst>
          </p:cNvPr>
          <p:cNvSpPr txBox="1"/>
          <p:nvPr/>
        </p:nvSpPr>
        <p:spPr>
          <a:xfrm>
            <a:off x="2100591" y="2644842"/>
            <a:ext cx="135131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800" dirty="0"/>
              <a:t>Временные затраты на операции:</a:t>
            </a:r>
          </a:p>
          <a:p>
            <a:pPr algn="just"/>
            <a:r>
              <a:rPr lang="ru-RU" sz="800" dirty="0"/>
              <a:t>Проставление номера вручную - 7 секунд на 1 бланк.</a:t>
            </a:r>
          </a:p>
          <a:p>
            <a:pPr algn="just"/>
            <a:r>
              <a:rPr lang="ru-RU" sz="800" dirty="0"/>
              <a:t>За смену более 900 бланков - 1.75 часа чистого времени (если без отвлечения)</a:t>
            </a:r>
          </a:p>
          <a:p>
            <a:pPr algn="just"/>
            <a:r>
              <a:rPr lang="ru-RU" sz="800" dirty="0"/>
              <a:t>Дополнительные наблюдения:</a:t>
            </a:r>
          </a:p>
          <a:p>
            <a:pPr algn="just"/>
            <a:r>
              <a:rPr lang="ru-RU" sz="800" dirty="0"/>
              <a:t>Нагрузка нерегулярная, возникает волнами.</a:t>
            </a:r>
          </a:p>
          <a:p>
            <a:pPr algn="just"/>
            <a:r>
              <a:rPr lang="ru-RU" sz="800" dirty="0"/>
              <a:t>При увеличении потока посетителей сотрудник не успевает заниматься нумерацией.</a:t>
            </a:r>
          </a:p>
          <a:p>
            <a:pPr algn="just"/>
            <a:r>
              <a:rPr lang="ru-RU" sz="800" dirty="0"/>
              <a:t>Данные:</a:t>
            </a:r>
          </a:p>
          <a:p>
            <a:pPr algn="just"/>
            <a:r>
              <a:rPr lang="ru-RU" sz="800" dirty="0"/>
              <a:t>1.5-2 часа в день уходит только на нумерацию.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A46AF3B-ED5F-4D02-9F1B-6FB131C4DE62}"/>
              </a:ext>
            </a:extLst>
          </p:cNvPr>
          <p:cNvSpPr txBox="1"/>
          <p:nvPr/>
        </p:nvSpPr>
        <p:spPr>
          <a:xfrm>
            <a:off x="3685538" y="2623164"/>
            <a:ext cx="158417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800" dirty="0"/>
              <a:t>Оборудование: отсутствие принтера с функцией авто-нумерации.</a:t>
            </a:r>
          </a:p>
          <a:p>
            <a:pPr algn="just"/>
            <a:r>
              <a:rPr lang="ru-RU" sz="800" dirty="0"/>
              <a:t>Методы: ручная нумерация без стандарта.</a:t>
            </a:r>
          </a:p>
          <a:p>
            <a:pPr algn="just"/>
            <a:r>
              <a:rPr lang="ru-RU" sz="800" dirty="0"/>
              <a:t>Материалы: неподготовленные шаблоны бланков.</a:t>
            </a:r>
          </a:p>
          <a:p>
            <a:pPr algn="just"/>
            <a:r>
              <a:rPr lang="ru-RU" sz="800" dirty="0"/>
              <a:t>Человеческий фактор: риск ошибок, утомляемость.</a:t>
            </a:r>
          </a:p>
          <a:p>
            <a:pPr algn="just"/>
            <a:r>
              <a:rPr lang="ru-RU" sz="800" dirty="0"/>
              <a:t>Окружение: очереди, ограниченное время.</a:t>
            </a:r>
          </a:p>
          <a:p>
            <a:pPr algn="just"/>
            <a:r>
              <a:rPr lang="ru-RU" sz="800" dirty="0"/>
              <a:t>Управление: отсутствует политика цифровизации процессов.</a:t>
            </a:r>
          </a:p>
          <a:p>
            <a:pPr algn="just"/>
            <a:r>
              <a:rPr lang="ru-RU" sz="800" dirty="0"/>
              <a:t>Вывод: основной корень проблемы - отсутствие автоматизации и современного программного инструмента для генерации и печати уже нумерованных бланков.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7688EF5-6214-4BDE-B695-3919E18EFFC7}"/>
              </a:ext>
            </a:extLst>
          </p:cNvPr>
          <p:cNvSpPr txBox="1"/>
          <p:nvPr/>
        </p:nvSpPr>
        <p:spPr>
          <a:xfrm>
            <a:off x="5374529" y="2628711"/>
            <a:ext cx="158417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800" dirty="0"/>
              <a:t>Разработка/внедрение шаблона фирменного бланка в Word с авто-нумерацией.</a:t>
            </a:r>
          </a:p>
          <a:p>
            <a:pPr algn="just"/>
            <a:r>
              <a:rPr lang="ru-RU" sz="800" dirty="0"/>
              <a:t>Подключение этого шаблона к принтеру.</a:t>
            </a:r>
          </a:p>
          <a:p>
            <a:pPr algn="just"/>
            <a:r>
              <a:rPr lang="ru-RU" sz="800" dirty="0"/>
              <a:t>Обучение сотрудника УДК работе с шаблоном.</a:t>
            </a:r>
          </a:p>
          <a:p>
            <a:pPr algn="just"/>
            <a:r>
              <a:rPr lang="ru-RU" sz="800" dirty="0"/>
              <a:t>Тестирование на 1 неделе пилота, затем полное внедрение.</a:t>
            </a:r>
          </a:p>
          <a:p>
            <a:pPr algn="just"/>
            <a:r>
              <a:rPr lang="ru-RU" sz="800" b="1" dirty="0"/>
              <a:t>Ожидаемые результаты</a:t>
            </a:r>
            <a:r>
              <a:rPr lang="ru-RU" sz="800" dirty="0"/>
              <a:t>:</a:t>
            </a:r>
          </a:p>
          <a:p>
            <a:pPr algn="just"/>
            <a:r>
              <a:rPr lang="ru-RU" sz="800" dirty="0"/>
              <a:t>Снижение времени подготовки на </a:t>
            </a:r>
            <a:r>
              <a:rPr lang="ru-RU" sz="800" b="1" dirty="0"/>
              <a:t>90%</a:t>
            </a:r>
            <a:r>
              <a:rPr lang="ru-RU" sz="800" dirty="0"/>
              <a:t> (~1.5 часа экономии в день).</a:t>
            </a:r>
          </a:p>
          <a:p>
            <a:pPr algn="just"/>
            <a:r>
              <a:rPr lang="ru-RU" sz="800" dirty="0"/>
              <a:t>Устранение ошибок ручного ввода.</a:t>
            </a:r>
          </a:p>
          <a:p>
            <a:pPr algn="just"/>
            <a:r>
              <a:rPr lang="ru-RU" sz="800" dirty="0"/>
              <a:t>Снижение очередей и высвобождение времени для других задач (заверение, печати и т.д.).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2938E93-4075-4965-A873-C4D5CC6F7E79}"/>
              </a:ext>
            </a:extLst>
          </p:cNvPr>
          <p:cNvSpPr txBox="1"/>
          <p:nvPr/>
        </p:nvSpPr>
        <p:spPr>
          <a:xfrm>
            <a:off x="7075041" y="2623164"/>
            <a:ext cx="144152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800" dirty="0"/>
              <a:t>Меры контроля:</a:t>
            </a:r>
          </a:p>
          <a:p>
            <a:pPr algn="just"/>
            <a:r>
              <a:rPr lang="ru-RU" sz="800" dirty="0"/>
              <a:t>Ежедневный мониторинг использования шаблона.</a:t>
            </a:r>
          </a:p>
          <a:p>
            <a:pPr algn="just"/>
            <a:r>
              <a:rPr lang="ru-RU" sz="800" dirty="0"/>
              <a:t>Контроль точности нумерации в отпечатанных бланках.</a:t>
            </a:r>
          </a:p>
          <a:p>
            <a:pPr algn="just"/>
            <a:r>
              <a:rPr lang="ru-RU" sz="800" dirty="0"/>
              <a:t>Обратная связь от сотрудника УДК в течение 1 месяца после внедрения.</a:t>
            </a:r>
          </a:p>
          <a:p>
            <a:pPr algn="just"/>
            <a:r>
              <a:rPr lang="ru-RU" sz="800" dirty="0"/>
              <a:t>Подготовка инструкции и резервной копии шаблона.</a:t>
            </a:r>
          </a:p>
        </p:txBody>
      </p:sp>
    </p:spTree>
    <p:extLst>
      <p:ext uri="{BB962C8B-B14F-4D97-AF65-F5344CB8AC3E}">
        <p14:creationId xmlns:p14="http://schemas.microsoft.com/office/powerpoint/2010/main" val="3673747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Picture 2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AFB6F7B3-AF4A-5971-CF0E-52F33CBFB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67" y="148256"/>
            <a:ext cx="55305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1F7AC8-160B-4141-8038-5FB37D47A23B}"/>
              </a:ext>
            </a:extLst>
          </p:cNvPr>
          <p:cNvSpPr txBox="1"/>
          <p:nvPr/>
        </p:nvSpPr>
        <p:spPr>
          <a:xfrm rot="16200000">
            <a:off x="-1780349" y="2248585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PT Sans" panose="020B0503020203020204" pitchFamily="34" charset="-52"/>
              </a:rPr>
              <a:t>DMAIC / Measure / TO BE /</a:t>
            </a:r>
          </a:p>
          <a:p>
            <a:r>
              <a:rPr lang="ru-RU" b="1" dirty="0">
                <a:solidFill>
                  <a:schemeClr val="bg1"/>
                </a:solidFill>
                <a:latin typeface="PT Sans" panose="020B0503020203020204" pitchFamily="34" charset="-52"/>
              </a:rPr>
              <a:t>Третий уровень </a:t>
            </a:r>
            <a:r>
              <a:rPr lang="en-US" b="1" dirty="0">
                <a:solidFill>
                  <a:schemeClr val="bg1"/>
                </a:solidFill>
                <a:latin typeface="PT Sans" panose="020B0503020203020204" pitchFamily="34" charset="-52"/>
              </a:rPr>
              <a:t>EPC</a:t>
            </a:r>
            <a:endParaRPr lang="ru-RU" b="1" dirty="0">
              <a:solidFill>
                <a:schemeClr val="bg1"/>
              </a:solidFill>
              <a:latin typeface="PT Sans" panose="020B0503020203020204" pitchFamily="34" charset="-52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E70A817-48F2-4829-A614-46B283C5CD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565795"/>
            <a:ext cx="3855026" cy="3798168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4D9FC73-AF99-44A5-AA89-B0767DD7BA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2795" y="565795"/>
            <a:ext cx="3818720" cy="4011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792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1924"/>
            <a:ext cx="9144000" cy="832664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67" y="148256"/>
            <a:ext cx="55305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27584" y="233590"/>
            <a:ext cx="7344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PT Sans" panose="020B0503020203020204" pitchFamily="34" charset="-52"/>
              </a:rPr>
              <a:t>Описание решения проблемы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7084A9-0F3A-470C-93D5-BC6F1523BD58}"/>
              </a:ext>
            </a:extLst>
          </p:cNvPr>
          <p:cNvSpPr txBox="1"/>
          <p:nvPr/>
        </p:nvSpPr>
        <p:spPr>
          <a:xfrm>
            <a:off x="126610" y="1563638"/>
            <a:ext cx="8837877" cy="2598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Для устранения временных затрат и снижения нагрузки на сотрудника УДК предлагается внедрение автоматизированного процесса нумерации фирменных бланков. В рамках решения будет разработан и внедрён цифровой шаблон бланка, в который встроена функция автоматической сквозной нумерации.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При печати каждый бланк будет автоматически получать уникальный номер без необходимости ручного ввода. Данный подход позволит полностью исключить ручную операцию, которая в текущем процессе занимает до 1.75 часов в день, и повысить производительность сотрудника. Решение легко реализуется с помощью стандартных программных средств (MS Word) и не требует значительных финансовых вложений.</a:t>
            </a:r>
          </a:p>
        </p:txBody>
      </p:sp>
    </p:spTree>
    <p:extLst>
      <p:ext uri="{BB962C8B-B14F-4D97-AF65-F5344CB8AC3E}">
        <p14:creationId xmlns:p14="http://schemas.microsoft.com/office/powerpoint/2010/main" val="2840550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1924"/>
            <a:ext cx="9144000" cy="832664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67" y="148256"/>
            <a:ext cx="55305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27584" y="233590"/>
            <a:ext cx="7344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PT Sans" panose="020B0503020203020204" pitchFamily="34" charset="-52"/>
              </a:rPr>
              <a:t>Ожидаемые эффекты от решения проблемы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7084A9-0F3A-470C-93D5-BC6F1523BD58}"/>
              </a:ext>
            </a:extLst>
          </p:cNvPr>
          <p:cNvSpPr txBox="1"/>
          <p:nvPr/>
        </p:nvSpPr>
        <p:spPr>
          <a:xfrm>
            <a:off x="166986" y="910792"/>
            <a:ext cx="8869509" cy="3249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40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Существенное сокращение времени на операцию;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140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Устранение ручной нумерации (1.75 часа в день), экономия более 38 часов в месяц, что эквивалентно почти 1/4 рабочего месяца одного сотрудника. 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40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Экономическая эффективность;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140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Прямые трудозатраты снижаются, эквивалент экономии — около 9,600 ₽ в месяц, отпадает необходимость в привлечении дополнительных сотрудников при росте объёма документов.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40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Повышение пропускной способности;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140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Увеличение количества обрабатываемых документов без увеличения нагрузки</a:t>
            </a:r>
            <a:r>
              <a:rPr lang="ru-RU" sz="1400" spc="-10" dirty="0">
                <a:latin typeface="Calibri"/>
                <a:cs typeface="Calibri"/>
              </a:rPr>
              <a:t>.</a:t>
            </a:r>
            <a:endParaRPr kumimoji="0" lang="ru-RU" sz="1400" i="0" u="none" strike="noStrike" kern="1200" cap="none" spc="-1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40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Снижение риска ошибок;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140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Автоматическая нумерация исключает дублирование или пропуск номеров.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40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Повышение удовлетворённости клиентов;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140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Сокращение очередей к сотруднику</a:t>
            </a:r>
            <a:r>
              <a:rPr lang="ru-RU" sz="1400" spc="-10" dirty="0">
                <a:latin typeface="Calibri"/>
                <a:cs typeface="Calibri"/>
              </a:rPr>
              <a:t> и у</a:t>
            </a:r>
            <a:r>
              <a:rPr kumimoji="0" lang="ru-RU" sz="1400" i="0" u="none" strike="noStrike" kern="1200" cap="none" spc="-10" normalizeH="0" baseline="0" noProof="0" dirty="0" err="1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скорение</a:t>
            </a:r>
            <a:r>
              <a:rPr kumimoji="0" lang="ru-RU" sz="140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 процесса выдачи бланков.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40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Освобождение интеллектуального ресурса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140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Сотрудник может сосредоточиться на более значимых задачах.</a:t>
            </a:r>
          </a:p>
        </p:txBody>
      </p:sp>
      <p:pic>
        <p:nvPicPr>
          <p:cNvPr id="1026" name="Picture 2" descr="Бизнес-презентация – Бесплатные иконки: бизнес">
            <a:extLst>
              <a:ext uri="{FF2B5EF4-FFF2-40B4-BE49-F238E27FC236}">
                <a16:creationId xmlns:a16="http://schemas.microsoft.com/office/drawing/2014/main" id="{103F009B-85AF-4F59-88E2-C77DA5E2E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2427734"/>
            <a:ext cx="3230488" cy="323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84218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1978</TotalTime>
  <Words>1212</Words>
  <Application>Microsoft Office PowerPoint</Application>
  <PresentationFormat>Экран (16:9)</PresentationFormat>
  <Paragraphs>207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Calibri</vt:lpstr>
      <vt:lpstr>PT Sans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Шафигуллин Марат Шарифуллович</dc:creator>
  <cp:lastModifiedBy>Крапивина Валерия</cp:lastModifiedBy>
  <cp:revision>129</cp:revision>
  <dcterms:created xsi:type="dcterms:W3CDTF">2020-07-15T10:53:07Z</dcterms:created>
  <dcterms:modified xsi:type="dcterms:W3CDTF">2025-05-04T18:06:05Z</dcterms:modified>
</cp:coreProperties>
</file>