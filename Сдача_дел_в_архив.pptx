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73" r:id="rId4"/>
    <p:sldId id="259" r:id="rId5"/>
    <p:sldId id="260" r:id="rId6"/>
    <p:sldId id="261" r:id="rId7"/>
    <p:sldId id="262" r:id="rId8"/>
    <p:sldId id="271" r:id="rId9"/>
    <p:sldId id="270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9A78"/>
    <a:srgbClr val="FD8582"/>
    <a:srgbClr val="456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3B1AA6D-BB9C-4C9E-B663-E66195E109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0C3725-B8FC-4F53-B3E3-16CF66669C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A790A-4118-4C0E-AA61-A80EA7CF2C35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60893057-3396-4B50-9EF3-F1EB137EF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4ACED0AC-FF31-4B99-9C90-99709BD91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2B4F86-EC92-40CF-8261-487C71F0A9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00D092-FEE5-4AAD-9C98-962DBE139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11B48-CC92-4FF8-98D0-2AC82C38A65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98E6-FFD9-E5C0-28DB-544F2528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A007420-4996-BE2C-923A-ADDFD06ED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E35EE0-512D-A7D9-F097-A3830FE5F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3F964A-E6FB-2E4F-8BE1-2D142417B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13303-622E-48A8-8076-D9C0B20BF10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7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13303-622E-48A8-8076-D9C0B20BF10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2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54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49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99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46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7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7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03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74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43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90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6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0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1" y="4607511"/>
            <a:ext cx="12192000" cy="2250489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78" y="3140893"/>
            <a:ext cx="9144000" cy="2387600"/>
          </a:xfrm>
        </p:spPr>
        <p:txBody>
          <a:bodyPr/>
          <a:lstStyle/>
          <a:p>
            <a:r>
              <a:rPr lang="ru-RU" dirty="0" err="1">
                <a:solidFill>
                  <a:schemeClr val="bg1"/>
                </a:solidFill>
              </a:rPr>
              <a:t>Гемба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26B723-C35F-4937-A027-A1013734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28493"/>
            <a:ext cx="9144000" cy="1655762"/>
          </a:xfrm>
        </p:spPr>
        <p:txBody>
          <a:bodyPr/>
          <a:lstStyle/>
          <a:p>
            <a:r>
              <a:rPr lang="ru-RU" b="1" dirty="0">
                <a:solidFill>
                  <a:srgbClr val="FD8582"/>
                </a:solidFill>
              </a:rPr>
              <a:t>Варина, </a:t>
            </a:r>
          </a:p>
        </p:txBody>
      </p:sp>
      <p:pic>
        <p:nvPicPr>
          <p:cNvPr id="1030" name="Picture 6" descr="Как сделать красивую презентацию, если вы не дизайнер">
            <a:extLst>
              <a:ext uri="{FF2B5EF4-FFF2-40B4-BE49-F238E27FC236}">
                <a16:creationId xmlns:a16="http://schemas.microsoft.com/office/drawing/2014/main" id="{49C0C373-1F17-42A1-BFBA-6BCF0CA13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662" y="308499"/>
            <a:ext cx="6382675" cy="415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10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D860AD-65A0-799B-9C66-065D2790B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522"/>
            <a:ext cx="12192000" cy="342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8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95A7-96D7-89EC-2E85-C0F4113A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C4C0AB-CA95-BE96-D568-D4D2CDCD7073}"/>
              </a:ext>
            </a:extLst>
          </p:cNvPr>
          <p:cNvSpPr/>
          <p:nvPr/>
        </p:nvSpPr>
        <p:spPr>
          <a:xfrm>
            <a:off x="1" y="0"/>
            <a:ext cx="12192000" cy="132950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4AD91-CEE9-98DF-45FE-E6DF8074F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02" y="217578"/>
            <a:ext cx="9144000" cy="894349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Замеры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6BCC094-598C-80B1-F237-B35C4D3F0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8482"/>
              </p:ext>
            </p:extLst>
          </p:nvPr>
        </p:nvGraphicFramePr>
        <p:xfrm>
          <a:off x="838200" y="1803602"/>
          <a:ext cx="10515600" cy="1968298"/>
        </p:xfrm>
        <a:graphic>
          <a:graphicData uri="http://schemas.openxmlformats.org/drawingml/2006/table">
            <a:tbl>
              <a:tblPr/>
              <a:tblGrid>
                <a:gridCol w="7559257">
                  <a:extLst>
                    <a:ext uri="{9D8B030D-6E8A-4147-A177-3AD203B41FA5}">
                      <a16:colId xmlns:a16="http://schemas.microsoft.com/office/drawing/2014/main" val="3971438099"/>
                    </a:ext>
                  </a:extLst>
                </a:gridCol>
                <a:gridCol w="2956343">
                  <a:extLst>
                    <a:ext uri="{9D8B030D-6E8A-4147-A177-3AD203B41FA5}">
                      <a16:colId xmlns:a16="http://schemas.microsoft.com/office/drawing/2014/main" val="2175274888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Составление таблицы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6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48375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Изучение истории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4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178368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Поиск в </a:t>
                      </a:r>
                      <a:r>
                        <a:rPr lang="ru-RU" sz="1800" b="1" dirty="0" err="1">
                          <a:effectLst/>
                        </a:rPr>
                        <a:t>электроннных</a:t>
                      </a:r>
                      <a:r>
                        <a:rPr lang="ru-RU" sz="1800" b="1" dirty="0">
                          <a:effectLst/>
                        </a:rPr>
                        <a:t> приказах и документах от института 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35,55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298031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Поиск в бумажных архивах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26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05631"/>
                  </a:ext>
                </a:extLst>
              </a:tr>
              <a:tr h="38178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Внесение данных в таблицу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3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81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4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1" y="0"/>
            <a:ext cx="12192000" cy="132950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02" y="217578"/>
            <a:ext cx="9144000" cy="8943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 Value Stream Map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806354-1486-422B-8F15-2693C29D247B}"/>
              </a:ext>
            </a:extLst>
          </p:cNvPr>
          <p:cNvSpPr/>
          <p:nvPr/>
        </p:nvSpPr>
        <p:spPr>
          <a:xfrm>
            <a:off x="0" y="2949840"/>
            <a:ext cx="1004561" cy="8540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6 мин</a:t>
            </a:r>
            <a:endParaRPr lang="ru-RU" sz="16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EA1743-8B00-49DF-9FF0-2D547FF4B657}"/>
              </a:ext>
            </a:extLst>
          </p:cNvPr>
          <p:cNvSpPr/>
          <p:nvPr/>
        </p:nvSpPr>
        <p:spPr>
          <a:xfrm>
            <a:off x="2749401" y="2949840"/>
            <a:ext cx="1004553" cy="873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4мин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076DC7B-DD4E-4D21-8A54-36139BC084E3}"/>
              </a:ext>
            </a:extLst>
          </p:cNvPr>
          <p:cNvCxnSpPr>
            <a:cxnSpLocks/>
          </p:cNvCxnSpPr>
          <p:nvPr/>
        </p:nvCxnSpPr>
        <p:spPr>
          <a:xfrm>
            <a:off x="-20016" y="3803853"/>
            <a:ext cx="1564438" cy="0"/>
          </a:xfrm>
          <a:prstGeom prst="line">
            <a:avLst/>
          </a:prstGeom>
          <a:ln w="57150">
            <a:solidFill>
              <a:srgbClr val="1D9A78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BDBF4D3-64AA-4A50-8E5D-EAD3210C4FAA}"/>
              </a:ext>
            </a:extLst>
          </p:cNvPr>
          <p:cNvSpPr/>
          <p:nvPr/>
        </p:nvSpPr>
        <p:spPr>
          <a:xfrm>
            <a:off x="-220310" y="2179978"/>
            <a:ext cx="1445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/>
              <a:t>Создание таблицы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4BA839E-2A21-4ECD-AEE1-83DB3638011C}"/>
              </a:ext>
            </a:extLst>
          </p:cNvPr>
          <p:cNvCxnSpPr>
            <a:cxnSpLocks/>
          </p:cNvCxnSpPr>
          <p:nvPr/>
        </p:nvCxnSpPr>
        <p:spPr>
          <a:xfrm>
            <a:off x="1544422" y="3803853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DC2DE80-5203-41D8-B82F-3C81EF0332F3}"/>
              </a:ext>
            </a:extLst>
          </p:cNvPr>
          <p:cNvCxnSpPr>
            <a:cxnSpLocks/>
          </p:cNvCxnSpPr>
          <p:nvPr/>
        </p:nvCxnSpPr>
        <p:spPr>
          <a:xfrm>
            <a:off x="1544422" y="4538119"/>
            <a:ext cx="61903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E13B0A2-7F0D-401E-B487-786BFAF26665}"/>
              </a:ext>
            </a:extLst>
          </p:cNvPr>
          <p:cNvCxnSpPr>
            <a:cxnSpLocks/>
          </p:cNvCxnSpPr>
          <p:nvPr/>
        </p:nvCxnSpPr>
        <p:spPr>
          <a:xfrm>
            <a:off x="2141750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859ABD2-1AB3-40BF-A33A-D4FC16B444D5}"/>
              </a:ext>
            </a:extLst>
          </p:cNvPr>
          <p:cNvSpPr/>
          <p:nvPr/>
        </p:nvSpPr>
        <p:spPr>
          <a:xfrm>
            <a:off x="1611741" y="3967034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49423FCF-A254-4481-B91F-D647E3DECA5F}"/>
              </a:ext>
            </a:extLst>
          </p:cNvPr>
          <p:cNvCxnSpPr>
            <a:cxnSpLocks/>
          </p:cNvCxnSpPr>
          <p:nvPr/>
        </p:nvCxnSpPr>
        <p:spPr>
          <a:xfrm flipH="1">
            <a:off x="2141750" y="3823420"/>
            <a:ext cx="609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F2B8CAD4-B438-437F-94D8-D21720F66864}"/>
              </a:ext>
            </a:extLst>
          </p:cNvPr>
          <p:cNvCxnSpPr>
            <a:cxnSpLocks/>
          </p:cNvCxnSpPr>
          <p:nvPr/>
        </p:nvCxnSpPr>
        <p:spPr>
          <a:xfrm flipH="1">
            <a:off x="3753954" y="3823420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3FB3026-697C-4BB1-B7A5-EF9A8E596A77}"/>
              </a:ext>
            </a:extLst>
          </p:cNvPr>
          <p:cNvCxnSpPr>
            <a:cxnSpLocks/>
          </p:cNvCxnSpPr>
          <p:nvPr/>
        </p:nvCxnSpPr>
        <p:spPr>
          <a:xfrm>
            <a:off x="4361604" y="3812370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D0063EE5-A768-4020-AB48-BCAF1206B1CC}"/>
              </a:ext>
            </a:extLst>
          </p:cNvPr>
          <p:cNvCxnSpPr>
            <a:cxnSpLocks/>
          </p:cNvCxnSpPr>
          <p:nvPr/>
        </p:nvCxnSpPr>
        <p:spPr>
          <a:xfrm>
            <a:off x="4361604" y="4507777"/>
            <a:ext cx="67541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2C8E308E-2A15-4DBB-B40F-885F77FA0B11}"/>
              </a:ext>
            </a:extLst>
          </p:cNvPr>
          <p:cNvCxnSpPr>
            <a:cxnSpLocks/>
          </p:cNvCxnSpPr>
          <p:nvPr/>
        </p:nvCxnSpPr>
        <p:spPr>
          <a:xfrm>
            <a:off x="7783929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358D60F-8D29-46C8-8BB6-EAEEE3421F37}"/>
              </a:ext>
            </a:extLst>
          </p:cNvPr>
          <p:cNvCxnSpPr>
            <a:cxnSpLocks/>
          </p:cNvCxnSpPr>
          <p:nvPr/>
        </p:nvCxnSpPr>
        <p:spPr>
          <a:xfrm>
            <a:off x="7246387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0DDD0A01-1CB4-4F94-8225-D88A38A9C6FD}"/>
              </a:ext>
            </a:extLst>
          </p:cNvPr>
          <p:cNvCxnSpPr>
            <a:cxnSpLocks/>
          </p:cNvCxnSpPr>
          <p:nvPr/>
        </p:nvCxnSpPr>
        <p:spPr>
          <a:xfrm>
            <a:off x="5037014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62B691DF-C44E-4C98-B27C-F70D344391DF}"/>
              </a:ext>
            </a:extLst>
          </p:cNvPr>
          <p:cNvSpPr/>
          <p:nvPr/>
        </p:nvSpPr>
        <p:spPr>
          <a:xfrm>
            <a:off x="5643052" y="2949840"/>
            <a:ext cx="1004539" cy="8817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17,55 минут </a:t>
            </a:r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4BE5D391-ACDF-48D0-A59A-B4E3BAECFCFD}"/>
              </a:ext>
            </a:extLst>
          </p:cNvPr>
          <p:cNvCxnSpPr>
            <a:cxnSpLocks/>
          </p:cNvCxnSpPr>
          <p:nvPr/>
        </p:nvCxnSpPr>
        <p:spPr>
          <a:xfrm flipH="1">
            <a:off x="5037014" y="3823420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4CE5C9C-1594-4B5E-9030-9F44962936EA}"/>
              </a:ext>
            </a:extLst>
          </p:cNvPr>
          <p:cNvSpPr/>
          <p:nvPr/>
        </p:nvSpPr>
        <p:spPr>
          <a:xfrm>
            <a:off x="4470329" y="3967034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E7099FB9-062F-436A-87E5-7D6F70E2E305}"/>
              </a:ext>
            </a:extLst>
          </p:cNvPr>
          <p:cNvSpPr/>
          <p:nvPr/>
        </p:nvSpPr>
        <p:spPr>
          <a:xfrm>
            <a:off x="8278568" y="2984070"/>
            <a:ext cx="1004553" cy="873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18 минут</a:t>
            </a: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0B4109EB-5296-4CB0-91DD-44C60F43C5FC}"/>
              </a:ext>
            </a:extLst>
          </p:cNvPr>
          <p:cNvCxnSpPr>
            <a:cxnSpLocks/>
          </p:cNvCxnSpPr>
          <p:nvPr/>
        </p:nvCxnSpPr>
        <p:spPr>
          <a:xfrm flipH="1">
            <a:off x="9213012" y="3863176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272386DE-7199-4513-8D08-9020FA1FA930}"/>
              </a:ext>
            </a:extLst>
          </p:cNvPr>
          <p:cNvCxnSpPr>
            <a:cxnSpLocks/>
          </p:cNvCxnSpPr>
          <p:nvPr/>
        </p:nvCxnSpPr>
        <p:spPr>
          <a:xfrm>
            <a:off x="9820662" y="3852126"/>
            <a:ext cx="0" cy="7257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F753BD63-AAAB-4804-A563-A127F608E0C8}"/>
              </a:ext>
            </a:extLst>
          </p:cNvPr>
          <p:cNvCxnSpPr>
            <a:cxnSpLocks/>
          </p:cNvCxnSpPr>
          <p:nvPr/>
        </p:nvCxnSpPr>
        <p:spPr>
          <a:xfrm>
            <a:off x="9820662" y="4547533"/>
            <a:ext cx="6754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D561A867-0377-49AE-A86B-48E0FEBC90C0}"/>
              </a:ext>
            </a:extLst>
          </p:cNvPr>
          <p:cNvCxnSpPr>
            <a:cxnSpLocks/>
          </p:cNvCxnSpPr>
          <p:nvPr/>
        </p:nvCxnSpPr>
        <p:spPr>
          <a:xfrm>
            <a:off x="10496072" y="3843608"/>
            <a:ext cx="0" cy="7257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3F5DB17-F8AB-4B2F-911D-BC5BF8B2BB00}"/>
              </a:ext>
            </a:extLst>
          </p:cNvPr>
          <p:cNvSpPr/>
          <p:nvPr/>
        </p:nvSpPr>
        <p:spPr>
          <a:xfrm>
            <a:off x="11076088" y="2988141"/>
            <a:ext cx="1004539" cy="8817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3минуты </a:t>
            </a:r>
          </a:p>
        </p:txBody>
      </p: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807B8CE7-A90A-4E07-A647-C5935446E681}"/>
              </a:ext>
            </a:extLst>
          </p:cNvPr>
          <p:cNvCxnSpPr>
            <a:cxnSpLocks/>
          </p:cNvCxnSpPr>
          <p:nvPr/>
        </p:nvCxnSpPr>
        <p:spPr>
          <a:xfrm flipH="1">
            <a:off x="10496072" y="3863176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53573C2-AD23-4107-9093-3A467515ABC3}"/>
              </a:ext>
            </a:extLst>
          </p:cNvPr>
          <p:cNvSpPr/>
          <p:nvPr/>
        </p:nvSpPr>
        <p:spPr>
          <a:xfrm>
            <a:off x="9717763" y="3869859"/>
            <a:ext cx="883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 26 минут</a:t>
            </a:r>
            <a:r>
              <a:rPr lang="ru-RU" sz="1600" dirty="0"/>
              <a:t>)</a:t>
            </a:r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D38D383E-C181-4250-AEAE-EA400DC461A1}"/>
              </a:ext>
            </a:extLst>
          </p:cNvPr>
          <p:cNvCxnSpPr>
            <a:cxnSpLocks/>
          </p:cNvCxnSpPr>
          <p:nvPr/>
        </p:nvCxnSpPr>
        <p:spPr>
          <a:xfrm flipH="1">
            <a:off x="6638737" y="3831819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D77BFFA6-93BC-4CF3-B3CA-2D8F0F61169D}"/>
              </a:ext>
            </a:extLst>
          </p:cNvPr>
          <p:cNvCxnSpPr>
            <a:cxnSpLocks/>
          </p:cNvCxnSpPr>
          <p:nvPr/>
        </p:nvCxnSpPr>
        <p:spPr>
          <a:xfrm>
            <a:off x="7246387" y="4557307"/>
            <a:ext cx="53754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57E54B87-0178-4E99-8E19-CD806993ECF0}"/>
              </a:ext>
            </a:extLst>
          </p:cNvPr>
          <p:cNvCxnSpPr>
            <a:cxnSpLocks/>
          </p:cNvCxnSpPr>
          <p:nvPr/>
        </p:nvCxnSpPr>
        <p:spPr>
          <a:xfrm flipH="1">
            <a:off x="7783929" y="3852126"/>
            <a:ext cx="552876" cy="26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80F43A1D-6CE0-427E-8AAA-EA7DCD14490B}"/>
              </a:ext>
            </a:extLst>
          </p:cNvPr>
          <p:cNvSpPr/>
          <p:nvPr/>
        </p:nvSpPr>
        <p:spPr>
          <a:xfrm>
            <a:off x="7253920" y="4006790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4A806313-8261-40DA-8F20-794F48410A14}"/>
              </a:ext>
            </a:extLst>
          </p:cNvPr>
          <p:cNvSpPr/>
          <p:nvPr/>
        </p:nvSpPr>
        <p:spPr>
          <a:xfrm>
            <a:off x="4974065" y="2386272"/>
            <a:ext cx="184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BD90E40D-7624-4AFF-83D6-620D48BAD74A}"/>
              </a:ext>
            </a:extLst>
          </p:cNvPr>
          <p:cNvSpPr/>
          <p:nvPr/>
        </p:nvSpPr>
        <p:spPr>
          <a:xfrm>
            <a:off x="2039974" y="2362928"/>
            <a:ext cx="19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Изучение истории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0B7728BC-7A7A-41FE-AAFD-C1A8FC39DF38}"/>
              </a:ext>
            </a:extLst>
          </p:cNvPr>
          <p:cNvSpPr/>
          <p:nvPr/>
        </p:nvSpPr>
        <p:spPr>
          <a:xfrm>
            <a:off x="7960547" y="1965016"/>
            <a:ext cx="27011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Поиск в приказах которые получили от института </a:t>
            </a: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0B456980-BBF3-458A-B047-59A622F41D1E}"/>
              </a:ext>
            </a:extLst>
          </p:cNvPr>
          <p:cNvSpPr/>
          <p:nvPr/>
        </p:nvSpPr>
        <p:spPr>
          <a:xfrm>
            <a:off x="11076088" y="1995312"/>
            <a:ext cx="16715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Внесение данных в таблицу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D26F25E9-F44B-4BFB-A172-4706C7A1FBF9}"/>
              </a:ext>
            </a:extLst>
          </p:cNvPr>
          <p:cNvSpPr/>
          <p:nvPr/>
        </p:nvSpPr>
        <p:spPr>
          <a:xfrm>
            <a:off x="8442811" y="4738983"/>
            <a:ext cx="2780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Поиск в бумажном архиве</a:t>
            </a: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93E3A3BA-CF4B-40B3-A3F8-78AB4FA0C066}"/>
              </a:ext>
            </a:extLst>
          </p:cNvPr>
          <p:cNvSpPr/>
          <p:nvPr/>
        </p:nvSpPr>
        <p:spPr>
          <a:xfrm>
            <a:off x="2318993" y="5802186"/>
            <a:ext cx="2300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E2E2E5"/>
                </a:solidFill>
                <a:latin typeface="Google Sans Text"/>
              </a:rPr>
              <a:t> </a:t>
            </a:r>
            <a:r>
              <a:rPr lang="ru-RU" b="1" dirty="0">
                <a:latin typeface="Google Sans Text"/>
              </a:rPr>
              <a:t>74, 55 мин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7DD8F-6B8B-803E-DFE4-626EADDDBA92}"/>
              </a:ext>
            </a:extLst>
          </p:cNvPr>
          <p:cNvSpPr txBox="1"/>
          <p:nvPr/>
        </p:nvSpPr>
        <p:spPr>
          <a:xfrm>
            <a:off x="4504090" y="2558434"/>
            <a:ext cx="318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Поиск в электронных приказах</a:t>
            </a:r>
          </a:p>
        </p:txBody>
      </p:sp>
    </p:spTree>
    <p:extLst>
      <p:ext uri="{BB962C8B-B14F-4D97-AF65-F5344CB8AC3E}">
        <p14:creationId xmlns:p14="http://schemas.microsoft.com/office/powerpoint/2010/main" val="12152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0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673"/>
            <a:ext cx="9144000" cy="8810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DMAIC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35D4BB-929A-4775-B406-7F3EBD2696E1}"/>
              </a:ext>
            </a:extLst>
          </p:cNvPr>
          <p:cNvSpPr/>
          <p:nvPr/>
        </p:nvSpPr>
        <p:spPr>
          <a:xfrm>
            <a:off x="322218" y="1576250"/>
            <a:ext cx="34834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Define</a:t>
            </a:r>
            <a:r>
              <a:rPr lang="ru-RU" b="1" dirty="0"/>
              <a:t> (Определение)</a:t>
            </a:r>
            <a:endParaRPr lang="en-US" b="1" dirty="0"/>
          </a:p>
          <a:p>
            <a:endParaRPr lang="ru-RU" dirty="0"/>
          </a:p>
          <a:p>
            <a:r>
              <a:rPr lang="ru-RU" b="1" dirty="0"/>
              <a:t>Проблема: </a:t>
            </a:r>
            <a:r>
              <a:rPr lang="ru-RU" dirty="0"/>
              <a:t>Неэффективный поиск информации о реорганизации кафедр из-за отсутствия нужных приказов, расхождения данных</a:t>
            </a:r>
          </a:p>
          <a:p>
            <a:r>
              <a:rPr lang="ru-RU" b="1" dirty="0"/>
              <a:t>Цель: </a:t>
            </a:r>
            <a:r>
              <a:rPr lang="ru-RU" dirty="0"/>
              <a:t>Сократить время поиска информации о структурных изменениях институтов</a:t>
            </a:r>
          </a:p>
        </p:txBody>
      </p:sp>
      <p:pic>
        <p:nvPicPr>
          <p:cNvPr id="2052" name="Picture 4" descr="Навыки презентации | CBSD">
            <a:extLst>
              <a:ext uri="{FF2B5EF4-FFF2-40B4-BE49-F238E27FC236}">
                <a16:creationId xmlns:a16="http://schemas.microsoft.com/office/drawing/2014/main" id="{08FF3F7F-43AB-46AE-AB22-CF3759FBE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393" y="2307772"/>
            <a:ext cx="5918100" cy="362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CBF16D-9A9B-4029-BC86-FDA7B17D4B9B}"/>
              </a:ext>
            </a:extLst>
          </p:cNvPr>
          <p:cNvSpPr/>
          <p:nvPr/>
        </p:nvSpPr>
        <p:spPr>
          <a:xfrm>
            <a:off x="7550330" y="1576250"/>
            <a:ext cx="424978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latin typeface="Google Sans Text"/>
              </a:rPr>
              <a:t>Measure</a:t>
            </a:r>
            <a:r>
              <a:rPr lang="en-US" b="1" dirty="0">
                <a:latin typeface="Google Sans Text"/>
              </a:rPr>
              <a:t>(</a:t>
            </a:r>
            <a:r>
              <a:rPr lang="ru-RU" b="1" dirty="0">
                <a:latin typeface="Google Sans Text"/>
              </a:rPr>
              <a:t>Измерение):</a:t>
            </a:r>
            <a:endParaRPr lang="en-US" b="1" dirty="0">
              <a:latin typeface="Google Sans Text"/>
            </a:endParaRPr>
          </a:p>
          <a:p>
            <a:endParaRPr lang="ru-RU" dirty="0">
              <a:latin typeface="Google Sans Text"/>
            </a:endParaRPr>
          </a:p>
          <a:p>
            <a:pPr>
              <a:buNone/>
            </a:pPr>
            <a:r>
              <a:rPr lang="ru-RU" b="1" dirty="0"/>
              <a:t>Текущее состояние</a:t>
            </a:r>
          </a:p>
          <a:p>
            <a:r>
              <a:rPr lang="ru-RU" b="1" dirty="0"/>
              <a:t>75 минут</a:t>
            </a:r>
          </a:p>
          <a:p>
            <a:r>
              <a:rPr lang="ru-RU" b="1" dirty="0"/>
              <a:t>Основная проблема Отсутствие нужных документов в электронном виде, </a:t>
            </a:r>
            <a:r>
              <a:rPr lang="ru-RU" b="1" dirty="0" err="1"/>
              <a:t>несоответсивие</a:t>
            </a:r>
            <a:r>
              <a:rPr lang="ru-RU" b="1" dirty="0"/>
              <a:t> данных в нужном источник, необходимость ручного поиска в архиве</a:t>
            </a:r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ru-RU" b="1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13264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0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9"/>
            <a:ext cx="9144000" cy="881017"/>
          </a:xfrm>
        </p:spPr>
        <p:txBody>
          <a:bodyPr>
            <a:norm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Диаграмма </a:t>
            </a:r>
            <a:r>
              <a:rPr lang="ru-RU" sz="4400" b="1" dirty="0" err="1">
                <a:solidFill>
                  <a:schemeClr val="bg1"/>
                </a:solidFill>
              </a:rPr>
              <a:t>Ишикавы</a:t>
            </a:r>
            <a:r>
              <a:rPr lang="ru-RU" sz="4400" b="1" dirty="0">
                <a:solidFill>
                  <a:schemeClr val="bg1"/>
                </a:solidFill>
              </a:rPr>
              <a:t> </a:t>
            </a:r>
            <a:endParaRPr lang="ru-RU" sz="4400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40F179-F529-2F72-AE1E-81625DFF7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296"/>
            <a:ext cx="12192000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0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Искусство создания презентации - МГПУ">
            <a:extLst>
              <a:ext uri="{FF2B5EF4-FFF2-40B4-BE49-F238E27FC236}">
                <a16:creationId xmlns:a16="http://schemas.microsoft.com/office/drawing/2014/main" id="{942C558C-261D-486E-A1CD-F55097C0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154" y="1159939"/>
            <a:ext cx="59806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9"/>
            <a:ext cx="9144000" cy="88101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Improve | TO BE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78E26B-EA4F-4FD0-9F3B-3D3408D5B0CE}"/>
              </a:ext>
            </a:extLst>
          </p:cNvPr>
          <p:cNvSpPr/>
          <p:nvPr/>
        </p:nvSpPr>
        <p:spPr>
          <a:xfrm>
            <a:off x="0" y="1894572"/>
            <a:ext cx="46590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Создать единую электронную базу приказов</a:t>
            </a:r>
          </a:p>
          <a:p>
            <a:pPr>
              <a:buFont typeface="+mj-lt"/>
              <a:buAutoNum type="arabicPeriod"/>
            </a:pPr>
            <a:r>
              <a:rPr lang="ru-RU" dirty="0"/>
              <a:t>Оцифровать бумажные архивы</a:t>
            </a:r>
          </a:p>
          <a:p>
            <a:pPr>
              <a:buFont typeface="+mj-lt"/>
              <a:buAutoNum type="arabicPeriod"/>
            </a:pPr>
            <a:r>
              <a:rPr lang="ru-RU" dirty="0"/>
              <a:t>Внести чек-лист проверки при внесении изменений в структуру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Провести тренинг для работников кафедр институтов о том как заполнять документы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477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364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Оценка предполагаемого экономического эффекта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F6BD430-3945-4942-871D-44BF94672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617343"/>
              </p:ext>
            </p:extLst>
          </p:nvPr>
        </p:nvGraphicFramePr>
        <p:xfrm>
          <a:off x="343948" y="1400961"/>
          <a:ext cx="11610366" cy="4957894"/>
        </p:xfrm>
        <a:graphic>
          <a:graphicData uri="http://schemas.openxmlformats.org/drawingml/2006/table">
            <a:tbl>
              <a:tblPr/>
              <a:tblGrid>
                <a:gridCol w="1935061">
                  <a:extLst>
                    <a:ext uri="{9D8B030D-6E8A-4147-A177-3AD203B41FA5}">
                      <a16:colId xmlns:a16="http://schemas.microsoft.com/office/drawing/2014/main" val="260442239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1382035803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70109271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419765365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2486033169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07720661"/>
                    </a:ext>
                  </a:extLst>
                </a:gridCol>
              </a:tblGrid>
              <a:tr h="361253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404040"/>
                          </a:solidFill>
                          <a:effectLst/>
                        </a:rPr>
                        <a:t>Показатель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404040"/>
                          </a:solidFill>
                          <a:effectLst/>
                        </a:rPr>
                        <a:t>Ед. изм.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404040"/>
                          </a:solidFill>
                          <a:effectLst/>
                        </a:rPr>
                        <a:t>До улучшений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404040"/>
                          </a:solidFill>
                          <a:effectLst/>
                        </a:rPr>
                        <a:t>После улучшений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404040"/>
                          </a:solidFill>
                          <a:effectLst/>
                        </a:rPr>
                        <a:t>Экономия/Улучшение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404040"/>
                          </a:solidFill>
                          <a:effectLst/>
                        </a:rPr>
                        <a:t>Результат (за период)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487033"/>
                  </a:ext>
                </a:extLst>
              </a:tr>
              <a:tr h="660222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Время поиска в электронной базе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мин/запрос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13 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61% сокращение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0357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Время проверки данных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мин/запрос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15 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75% сокращение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572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Работа с бумажными архивами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мин/запрос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40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40 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100% сокращение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2644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Общее время на 1 запрос</a:t>
                      </a:r>
                      <a:endParaRPr lang="ru-RU" sz="1100">
                        <a:effectLst/>
                      </a:endParaRP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75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7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68 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90% сокращение</a:t>
                      </a:r>
                      <a:endParaRPr lang="ru-RU" sz="110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2852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Стоимость минуты работы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руб/мин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4.73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4.73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-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(Расчет: 50 000/(176*60))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921917"/>
                  </a:ext>
                </a:extLst>
              </a:tr>
              <a:tr h="361253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Экономия на 1 запрос</a:t>
                      </a:r>
                      <a:endParaRPr lang="ru-RU" sz="1100">
                        <a:effectLst/>
                      </a:endParaRP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руб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-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-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321.64 руб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68 мин * 4.73 руб/мин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3887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Количество проблемных запросов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запросов/мес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6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6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-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-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1658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Ежемесячная экономия</a:t>
                      </a:r>
                      <a:endParaRPr lang="ru-RU" sz="1100">
                        <a:effectLst/>
                      </a:endParaRP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руб/мес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2 130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199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1 931 руб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321.64 * 6 запросов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6136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1100" b="1">
                          <a:effectLst/>
                        </a:rPr>
                        <a:t>Годовая экономия</a:t>
                      </a:r>
                      <a:endParaRPr lang="ru-RU" sz="1100">
                        <a:effectLst/>
                      </a:endParaRP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руб/год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25 560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2 388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23 172 руб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1 931 * 12 </a:t>
                      </a:r>
                      <a:r>
                        <a:rPr lang="ru-RU" sz="1100" dirty="0" err="1">
                          <a:effectLst/>
                        </a:rPr>
                        <a:t>мес</a:t>
                      </a:r>
                      <a:endParaRPr lang="ru-RU" sz="1100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7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47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107349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Расчет времени такта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251AF3-33C2-4B26-8D1B-AB29E48B316D}"/>
              </a:ext>
            </a:extLst>
          </p:cNvPr>
          <p:cNvSpPr/>
          <p:nvPr/>
        </p:nvSpPr>
        <p:spPr>
          <a:xfrm>
            <a:off x="447412" y="1356000"/>
            <a:ext cx="39064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ourier New" panose="02070309020205020404" pitchFamily="49" charset="0"/>
              </a:rPr>
              <a:t>Отдел работает с 9:00 до 18:00. Время работы сотрудника: 9 часов. У него 1 час обеденного перерыва и, предположим, два 15-минутных перерыва. В рабочее время сотрудник выполняет различные задачи. Доступное время смены за вычетом стандартных перерывов составляет: 9 часов - 1 час - 0.5 часа = 7.5 часов или 27 000 секунд. </a:t>
            </a:r>
            <a:endParaRPr lang="ru-RU" dirty="0"/>
          </a:p>
        </p:txBody>
      </p:sp>
      <p:pic>
        <p:nvPicPr>
          <p:cNvPr id="1028" name="Picture 4" descr="презентация PNG рисунок, картинки и пнг прозрачный для бесплатной загрузки  | Pngtree">
            <a:extLst>
              <a:ext uri="{FF2B5EF4-FFF2-40B4-BE49-F238E27FC236}">
                <a16:creationId xmlns:a16="http://schemas.microsoft.com/office/drawing/2014/main" id="{35064661-A642-4254-9E8B-2B0E037F5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174" y="1356000"/>
            <a:ext cx="2362201" cy="236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D6D5E29-577A-74AB-F526-394CCA2F6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5" y="4517115"/>
            <a:ext cx="7627583" cy="19697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Текущая ситуация (по данным хронометража):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Общее время на 1 год: 74.55 мин (~1 час 15 мин)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Основные проблемы: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26 мин (35%) - ручной поиск в бумажном архиве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25 мин (33%) - поиск на сайте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12 мин (16%) - дублирование поиска 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бумага+электрон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6 мин (8%) - простои/координация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5.55 мин (7%) - прочие операции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Расчет времени такта для 10 лет (2014-2024):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Доступное время: 5 дней × 7.5 ч = 37.5 ч = 2,250 мин Требуемая производительность: 10 лет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Takt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Time = 2,250 мин / 10 = 225 мин/год (3.75 ч/год)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08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364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Паспорт проекта (</a:t>
            </a:r>
            <a:r>
              <a:rPr lang="ru-RU" sz="3600" b="1" dirty="0" err="1">
                <a:solidFill>
                  <a:schemeClr val="bg1"/>
                </a:solidFill>
              </a:rPr>
              <a:t>Резолююция</a:t>
            </a:r>
            <a:r>
              <a:rPr lang="ru-RU" sz="3600" b="1" dirty="0">
                <a:solidFill>
                  <a:schemeClr val="bg1"/>
                </a:solidFill>
              </a:rPr>
              <a:t>)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75783A5-4F95-4C27-99D2-0EF77AAA5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69315"/>
              </p:ext>
            </p:extLst>
          </p:nvPr>
        </p:nvGraphicFramePr>
        <p:xfrm>
          <a:off x="250970" y="1471747"/>
          <a:ext cx="11451672" cy="5282513"/>
        </p:xfrm>
        <a:graphic>
          <a:graphicData uri="http://schemas.openxmlformats.org/drawingml/2006/table">
            <a:tbl>
              <a:tblPr/>
              <a:tblGrid>
                <a:gridCol w="1908612">
                  <a:extLst>
                    <a:ext uri="{9D8B030D-6E8A-4147-A177-3AD203B41FA5}">
                      <a16:colId xmlns:a16="http://schemas.microsoft.com/office/drawing/2014/main" val="322945137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6014053"/>
                    </a:ext>
                  </a:extLst>
                </a:gridCol>
                <a:gridCol w="1990861">
                  <a:extLst>
                    <a:ext uri="{9D8B030D-6E8A-4147-A177-3AD203B41FA5}">
                      <a16:colId xmlns:a16="http://schemas.microsoft.com/office/drawing/2014/main" val="4258419958"/>
                    </a:ext>
                  </a:extLst>
                </a:gridCol>
                <a:gridCol w="1826363">
                  <a:extLst>
                    <a:ext uri="{9D8B030D-6E8A-4147-A177-3AD203B41FA5}">
                      <a16:colId xmlns:a16="http://schemas.microsoft.com/office/drawing/2014/main" val="1334701864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3744917779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996713636"/>
                    </a:ext>
                  </a:extLst>
                </a:gridCol>
              </a:tblGrid>
              <a:tr h="763853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Начало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Окончание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Руководитель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Команда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Бюджет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Google Sans Text"/>
                        </a:rPr>
                        <a:t>Цель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87422"/>
                  </a:ext>
                </a:extLst>
              </a:tr>
              <a:tr h="4240701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24.06.2025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24.09.2025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Галиуллина Гульнара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Вагизовна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br>
                        <a:rPr lang="ru-RU" dirty="0"/>
                      </a:b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ведущий специалист отдела по работе с архивными документами Управления документооборота и контроля</a:t>
                      </a:r>
                      <a:endParaRPr lang="ru-RU" b="0" dirty="0">
                        <a:effectLst/>
                        <a:latin typeface="Google Sans Tex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Архивариусы отдела</a:t>
                      </a:r>
                      <a:br>
                        <a:rPr lang="ru-RU" dirty="0"/>
                      </a:b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Специалист по регламентам УДД</a:t>
                      </a:r>
                      <a:endParaRPr lang="ru-RU" b="0" dirty="0">
                        <a:effectLst/>
                        <a:latin typeface="Google Sans Tex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Основной: в рамках ФОТ Дополнительный:</a:t>
                      </a:r>
                      <a:br>
                        <a:rPr lang="ru-RU" dirty="0"/>
                      </a:b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Оцифровка архивных приказов (~15 тыс. руб.)</a:t>
                      </a:r>
                      <a:br>
                        <a:rPr lang="ru-RU" dirty="0"/>
                      </a:b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Разработка шаблонов и скриптов (~5 тыс. руб.)</a:t>
                      </a:r>
                      <a:endParaRPr lang="ru-RU" b="0" dirty="0">
                        <a:effectLst/>
                        <a:latin typeface="Google Sans Tex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Сократить время формирования сводной таблицы изменений оргструктуры на 80% (с 75 до 15 мин/год) за счет:</a:t>
                      </a:r>
                    </a:p>
                    <a:p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Создания единой электронной базы приказов о реорганизации (2014–2024 гг.).</a:t>
                      </a:r>
                    </a:p>
                    <a:p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Автоматизации поиска и проверки данных (шаблоны Excel, интеграция с архивом).</a:t>
                      </a:r>
                    </a:p>
                    <a:p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Стандартизации процесса передачи дел в архив.</a:t>
                      </a:r>
                    </a:p>
                    <a:p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3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473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Внедрение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F411AE1-FD86-4989-9DCD-F1DA978A9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065461"/>
              </p:ext>
            </p:extLst>
          </p:nvPr>
        </p:nvGraphicFramePr>
        <p:xfrm>
          <a:off x="0" y="1297575"/>
          <a:ext cx="12192000" cy="5436040"/>
        </p:xfrm>
        <a:graphic>
          <a:graphicData uri="http://schemas.openxmlformats.org/drawingml/2006/table">
            <a:tbl>
              <a:tblPr/>
              <a:tblGrid>
                <a:gridCol w="1568741">
                  <a:extLst>
                    <a:ext uri="{9D8B030D-6E8A-4147-A177-3AD203B41FA5}">
                      <a16:colId xmlns:a16="http://schemas.microsoft.com/office/drawing/2014/main" val="3597525703"/>
                    </a:ext>
                  </a:extLst>
                </a:gridCol>
                <a:gridCol w="3308059">
                  <a:extLst>
                    <a:ext uri="{9D8B030D-6E8A-4147-A177-3AD203B41FA5}">
                      <a16:colId xmlns:a16="http://schemas.microsoft.com/office/drawing/2014/main" val="333872334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5787923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406914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9430689"/>
                    </a:ext>
                  </a:extLst>
                </a:gridCol>
              </a:tblGrid>
              <a:tr h="351744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404040"/>
                          </a:solidFill>
                          <a:effectLst/>
                        </a:rPr>
                        <a:t>№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404040"/>
                          </a:solidFill>
                          <a:effectLst/>
                        </a:rPr>
                        <a:t>Мероприятие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404040"/>
                          </a:solidFill>
                          <a:effectLst/>
                        </a:rPr>
                        <a:t>Ответственные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404040"/>
                          </a:solidFill>
                          <a:effectLst/>
                        </a:rPr>
                        <a:t>Дата начала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404040"/>
                          </a:solidFill>
                          <a:effectLst/>
                        </a:rPr>
                        <a:t>Комментарий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12267"/>
                  </a:ext>
                </a:extLst>
              </a:tr>
              <a:tr h="73546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Финализация предложений по улучшению процесса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Рабочая группа (Галиуллина Г.В., архивариусы, IT-специалист)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24.06.2025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Утверждение формата электронной базы и шаблонов таблиц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547132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Согласование и утверждение изменений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Руководитель УДД, Юридический отдел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30.06.2025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Официальное разрешение на оцифровку архивных документов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481309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3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Создание электронной базы приказов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IT-</a:t>
                      </a:r>
                      <a:r>
                        <a:rPr lang="ru-RU" sz="1200">
                          <a:effectLst/>
                        </a:rPr>
                        <a:t>специалист, Архивариусы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05.07.2025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Сканирование и систематизация приказов 2014-2024 гг.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243475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Разработка шаблонов таблиц и скриптов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IT-</a:t>
                      </a:r>
                      <a:r>
                        <a:rPr lang="ru-RU" sz="1200">
                          <a:effectLst/>
                        </a:rPr>
                        <a:t>специалист, Рабочая группа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10.07.2025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Настройка автозаполнения данных в Excel/Google Sheets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742726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5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Обучение сотрудников новому процессу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Галиуллина Г.В., Тренер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13.08.2025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Практический тренинг по работе с системой (2 часа)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580969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6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Пилотное внедрение в 2 подразделениях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Архивариусы, Рабочая группа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26.08.2025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Тестирование на реальных данных, сбор обратной связи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11364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7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Анализ результатов и доработка системы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Рабочая группа, </a:t>
                      </a:r>
                      <a:r>
                        <a:rPr lang="en-US" sz="1200">
                          <a:effectLst/>
                        </a:rPr>
                        <a:t>IT-</a:t>
                      </a:r>
                      <a:r>
                        <a:rPr lang="ru-RU" sz="1200">
                          <a:effectLst/>
                        </a:rPr>
                        <a:t>специалист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02.09.2025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Корректировка базы данных и шаблонов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23805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8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Оформление финальных регламентов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Специалист по регламентам УДД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14.09.2025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Подготовка инструкций и методических материалов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569079"/>
                  </a:ext>
                </a:extLst>
              </a:tr>
              <a:tr h="543604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9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Мониторинг и контроль процесса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Галиуллина Г.В., Руководитель УДД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24.09.2025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Постоянный анализ эффективности новых процедур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7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04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Дизайн презентации: коротко о самом главном | Блог 4brain">
            <a:extLst>
              <a:ext uri="{FF2B5EF4-FFF2-40B4-BE49-F238E27FC236}">
                <a16:creationId xmlns:a16="http://schemas.microsoft.com/office/drawing/2014/main" id="{ED2BEDAE-1717-4A1E-BC5E-AB8DD0792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6" r="7573"/>
          <a:stretch/>
        </p:blipFill>
        <p:spPr bwMode="auto">
          <a:xfrm>
            <a:off x="348343" y="3486942"/>
            <a:ext cx="4032069" cy="310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IDEF0</a:t>
            </a: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F9E480-9F26-B00D-DAFE-8355E8236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213" y="2327564"/>
            <a:ext cx="8172137" cy="38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0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BPMN</a:t>
            </a: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36D040-C2F3-ABC2-BB65-5C8FD70EE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407"/>
            <a:ext cx="12192000" cy="506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73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Basic Flowchart 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Стикеры Презентация — бесплатные стикеры бизнес">
            <a:extLst>
              <a:ext uri="{FF2B5EF4-FFF2-40B4-BE49-F238E27FC236}">
                <a16:creationId xmlns:a16="http://schemas.microsoft.com/office/drawing/2014/main" id="{03C6DF26-0CAA-4D0C-8B1D-C5977A742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142196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3F5521-FC44-87A3-A9B8-C45BB40F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21965"/>
            <a:ext cx="2045966" cy="200703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868B98-CABE-E3B6-78E5-CEAD59F41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5" y="3429000"/>
            <a:ext cx="3854632" cy="241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2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</TotalTime>
  <Words>815</Words>
  <Application>Microsoft Office PowerPoint</Application>
  <PresentationFormat>Широкоэкранный</PresentationFormat>
  <Paragraphs>192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5" baseType="lpstr">
      <vt:lpstr>Arial</vt:lpstr>
      <vt:lpstr>Arial Black</vt:lpstr>
      <vt:lpstr>Berlin Sans FB Demi</vt:lpstr>
      <vt:lpstr>Bernard MT Condensed</vt:lpstr>
      <vt:lpstr>Calibri</vt:lpstr>
      <vt:lpstr>Calibri Light</vt:lpstr>
      <vt:lpstr>Courier New</vt:lpstr>
      <vt:lpstr>DeepSeek-CJK-patch</vt:lpstr>
      <vt:lpstr>Google Sans Text</vt:lpstr>
      <vt:lpstr>Menlo</vt:lpstr>
      <vt:lpstr>Office Theme</vt:lpstr>
      <vt:lpstr>Гемба</vt:lpstr>
      <vt:lpstr>Презентация PowerPoint</vt:lpstr>
      <vt:lpstr>Замеры</vt:lpstr>
      <vt:lpstr> Value Stream Map</vt:lpstr>
      <vt:lpstr>DMAIC </vt:lpstr>
      <vt:lpstr>Диаграмма Ишикавы </vt:lpstr>
      <vt:lpstr>Improve | TO BE</vt:lpstr>
      <vt:lpstr>Оценка предполагаемого экономического эффекта</vt:lpstr>
      <vt:lpstr>Расчет времени такта</vt:lpstr>
      <vt:lpstr>Паспорт проекта (Резолююция)</vt:lpstr>
      <vt:lpstr>Внедрение</vt:lpstr>
      <vt:lpstr>IDEF0 </vt:lpstr>
      <vt:lpstr>BPMN </vt:lpstr>
      <vt:lpstr>Basic Flowchart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Гемба</dc:title>
  <dc:creator>Фарид</dc:creator>
  <cp:lastModifiedBy>Пользователь</cp:lastModifiedBy>
  <cp:revision>29</cp:revision>
  <dcterms:created xsi:type="dcterms:W3CDTF">2025-05-02T11:39:13Z</dcterms:created>
  <dcterms:modified xsi:type="dcterms:W3CDTF">2025-05-05T16:53:31Z</dcterms:modified>
</cp:coreProperties>
</file>