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94" r:id="rId26"/>
    <p:sldId id="295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90" r:id="rId35"/>
    <p:sldId id="291" r:id="rId36"/>
    <p:sldId id="292" r:id="rId37"/>
  </p:sldIdLst>
  <p:sldSz cx="9144000" cy="5143500" type="screen16x9"/>
  <p:notesSz cx="6858000" cy="9144000"/>
  <p:embeddedFontLst>
    <p:embeddedFont>
      <p:font typeface="Roboto" panose="020B060402020202020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D60A766C-85BA-4292-9F71-706E58CABF03}">
  <a:tblStyle styleId="{D60A766C-85BA-4292-9F71-706E58CABF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658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90859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6ae4e6c7e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6ae4e6c7e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703e38909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703e38909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703e38909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703e38909_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4d2f8a852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4d2f8a852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589095fc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589095fc5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589095fc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589095fc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703e3890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703e3890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703e38909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703e38909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703e38909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703e38909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703e38909_2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5703e38909_2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3d655f34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53d655f34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6ae4e6c7e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56ae4e6c7e_3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559b7a61d2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559b7a61d2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20a6bfc2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520a6bfc2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55b35edd6f_4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55b35edd6f_4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56ae4e6c7e_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56ae4e6c7e_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56ae4e6c7e_3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56ae4e6c7e_3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55a2c79200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55a2c79200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56ae4e6c7e_3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56ae4e6c7e_3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520a6bfc2a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520a6bfc2a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55a2c7920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55a2c7920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55a2c7920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55a2c7920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55a2c7920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55a2c79200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520a6bfc2a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520a6bfc2a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55b35edd6f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55b35edd6f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55a2c79200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55a2c79200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55b35edd6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55b35edd6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55b35edd6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55b35edd6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55a2c79200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55a2c79200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555301397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555301397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55a2c79200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55a2c79200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c56f76372d9fde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c56f76372d9fde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570e1e1a0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570e1e1a0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570e1e1a0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570e1e1a0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570e1e1a0f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570e1e1a0f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Relationship Id="rId6" Type="http://schemas.microsoft.com/office/2007/relationships/hdphoto" Target="../media/hdphoto1.wdp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1ADF8"/>
            </a:gs>
            <a:gs pos="100000">
              <a:srgbClr val="1662DF"/>
            </a:gs>
          </a:gsLst>
          <a:lin ang="5400012" scaled="0"/>
        </a:gra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569150" y="1686975"/>
            <a:ext cx="8151000" cy="121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 dirty="0"/>
              <a:t>Проектное задание по дисциплине “Анализ и моделирование процессов”</a:t>
            </a:r>
            <a:endParaRPr sz="6100" b="1"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182475" y="3983350"/>
            <a:ext cx="4870500" cy="10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Исмагилова Диана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Кожабаева Джамиля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Халиуллова Алина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Хваткова Ирина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Храмцова Алёна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14.1-120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ГЕМБА: наблюдение за процессами</a:t>
            </a:r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>
            <a:off x="428300" y="1832750"/>
            <a:ext cx="8412900" cy="27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Char char="●"/>
            </a:pPr>
            <a:r>
              <a:rPr lang="ru" sz="1600">
                <a:solidFill>
                  <a:srgbClr val="1A1A1A"/>
                </a:solidFill>
              </a:rPr>
              <a:t>В рамках Гемба мы наблюдали за процессами ведущих специалистов отделов  ЦРКП и ППС</a:t>
            </a:r>
            <a:endParaRPr sz="1600">
              <a:solidFill>
                <a:srgbClr val="1A1A1A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Char char="●"/>
            </a:pPr>
            <a:r>
              <a:rPr lang="ru" sz="1600">
                <a:solidFill>
                  <a:srgbClr val="1A1A1A"/>
                </a:solidFill>
              </a:rPr>
              <a:t>Всего нами было проанализировано более 50 процессов: </a:t>
            </a:r>
            <a:endParaRPr sz="1600">
              <a:solidFill>
                <a:srgbClr val="1A1A1A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Char char="-"/>
            </a:pPr>
            <a:r>
              <a:rPr lang="ru" sz="1600" u="sng">
                <a:solidFill>
                  <a:srgbClr val="1A1A1A"/>
                </a:solidFill>
              </a:rPr>
              <a:t>самый </a:t>
            </a:r>
            <a:r>
              <a:rPr lang="ru" sz="1600" i="1" u="sng">
                <a:solidFill>
                  <a:srgbClr val="1A1A1A"/>
                </a:solidFill>
              </a:rPr>
              <a:t>длительный процесс</a:t>
            </a:r>
            <a:r>
              <a:rPr lang="ru" sz="1600" u="sng">
                <a:solidFill>
                  <a:srgbClr val="1A1A1A"/>
                </a:solidFill>
              </a:rPr>
              <a:t> </a:t>
            </a:r>
            <a:r>
              <a:rPr lang="ru" sz="1600">
                <a:solidFill>
                  <a:srgbClr val="1A1A1A"/>
                </a:solidFill>
              </a:rPr>
              <a:t>занимает 35 минут - проверка откликов на hh.ru. и 55 минут - сбор документов и передача их на подпись в главное здание</a:t>
            </a:r>
            <a:endParaRPr sz="1600">
              <a:solidFill>
                <a:srgbClr val="1A1A1A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Char char="-"/>
            </a:pPr>
            <a:r>
              <a:rPr lang="ru" sz="1600">
                <a:solidFill>
                  <a:srgbClr val="1A1A1A"/>
                </a:solidFill>
              </a:rPr>
              <a:t>Основные потери: ожидание, переделывание, движение</a:t>
            </a:r>
            <a:endParaRPr sz="1600">
              <a:solidFill>
                <a:srgbClr val="1A1A1A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Char char="-"/>
            </a:pPr>
            <a:r>
              <a:rPr lang="ru" sz="1600">
                <a:solidFill>
                  <a:srgbClr val="1A1A1A"/>
                </a:solidFill>
              </a:rPr>
              <a:t>Совокупные потери во временном выражении -  192 минуты</a:t>
            </a:r>
            <a:endParaRPr sz="160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/>
        </p:nvSpPr>
        <p:spPr>
          <a:xfrm>
            <a:off x="4861975" y="3629350"/>
            <a:ext cx="48543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rgbClr val="3A3A3A"/>
                </a:solidFill>
                <a:latin typeface="Roboto"/>
                <a:ea typeface="Roboto"/>
                <a:cs typeface="Roboto"/>
                <a:sym typeface="Roboto"/>
              </a:rPr>
              <a:t>Основные потери процесса:</a:t>
            </a:r>
            <a:r>
              <a:rPr lang="ru" sz="1800">
                <a:solidFill>
                  <a:srgbClr val="3A3A3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rgbClr val="3A3A3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A3A3A"/>
                </a:solidFill>
                <a:latin typeface="Roboto"/>
                <a:ea typeface="Roboto"/>
                <a:cs typeface="Roboto"/>
                <a:sym typeface="Roboto"/>
              </a:rPr>
              <a:t>Ожидание от ~ </a:t>
            </a:r>
            <a:r>
              <a:rPr lang="ru" sz="1800" i="1" u="sng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4 ч 26 мин</a:t>
            </a:r>
            <a:r>
              <a:rPr lang="ru" sz="1800">
                <a:solidFill>
                  <a:srgbClr val="3A3A3A"/>
                </a:solidFill>
                <a:latin typeface="Roboto"/>
                <a:ea typeface="Roboto"/>
                <a:cs typeface="Roboto"/>
                <a:sym typeface="Roboto"/>
              </a:rPr>
              <a:t> до ~ </a:t>
            </a:r>
            <a:r>
              <a:rPr lang="ru" sz="1800" i="1" u="sng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7 дней</a:t>
            </a:r>
            <a:endParaRPr sz="1800" i="1" u="sng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A3A3A"/>
                </a:solidFill>
                <a:latin typeface="Roboto"/>
                <a:ea typeface="Roboto"/>
                <a:cs typeface="Roboto"/>
                <a:sym typeface="Roboto"/>
              </a:rPr>
              <a:t>Транспортировка ~ </a:t>
            </a:r>
            <a:r>
              <a:rPr lang="ru" sz="1800" i="1" u="sng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80 минут</a:t>
            </a:r>
            <a:r>
              <a:rPr lang="ru" sz="1800">
                <a:solidFill>
                  <a:srgbClr val="3A3A3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rgbClr val="3A3A3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A3A3A"/>
                </a:solidFill>
                <a:latin typeface="Roboto"/>
                <a:ea typeface="Roboto"/>
                <a:cs typeface="Roboto"/>
                <a:sym typeface="Roboto"/>
              </a:rPr>
              <a:t>Лишняя обработка: ~ </a:t>
            </a:r>
            <a:r>
              <a:rPr lang="ru" sz="1800" i="1" u="sng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38 мин</a:t>
            </a:r>
            <a:endParaRPr sz="1800" i="1" u="sng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A3A3A"/>
                </a:solidFill>
                <a:latin typeface="Roboto"/>
                <a:ea typeface="Roboto"/>
                <a:cs typeface="Roboto"/>
                <a:sym typeface="Roboto"/>
              </a:rPr>
              <a:t>Переделывание: ~ </a:t>
            </a:r>
            <a:r>
              <a:rPr lang="ru" sz="1800" i="1" u="sng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33 минуты</a:t>
            </a:r>
            <a:endParaRPr sz="1800" i="1" u="sng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2710325" y="-30450"/>
            <a:ext cx="41985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Схема текущего процесса</a:t>
            </a:r>
            <a:endParaRPr sz="1800" b="1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5" title="2025-05-07_13-42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75" y="447449"/>
            <a:ext cx="9143999" cy="29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152400" y="2987975"/>
            <a:ext cx="4564500" cy="14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 i="1" u="sng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Самый краткий срок процесса</a:t>
            </a:r>
            <a:r>
              <a:rPr lang="ru" sz="1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Обработка заявления  ~ </a:t>
            </a:r>
            <a:r>
              <a:rPr lang="ru" sz="1800" i="1" u="sng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55 минуты</a:t>
            </a:r>
            <a:endParaRPr sz="1800" i="1" u="sng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Обработка заявления с учетом его передачи в главное  здание ~</a:t>
            </a:r>
            <a:r>
              <a:rPr lang="ru" sz="1800" i="1" u="sng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135 минут</a:t>
            </a:r>
            <a:endParaRPr sz="1800" i="1" u="sng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 учетом ожидания подписи процесс растягивается от </a:t>
            </a:r>
            <a:r>
              <a:rPr lang="ru" sz="1800" i="1" u="sng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6,25 </a:t>
            </a:r>
            <a:r>
              <a:rPr lang="ru" sz="1800" i="1" u="sng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часа</a:t>
            </a:r>
            <a:r>
              <a:rPr lang="ru" sz="1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до </a:t>
            </a:r>
            <a:r>
              <a:rPr lang="ru" sz="1800" i="1" u="sng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7,25</a:t>
            </a:r>
            <a:r>
              <a:rPr lang="ru" sz="1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рабочих </a:t>
            </a:r>
            <a:r>
              <a:rPr lang="ru" sz="1800" i="1" u="sng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дней</a:t>
            </a:r>
            <a:r>
              <a:rPr lang="ru" sz="1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sz="18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/>
        </p:nvSpPr>
        <p:spPr>
          <a:xfrm>
            <a:off x="2710325" y="-30450"/>
            <a:ext cx="41985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Схема текущего процесса</a:t>
            </a:r>
            <a:endParaRPr sz="1800" b="1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" name="Google Shape;88;p16" title="2025-05-05_14-29-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9850"/>
            <a:ext cx="8839200" cy="3971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/>
        </p:nvSpPr>
        <p:spPr>
          <a:xfrm>
            <a:off x="2710325" y="-30450"/>
            <a:ext cx="41985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Схема текущего процесса</a:t>
            </a:r>
            <a:endParaRPr sz="1800" b="1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4" name="Google Shape;94;p17" title="2025-05-07_00-49-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9350" y="350000"/>
            <a:ext cx="7561149" cy="413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 title="2025-05-07_00-50-31.png"/>
          <p:cNvPicPr preferRelativeResize="0"/>
          <p:nvPr/>
        </p:nvPicPr>
        <p:blipFill rotWithShape="1">
          <a:blip r:embed="rId4">
            <a:alphaModFix/>
          </a:blip>
          <a:srcRect l="78561"/>
          <a:stretch/>
        </p:blipFill>
        <p:spPr>
          <a:xfrm>
            <a:off x="1156525" y="-30450"/>
            <a:ext cx="372825" cy="5014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 title="2025-05-07_00-50-31.png"/>
          <p:cNvPicPr preferRelativeResize="0"/>
          <p:nvPr/>
        </p:nvPicPr>
        <p:blipFill rotWithShape="1">
          <a:blip r:embed="rId4">
            <a:alphaModFix/>
          </a:blip>
          <a:srcRect r="50000"/>
          <a:stretch/>
        </p:blipFill>
        <p:spPr>
          <a:xfrm>
            <a:off x="264575" y="2125"/>
            <a:ext cx="891950" cy="4948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/>
        </p:nvSpPr>
        <p:spPr>
          <a:xfrm>
            <a:off x="2710325" y="-30450"/>
            <a:ext cx="41985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Схема текущего процесса</a:t>
            </a:r>
            <a:endParaRPr sz="1800" b="1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" name="Google Shape;102;p18" title="2025-05-07_00-50-31.png"/>
          <p:cNvPicPr preferRelativeResize="0"/>
          <p:nvPr/>
        </p:nvPicPr>
        <p:blipFill rotWithShape="1">
          <a:blip r:embed="rId3">
            <a:alphaModFix/>
          </a:blip>
          <a:srcRect l="78561"/>
          <a:stretch/>
        </p:blipFill>
        <p:spPr>
          <a:xfrm>
            <a:off x="1075884" y="563077"/>
            <a:ext cx="383098" cy="4496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 title="2025-05-07_00-57-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9451" y="965084"/>
            <a:ext cx="7511249" cy="3360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 title="2025-05-07_00-58-46.png"/>
          <p:cNvPicPr preferRelativeResize="0"/>
          <p:nvPr/>
        </p:nvPicPr>
        <p:blipFill rotWithShape="1">
          <a:blip r:embed="rId5">
            <a:alphaModFix/>
          </a:blip>
          <a:srcRect l="30872" t="9470" r="61971" b="4433"/>
          <a:stretch/>
        </p:blipFill>
        <p:spPr>
          <a:xfrm>
            <a:off x="403050" y="540259"/>
            <a:ext cx="672379" cy="4085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 title="2025-05-07_01-01-31.png"/>
          <p:cNvPicPr preferRelativeResize="0"/>
          <p:nvPr/>
        </p:nvPicPr>
        <p:blipFill rotWithShape="1">
          <a:blip r:embed="rId6">
            <a:alphaModFix/>
          </a:blip>
          <a:srcRect l="33368" t="50885" r="58305" b="16866"/>
          <a:stretch/>
        </p:blipFill>
        <p:spPr>
          <a:xfrm>
            <a:off x="551583" y="3484804"/>
            <a:ext cx="782328" cy="1658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 title="2025-05-07_01-01-31.png"/>
          <p:cNvPicPr preferRelativeResize="0"/>
          <p:nvPr/>
        </p:nvPicPr>
        <p:blipFill rotWithShape="1">
          <a:blip r:embed="rId6">
            <a:alphaModFix/>
          </a:blip>
          <a:srcRect l="38775" t="50885" r="58305" b="16866"/>
          <a:stretch/>
        </p:blipFill>
        <p:spPr>
          <a:xfrm>
            <a:off x="403052" y="3484804"/>
            <a:ext cx="274358" cy="1658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/>
        </p:nvSpPr>
        <p:spPr>
          <a:xfrm>
            <a:off x="2710325" y="-30450"/>
            <a:ext cx="41985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Схема текущего процесса</a:t>
            </a:r>
            <a:endParaRPr sz="1800" b="1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2" name="Google Shape;112;p19" title="2025-05-07_16-25-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6375" y="976750"/>
            <a:ext cx="7407624" cy="34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 title="2025-05-07_16-26-2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35568" y="999975"/>
            <a:ext cx="1816100" cy="339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364875" y="324850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Ключевые проблема в рамках процесса:</a:t>
            </a:r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body" idx="1"/>
          </p:nvPr>
        </p:nvSpPr>
        <p:spPr>
          <a:xfrm>
            <a:off x="428300" y="1832750"/>
            <a:ext cx="8412900" cy="27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Сотрудникам ППС каждый год, </a:t>
            </a:r>
            <a:r>
              <a:rPr lang="ru" sz="1500" i="1" u="sng" dirty="0">
                <a:solidFill>
                  <a:srgbClr val="2DC75C"/>
                </a:solidFill>
                <a:latin typeface="Arial"/>
                <a:ea typeface="Arial"/>
                <a:cs typeface="Arial"/>
                <a:sym typeface="Arial"/>
              </a:rPr>
              <a:t>в период заполнения графика отпусков</a:t>
            </a:r>
            <a:r>
              <a:rPr lang="ru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при утверждении заявлений на отпуск необходима подпись проректора на каждом заявления, из-за чего им приходится </a:t>
            </a:r>
            <a:r>
              <a:rPr lang="ru" sz="1500" i="1" u="sng" dirty="0">
                <a:solidFill>
                  <a:srgbClr val="2DC75C"/>
                </a:solidFill>
                <a:latin typeface="Arial"/>
                <a:ea typeface="Arial"/>
                <a:cs typeface="Arial"/>
                <a:sym typeface="Arial"/>
              </a:rPr>
              <a:t>дважды в день</a:t>
            </a:r>
            <a:r>
              <a:rPr lang="ru" sz="1500" dirty="0">
                <a:solidFill>
                  <a:srgbClr val="2DC75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относить документы в главное здание, на что уходит около </a:t>
            </a:r>
            <a:r>
              <a:rPr lang="ru" sz="1500" i="1" u="sng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ru" sz="15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х часов в день </a:t>
            </a:r>
            <a:r>
              <a:rPr lang="ru" sz="15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500" i="1" u="sng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= 40 часов в месяц</a:t>
            </a:r>
            <a:endParaRPr sz="1500" i="1" u="sng" dirty="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Также сотрудников не уведомляют, что проректора нет на месте и часто получается ситуация, что сотрудник может </a:t>
            </a:r>
            <a:r>
              <a:rPr lang="ru" sz="1500" i="1" u="sng" dirty="0">
                <a:solidFill>
                  <a:srgbClr val="2DC75C"/>
                </a:solidFill>
                <a:latin typeface="Arial"/>
                <a:ea typeface="Arial"/>
                <a:cs typeface="Arial"/>
                <a:sym typeface="Arial"/>
              </a:rPr>
              <a:t>несколько дней подряд тратить время </a:t>
            </a:r>
            <a:r>
              <a:rPr lang="ru" sz="1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 того, чтобы дойти до кабинета проректора, чтобы узнать, что документы не готовы, так как проектор ещё не вернулся</a:t>
            </a:r>
            <a:endParaRPr sz="2400" i="1" u="sng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21"/>
          <p:cNvGrpSpPr/>
          <p:nvPr/>
        </p:nvGrpSpPr>
        <p:grpSpPr>
          <a:xfrm>
            <a:off x="364350" y="761550"/>
            <a:ext cx="1624150" cy="827800"/>
            <a:chOff x="410000" y="734225"/>
            <a:chExt cx="1624150" cy="827800"/>
          </a:xfrm>
        </p:grpSpPr>
        <p:sp>
          <p:nvSpPr>
            <p:cNvPr id="125" name="Google Shape;125;p21"/>
            <p:cNvSpPr/>
            <p:nvPr/>
          </p:nvSpPr>
          <p:spPr>
            <a:xfrm rot="-5400000">
              <a:off x="854638" y="324313"/>
              <a:ext cx="769600" cy="1589425"/>
            </a:xfrm>
            <a:prstGeom prst="flowChartOffpageConnector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" name="Google Shape;126;p21"/>
            <p:cNvSpPr txBox="1"/>
            <p:nvPr/>
          </p:nvSpPr>
          <p:spPr>
            <a:xfrm>
              <a:off x="410000" y="748725"/>
              <a:ext cx="1447200" cy="81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Кафедры, которым нужно составлять график отпусков  </a:t>
              </a:r>
              <a:endParaRPr sz="11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7" name="Google Shape;127;p21"/>
          <p:cNvGrpSpPr/>
          <p:nvPr/>
        </p:nvGrpSpPr>
        <p:grpSpPr>
          <a:xfrm>
            <a:off x="2159713" y="709600"/>
            <a:ext cx="1316825" cy="802288"/>
            <a:chOff x="2112175" y="694263"/>
            <a:chExt cx="1316825" cy="802288"/>
          </a:xfrm>
        </p:grpSpPr>
        <p:sp>
          <p:nvSpPr>
            <p:cNvPr id="128" name="Google Shape;128;p21"/>
            <p:cNvSpPr/>
            <p:nvPr/>
          </p:nvSpPr>
          <p:spPr>
            <a:xfrm rot="-5400000">
              <a:off x="2389425" y="456975"/>
              <a:ext cx="762325" cy="1316825"/>
            </a:xfrm>
            <a:prstGeom prst="flowChartOffpageConnector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" name="Google Shape;129;p21"/>
            <p:cNvSpPr txBox="1"/>
            <p:nvPr/>
          </p:nvSpPr>
          <p:spPr>
            <a:xfrm>
              <a:off x="2117888" y="694263"/>
              <a:ext cx="1092600" cy="56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 dirty="0" smtClean="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Заполненное заявление на отпуск</a:t>
              </a:r>
              <a:endParaRPr sz="1100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0" name="Google Shape;130;p21"/>
          <p:cNvGrpSpPr/>
          <p:nvPr/>
        </p:nvGrpSpPr>
        <p:grpSpPr>
          <a:xfrm>
            <a:off x="3676550" y="1312325"/>
            <a:ext cx="1866600" cy="607947"/>
            <a:chOff x="3539525" y="1426500"/>
            <a:chExt cx="1866600" cy="607947"/>
          </a:xfrm>
        </p:grpSpPr>
        <p:sp>
          <p:nvSpPr>
            <p:cNvPr id="131" name="Google Shape;131;p21"/>
            <p:cNvSpPr/>
            <p:nvPr/>
          </p:nvSpPr>
          <p:spPr>
            <a:xfrm rot="-5400000">
              <a:off x="4244725" y="873047"/>
              <a:ext cx="503125" cy="1819675"/>
            </a:xfrm>
            <a:prstGeom prst="flowChartOffpageConnector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" name="Google Shape;132;p21"/>
            <p:cNvSpPr txBox="1"/>
            <p:nvPr/>
          </p:nvSpPr>
          <p:spPr>
            <a:xfrm>
              <a:off x="3539525" y="1426500"/>
              <a:ext cx="1826700" cy="46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Проверка и исправление заполненных данных </a:t>
              </a:r>
              <a:endParaRPr sz="11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3" name="Google Shape;133;p21"/>
          <p:cNvGrpSpPr/>
          <p:nvPr/>
        </p:nvGrpSpPr>
        <p:grpSpPr>
          <a:xfrm>
            <a:off x="3729013" y="751113"/>
            <a:ext cx="1739250" cy="523200"/>
            <a:chOff x="3552625" y="835700"/>
            <a:chExt cx="1739250" cy="523200"/>
          </a:xfrm>
        </p:grpSpPr>
        <p:sp>
          <p:nvSpPr>
            <p:cNvPr id="134" name="Google Shape;134;p21"/>
            <p:cNvSpPr/>
            <p:nvPr/>
          </p:nvSpPr>
          <p:spPr>
            <a:xfrm rot="-5400000">
              <a:off x="4186300" y="227675"/>
              <a:ext cx="471900" cy="1739250"/>
            </a:xfrm>
            <a:prstGeom prst="flowChartOffpageConnector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" name="Google Shape;135;p21"/>
            <p:cNvSpPr txBox="1"/>
            <p:nvPr/>
          </p:nvSpPr>
          <p:spPr>
            <a:xfrm>
              <a:off x="3589225" y="835700"/>
              <a:ext cx="1488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Получение заявление </a:t>
              </a:r>
              <a:endParaRPr sz="11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" name="Google Shape;136;p21"/>
          <p:cNvGrpSpPr/>
          <p:nvPr/>
        </p:nvGrpSpPr>
        <p:grpSpPr>
          <a:xfrm>
            <a:off x="3692688" y="2797275"/>
            <a:ext cx="1811925" cy="568150"/>
            <a:chOff x="3631800" y="2844425"/>
            <a:chExt cx="1811925" cy="568150"/>
          </a:xfrm>
        </p:grpSpPr>
        <p:sp>
          <p:nvSpPr>
            <p:cNvPr id="137" name="Google Shape;137;p21"/>
            <p:cNvSpPr/>
            <p:nvPr/>
          </p:nvSpPr>
          <p:spPr>
            <a:xfrm rot="-5400000">
              <a:off x="4261513" y="2230363"/>
              <a:ext cx="568150" cy="1796275"/>
            </a:xfrm>
            <a:prstGeom prst="flowChartOffpageConnector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" name="Google Shape;138;p21"/>
            <p:cNvSpPr txBox="1"/>
            <p:nvPr/>
          </p:nvSpPr>
          <p:spPr>
            <a:xfrm>
              <a:off x="3631800" y="2848300"/>
              <a:ext cx="1692300" cy="56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Ожидание готовности документов</a:t>
              </a:r>
              <a:endParaRPr sz="11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9" name="Google Shape;139;p21"/>
          <p:cNvGrpSpPr/>
          <p:nvPr/>
        </p:nvGrpSpPr>
        <p:grpSpPr>
          <a:xfrm>
            <a:off x="5670175" y="761550"/>
            <a:ext cx="1502451" cy="762325"/>
            <a:chOff x="5415488" y="734225"/>
            <a:chExt cx="1502451" cy="762325"/>
          </a:xfrm>
        </p:grpSpPr>
        <p:sp>
          <p:nvSpPr>
            <p:cNvPr id="140" name="Google Shape;140;p21"/>
            <p:cNvSpPr/>
            <p:nvPr/>
          </p:nvSpPr>
          <p:spPr>
            <a:xfrm rot="-5400000">
              <a:off x="5805176" y="383788"/>
              <a:ext cx="762325" cy="1463200"/>
            </a:xfrm>
            <a:prstGeom prst="flowChartOffpageConnector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1" name="Google Shape;141;p21"/>
            <p:cNvSpPr txBox="1"/>
            <p:nvPr/>
          </p:nvSpPr>
          <p:spPr>
            <a:xfrm>
              <a:off x="5415488" y="793438"/>
              <a:ext cx="1395300" cy="59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Сформированный график отпусков сотрудников</a:t>
              </a:r>
              <a:endParaRPr sz="11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2" name="Google Shape;142;p21"/>
          <p:cNvGrpSpPr/>
          <p:nvPr/>
        </p:nvGrpSpPr>
        <p:grpSpPr>
          <a:xfrm>
            <a:off x="7341804" y="729575"/>
            <a:ext cx="1523741" cy="762325"/>
            <a:chOff x="6971929" y="708813"/>
            <a:chExt cx="1354196" cy="762325"/>
          </a:xfrm>
        </p:grpSpPr>
        <p:sp>
          <p:nvSpPr>
            <p:cNvPr id="143" name="Google Shape;143;p21"/>
            <p:cNvSpPr/>
            <p:nvPr/>
          </p:nvSpPr>
          <p:spPr>
            <a:xfrm rot="-5400000">
              <a:off x="7286550" y="431563"/>
              <a:ext cx="762325" cy="1316825"/>
            </a:xfrm>
            <a:prstGeom prst="flowChartOffpageConnector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4" name="Google Shape;144;p21"/>
            <p:cNvSpPr txBox="1"/>
            <p:nvPr/>
          </p:nvSpPr>
          <p:spPr>
            <a:xfrm>
              <a:off x="6971929" y="730350"/>
              <a:ext cx="1316700" cy="59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Кафедры, формирующие график отпусков </a:t>
              </a:r>
              <a:endParaRPr sz="11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5" name="Google Shape;145;p21"/>
          <p:cNvSpPr txBox="1"/>
          <p:nvPr/>
        </p:nvSpPr>
        <p:spPr>
          <a:xfrm>
            <a:off x="399075" y="475975"/>
            <a:ext cx="10641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Поставщики</a:t>
            </a:r>
            <a:endParaRPr sz="11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2165425" y="424025"/>
            <a:ext cx="10926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Входы</a:t>
            </a:r>
            <a:endParaRPr sz="11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3851713" y="424025"/>
            <a:ext cx="13167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Процессы</a:t>
            </a:r>
            <a:endParaRPr sz="11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5701488" y="475975"/>
            <a:ext cx="10641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Результаты</a:t>
            </a:r>
            <a:endParaRPr sz="11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7333875" y="450125"/>
            <a:ext cx="9702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1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3933463" y="0"/>
            <a:ext cx="1092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SIPOC</a:t>
            </a:r>
            <a:endParaRPr sz="2000" b="1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5" name="Google Shape;155;p21"/>
          <p:cNvGrpSpPr/>
          <p:nvPr/>
        </p:nvGrpSpPr>
        <p:grpSpPr>
          <a:xfrm>
            <a:off x="3681251" y="2089447"/>
            <a:ext cx="1857199" cy="503125"/>
            <a:chOff x="3452776" y="2066772"/>
            <a:chExt cx="1857199" cy="503125"/>
          </a:xfrm>
        </p:grpSpPr>
        <p:sp>
          <p:nvSpPr>
            <p:cNvPr id="156" name="Google Shape;156;p21"/>
            <p:cNvSpPr/>
            <p:nvPr/>
          </p:nvSpPr>
          <p:spPr>
            <a:xfrm rot="-5400000">
              <a:off x="4148575" y="1408497"/>
              <a:ext cx="503125" cy="1819675"/>
            </a:xfrm>
            <a:prstGeom prst="flowChartOffpageConnector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7" name="Google Shape;157;p21"/>
            <p:cNvSpPr txBox="1"/>
            <p:nvPr/>
          </p:nvSpPr>
          <p:spPr>
            <a:xfrm>
              <a:off x="3452776" y="2089675"/>
              <a:ext cx="1812000" cy="46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Передача заявление на подпись проректору</a:t>
              </a:r>
              <a:endParaRPr sz="11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8" name="Google Shape;158;p21"/>
          <p:cNvGrpSpPr/>
          <p:nvPr/>
        </p:nvGrpSpPr>
        <p:grpSpPr>
          <a:xfrm>
            <a:off x="3618700" y="4242422"/>
            <a:ext cx="1908550" cy="503125"/>
            <a:chOff x="3401425" y="2066772"/>
            <a:chExt cx="1908550" cy="503125"/>
          </a:xfrm>
        </p:grpSpPr>
        <p:sp>
          <p:nvSpPr>
            <p:cNvPr id="159" name="Google Shape;159;p21"/>
            <p:cNvSpPr/>
            <p:nvPr/>
          </p:nvSpPr>
          <p:spPr>
            <a:xfrm rot="-5400000">
              <a:off x="4148575" y="1408497"/>
              <a:ext cx="503125" cy="1819675"/>
            </a:xfrm>
            <a:prstGeom prst="flowChartOffpageConnector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0" name="Google Shape;160;p21"/>
            <p:cNvSpPr txBox="1"/>
            <p:nvPr/>
          </p:nvSpPr>
          <p:spPr>
            <a:xfrm>
              <a:off x="3401425" y="2066775"/>
              <a:ext cx="1798200" cy="46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Подшивка заявление в личное дело сотрудника</a:t>
              </a:r>
              <a:endParaRPr sz="11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1" name="Google Shape;161;p21"/>
          <p:cNvGrpSpPr/>
          <p:nvPr/>
        </p:nvGrpSpPr>
        <p:grpSpPr>
          <a:xfrm>
            <a:off x="3618712" y="3513250"/>
            <a:ext cx="1908538" cy="522272"/>
            <a:chOff x="3401437" y="2047625"/>
            <a:chExt cx="1908538" cy="522272"/>
          </a:xfrm>
        </p:grpSpPr>
        <p:sp>
          <p:nvSpPr>
            <p:cNvPr id="162" name="Google Shape;162;p21"/>
            <p:cNvSpPr/>
            <p:nvPr/>
          </p:nvSpPr>
          <p:spPr>
            <a:xfrm rot="-5400000">
              <a:off x="4148575" y="1408497"/>
              <a:ext cx="503125" cy="1819675"/>
            </a:xfrm>
            <a:prstGeom prst="flowChartOffpageConnector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3" name="Google Shape;163;p21"/>
            <p:cNvSpPr txBox="1"/>
            <p:nvPr/>
          </p:nvSpPr>
          <p:spPr>
            <a:xfrm>
              <a:off x="3401437" y="2047625"/>
              <a:ext cx="1866600" cy="46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Возврат готовых документов в отдел ППС </a:t>
              </a:r>
              <a:endParaRPr sz="11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4" name="Google Shape;164;p21"/>
          <p:cNvGrpSpPr/>
          <p:nvPr/>
        </p:nvGrpSpPr>
        <p:grpSpPr>
          <a:xfrm>
            <a:off x="7309000" y="1665975"/>
            <a:ext cx="1589355" cy="811050"/>
            <a:chOff x="6940822" y="660088"/>
            <a:chExt cx="1438200" cy="811050"/>
          </a:xfrm>
        </p:grpSpPr>
        <p:sp>
          <p:nvSpPr>
            <p:cNvPr id="165" name="Google Shape;165;p21"/>
            <p:cNvSpPr/>
            <p:nvPr/>
          </p:nvSpPr>
          <p:spPr>
            <a:xfrm rot="-5400000">
              <a:off x="7286550" y="431563"/>
              <a:ext cx="762325" cy="1316825"/>
            </a:xfrm>
            <a:prstGeom prst="flowChartOffpageConnector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6" name="Google Shape;166;p21"/>
            <p:cNvSpPr txBox="1"/>
            <p:nvPr/>
          </p:nvSpPr>
          <p:spPr>
            <a:xfrm>
              <a:off x="6940822" y="660088"/>
              <a:ext cx="1438200" cy="59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Преподаватели, которым нужно определиться со сроками отпусков </a:t>
              </a:r>
              <a:endParaRPr sz="11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/>
              <a:t>SMART: Формулировка цели</a:t>
            </a:r>
            <a:endParaRPr sz="2300" b="1"/>
          </a:p>
        </p:txBody>
      </p:sp>
      <p:sp>
        <p:nvSpPr>
          <p:cNvPr id="172" name="Google Shape;172;p22"/>
          <p:cNvSpPr txBox="1"/>
          <p:nvPr/>
        </p:nvSpPr>
        <p:spPr>
          <a:xfrm>
            <a:off x="299425" y="699050"/>
            <a:ext cx="8868900" cy="9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Уже через 3 месяца после внедрения платформы “Битрикс24” в работу отдела ППС при планировании отпусков сотрудников КФУ можно упростить и ускорить процесс обработки и принятии заявления с ~ 5 дней до 1 дня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3" name="Google Shape;173;p22"/>
          <p:cNvGrpSpPr/>
          <p:nvPr/>
        </p:nvGrpSpPr>
        <p:grpSpPr>
          <a:xfrm>
            <a:off x="357976" y="1800772"/>
            <a:ext cx="1675932" cy="561489"/>
            <a:chOff x="3586438" y="1436800"/>
            <a:chExt cx="1819688" cy="597647"/>
          </a:xfrm>
        </p:grpSpPr>
        <p:sp>
          <p:nvSpPr>
            <p:cNvPr id="174" name="Google Shape;174;p22"/>
            <p:cNvSpPr/>
            <p:nvPr/>
          </p:nvSpPr>
          <p:spPr>
            <a:xfrm rot="-5400000">
              <a:off x="4244725" y="873047"/>
              <a:ext cx="503125" cy="1819675"/>
            </a:xfrm>
            <a:prstGeom prst="flowChartOffpageConnector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5" name="Google Shape;175;p22"/>
            <p:cNvSpPr txBox="1"/>
            <p:nvPr/>
          </p:nvSpPr>
          <p:spPr>
            <a:xfrm>
              <a:off x="3586438" y="1436800"/>
              <a:ext cx="1656600" cy="46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300" b="1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S - specific</a:t>
              </a:r>
              <a:endParaRPr sz="13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 i="1" u="sng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Конкретность</a:t>
              </a:r>
              <a:endParaRPr sz="1200" i="1" u="sng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6" name="Google Shape;176;p22"/>
          <p:cNvSpPr txBox="1"/>
          <p:nvPr/>
        </p:nvSpPr>
        <p:spPr>
          <a:xfrm>
            <a:off x="2044802" y="1800703"/>
            <a:ext cx="3783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~ </a:t>
            </a:r>
            <a:r>
              <a:rPr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2345241" y="1800700"/>
            <a:ext cx="63315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43541"/>
                </a:solidFill>
                <a:latin typeface="Roboto"/>
                <a:ea typeface="Roboto"/>
                <a:cs typeface="Roboto"/>
                <a:sym typeface="Roboto"/>
              </a:rPr>
              <a:t>Упрощение и ускорение процесса формирования графика отпусков ППС КФУ </a:t>
            </a:r>
            <a:endParaRPr>
              <a:solidFill>
                <a:srgbClr val="34354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2044815" y="2479731"/>
            <a:ext cx="378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~</a:t>
            </a:r>
            <a:endParaRPr sz="1000"/>
          </a:p>
        </p:txBody>
      </p:sp>
      <p:sp>
        <p:nvSpPr>
          <p:cNvPr id="179" name="Google Shape;179;p22"/>
          <p:cNvSpPr txBox="1"/>
          <p:nvPr/>
        </p:nvSpPr>
        <p:spPr>
          <a:xfrm>
            <a:off x="2397445" y="2576248"/>
            <a:ext cx="622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43541"/>
                </a:solidFill>
                <a:latin typeface="Roboto"/>
                <a:ea typeface="Roboto"/>
                <a:cs typeface="Roboto"/>
                <a:sym typeface="Roboto"/>
              </a:rPr>
              <a:t>Снижение времени обработки одного заявления с ~ 5 дней до 1 дня</a:t>
            </a:r>
            <a:endParaRPr>
              <a:solidFill>
                <a:srgbClr val="34354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2046932" y="3107562"/>
            <a:ext cx="378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~</a:t>
            </a:r>
            <a:endParaRPr sz="1000"/>
          </a:p>
        </p:txBody>
      </p:sp>
      <p:sp>
        <p:nvSpPr>
          <p:cNvPr id="181" name="Google Shape;181;p22"/>
          <p:cNvSpPr txBox="1"/>
          <p:nvPr/>
        </p:nvSpPr>
        <p:spPr>
          <a:xfrm>
            <a:off x="2345219" y="3124588"/>
            <a:ext cx="6034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43541"/>
                </a:solidFill>
                <a:latin typeface="Roboto"/>
                <a:ea typeface="Roboto"/>
                <a:cs typeface="Roboto"/>
                <a:sym typeface="Roboto"/>
              </a:rPr>
              <a:t>Да, нужно ввести в пользование программу Битрикс24 для планирования графика отпусков</a:t>
            </a:r>
            <a:endParaRPr>
              <a:solidFill>
                <a:srgbClr val="34354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2054405" y="3735402"/>
            <a:ext cx="378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~</a:t>
            </a:r>
            <a:endParaRPr sz="1000"/>
          </a:p>
        </p:txBody>
      </p:sp>
      <p:sp>
        <p:nvSpPr>
          <p:cNvPr id="183" name="Google Shape;183;p22"/>
          <p:cNvSpPr txBox="1"/>
          <p:nvPr/>
        </p:nvSpPr>
        <p:spPr>
          <a:xfrm>
            <a:off x="2345222" y="3860808"/>
            <a:ext cx="603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43541"/>
                </a:solidFill>
                <a:latin typeface="Roboto"/>
                <a:ea typeface="Roboto"/>
                <a:cs typeface="Roboto"/>
                <a:sym typeface="Roboto"/>
              </a:rPr>
              <a:t>Такой процесс в КФУ происходит 3 раза в год с каждым ППС</a:t>
            </a:r>
            <a:endParaRPr>
              <a:solidFill>
                <a:srgbClr val="34354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2076790" y="4469614"/>
            <a:ext cx="378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~</a:t>
            </a:r>
            <a:endParaRPr sz="1000"/>
          </a:p>
        </p:txBody>
      </p:sp>
      <p:sp>
        <p:nvSpPr>
          <p:cNvPr id="185" name="Google Shape;185;p22"/>
          <p:cNvSpPr txBox="1"/>
          <p:nvPr/>
        </p:nvSpPr>
        <p:spPr>
          <a:xfrm>
            <a:off x="2425211" y="4541833"/>
            <a:ext cx="603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43541"/>
                </a:solidFill>
                <a:latin typeface="Roboto"/>
                <a:ea typeface="Roboto"/>
                <a:cs typeface="Roboto"/>
                <a:sym typeface="Roboto"/>
              </a:rPr>
              <a:t>3 месяца</a:t>
            </a:r>
            <a:endParaRPr>
              <a:solidFill>
                <a:srgbClr val="34354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6" name="Google Shape;186;p22"/>
          <p:cNvGrpSpPr/>
          <p:nvPr/>
        </p:nvGrpSpPr>
        <p:grpSpPr>
          <a:xfrm>
            <a:off x="271689" y="2454194"/>
            <a:ext cx="1772955" cy="561499"/>
            <a:chOff x="3495201" y="1436790"/>
            <a:chExt cx="1910924" cy="597657"/>
          </a:xfrm>
        </p:grpSpPr>
        <p:sp>
          <p:nvSpPr>
            <p:cNvPr id="187" name="Google Shape;187;p22"/>
            <p:cNvSpPr/>
            <p:nvPr/>
          </p:nvSpPr>
          <p:spPr>
            <a:xfrm rot="-5400000">
              <a:off x="4244725" y="873047"/>
              <a:ext cx="503125" cy="1819675"/>
            </a:xfrm>
            <a:prstGeom prst="flowChartOffpageConnector">
              <a:avLst/>
            </a:prstGeom>
            <a:solidFill>
              <a:srgbClr val="9FC5E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8" name="Google Shape;188;p22"/>
            <p:cNvSpPr txBox="1"/>
            <p:nvPr/>
          </p:nvSpPr>
          <p:spPr>
            <a:xfrm>
              <a:off x="3495201" y="1436790"/>
              <a:ext cx="1773600" cy="46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300" b="1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  M- measurable</a:t>
              </a:r>
              <a:endParaRPr sz="13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 i="1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  </a:t>
              </a:r>
              <a:r>
                <a:rPr lang="ru" sz="1200" i="1" u="sng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Измеримость</a:t>
              </a:r>
              <a:endParaRPr sz="1200" i="1" u="sng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9" name="Google Shape;189;p22"/>
          <p:cNvGrpSpPr/>
          <p:nvPr/>
        </p:nvGrpSpPr>
        <p:grpSpPr>
          <a:xfrm>
            <a:off x="299421" y="3107624"/>
            <a:ext cx="1717513" cy="561489"/>
            <a:chOff x="3523713" y="1436800"/>
            <a:chExt cx="1882413" cy="597647"/>
          </a:xfrm>
        </p:grpSpPr>
        <p:sp>
          <p:nvSpPr>
            <p:cNvPr id="190" name="Google Shape;190;p22"/>
            <p:cNvSpPr/>
            <p:nvPr/>
          </p:nvSpPr>
          <p:spPr>
            <a:xfrm rot="-5400000">
              <a:off x="4244725" y="873047"/>
              <a:ext cx="503125" cy="1819675"/>
            </a:xfrm>
            <a:prstGeom prst="flowChartOffpageConnector">
              <a:avLst/>
            </a:prstGeom>
            <a:solidFill>
              <a:srgbClr val="6FA8D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1" name="Google Shape;191;p22"/>
            <p:cNvSpPr txBox="1"/>
            <p:nvPr/>
          </p:nvSpPr>
          <p:spPr>
            <a:xfrm>
              <a:off x="3523713" y="1436800"/>
              <a:ext cx="1656600" cy="46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300" b="1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 A - achievable </a:t>
              </a:r>
              <a:endParaRPr sz="13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 i="1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ru" sz="1200" i="1" u="sng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Достижимость</a:t>
              </a:r>
              <a:endParaRPr sz="1200" i="1" u="sng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2" name="Google Shape;192;p22"/>
          <p:cNvGrpSpPr/>
          <p:nvPr/>
        </p:nvGrpSpPr>
        <p:grpSpPr>
          <a:xfrm>
            <a:off x="356332" y="3760969"/>
            <a:ext cx="1675932" cy="534117"/>
            <a:chOff x="3586438" y="1436800"/>
            <a:chExt cx="1819688" cy="597647"/>
          </a:xfrm>
        </p:grpSpPr>
        <p:sp>
          <p:nvSpPr>
            <p:cNvPr id="193" name="Google Shape;193;p22"/>
            <p:cNvSpPr/>
            <p:nvPr/>
          </p:nvSpPr>
          <p:spPr>
            <a:xfrm rot="-5400000">
              <a:off x="4244725" y="873047"/>
              <a:ext cx="503125" cy="1819675"/>
            </a:xfrm>
            <a:prstGeom prst="flowChartOffpageConnector">
              <a:avLst/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4" name="Google Shape;194;p22"/>
            <p:cNvSpPr txBox="1"/>
            <p:nvPr/>
          </p:nvSpPr>
          <p:spPr>
            <a:xfrm>
              <a:off x="3586438" y="1436800"/>
              <a:ext cx="1656600" cy="46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300" b="1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R - relevant</a:t>
              </a:r>
              <a:endParaRPr sz="13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 i="1" u="sng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Актуальность</a:t>
              </a:r>
              <a:endParaRPr sz="1200" i="1" u="sng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5" name="Google Shape;195;p22"/>
          <p:cNvGrpSpPr/>
          <p:nvPr/>
        </p:nvGrpSpPr>
        <p:grpSpPr>
          <a:xfrm>
            <a:off x="356320" y="4387101"/>
            <a:ext cx="1571664" cy="633444"/>
            <a:chOff x="3586438" y="1436800"/>
            <a:chExt cx="1819688" cy="590129"/>
          </a:xfrm>
        </p:grpSpPr>
        <p:sp>
          <p:nvSpPr>
            <p:cNvPr id="196" name="Google Shape;196;p22"/>
            <p:cNvSpPr/>
            <p:nvPr/>
          </p:nvSpPr>
          <p:spPr>
            <a:xfrm rot="-5400000">
              <a:off x="4244725" y="865528"/>
              <a:ext cx="503125" cy="1819675"/>
            </a:xfrm>
            <a:prstGeom prst="flowChartOffpageConnector">
              <a:avLst/>
            </a:prstGeom>
            <a:solidFill>
              <a:srgbClr val="3D85C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" name="Google Shape;197;p22"/>
            <p:cNvSpPr txBox="1"/>
            <p:nvPr/>
          </p:nvSpPr>
          <p:spPr>
            <a:xfrm>
              <a:off x="3586438" y="1436800"/>
              <a:ext cx="1656600" cy="46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300" b="1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T - time bound</a:t>
              </a:r>
              <a:endParaRPr sz="13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 i="1" u="sng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Ограниченность по времени </a:t>
              </a:r>
              <a:endParaRPr sz="1000" i="1" u="sng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/>
              <a:t> Определение ожидаемых выгод:</a:t>
            </a:r>
            <a:endParaRPr sz="2300" b="1"/>
          </a:p>
        </p:txBody>
      </p:sp>
      <p:sp>
        <p:nvSpPr>
          <p:cNvPr id="203" name="Google Shape;203;p23"/>
          <p:cNvSpPr/>
          <p:nvPr/>
        </p:nvSpPr>
        <p:spPr>
          <a:xfrm>
            <a:off x="197825" y="2267400"/>
            <a:ext cx="1856400" cy="602700"/>
          </a:xfrm>
          <a:prstGeom prst="roundRect">
            <a:avLst>
              <a:gd name="adj" fmla="val 16667"/>
            </a:avLst>
          </a:prstGeom>
          <a:solidFill>
            <a:srgbClr val="3C7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163475" y="2229350"/>
            <a:ext cx="20697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        Эффект от реализации идеи</a:t>
            </a:r>
            <a:endParaRPr sz="16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2518425" y="1164050"/>
            <a:ext cx="1810800" cy="754200"/>
          </a:xfrm>
          <a:prstGeom prst="homePlate">
            <a:avLst>
              <a:gd name="adj" fmla="val 50000"/>
            </a:avLst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2518413" y="3393700"/>
            <a:ext cx="2001000" cy="754200"/>
          </a:xfrm>
          <a:prstGeom prst="homePlate">
            <a:avLst>
              <a:gd name="adj" fmla="val 50000"/>
            </a:avLst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2449863" y="1308650"/>
            <a:ext cx="19479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Экономический</a:t>
            </a:r>
            <a:endParaRPr sz="17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2449863" y="3545550"/>
            <a:ext cx="22674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Неэкономический</a:t>
            </a:r>
            <a:endParaRPr sz="16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4869513" y="1103150"/>
            <a:ext cx="1856400" cy="814200"/>
          </a:xfrm>
          <a:prstGeom prst="rect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4869513" y="1103150"/>
            <a:ext cx="19479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Разность доходов и расходов на реализацию идеи</a:t>
            </a:r>
            <a:endParaRPr sz="15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7197675" y="738050"/>
            <a:ext cx="1635600" cy="7542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3"/>
          <p:cNvSpPr txBox="1"/>
          <p:nvPr/>
        </p:nvSpPr>
        <p:spPr>
          <a:xfrm>
            <a:off x="7197675" y="738050"/>
            <a:ext cx="1635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Доходы: высвобождение рабочего времени</a:t>
            </a:r>
            <a:endParaRPr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7197675" y="1650950"/>
            <a:ext cx="1666800" cy="9207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7136825" y="1611250"/>
            <a:ext cx="18963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Расходы:  организационные расходы внедрение, оплата подписки </a:t>
            </a:r>
            <a:endParaRPr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5000200" y="2655175"/>
            <a:ext cx="1715700" cy="7542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4929850" y="2655175"/>
            <a:ext cx="18564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Рост производительности процесса</a:t>
            </a:r>
            <a:endParaRPr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5010350" y="3768025"/>
            <a:ext cx="1635600" cy="8142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970300" y="3768025"/>
            <a:ext cx="17157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Более быстрое формирование графиков отпусков </a:t>
            </a:r>
            <a:endParaRPr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9" name="Google Shape;219;p23"/>
          <p:cNvCxnSpPr/>
          <p:nvPr/>
        </p:nvCxnSpPr>
        <p:spPr>
          <a:xfrm rot="10800000" flipH="1">
            <a:off x="1747575" y="1534775"/>
            <a:ext cx="702300" cy="629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" name="Google Shape;220;p23"/>
          <p:cNvCxnSpPr>
            <a:endCxn id="208" idx="1"/>
          </p:cNvCxnSpPr>
          <p:nvPr/>
        </p:nvCxnSpPr>
        <p:spPr>
          <a:xfrm>
            <a:off x="1579563" y="3079500"/>
            <a:ext cx="870300" cy="767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Google Shape;221;p23"/>
          <p:cNvCxnSpPr>
            <a:stCxn id="207" idx="3"/>
          </p:cNvCxnSpPr>
          <p:nvPr/>
        </p:nvCxnSpPr>
        <p:spPr>
          <a:xfrm>
            <a:off x="4397763" y="1510250"/>
            <a:ext cx="385500" cy="5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222;p23"/>
          <p:cNvCxnSpPr/>
          <p:nvPr/>
        </p:nvCxnSpPr>
        <p:spPr>
          <a:xfrm rot="10800000" flipH="1">
            <a:off x="6771588" y="1053450"/>
            <a:ext cx="380400" cy="337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3" name="Google Shape;223;p23"/>
          <p:cNvCxnSpPr>
            <a:endCxn id="214" idx="1"/>
          </p:cNvCxnSpPr>
          <p:nvPr/>
        </p:nvCxnSpPr>
        <p:spPr>
          <a:xfrm>
            <a:off x="6769025" y="1570600"/>
            <a:ext cx="367800" cy="34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4" name="Google Shape;224;p23"/>
          <p:cNvCxnSpPr/>
          <p:nvPr/>
        </p:nvCxnSpPr>
        <p:spPr>
          <a:xfrm rot="10800000" flipH="1">
            <a:off x="4397775" y="3100950"/>
            <a:ext cx="510600" cy="451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5" name="Google Shape;225;p23"/>
          <p:cNvCxnSpPr/>
          <p:nvPr/>
        </p:nvCxnSpPr>
        <p:spPr>
          <a:xfrm>
            <a:off x="4407925" y="4039425"/>
            <a:ext cx="542400" cy="340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>
            <a:spLocks noGrp="1"/>
          </p:cNvSpPr>
          <p:nvPr>
            <p:ph type="title"/>
          </p:nvPr>
        </p:nvSpPr>
        <p:spPr>
          <a:xfrm>
            <a:off x="153488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/>
              <a:t>Планирование проекта </a:t>
            </a:r>
            <a:endParaRPr sz="2400" b="1"/>
          </a:p>
        </p:txBody>
      </p:sp>
      <p:graphicFrame>
        <p:nvGraphicFramePr>
          <p:cNvPr id="231" name="Google Shape;231;p24"/>
          <p:cNvGraphicFramePr/>
          <p:nvPr/>
        </p:nvGraphicFramePr>
        <p:xfrm>
          <a:off x="64250" y="776225"/>
          <a:ext cx="9005075" cy="4160340"/>
        </p:xfrm>
        <a:graphic>
          <a:graphicData uri="http://schemas.openxmlformats.org/drawingml/2006/table">
            <a:tbl>
              <a:tblPr>
                <a:noFill/>
                <a:tableStyleId>{D60A766C-85BA-4292-9F71-706E58CABF03}</a:tableStyleId>
              </a:tblPr>
              <a:tblGrid>
                <a:gridCol w="1772125"/>
                <a:gridCol w="1756875"/>
                <a:gridCol w="2076425"/>
                <a:gridCol w="1734075"/>
                <a:gridCol w="1665575"/>
              </a:tblGrid>
              <a:tr h="35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Апрель - Май 2025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Июнь 2025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Июль 2025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Август 2025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Сентябрь  2025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652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Наблюдение и выявление процессов с наибольшими потерями 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1D5D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</a:tr>
              <a:tr h="783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Сбор и анализ всех данных, касательно процесса составления графика отпусков 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</a:tr>
              <a:tr h="661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Выбор подписки, внедрение платформы и обучение сотрудников по работе с ней 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</a:tr>
              <a:tr h="654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Тестирование платформы, доработка спорных моментов 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</a:tr>
              <a:tr h="701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Формирование нового графика отпусков с использованием платформы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1155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 txBox="1">
            <a:spLocks noGrp="1"/>
          </p:cNvSpPr>
          <p:nvPr>
            <p:ph type="title"/>
          </p:nvPr>
        </p:nvSpPr>
        <p:spPr>
          <a:xfrm>
            <a:off x="460950" y="609400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/>
              <a:t>5 причин почему текущий процесс занимает длительное время</a:t>
            </a:r>
            <a:endParaRPr sz="3300" b="1"/>
          </a:p>
        </p:txBody>
      </p:sp>
      <p:pic>
        <p:nvPicPr>
          <p:cNvPr id="237" name="Google Shape;237;p25" title="Снимок экрана (8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74400"/>
            <a:ext cx="8839198" cy="1431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5" title="Снимок экрана (8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558699"/>
            <a:ext cx="8839198" cy="148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"/>
          <p:cNvSpPr txBox="1">
            <a:spLocks noGrp="1"/>
          </p:cNvSpPr>
          <p:nvPr>
            <p:ph type="title"/>
          </p:nvPr>
        </p:nvSpPr>
        <p:spPr>
          <a:xfrm>
            <a:off x="460950" y="688925"/>
            <a:ext cx="8222100" cy="64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/>
              <a:t>5 причин почему текущий процесс занимает длительное время</a:t>
            </a:r>
            <a:endParaRPr/>
          </a:p>
        </p:txBody>
      </p:sp>
      <p:pic>
        <p:nvPicPr>
          <p:cNvPr id="244" name="Google Shape;244;p26" title="Снимок экрана (8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1050"/>
            <a:ext cx="8839200" cy="128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6" title="Снимок экрана (83).png"/>
          <p:cNvPicPr preferRelativeResize="0"/>
          <p:nvPr/>
        </p:nvPicPr>
        <p:blipFill rotWithShape="1">
          <a:blip r:embed="rId4">
            <a:alphaModFix/>
          </a:blip>
          <a:srcRect b="6041"/>
          <a:stretch/>
        </p:blipFill>
        <p:spPr>
          <a:xfrm>
            <a:off x="152400" y="3574675"/>
            <a:ext cx="8839202" cy="113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 txBox="1"/>
          <p:nvPr/>
        </p:nvSpPr>
        <p:spPr>
          <a:xfrm>
            <a:off x="3901950" y="198225"/>
            <a:ext cx="1481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VSM модель</a:t>
            </a:r>
            <a:endParaRPr sz="1800" b="1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51" name="Google Shape;251;p27"/>
          <p:cNvGrpSpPr/>
          <p:nvPr/>
        </p:nvGrpSpPr>
        <p:grpSpPr>
          <a:xfrm>
            <a:off x="1137250" y="2717875"/>
            <a:ext cx="1481400" cy="918000"/>
            <a:chOff x="678175" y="2112750"/>
            <a:chExt cx="1481400" cy="918000"/>
          </a:xfrm>
        </p:grpSpPr>
        <p:sp>
          <p:nvSpPr>
            <p:cNvPr id="252" name="Google Shape;252;p27"/>
            <p:cNvSpPr/>
            <p:nvPr/>
          </p:nvSpPr>
          <p:spPr>
            <a:xfrm>
              <a:off x="678175" y="2112750"/>
              <a:ext cx="1481400" cy="918000"/>
            </a:xfrm>
            <a:prstGeom prst="roundRect">
              <a:avLst>
                <a:gd name="adj" fmla="val 16667"/>
              </a:avLst>
            </a:prstGeom>
            <a:solidFill>
              <a:srgbClr val="B4A7D6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3" name="Google Shape;253;p27"/>
            <p:cNvSpPr txBox="1"/>
            <p:nvPr/>
          </p:nvSpPr>
          <p:spPr>
            <a:xfrm>
              <a:off x="678175" y="2253600"/>
              <a:ext cx="1481400" cy="63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Подача заявления </a:t>
              </a:r>
              <a:endParaRPr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4" name="Google Shape;254;p27"/>
          <p:cNvGrpSpPr/>
          <p:nvPr/>
        </p:nvGrpSpPr>
        <p:grpSpPr>
          <a:xfrm>
            <a:off x="2841313" y="2717875"/>
            <a:ext cx="1481400" cy="918000"/>
            <a:chOff x="2801275" y="2112750"/>
            <a:chExt cx="1481400" cy="918000"/>
          </a:xfrm>
        </p:grpSpPr>
        <p:sp>
          <p:nvSpPr>
            <p:cNvPr id="255" name="Google Shape;255;p27"/>
            <p:cNvSpPr/>
            <p:nvPr/>
          </p:nvSpPr>
          <p:spPr>
            <a:xfrm>
              <a:off x="2801275" y="2112750"/>
              <a:ext cx="1481400" cy="918000"/>
            </a:xfrm>
            <a:prstGeom prst="roundRect">
              <a:avLst>
                <a:gd name="adj" fmla="val 16667"/>
              </a:avLst>
            </a:prstGeom>
            <a:solidFill>
              <a:srgbClr val="B4A7D6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6" name="Google Shape;256;p27"/>
            <p:cNvSpPr txBox="1"/>
            <p:nvPr/>
          </p:nvSpPr>
          <p:spPr>
            <a:xfrm>
              <a:off x="2942125" y="2253550"/>
              <a:ext cx="1199700" cy="58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Обработка заявления</a:t>
              </a:r>
              <a:endParaRPr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7" name="Google Shape;257;p27"/>
          <p:cNvGrpSpPr/>
          <p:nvPr/>
        </p:nvGrpSpPr>
        <p:grpSpPr>
          <a:xfrm>
            <a:off x="4545400" y="2729650"/>
            <a:ext cx="1481400" cy="918000"/>
            <a:chOff x="5218825" y="2208875"/>
            <a:chExt cx="1481400" cy="918000"/>
          </a:xfrm>
        </p:grpSpPr>
        <p:sp>
          <p:nvSpPr>
            <p:cNvPr id="258" name="Google Shape;258;p27"/>
            <p:cNvSpPr/>
            <p:nvPr/>
          </p:nvSpPr>
          <p:spPr>
            <a:xfrm>
              <a:off x="5218825" y="2208875"/>
              <a:ext cx="1481400" cy="918000"/>
            </a:xfrm>
            <a:prstGeom prst="roundRect">
              <a:avLst>
                <a:gd name="adj" fmla="val 16667"/>
              </a:avLst>
            </a:prstGeom>
            <a:solidFill>
              <a:srgbClr val="B4A7D6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9" name="Google Shape;259;p27"/>
            <p:cNvSpPr txBox="1"/>
            <p:nvPr/>
          </p:nvSpPr>
          <p:spPr>
            <a:xfrm>
              <a:off x="5291875" y="2253550"/>
              <a:ext cx="1335300" cy="58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Внесение заявления в систему</a:t>
              </a:r>
              <a:endParaRPr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0" name="Google Shape;260;p27"/>
          <p:cNvGrpSpPr/>
          <p:nvPr/>
        </p:nvGrpSpPr>
        <p:grpSpPr>
          <a:xfrm>
            <a:off x="6177475" y="2717875"/>
            <a:ext cx="1481400" cy="918000"/>
            <a:chOff x="6229650" y="2160800"/>
            <a:chExt cx="1481400" cy="918000"/>
          </a:xfrm>
        </p:grpSpPr>
        <p:sp>
          <p:nvSpPr>
            <p:cNvPr id="261" name="Google Shape;261;p27"/>
            <p:cNvSpPr/>
            <p:nvPr/>
          </p:nvSpPr>
          <p:spPr>
            <a:xfrm>
              <a:off x="6229650" y="2160800"/>
              <a:ext cx="1481400" cy="918000"/>
            </a:xfrm>
            <a:prstGeom prst="roundRect">
              <a:avLst>
                <a:gd name="adj" fmla="val 16667"/>
              </a:avLst>
            </a:prstGeom>
            <a:solidFill>
              <a:srgbClr val="B4A7D6"/>
            </a:solidFill>
            <a:ln w="9525" cap="flat" cmpd="sng">
              <a:solidFill>
                <a:srgbClr val="B4A7D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2" name="Google Shape;262;p27"/>
            <p:cNvSpPr txBox="1"/>
            <p:nvPr/>
          </p:nvSpPr>
          <p:spPr>
            <a:xfrm>
              <a:off x="6391350" y="2258700"/>
              <a:ext cx="1158000" cy="62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Отправка на подписание проректору</a:t>
              </a:r>
              <a:endParaRPr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3" name="Google Shape;263;p27"/>
          <p:cNvGrpSpPr/>
          <p:nvPr/>
        </p:nvGrpSpPr>
        <p:grpSpPr>
          <a:xfrm>
            <a:off x="7410550" y="679325"/>
            <a:ext cx="1481400" cy="918000"/>
            <a:chOff x="6834800" y="648025"/>
            <a:chExt cx="1481400" cy="918000"/>
          </a:xfrm>
        </p:grpSpPr>
        <p:sp>
          <p:nvSpPr>
            <p:cNvPr id="264" name="Google Shape;264;p27"/>
            <p:cNvSpPr/>
            <p:nvPr/>
          </p:nvSpPr>
          <p:spPr>
            <a:xfrm>
              <a:off x="6834800" y="648025"/>
              <a:ext cx="1481400" cy="918000"/>
            </a:xfrm>
            <a:prstGeom prst="roundRect">
              <a:avLst>
                <a:gd name="adj" fmla="val 16667"/>
              </a:avLst>
            </a:prstGeom>
            <a:solidFill>
              <a:srgbClr val="FFD966"/>
            </a:solidFill>
            <a:ln w="9525" cap="flat" cmpd="sng">
              <a:solidFill>
                <a:srgbClr val="FFD9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5" name="Google Shape;265;p27"/>
            <p:cNvSpPr txBox="1"/>
            <p:nvPr/>
          </p:nvSpPr>
          <p:spPr>
            <a:xfrm>
              <a:off x="6938900" y="752900"/>
              <a:ext cx="1377300" cy="58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Преподаватели, отправляющие заявления на отпуск</a:t>
              </a:r>
              <a:endPara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66" name="Google Shape;266;p27"/>
          <p:cNvCxnSpPr>
            <a:stCxn id="264" idx="1"/>
            <a:endCxn id="267" idx="3"/>
          </p:cNvCxnSpPr>
          <p:nvPr/>
        </p:nvCxnSpPr>
        <p:spPr>
          <a:xfrm rot="10800000">
            <a:off x="5571250" y="1078325"/>
            <a:ext cx="1839300" cy="6000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68" name="Google Shape;268;p27"/>
          <p:cNvGrpSpPr/>
          <p:nvPr/>
        </p:nvGrpSpPr>
        <p:grpSpPr>
          <a:xfrm>
            <a:off x="448675" y="762650"/>
            <a:ext cx="1557063" cy="918000"/>
            <a:chOff x="709500" y="762650"/>
            <a:chExt cx="1557063" cy="918000"/>
          </a:xfrm>
        </p:grpSpPr>
        <p:sp>
          <p:nvSpPr>
            <p:cNvPr id="269" name="Google Shape;269;p27"/>
            <p:cNvSpPr/>
            <p:nvPr/>
          </p:nvSpPr>
          <p:spPr>
            <a:xfrm>
              <a:off x="709500" y="762650"/>
              <a:ext cx="1481400" cy="918000"/>
            </a:xfrm>
            <a:prstGeom prst="roundRect">
              <a:avLst>
                <a:gd name="adj" fmla="val 16667"/>
              </a:avLst>
            </a:prstGeom>
            <a:solidFill>
              <a:srgbClr val="FFD966"/>
            </a:solidFill>
            <a:ln w="9525" cap="flat" cmpd="sng">
              <a:solidFill>
                <a:srgbClr val="FFD9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0" name="Google Shape;270;p27"/>
            <p:cNvSpPr txBox="1"/>
            <p:nvPr/>
          </p:nvSpPr>
          <p:spPr>
            <a:xfrm>
              <a:off x="732963" y="823150"/>
              <a:ext cx="1533600" cy="68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кафедры, которые отправляют заявления на отпуск</a:t>
              </a:r>
              <a:endPara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71" name="Google Shape;271;p27"/>
          <p:cNvSpPr/>
          <p:nvPr/>
        </p:nvSpPr>
        <p:spPr>
          <a:xfrm>
            <a:off x="605125" y="1799875"/>
            <a:ext cx="427800" cy="918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6B8AF"/>
          </a:solidFill>
          <a:ln w="9525" cap="flat" cmpd="sng">
            <a:solidFill>
              <a:srgbClr val="E6B8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7"/>
          <p:cNvSpPr/>
          <p:nvPr/>
        </p:nvSpPr>
        <p:spPr>
          <a:xfrm>
            <a:off x="7921150" y="1799875"/>
            <a:ext cx="427800" cy="10014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E6B8AF"/>
          </a:solidFill>
          <a:ln w="9525" cap="flat" cmpd="sng">
            <a:solidFill>
              <a:srgbClr val="E6B8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73" name="Google Shape;273;p27"/>
          <p:cNvGrpSpPr/>
          <p:nvPr/>
        </p:nvGrpSpPr>
        <p:grpSpPr>
          <a:xfrm>
            <a:off x="3714150" y="880050"/>
            <a:ext cx="1857000" cy="396600"/>
            <a:chOff x="3369875" y="824200"/>
            <a:chExt cx="1857000" cy="396600"/>
          </a:xfrm>
        </p:grpSpPr>
        <p:sp>
          <p:nvSpPr>
            <p:cNvPr id="267" name="Google Shape;267;p27"/>
            <p:cNvSpPr/>
            <p:nvPr/>
          </p:nvSpPr>
          <p:spPr>
            <a:xfrm>
              <a:off x="3369875" y="824200"/>
              <a:ext cx="1857000" cy="3966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D9EA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7"/>
            <p:cNvSpPr txBox="1"/>
            <p:nvPr/>
          </p:nvSpPr>
          <p:spPr>
            <a:xfrm>
              <a:off x="3557675" y="824200"/>
              <a:ext cx="1481400" cy="18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/>
                <a:t>Планирование</a:t>
              </a:r>
              <a:endParaRPr/>
            </a:p>
          </p:txBody>
        </p:sp>
      </p:grpSp>
      <p:cxnSp>
        <p:nvCxnSpPr>
          <p:cNvPr id="275" name="Google Shape;275;p27"/>
          <p:cNvCxnSpPr>
            <a:stCxn id="267" idx="1"/>
          </p:cNvCxnSpPr>
          <p:nvPr/>
        </p:nvCxnSpPr>
        <p:spPr>
          <a:xfrm rot="10800000">
            <a:off x="1925850" y="1074450"/>
            <a:ext cx="1788300" cy="390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6" name="Google Shape;276;p27"/>
          <p:cNvGrpSpPr/>
          <p:nvPr/>
        </p:nvGrpSpPr>
        <p:grpSpPr>
          <a:xfrm>
            <a:off x="3714150" y="1386775"/>
            <a:ext cx="1857000" cy="396600"/>
            <a:chOff x="3369875" y="824200"/>
            <a:chExt cx="1857000" cy="396600"/>
          </a:xfrm>
        </p:grpSpPr>
        <p:sp>
          <p:nvSpPr>
            <p:cNvPr id="277" name="Google Shape;277;p27"/>
            <p:cNvSpPr/>
            <p:nvPr/>
          </p:nvSpPr>
          <p:spPr>
            <a:xfrm>
              <a:off x="3369875" y="824200"/>
              <a:ext cx="1857000" cy="396600"/>
            </a:xfrm>
            <a:prstGeom prst="rect">
              <a:avLst/>
            </a:prstGeom>
            <a:solidFill>
              <a:srgbClr val="EAD1DC"/>
            </a:solidFill>
            <a:ln w="9525" cap="flat" cmpd="sng">
              <a:solidFill>
                <a:srgbClr val="D9EA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7"/>
            <p:cNvSpPr txBox="1"/>
            <p:nvPr/>
          </p:nvSpPr>
          <p:spPr>
            <a:xfrm>
              <a:off x="3745475" y="824200"/>
              <a:ext cx="1481400" cy="187800"/>
            </a:xfrm>
            <a:prstGeom prst="rect">
              <a:avLst/>
            </a:pr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/>
                <a:t>Контроль</a:t>
              </a:r>
              <a:endParaRPr/>
            </a:p>
          </p:txBody>
        </p:sp>
      </p:grpSp>
      <p:cxnSp>
        <p:nvCxnSpPr>
          <p:cNvPr id="279" name="Google Shape;279;p27"/>
          <p:cNvCxnSpPr/>
          <p:nvPr/>
        </p:nvCxnSpPr>
        <p:spPr>
          <a:xfrm flipH="1">
            <a:off x="3744546" y="1853268"/>
            <a:ext cx="426900" cy="79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0" name="Google Shape;280;p27"/>
          <p:cNvCxnSpPr/>
          <p:nvPr/>
        </p:nvCxnSpPr>
        <p:spPr>
          <a:xfrm>
            <a:off x="4866075" y="1879107"/>
            <a:ext cx="280800" cy="75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1" name="Google Shape;281;p27"/>
          <p:cNvCxnSpPr/>
          <p:nvPr/>
        </p:nvCxnSpPr>
        <p:spPr>
          <a:xfrm>
            <a:off x="5560825" y="1700600"/>
            <a:ext cx="1126800" cy="100170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2" name="Google Shape;282;p27"/>
          <p:cNvSpPr txBox="1"/>
          <p:nvPr/>
        </p:nvSpPr>
        <p:spPr>
          <a:xfrm>
            <a:off x="3958263" y="2047813"/>
            <a:ext cx="9078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отслеживание времени обработки</a:t>
            </a:r>
            <a:endParaRPr sz="8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27"/>
          <p:cNvSpPr txBox="1"/>
          <p:nvPr/>
        </p:nvSpPr>
        <p:spPr>
          <a:xfrm>
            <a:off x="4995250" y="1871525"/>
            <a:ext cx="907800" cy="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проверка через электронные системы</a:t>
            </a:r>
            <a:endParaRPr sz="8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27"/>
          <p:cNvSpPr txBox="1"/>
          <p:nvPr/>
        </p:nvSpPr>
        <p:spPr>
          <a:xfrm>
            <a:off x="6288925" y="2007925"/>
            <a:ext cx="14607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проверка подписания ректором заявления</a:t>
            </a:r>
            <a:endParaRPr sz="4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27"/>
          <p:cNvSpPr txBox="1"/>
          <p:nvPr/>
        </p:nvSpPr>
        <p:spPr>
          <a:xfrm>
            <a:off x="1588025" y="4446269"/>
            <a:ext cx="14607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Ожидание</a:t>
            </a:r>
            <a:endParaRPr sz="10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27"/>
          <p:cNvSpPr txBox="1"/>
          <p:nvPr/>
        </p:nvSpPr>
        <p:spPr>
          <a:xfrm>
            <a:off x="1588025" y="3866800"/>
            <a:ext cx="9078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 b="1">
                <a:solidFill>
                  <a:srgbClr val="93C47D"/>
                </a:solidFill>
                <a:latin typeface="Roboto"/>
                <a:ea typeface="Roboto"/>
                <a:cs typeface="Roboto"/>
                <a:sym typeface="Roboto"/>
              </a:rPr>
              <a:t>Время выполнения</a:t>
            </a:r>
            <a:endParaRPr sz="800" b="1">
              <a:solidFill>
                <a:srgbClr val="93C47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7" name="Google Shape;287;p27"/>
          <p:cNvPicPr preferRelativeResize="0"/>
          <p:nvPr/>
        </p:nvPicPr>
        <p:blipFill rotWithShape="1">
          <a:blip r:embed="rId3">
            <a:alphaModFix/>
          </a:blip>
          <a:srcRect r="18019" b="-44927"/>
          <a:stretch/>
        </p:blipFill>
        <p:spPr>
          <a:xfrm>
            <a:off x="1891550" y="4265425"/>
            <a:ext cx="5628626" cy="73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 txBox="1"/>
          <p:nvPr/>
        </p:nvSpPr>
        <p:spPr>
          <a:xfrm>
            <a:off x="3325900" y="3865675"/>
            <a:ext cx="12642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5 мин</a:t>
            </a:r>
            <a:endParaRPr sz="18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2495825" y="4279150"/>
            <a:ext cx="11268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20 мин</a:t>
            </a:r>
            <a:endParaRPr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5715250" y="4319075"/>
            <a:ext cx="11268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4 часа</a:t>
            </a:r>
            <a:endParaRPr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p27"/>
          <p:cNvSpPr txBox="1"/>
          <p:nvPr/>
        </p:nvSpPr>
        <p:spPr>
          <a:xfrm>
            <a:off x="4161038" y="4319050"/>
            <a:ext cx="9078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17 мин</a:t>
            </a:r>
            <a:endParaRPr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27"/>
          <p:cNvSpPr txBox="1"/>
          <p:nvPr/>
        </p:nvSpPr>
        <p:spPr>
          <a:xfrm>
            <a:off x="4995250" y="3871563"/>
            <a:ext cx="12642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7 мин</a:t>
            </a:r>
            <a:endParaRPr sz="18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27"/>
          <p:cNvSpPr txBox="1"/>
          <p:nvPr/>
        </p:nvSpPr>
        <p:spPr>
          <a:xfrm>
            <a:off x="6622825" y="3871587"/>
            <a:ext cx="11268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5 мин</a:t>
            </a:r>
            <a:endParaRPr sz="18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30" title="2025-05-07_18-37-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8700" y="49400"/>
            <a:ext cx="6986026" cy="509410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0"/>
          <p:cNvSpPr txBox="1"/>
          <p:nvPr/>
        </p:nvSpPr>
        <p:spPr>
          <a:xfrm>
            <a:off x="5303275" y="4572850"/>
            <a:ext cx="33555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Диаграмма “Спагетти”</a:t>
            </a:r>
            <a:endParaRPr sz="1900" b="1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31" title="Flowchar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025" y="0"/>
            <a:ext cx="67772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1"/>
          <p:cNvSpPr txBox="1"/>
          <p:nvPr/>
        </p:nvSpPr>
        <p:spPr>
          <a:xfrm>
            <a:off x="1477025" y="156550"/>
            <a:ext cx="28263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Модель Ишикавы</a:t>
            </a:r>
            <a:endParaRPr sz="1700" b="1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2"/>
          <p:cNvSpPr txBox="1"/>
          <p:nvPr/>
        </p:nvSpPr>
        <p:spPr>
          <a:xfrm>
            <a:off x="752675" y="441600"/>
            <a:ext cx="7855500" cy="42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Процесс: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Подпроцесс: 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Этапы: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32"/>
          <p:cNvSpPr/>
          <p:nvPr/>
        </p:nvSpPr>
        <p:spPr>
          <a:xfrm>
            <a:off x="1497710" y="1553995"/>
            <a:ext cx="1383030" cy="68476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latin typeface="Roboto"/>
                <a:ea typeface="Roboto"/>
                <a:cs typeface="Roboto"/>
                <a:sym typeface="Roboto"/>
              </a:rPr>
              <a:t>Заполнение </a:t>
            </a:r>
            <a:r>
              <a:rPr lang="ru" sz="1200" dirty="0" smtClean="0">
                <a:latin typeface="Roboto"/>
                <a:ea typeface="Roboto"/>
                <a:cs typeface="Roboto"/>
                <a:sym typeface="Roboto"/>
              </a:rPr>
              <a:t>заявления кафедров 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3" name="Google Shape;323;p32"/>
          <p:cNvCxnSpPr>
            <a:stCxn id="322" idx="3"/>
            <a:endCxn id="324" idx="1"/>
          </p:cNvCxnSpPr>
          <p:nvPr/>
        </p:nvCxnSpPr>
        <p:spPr>
          <a:xfrm>
            <a:off x="2880740" y="1896375"/>
            <a:ext cx="488584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4" name="Google Shape;324;p32"/>
          <p:cNvSpPr/>
          <p:nvPr/>
        </p:nvSpPr>
        <p:spPr>
          <a:xfrm>
            <a:off x="3369324" y="1461296"/>
            <a:ext cx="2114453" cy="870158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Переделывание в случае ошибки, в ином случае </a:t>
            </a:r>
            <a:r>
              <a:rPr lang="ru-RU" sz="1200" dirty="0" smtClean="0">
                <a:latin typeface="Roboto"/>
                <a:ea typeface="Roboto"/>
                <a:cs typeface="Roboto"/>
                <a:sym typeface="Roboto"/>
              </a:rPr>
              <a:t>обработка заявление сотрудников ППС</a:t>
            </a:r>
            <a:endParaRPr lang="ru-RU" sz="1200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5" name="Google Shape;325;p32"/>
          <p:cNvCxnSpPr>
            <a:stCxn id="324" idx="3"/>
            <a:endCxn id="326" idx="1"/>
          </p:cNvCxnSpPr>
          <p:nvPr/>
        </p:nvCxnSpPr>
        <p:spPr>
          <a:xfrm>
            <a:off x="5483777" y="1896375"/>
            <a:ext cx="83204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6" name="Google Shape;326;p32"/>
          <p:cNvSpPr/>
          <p:nvPr/>
        </p:nvSpPr>
        <p:spPr>
          <a:xfrm>
            <a:off x="6315818" y="1527525"/>
            <a:ext cx="1681364" cy="7377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Подписание проректором </a:t>
            </a:r>
            <a:r>
              <a:rPr lang="ru-RU" sz="1200" dirty="0" smtClean="0">
                <a:latin typeface="Roboto"/>
                <a:ea typeface="Roboto"/>
                <a:cs typeface="Roboto"/>
                <a:sym typeface="Roboto"/>
              </a:rPr>
              <a:t>заявления</a:t>
            </a:r>
            <a:endParaRPr lang="ru-RU"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32"/>
          <p:cNvSpPr/>
          <p:nvPr/>
        </p:nvSpPr>
        <p:spPr>
          <a:xfrm>
            <a:off x="3595250" y="426025"/>
            <a:ext cx="1662600" cy="5922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 smtClean="0">
                <a:latin typeface="Roboto"/>
                <a:ea typeface="Roboto"/>
                <a:cs typeface="Roboto"/>
                <a:sym typeface="Roboto"/>
              </a:rPr>
              <a:t>Формирование графика отпусков 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32"/>
          <p:cNvSpPr/>
          <p:nvPr/>
        </p:nvSpPr>
        <p:spPr>
          <a:xfrm>
            <a:off x="207625" y="3163938"/>
            <a:ext cx="1070400" cy="5922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rgbClr val="EAD1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Заполнение заявления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32"/>
          <p:cNvSpPr/>
          <p:nvPr/>
        </p:nvSpPr>
        <p:spPr>
          <a:xfrm>
            <a:off x="1629392" y="3163950"/>
            <a:ext cx="1070400" cy="5922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rgbClr val="EAD1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Передача его в ППС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32"/>
          <p:cNvSpPr/>
          <p:nvPr/>
        </p:nvSpPr>
        <p:spPr>
          <a:xfrm>
            <a:off x="3069552" y="3147814"/>
            <a:ext cx="1070400" cy="5922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rgbClr val="EAD1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Проверка </a:t>
            </a:r>
            <a:r>
              <a:rPr lang="ru" sz="1300" dirty="0" smtClean="0">
                <a:latin typeface="Roboto"/>
                <a:ea typeface="Roboto"/>
                <a:cs typeface="Roboto"/>
                <a:sym typeface="Roboto"/>
              </a:rPr>
              <a:t>заявление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32"/>
          <p:cNvSpPr/>
          <p:nvPr/>
        </p:nvSpPr>
        <p:spPr>
          <a:xfrm>
            <a:off x="6156176" y="3121565"/>
            <a:ext cx="1120575" cy="613932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rgbClr val="EAD1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 smtClean="0">
                <a:latin typeface="Roboto"/>
                <a:ea typeface="Roboto"/>
                <a:cs typeface="Roboto"/>
                <a:sym typeface="Roboto"/>
              </a:rPr>
              <a:t>Печать заявления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32"/>
          <p:cNvSpPr/>
          <p:nvPr/>
        </p:nvSpPr>
        <p:spPr>
          <a:xfrm>
            <a:off x="7740352" y="3075806"/>
            <a:ext cx="1279720" cy="70545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rgbClr val="EAD1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latin typeface="Roboto"/>
                <a:ea typeface="Roboto"/>
                <a:cs typeface="Roboto"/>
                <a:sym typeface="Roboto"/>
              </a:rPr>
              <a:t>Подписание </a:t>
            </a:r>
            <a:r>
              <a:rPr lang="ru" sz="1200" dirty="0" smtClean="0">
                <a:latin typeface="Roboto"/>
                <a:ea typeface="Roboto"/>
                <a:cs typeface="Roboto"/>
                <a:sym typeface="Roboto"/>
              </a:rPr>
              <a:t>проректором заявления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32"/>
          <p:cNvSpPr/>
          <p:nvPr/>
        </p:nvSpPr>
        <p:spPr>
          <a:xfrm>
            <a:off x="4478227" y="3147814"/>
            <a:ext cx="1245901" cy="582477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rgbClr val="EAD1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200" dirty="0" smtClean="0">
                <a:latin typeface="Roboto"/>
                <a:ea typeface="Roboto"/>
                <a:cs typeface="Roboto"/>
                <a:sym typeface="Roboto"/>
              </a:rPr>
              <a:t>Внос данных в систему</a:t>
            </a:r>
            <a:endParaRPr lang="ru-RU" sz="1200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4" name="Google Shape;334;p32"/>
          <p:cNvCxnSpPr>
            <a:stCxn id="328" idx="3"/>
            <a:endCxn id="329" idx="1"/>
          </p:cNvCxnSpPr>
          <p:nvPr/>
        </p:nvCxnSpPr>
        <p:spPr>
          <a:xfrm>
            <a:off x="1278025" y="3460038"/>
            <a:ext cx="351367" cy="1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5" name="Google Shape;335;p32"/>
          <p:cNvCxnSpPr>
            <a:stCxn id="329" idx="3"/>
            <a:endCxn id="330" idx="1"/>
          </p:cNvCxnSpPr>
          <p:nvPr/>
        </p:nvCxnSpPr>
        <p:spPr>
          <a:xfrm flipV="1">
            <a:off x="2699792" y="3443914"/>
            <a:ext cx="369760" cy="1613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6" name="Google Shape;336;p32"/>
          <p:cNvCxnSpPr>
            <a:stCxn id="330" idx="3"/>
            <a:endCxn id="333" idx="1"/>
          </p:cNvCxnSpPr>
          <p:nvPr/>
        </p:nvCxnSpPr>
        <p:spPr>
          <a:xfrm flipV="1">
            <a:off x="4139952" y="3439053"/>
            <a:ext cx="338275" cy="486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7" name="Google Shape;337;p32"/>
          <p:cNvCxnSpPr>
            <a:stCxn id="333" idx="3"/>
            <a:endCxn id="331" idx="1"/>
          </p:cNvCxnSpPr>
          <p:nvPr/>
        </p:nvCxnSpPr>
        <p:spPr>
          <a:xfrm flipV="1">
            <a:off x="5724128" y="3428531"/>
            <a:ext cx="432048" cy="1052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8" name="Google Shape;338;p32"/>
          <p:cNvCxnSpPr>
            <a:stCxn id="331" idx="3"/>
            <a:endCxn id="332" idx="1"/>
          </p:cNvCxnSpPr>
          <p:nvPr/>
        </p:nvCxnSpPr>
        <p:spPr>
          <a:xfrm>
            <a:off x="7276751" y="3428531"/>
            <a:ext cx="46360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3"/>
          <p:cNvSpPr/>
          <p:nvPr/>
        </p:nvSpPr>
        <p:spPr>
          <a:xfrm>
            <a:off x="3178575" y="1618175"/>
            <a:ext cx="2774100" cy="1202100"/>
          </a:xfrm>
          <a:prstGeom prst="rect">
            <a:avLst/>
          </a:prstGeom>
          <a:solidFill>
            <a:srgbClr val="6FA8DC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Прием и обработка заявлений на отпуск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4" name="Google Shape;344;p33"/>
          <p:cNvCxnSpPr/>
          <p:nvPr/>
        </p:nvCxnSpPr>
        <p:spPr>
          <a:xfrm rot="10800000" flipH="1">
            <a:off x="658825" y="1861075"/>
            <a:ext cx="2427300" cy="1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5" name="Google Shape;345;p33"/>
          <p:cNvSpPr txBox="1"/>
          <p:nvPr/>
        </p:nvSpPr>
        <p:spPr>
          <a:xfrm>
            <a:off x="928400" y="1490875"/>
            <a:ext cx="19071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Заявления на отпуск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6" name="Google Shape;346;p33"/>
          <p:cNvCxnSpPr/>
          <p:nvPr/>
        </p:nvCxnSpPr>
        <p:spPr>
          <a:xfrm rot="10800000" flipH="1">
            <a:off x="728175" y="2357925"/>
            <a:ext cx="2242500" cy="2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7" name="Google Shape;347;p33"/>
          <p:cNvSpPr txBox="1"/>
          <p:nvPr/>
        </p:nvSpPr>
        <p:spPr>
          <a:xfrm>
            <a:off x="895800" y="1993850"/>
            <a:ext cx="17106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Календарь отпусков</a:t>
            </a:r>
            <a:endParaRPr sz="12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8" name="Google Shape;348;p33"/>
          <p:cNvCxnSpPr/>
          <p:nvPr/>
        </p:nvCxnSpPr>
        <p:spPr>
          <a:xfrm rot="10800000" flipH="1">
            <a:off x="6035650" y="1861075"/>
            <a:ext cx="2427300" cy="1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9" name="Google Shape;349;p33"/>
          <p:cNvSpPr txBox="1"/>
          <p:nvPr/>
        </p:nvSpPr>
        <p:spPr>
          <a:xfrm>
            <a:off x="6295750" y="1577875"/>
            <a:ext cx="19071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Оформленный отпуск</a:t>
            </a:r>
            <a:endParaRPr sz="12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0" name="Google Shape;350;p33"/>
          <p:cNvCxnSpPr/>
          <p:nvPr/>
        </p:nvCxnSpPr>
        <p:spPr>
          <a:xfrm rot="10800000" flipH="1">
            <a:off x="3929875" y="2967075"/>
            <a:ext cx="8100" cy="1679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1" name="Google Shape;351;p33"/>
          <p:cNvCxnSpPr/>
          <p:nvPr/>
        </p:nvCxnSpPr>
        <p:spPr>
          <a:xfrm rot="10800000" flipH="1">
            <a:off x="5099425" y="2967075"/>
            <a:ext cx="8100" cy="1679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2" name="Google Shape;352;p33"/>
          <p:cNvCxnSpPr/>
          <p:nvPr/>
        </p:nvCxnSpPr>
        <p:spPr>
          <a:xfrm flipH="1">
            <a:off x="3928138" y="169675"/>
            <a:ext cx="1200" cy="132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3" name="Google Shape;353;p33"/>
          <p:cNvCxnSpPr/>
          <p:nvPr/>
        </p:nvCxnSpPr>
        <p:spPr>
          <a:xfrm flipH="1">
            <a:off x="5102875" y="169675"/>
            <a:ext cx="1200" cy="132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4" name="Google Shape;354;p33"/>
          <p:cNvCxnSpPr/>
          <p:nvPr/>
        </p:nvCxnSpPr>
        <p:spPr>
          <a:xfrm rot="10800000" flipH="1">
            <a:off x="6035650" y="2363775"/>
            <a:ext cx="2427300" cy="1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5" name="Google Shape;355;p33"/>
          <p:cNvSpPr txBox="1"/>
          <p:nvPr/>
        </p:nvSpPr>
        <p:spPr>
          <a:xfrm>
            <a:off x="6035650" y="20345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Обновленный график отпусков</a:t>
            </a:r>
            <a:endParaRPr/>
          </a:p>
        </p:txBody>
      </p:sp>
      <p:sp>
        <p:nvSpPr>
          <p:cNvPr id="356" name="Google Shape;356;p33"/>
          <p:cNvSpPr txBox="1"/>
          <p:nvPr/>
        </p:nvSpPr>
        <p:spPr>
          <a:xfrm>
            <a:off x="2444025" y="3515925"/>
            <a:ext cx="13935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300"/>
              </a:spcBef>
              <a:spcAft>
                <a:spcPts val="10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Руководитель подразделения</a:t>
            </a:r>
            <a:endParaRPr sz="1200">
              <a:solidFill>
                <a:srgbClr val="40404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3"/>
          <p:cNvSpPr txBox="1"/>
          <p:nvPr/>
        </p:nvSpPr>
        <p:spPr>
          <a:xfrm>
            <a:off x="2835500" y="340825"/>
            <a:ext cx="13293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300"/>
              </a:spcBef>
              <a:spcAft>
                <a:spcPts val="10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Трудовой кодекс</a:t>
            </a:r>
            <a:endParaRPr sz="1200">
              <a:solidFill>
                <a:srgbClr val="40404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33"/>
          <p:cNvSpPr txBox="1"/>
          <p:nvPr/>
        </p:nvSpPr>
        <p:spPr>
          <a:xfrm>
            <a:off x="4960725" y="240575"/>
            <a:ext cx="1393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300"/>
              </a:spcBef>
              <a:spcAft>
                <a:spcPts val="10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Политика компании по отпускам</a:t>
            </a:r>
            <a:endParaRPr sz="1200">
              <a:solidFill>
                <a:srgbClr val="40404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33"/>
          <p:cNvSpPr txBox="1"/>
          <p:nvPr/>
        </p:nvSpPr>
        <p:spPr>
          <a:xfrm>
            <a:off x="5201300" y="3622125"/>
            <a:ext cx="101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Битрикс24</a:t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4103288" y="104025"/>
            <a:ext cx="1098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latin typeface="Times New Roman"/>
                <a:ea typeface="Times New Roman"/>
                <a:cs typeface="Times New Roman"/>
                <a:sym typeface="Times New Roman"/>
              </a:rPr>
              <a:t>IDEF0</a:t>
            </a:r>
            <a:endParaRPr sz="1700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>
            <a:spLocks noGrp="1"/>
          </p:cNvSpPr>
          <p:nvPr>
            <p:ph type="title"/>
          </p:nvPr>
        </p:nvSpPr>
        <p:spPr>
          <a:xfrm>
            <a:off x="388200" y="349907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/>
              <a:t>Целевой процесс :</a:t>
            </a:r>
            <a:endParaRPr b="1"/>
          </a:p>
        </p:txBody>
      </p:sp>
      <p:sp>
        <p:nvSpPr>
          <p:cNvPr id="366" name="Google Shape;366;p34"/>
          <p:cNvSpPr txBox="1">
            <a:spLocks noGrp="1"/>
          </p:cNvSpPr>
          <p:nvPr>
            <p:ph type="body" idx="1"/>
          </p:nvPr>
        </p:nvSpPr>
        <p:spPr>
          <a:xfrm>
            <a:off x="304350" y="1919075"/>
            <a:ext cx="83898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1A1A1A"/>
                </a:solidFill>
              </a:rPr>
              <a:t>Одной из самой затратной по времени части процесса является доставка заявлений до главного здания на подпись проректору и ожидание готовности этих документов, для того, чтобы вернуть эти документы обратно в отдел по работе с ППС и вложить в личное дело сотрудника. </a:t>
            </a:r>
            <a:endParaRPr dirty="0"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>
                <a:solidFill>
                  <a:srgbClr val="1A1A1A"/>
                </a:solidFill>
              </a:rPr>
              <a:t>Внедрив платформу БИТРИКС24 в работу отдела ППС можно упросить и ускорить процесс обработки заявления и составления графика отпусков, за счет исключения бумажного документооборота из процесса.</a:t>
            </a:r>
            <a:endParaRPr dirty="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5"/>
          <p:cNvSpPr txBox="1"/>
          <p:nvPr/>
        </p:nvSpPr>
        <p:spPr>
          <a:xfrm>
            <a:off x="3169225" y="197425"/>
            <a:ext cx="3231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Целевой процесс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35"/>
          <p:cNvSpPr txBox="1"/>
          <p:nvPr/>
        </p:nvSpPr>
        <p:spPr>
          <a:xfrm>
            <a:off x="487325" y="742075"/>
            <a:ext cx="3057000" cy="8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3" name="Google Shape;373;p35" title="2025-05-07_16-03-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75375"/>
            <a:ext cx="9077202" cy="217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b="1"/>
              <a:t>БИТРИКС дает возможность руководителю, HR и сотруднику:</a:t>
            </a:r>
            <a:endParaRPr b="1"/>
          </a:p>
        </p:txBody>
      </p:sp>
      <p:sp>
        <p:nvSpPr>
          <p:cNvPr id="379" name="Google Shape;379;p36"/>
          <p:cNvSpPr txBox="1"/>
          <p:nvPr/>
        </p:nvSpPr>
        <p:spPr>
          <a:xfrm>
            <a:off x="563175" y="3147813"/>
            <a:ext cx="9456000" cy="9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Уходить в отпуск согласно графика, без стрессов и волнений.</a:t>
            </a:r>
            <a:endParaRPr sz="20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36"/>
          <p:cNvSpPr/>
          <p:nvPr/>
        </p:nvSpPr>
        <p:spPr>
          <a:xfrm>
            <a:off x="141925" y="902288"/>
            <a:ext cx="369000" cy="369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36"/>
          <p:cNvSpPr/>
          <p:nvPr/>
        </p:nvSpPr>
        <p:spPr>
          <a:xfrm>
            <a:off x="141925" y="1471838"/>
            <a:ext cx="369000" cy="369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36"/>
          <p:cNvSpPr/>
          <p:nvPr/>
        </p:nvSpPr>
        <p:spPr>
          <a:xfrm>
            <a:off x="141925" y="2041400"/>
            <a:ext cx="369000" cy="369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36"/>
          <p:cNvSpPr/>
          <p:nvPr/>
        </p:nvSpPr>
        <p:spPr>
          <a:xfrm>
            <a:off x="141925" y="2627625"/>
            <a:ext cx="369000" cy="369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36"/>
          <p:cNvSpPr/>
          <p:nvPr/>
        </p:nvSpPr>
        <p:spPr>
          <a:xfrm>
            <a:off x="152400" y="3213850"/>
            <a:ext cx="369000" cy="369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36"/>
          <p:cNvSpPr/>
          <p:nvPr/>
        </p:nvSpPr>
        <p:spPr>
          <a:xfrm>
            <a:off x="141925" y="4386300"/>
            <a:ext cx="369000" cy="369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36"/>
          <p:cNvSpPr txBox="1"/>
          <p:nvPr/>
        </p:nvSpPr>
        <p:spPr>
          <a:xfrm>
            <a:off x="190450" y="729650"/>
            <a:ext cx="8991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Выбирать желаемые даты для отпуска, не попадая в конфликт с коллегами.</a:t>
            </a:r>
            <a:endParaRPr sz="2000" dirty="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36"/>
          <p:cNvSpPr txBox="1"/>
          <p:nvPr/>
        </p:nvSpPr>
        <p:spPr>
          <a:xfrm>
            <a:off x="190450" y="1410038"/>
            <a:ext cx="5767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Подавать заявки на отпуск онлайн.</a:t>
            </a:r>
            <a:endParaRPr dirty="0"/>
          </a:p>
        </p:txBody>
      </p:sp>
      <p:sp>
        <p:nvSpPr>
          <p:cNvPr id="388" name="Google Shape;388;p36"/>
          <p:cNvSpPr txBox="1"/>
          <p:nvPr/>
        </p:nvSpPr>
        <p:spPr>
          <a:xfrm>
            <a:off x="176650" y="1968975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Проверять наличие конфликтов расписаний сотрудников.</a:t>
            </a:r>
            <a:endParaRPr sz="20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36"/>
          <p:cNvSpPr txBox="1"/>
          <p:nvPr/>
        </p:nvSpPr>
        <p:spPr>
          <a:xfrm>
            <a:off x="176650" y="2526400"/>
            <a:ext cx="8929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Формировать график отсутствий и общий календарь.</a:t>
            </a:r>
            <a:endParaRPr sz="20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36"/>
          <p:cNvSpPr txBox="1"/>
          <p:nvPr/>
        </p:nvSpPr>
        <p:spPr>
          <a:xfrm>
            <a:off x="163175" y="4324500"/>
            <a:ext cx="782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Получать уведомления о дате приближения отпуска.</a:t>
            </a:r>
            <a:endParaRPr sz="20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36"/>
          <p:cNvSpPr txBox="1"/>
          <p:nvPr/>
        </p:nvSpPr>
        <p:spPr>
          <a:xfrm>
            <a:off x="176650" y="3152050"/>
            <a:ext cx="9393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Производить при необходимости пересмотр планов отпусков.</a:t>
            </a:r>
            <a:endParaRPr sz="20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36"/>
          <p:cNvSpPr/>
          <p:nvPr/>
        </p:nvSpPr>
        <p:spPr>
          <a:xfrm>
            <a:off x="152400" y="3800063"/>
            <a:ext cx="369000" cy="369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7"/>
          <p:cNvSpPr txBox="1">
            <a:spLocks noGrp="1"/>
          </p:cNvSpPr>
          <p:nvPr>
            <p:ph type="title"/>
          </p:nvPr>
        </p:nvSpPr>
        <p:spPr>
          <a:xfrm>
            <a:off x="59125" y="-8150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/>
              <a:t>Сформированный программой БИТРИКС график отпусков в виде списка</a:t>
            </a:r>
            <a:endParaRPr b="1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699542"/>
            <a:ext cx="8568952" cy="430821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>
            <a:spLocks noGrp="1"/>
          </p:cNvSpPr>
          <p:nvPr>
            <p:ph type="title"/>
          </p:nvPr>
        </p:nvSpPr>
        <p:spPr>
          <a:xfrm>
            <a:off x="5260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/>
              <a:t>Сформированный программой БИТРИКС график отпусков в виде канбан</a:t>
            </a:r>
            <a:endParaRPr b="1"/>
          </a:p>
        </p:txBody>
      </p:sp>
      <p:pic>
        <p:nvPicPr>
          <p:cNvPr id="411" name="Google Shape;411;p38" title="кб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475" y="721850"/>
            <a:ext cx="8570476" cy="432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461;p42"/>
          <p:cNvSpPr/>
          <p:nvPr/>
        </p:nvSpPr>
        <p:spPr>
          <a:xfrm>
            <a:off x="35496" y="2304256"/>
            <a:ext cx="9126496" cy="1059582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Google Shape;461;p42"/>
          <p:cNvSpPr/>
          <p:nvPr/>
        </p:nvSpPr>
        <p:spPr>
          <a:xfrm>
            <a:off x="0" y="1179625"/>
            <a:ext cx="9126496" cy="1059582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Google Shape;461;p42"/>
          <p:cNvSpPr/>
          <p:nvPr/>
        </p:nvSpPr>
        <p:spPr>
          <a:xfrm>
            <a:off x="0" y="0"/>
            <a:ext cx="9126496" cy="1059582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35"/>
          <p:cNvSpPr txBox="1"/>
          <p:nvPr/>
        </p:nvSpPr>
        <p:spPr>
          <a:xfrm>
            <a:off x="487325" y="742075"/>
            <a:ext cx="3057000" cy="8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3" name="Google Shape;373;p35" title="2025-05-07_16-03-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08" y="3158697"/>
            <a:ext cx="9077202" cy="21795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66;p34"/>
          <p:cNvSpPr txBox="1">
            <a:spLocks/>
          </p:cNvSpPr>
          <p:nvPr/>
        </p:nvSpPr>
        <p:spPr>
          <a:xfrm>
            <a:off x="0" y="0"/>
            <a:ext cx="9077202" cy="42484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450" dirty="0" smtClean="0">
                <a:solidFill>
                  <a:srgbClr val="1A1A1A"/>
                </a:solidFill>
              </a:rPr>
              <a:t>Таким образом целевой </a:t>
            </a:r>
            <a:r>
              <a:rPr lang="ru-RU" sz="1450" i="1" u="sng" dirty="0">
                <a:solidFill>
                  <a:schemeClr val="tx1"/>
                </a:solidFill>
              </a:rPr>
              <a:t>процесс сокращается за счёт исключения</a:t>
            </a:r>
            <a:r>
              <a:rPr lang="ru-RU" sz="1450" dirty="0" smtClean="0">
                <a:solidFill>
                  <a:schemeClr val="tx1"/>
                </a:solidFill>
              </a:rPr>
              <a:t> </a:t>
            </a:r>
            <a:r>
              <a:rPr lang="ru-RU" sz="1450" dirty="0" smtClean="0">
                <a:solidFill>
                  <a:srgbClr val="1A1A1A"/>
                </a:solidFill>
              </a:rPr>
              <a:t>приёмной комиссии из процесса, т.к. </a:t>
            </a:r>
            <a:r>
              <a:rPr lang="ru-RU" sz="1450" dirty="0">
                <a:solidFill>
                  <a:srgbClr val="1A1A1A"/>
                </a:solidFill>
              </a:rPr>
              <a:t>каждый </a:t>
            </a:r>
            <a:r>
              <a:rPr lang="ru-RU" sz="1450" dirty="0" smtClean="0">
                <a:solidFill>
                  <a:srgbClr val="1A1A1A"/>
                </a:solidFill>
              </a:rPr>
              <a:t>сотрудник самостоятельно через личный кабинет заполняет заявление на отпуск, а руководитель получат сформированный список отпусков, который он проверяет и </a:t>
            </a:r>
            <a:r>
              <a:rPr lang="ru-RU" sz="1450" i="1" u="sng" dirty="0">
                <a:solidFill>
                  <a:schemeClr val="tx1"/>
                </a:solidFill>
              </a:rPr>
              <a:t>напрямую отправляет в электронном виде </a:t>
            </a:r>
            <a:r>
              <a:rPr lang="ru-RU" sz="1450" dirty="0" smtClean="0">
                <a:solidFill>
                  <a:schemeClr val="tx1"/>
                </a:solidFill>
              </a:rPr>
              <a:t>  </a:t>
            </a:r>
            <a:r>
              <a:rPr lang="ru-RU" sz="1450" dirty="0" smtClean="0">
                <a:solidFill>
                  <a:srgbClr val="1A1A1A"/>
                </a:solidFill>
              </a:rPr>
              <a:t>специалисту по работе с ППС. </a:t>
            </a:r>
          </a:p>
          <a:p>
            <a:endParaRPr lang="ru-RU" sz="1450" dirty="0">
              <a:solidFill>
                <a:srgbClr val="1A1A1A"/>
              </a:solidFill>
            </a:endParaRPr>
          </a:p>
          <a:p>
            <a:r>
              <a:rPr lang="ru-RU" sz="1450" dirty="0" smtClean="0">
                <a:solidFill>
                  <a:srgbClr val="1A1A1A"/>
                </a:solidFill>
              </a:rPr>
              <a:t>У специалиста по работе с ППС также</a:t>
            </a:r>
            <a:r>
              <a:rPr lang="ru-RU" sz="1450" i="1" u="sng" dirty="0">
                <a:solidFill>
                  <a:srgbClr val="2DC75C"/>
                </a:solidFill>
              </a:rPr>
              <a:t> </a:t>
            </a:r>
            <a:r>
              <a:rPr lang="ru-RU" sz="1450" i="1" u="sng" dirty="0">
                <a:solidFill>
                  <a:schemeClr val="tx1"/>
                </a:solidFill>
              </a:rPr>
              <a:t>сокращается время на обработку заявлений </a:t>
            </a:r>
            <a:r>
              <a:rPr lang="ru-RU" sz="1450" dirty="0" smtClean="0">
                <a:solidFill>
                  <a:srgbClr val="1A1A1A"/>
                </a:solidFill>
              </a:rPr>
              <a:t>за счёт того, что теперь в самой программе есть встроенные шаблоны для печати приказа, в котором разом будут сразу прописаны все сотрудники и сроки их отпусков. Таким образом </a:t>
            </a:r>
            <a:r>
              <a:rPr lang="ru-RU" sz="1450" i="1" u="sng" dirty="0">
                <a:solidFill>
                  <a:schemeClr val="tx1"/>
                </a:solidFill>
              </a:rPr>
              <a:t>проректору на подпись относится единый приказ</a:t>
            </a:r>
            <a:r>
              <a:rPr lang="ru-RU" sz="1450" dirty="0" smtClean="0">
                <a:solidFill>
                  <a:srgbClr val="1A1A1A"/>
                </a:solidFill>
              </a:rPr>
              <a:t>, в котором прописаны все сотрудники, а не </a:t>
            </a:r>
            <a:r>
              <a:rPr lang="ru-RU" sz="1450" dirty="0">
                <a:solidFill>
                  <a:srgbClr val="1A1A1A"/>
                </a:solidFill>
              </a:rPr>
              <a:t>заявление каждого </a:t>
            </a:r>
            <a:r>
              <a:rPr lang="ru-RU" sz="1450" dirty="0" smtClean="0">
                <a:solidFill>
                  <a:srgbClr val="1A1A1A"/>
                </a:solidFill>
              </a:rPr>
              <a:t>сотрудника. </a:t>
            </a:r>
          </a:p>
          <a:p>
            <a:endParaRPr lang="ru-RU" sz="1450" dirty="0">
              <a:solidFill>
                <a:srgbClr val="1A1A1A"/>
              </a:solidFill>
            </a:endParaRPr>
          </a:p>
          <a:p>
            <a:r>
              <a:rPr lang="ru-RU" sz="1450" dirty="0" smtClean="0">
                <a:solidFill>
                  <a:srgbClr val="1A1A1A"/>
                </a:solidFill>
              </a:rPr>
              <a:t>Благодаря введения общей системы уведомления о готовности документов (например, </a:t>
            </a:r>
            <a:r>
              <a:rPr lang="en-US" sz="1450" dirty="0" smtClean="0">
                <a:solidFill>
                  <a:srgbClr val="1A1A1A"/>
                </a:solidFill>
              </a:rPr>
              <a:t>google </a:t>
            </a:r>
            <a:r>
              <a:rPr lang="ru-RU" sz="1450" dirty="0" smtClean="0">
                <a:solidFill>
                  <a:srgbClr val="1A1A1A"/>
                </a:solidFill>
              </a:rPr>
              <a:t>таблица),  </a:t>
            </a:r>
            <a:r>
              <a:rPr lang="ru-RU" sz="1450" i="1" u="sng" dirty="0">
                <a:solidFill>
                  <a:schemeClr val="tx1"/>
                </a:solidFill>
              </a:rPr>
              <a:t>сокращается время процесса</a:t>
            </a:r>
            <a:r>
              <a:rPr lang="ru-RU" sz="1450" dirty="0" smtClean="0">
                <a:solidFill>
                  <a:srgbClr val="1A1A1A"/>
                </a:solidFill>
              </a:rPr>
              <a:t>, так как сотрудникам можно сразу пропускать отделы, в которых не готовы документы, а </a:t>
            </a:r>
            <a:r>
              <a:rPr lang="ru-RU" sz="1450" i="1" u="sng" dirty="0">
                <a:solidFill>
                  <a:schemeClr val="tx1"/>
                </a:solidFill>
              </a:rPr>
              <a:t>не тратить время на обход каждого отдела</a:t>
            </a:r>
            <a:r>
              <a:rPr lang="ru-RU" sz="1450" dirty="0" smtClean="0">
                <a:solidFill>
                  <a:srgbClr val="1A1A1A"/>
                </a:solidFill>
              </a:rPr>
              <a:t>, чтобы проверить готовность документов.</a:t>
            </a:r>
            <a:endParaRPr lang="ru-RU" sz="1450" dirty="0"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016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61;p42"/>
          <p:cNvSpPr/>
          <p:nvPr/>
        </p:nvSpPr>
        <p:spPr>
          <a:xfrm>
            <a:off x="35496" y="3219822"/>
            <a:ext cx="9126496" cy="1872208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462;p42"/>
          <p:cNvSpPr/>
          <p:nvPr/>
        </p:nvSpPr>
        <p:spPr>
          <a:xfrm>
            <a:off x="24052" y="51470"/>
            <a:ext cx="9156460" cy="2664295"/>
          </a:xfrm>
          <a:prstGeom prst="roundRect">
            <a:avLst>
              <a:gd name="adj" fmla="val 16667"/>
            </a:avLst>
          </a:prstGeom>
          <a:solidFill>
            <a:schemeClr val="accent3">
              <a:lumMod val="60000"/>
              <a:lumOff val="40000"/>
            </a:schemeClr>
          </a:solidFill>
          <a:ln w="9525" cap="flat" cmpd="sng">
            <a:solidFill>
              <a:srgbClr val="F4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Google Shape;81;p15" title="2025-05-07_13-42-01.png"/>
          <p:cNvPicPr preferRelativeResize="0"/>
          <p:nvPr/>
        </p:nvPicPr>
        <p:blipFill rotWithShape="1">
          <a:blip r:embed="rId3">
            <a:alphaModFix/>
          </a:blip>
          <a:srcRect l="1155" t="4606"/>
          <a:stretch/>
        </p:blipFill>
        <p:spPr>
          <a:xfrm>
            <a:off x="192046" y="159481"/>
            <a:ext cx="8772442" cy="2448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73;p35" title="2025-05-07_16-03-30.png"/>
          <p:cNvPicPr preferRelativeResize="0"/>
          <p:nvPr/>
        </p:nvPicPr>
        <p:blipFill rotWithShape="1">
          <a:blip r:embed="rId4">
            <a:alphaModFix/>
          </a:blip>
          <a:srcRect l="611" t="11802" r="-611" b="18594"/>
          <a:stretch/>
        </p:blipFill>
        <p:spPr>
          <a:xfrm>
            <a:off x="103310" y="3435846"/>
            <a:ext cx="9077202" cy="1517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000" b="95680" l="9787" r="89787">
                        <a14:foregroundMark x1="33901" y1="95680" x2="33901" y2="95680"/>
                        <a14:foregroundMark x1="80993" y1="8000" x2="80993" y2="8000"/>
                        <a14:backgroundMark x1="45816" y1="39840" x2="45816" y2="39840"/>
                        <a14:backgroundMark x1="48936" y1="39680" x2="48936" y2="39680"/>
                        <a14:backgroundMark x1="61844" y1="26880" x2="61844" y2="26880"/>
                        <a14:backgroundMark x1="79858" y1="34080" x2="79858" y2="34080"/>
                        <a14:backgroundMark x1="61277" y1="79200" x2="61277" y2="79200"/>
                        <a14:backgroundMark x1="57872" y1="70240" x2="57872" y2="70240"/>
                        <a14:backgroundMark x1="57305" y1="64160" x2="57305" y2="64160"/>
                        <a14:backgroundMark x1="24539" y1="93600" x2="24539" y2="936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55979"/>
            <a:ext cx="1656184" cy="96544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000" b="95680" l="9787" r="89787">
                        <a14:foregroundMark x1="33901" y1="95680" x2="33901" y2="95680"/>
                        <a14:foregroundMark x1="80993" y1="8000" x2="80993" y2="8000"/>
                        <a14:backgroundMark x1="45816" y1="39840" x2="45816" y2="39840"/>
                        <a14:backgroundMark x1="48936" y1="39680" x2="48936" y2="39680"/>
                        <a14:backgroundMark x1="61844" y1="26880" x2="61844" y2="26880"/>
                        <a14:backgroundMark x1="79858" y1="34080" x2="79858" y2="34080"/>
                        <a14:backgroundMark x1="61277" y1="79200" x2="61277" y2="79200"/>
                        <a14:backgroundMark x1="57872" y1="70240" x2="57872" y2="70240"/>
                        <a14:backgroundMark x1="57305" y1="64160" x2="57305" y2="64160"/>
                        <a14:backgroundMark x1="24539" y1="93600" x2="24539" y2="936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750324"/>
            <a:ext cx="1656184" cy="96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25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9"/>
          <p:cNvSpPr/>
          <p:nvPr/>
        </p:nvSpPr>
        <p:spPr>
          <a:xfrm>
            <a:off x="372575" y="2779300"/>
            <a:ext cx="2743800" cy="832200"/>
          </a:xfrm>
          <a:prstGeom prst="roundRect">
            <a:avLst>
              <a:gd name="adj" fmla="val 16667"/>
            </a:avLst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39"/>
          <p:cNvSpPr/>
          <p:nvPr/>
        </p:nvSpPr>
        <p:spPr>
          <a:xfrm>
            <a:off x="372575" y="1243700"/>
            <a:ext cx="2743800" cy="832200"/>
          </a:xfrm>
          <a:prstGeom prst="roundRect">
            <a:avLst>
              <a:gd name="adj" fmla="val 16667"/>
            </a:avLst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39"/>
          <p:cNvSpPr/>
          <p:nvPr/>
        </p:nvSpPr>
        <p:spPr>
          <a:xfrm>
            <a:off x="0" y="0"/>
            <a:ext cx="9144000" cy="832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9" name="Google Shape;419;p39"/>
          <p:cNvCxnSpPr/>
          <p:nvPr/>
        </p:nvCxnSpPr>
        <p:spPr>
          <a:xfrm rot="10800000" flipH="1">
            <a:off x="553774" y="1620938"/>
            <a:ext cx="2381400" cy="13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0" name="Google Shape;420;p39"/>
          <p:cNvSpPr txBox="1"/>
          <p:nvPr/>
        </p:nvSpPr>
        <p:spPr>
          <a:xfrm>
            <a:off x="3599525" y="1467600"/>
            <a:ext cx="36153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 i="1" u="sng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~ 19,69 = 20 сотрудников </a:t>
            </a:r>
            <a:endParaRPr sz="1700" b="1" i="1" u="sng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1" name="Google Shape;421;p39"/>
          <p:cNvCxnSpPr/>
          <p:nvPr/>
        </p:nvCxnSpPr>
        <p:spPr>
          <a:xfrm rot="10800000" flipH="1">
            <a:off x="488975" y="3191650"/>
            <a:ext cx="2511000" cy="7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2" name="Google Shape;422;p39"/>
          <p:cNvSpPr txBox="1"/>
          <p:nvPr/>
        </p:nvSpPr>
        <p:spPr>
          <a:xfrm>
            <a:off x="3451050" y="2921325"/>
            <a:ext cx="36153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 i="1" u="sng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~ 2,9 = 3 сотрудников</a:t>
            </a:r>
            <a:r>
              <a:rPr lang="ru" sz="17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7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" name="Google Shape;423;p39"/>
          <p:cNvSpPr txBox="1">
            <a:spLocks noGrp="1"/>
          </p:cNvSpPr>
          <p:nvPr>
            <p:ph type="title" idx="4294967295"/>
          </p:nvPr>
        </p:nvSpPr>
        <p:spPr>
          <a:xfrm>
            <a:off x="45675" y="1147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680" b="1"/>
              <a:t>Расчет трудоемкости процесса:</a:t>
            </a:r>
            <a:endParaRPr sz="2680" b="1"/>
          </a:p>
        </p:txBody>
      </p:sp>
      <p:sp>
        <p:nvSpPr>
          <p:cNvPr id="424" name="Google Shape;424;p39"/>
          <p:cNvSpPr txBox="1"/>
          <p:nvPr/>
        </p:nvSpPr>
        <p:spPr>
          <a:xfrm>
            <a:off x="372575" y="1325225"/>
            <a:ext cx="27816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135 мин *6615 чел * 2 раза в год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39"/>
          <p:cNvSpPr txBox="1"/>
          <p:nvPr/>
        </p:nvSpPr>
        <p:spPr>
          <a:xfrm>
            <a:off x="614225" y="1620950"/>
            <a:ext cx="22983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168 часов*12 мес * 0,75 </a:t>
            </a:r>
            <a:endParaRPr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39"/>
          <p:cNvSpPr txBox="1"/>
          <p:nvPr/>
        </p:nvSpPr>
        <p:spPr>
          <a:xfrm>
            <a:off x="372575" y="27793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20 мин *6615 чел * 2 раза в год</a:t>
            </a:r>
            <a:endParaRPr/>
          </a:p>
        </p:txBody>
      </p:sp>
      <p:sp>
        <p:nvSpPr>
          <p:cNvPr id="427" name="Google Shape;427;p39"/>
          <p:cNvSpPr txBox="1"/>
          <p:nvPr/>
        </p:nvSpPr>
        <p:spPr>
          <a:xfrm>
            <a:off x="595325" y="3164200"/>
            <a:ext cx="22983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168 часов*12 мес * 0,75 </a:t>
            </a:r>
            <a:endParaRPr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39"/>
          <p:cNvSpPr txBox="1"/>
          <p:nvPr/>
        </p:nvSpPr>
        <p:spPr>
          <a:xfrm>
            <a:off x="165650" y="3775500"/>
            <a:ext cx="8862300" cy="1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Такого снижения трудоемкости процесса можно добиться за счет внедрения в процесс сервиса Битрикс, который позволяет устранить такие потери, как транспортировка, лишняя обработка, ожидание, а также сократить количество сотрудников на 17 человек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39"/>
          <p:cNvSpPr txBox="1"/>
          <p:nvPr/>
        </p:nvSpPr>
        <p:spPr>
          <a:xfrm>
            <a:off x="434825" y="869675"/>
            <a:ext cx="3975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39"/>
          <p:cNvSpPr txBox="1"/>
          <p:nvPr/>
        </p:nvSpPr>
        <p:spPr>
          <a:xfrm>
            <a:off x="372575" y="800425"/>
            <a:ext cx="4914300" cy="2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 i="1" u="sng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Расчет трудоемкости текущего процесса:</a:t>
            </a:r>
            <a:endParaRPr sz="1800" b="1" i="1" u="sng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39"/>
          <p:cNvSpPr txBox="1"/>
          <p:nvPr/>
        </p:nvSpPr>
        <p:spPr>
          <a:xfrm>
            <a:off x="324800" y="2223275"/>
            <a:ext cx="4914300" cy="2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 i="1" u="sng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Расчет трудоемкости целевого процесса:</a:t>
            </a:r>
            <a:endParaRPr sz="1800" b="1" i="1" u="sng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0"/>
          <p:cNvSpPr txBox="1"/>
          <p:nvPr/>
        </p:nvSpPr>
        <p:spPr>
          <a:xfrm>
            <a:off x="-45650" y="831350"/>
            <a:ext cx="9465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Мы считаем, что для КФУ подойдет</a:t>
            </a:r>
            <a:r>
              <a:rPr lang="ru" sz="15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600" b="1" u="sng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Облачное решение (SaaS) – Bitrix24 «Предприятие»</a:t>
            </a:r>
            <a:r>
              <a:rPr lang="ru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ru" sz="1500">
                <a:solidFill>
                  <a:srgbClr val="2DC75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так как:</a:t>
            </a:r>
            <a:r>
              <a:rPr lang="ru" sz="1500" b="1" i="1" u="sng">
                <a:solidFill>
                  <a:srgbClr val="2DC75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500" b="1" i="1" u="sng">
              <a:solidFill>
                <a:srgbClr val="2DC75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5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           </a:t>
            </a:r>
            <a:endParaRPr sz="15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         </a:t>
            </a:r>
            <a:endParaRPr sz="1500" i="1" u="sng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5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5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40"/>
          <p:cNvSpPr/>
          <p:nvPr/>
        </p:nvSpPr>
        <p:spPr>
          <a:xfrm>
            <a:off x="0" y="0"/>
            <a:ext cx="9144000" cy="832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40"/>
          <p:cNvSpPr txBox="1">
            <a:spLocks noGrp="1"/>
          </p:cNvSpPr>
          <p:nvPr>
            <p:ph type="title" idx="4294967295"/>
          </p:nvPr>
        </p:nvSpPr>
        <p:spPr>
          <a:xfrm>
            <a:off x="45675" y="1147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680" b="1"/>
              <a:t>Расчет трудоемкости процесса:</a:t>
            </a:r>
            <a:endParaRPr sz="2680" b="1"/>
          </a:p>
        </p:txBody>
      </p:sp>
      <p:sp>
        <p:nvSpPr>
          <p:cNvPr id="439" name="Google Shape;439;p40"/>
          <p:cNvSpPr/>
          <p:nvPr/>
        </p:nvSpPr>
        <p:spPr>
          <a:xfrm>
            <a:off x="88675" y="1304775"/>
            <a:ext cx="369000" cy="3690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40"/>
          <p:cNvSpPr txBox="1"/>
          <p:nvPr/>
        </p:nvSpPr>
        <p:spPr>
          <a:xfrm>
            <a:off x="457675" y="1281525"/>
            <a:ext cx="8666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500" b="1" i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Нет ограничений на пользователей</a:t>
            </a:r>
            <a:r>
              <a:rPr lang="ru" sz="15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(подходит для 6000+ сотрудников).</a:t>
            </a:r>
            <a:endParaRPr/>
          </a:p>
        </p:txBody>
      </p:sp>
      <p:sp>
        <p:nvSpPr>
          <p:cNvPr id="441" name="Google Shape;441;p40"/>
          <p:cNvSpPr/>
          <p:nvPr/>
        </p:nvSpPr>
        <p:spPr>
          <a:xfrm>
            <a:off x="88675" y="1784100"/>
            <a:ext cx="369000" cy="3690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40"/>
          <p:cNvSpPr/>
          <p:nvPr/>
        </p:nvSpPr>
        <p:spPr>
          <a:xfrm>
            <a:off x="457675" y="2762050"/>
            <a:ext cx="193200" cy="1932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40"/>
          <p:cNvSpPr txBox="1"/>
          <p:nvPr/>
        </p:nvSpPr>
        <p:spPr>
          <a:xfrm>
            <a:off x="457675" y="1741113"/>
            <a:ext cx="6489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5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500" b="1" i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Встроенные инструменты для workflow</a:t>
            </a:r>
            <a:r>
              <a:rPr lang="ru" sz="15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/>
          </a:p>
        </p:txBody>
      </p:sp>
      <p:sp>
        <p:nvSpPr>
          <p:cNvPr id="444" name="Google Shape;444;p40"/>
          <p:cNvSpPr txBox="1"/>
          <p:nvPr/>
        </p:nvSpPr>
        <p:spPr>
          <a:xfrm>
            <a:off x="818025" y="2078725"/>
            <a:ext cx="7106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1000"/>
              </a:spcAft>
              <a:buNone/>
            </a:pPr>
            <a:r>
              <a:rPr lang="ru" sz="1500" i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Процессы (Бизнес-процессы)</a:t>
            </a:r>
            <a:r>
              <a:rPr lang="ru" sz="15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– можно настроить подачу, рассмотрение и утверждение заявлений.</a:t>
            </a:r>
            <a:endParaRPr/>
          </a:p>
        </p:txBody>
      </p:sp>
      <p:sp>
        <p:nvSpPr>
          <p:cNvPr id="445" name="Google Shape;445;p40"/>
          <p:cNvSpPr/>
          <p:nvPr/>
        </p:nvSpPr>
        <p:spPr>
          <a:xfrm>
            <a:off x="457675" y="2360963"/>
            <a:ext cx="193200" cy="1932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40"/>
          <p:cNvSpPr txBox="1"/>
          <p:nvPr/>
        </p:nvSpPr>
        <p:spPr>
          <a:xfrm>
            <a:off x="741950" y="2650900"/>
            <a:ext cx="6322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900"/>
              </a:spcBef>
              <a:spcAft>
                <a:spcPts val="1000"/>
              </a:spcAft>
              <a:buNone/>
            </a:pPr>
            <a:r>
              <a:rPr lang="ru" sz="15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ru" sz="1500" i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Дискуссии, задачи, документооборот, групповые видеосозвоны</a:t>
            </a:r>
            <a:endParaRPr/>
          </a:p>
        </p:txBody>
      </p:sp>
      <p:sp>
        <p:nvSpPr>
          <p:cNvPr id="447" name="Google Shape;447;p40"/>
          <p:cNvSpPr txBox="1"/>
          <p:nvPr/>
        </p:nvSpPr>
        <p:spPr>
          <a:xfrm>
            <a:off x="412025" y="3163125"/>
            <a:ext cx="9693600" cy="18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90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Также у этой подписки большой функционал, в который помимо планирования отпусков </a:t>
            </a:r>
            <a:endParaRPr sz="15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Char char="●"/>
            </a:pPr>
            <a:r>
              <a:rPr lang="ru" sz="15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Управление задачами и проектами</a:t>
            </a:r>
            <a:endParaRPr sz="15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Char char="●"/>
            </a:pPr>
            <a:r>
              <a:rPr lang="ru" sz="15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Управление клиентской базой</a:t>
            </a:r>
            <a:endParaRPr sz="15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Char char="●"/>
            </a:pPr>
            <a:r>
              <a:rPr lang="ru" sz="15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Организация внутренней коммуникации</a:t>
            </a:r>
            <a:endParaRPr sz="15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Char char="●"/>
            </a:pPr>
            <a:r>
              <a:rPr lang="ru" sz="15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Управление продажами и маркетингом</a:t>
            </a:r>
            <a:endParaRPr sz="15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5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40"/>
          <p:cNvSpPr/>
          <p:nvPr/>
        </p:nvSpPr>
        <p:spPr>
          <a:xfrm>
            <a:off x="88675" y="3163125"/>
            <a:ext cx="369000" cy="3690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40"/>
          <p:cNvSpPr txBox="1"/>
          <p:nvPr/>
        </p:nvSpPr>
        <p:spPr>
          <a:xfrm>
            <a:off x="4778450" y="3522225"/>
            <a:ext cx="62085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Char char="●"/>
            </a:pPr>
            <a:r>
              <a:rPr lang="ru" sz="15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Внутренние порталы и сайты</a:t>
            </a:r>
            <a:endParaRPr sz="15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Char char="●"/>
            </a:pPr>
            <a:r>
              <a:rPr lang="ru" sz="15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Видеозвонки до 100 человек</a:t>
            </a:r>
            <a:endParaRPr sz="15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Char char="●"/>
            </a:pPr>
            <a:r>
              <a:rPr lang="ru" sz="15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Мессенджер</a:t>
            </a:r>
            <a:endParaRPr sz="15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Char char="●"/>
            </a:pPr>
            <a:r>
              <a:rPr lang="ru" sz="15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Учет рабочего времени и отчеты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1"/>
          <p:cNvSpPr txBox="1"/>
          <p:nvPr/>
        </p:nvSpPr>
        <p:spPr>
          <a:xfrm>
            <a:off x="45675" y="945650"/>
            <a:ext cx="8971500" cy="41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None/>
            </a:pPr>
            <a:endParaRPr sz="15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Стоимость:</a:t>
            </a:r>
            <a:endParaRPr sz="15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Char char="●"/>
            </a:pPr>
            <a:r>
              <a:rPr lang="ru" sz="15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Стоимость подписки: </a:t>
            </a:r>
            <a:r>
              <a:rPr lang="ru" sz="1500" b="1" i="1" u="sng">
                <a:solidFill>
                  <a:srgbClr val="2DC75C"/>
                </a:solidFill>
                <a:latin typeface="Roboto"/>
                <a:ea typeface="Roboto"/>
                <a:cs typeface="Roboto"/>
                <a:sym typeface="Roboto"/>
              </a:rPr>
              <a:t>4 788 000 ₽/год</a:t>
            </a:r>
            <a:r>
              <a:rPr lang="ru" sz="15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ru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399 000 ₽/мес</a:t>
            </a:r>
            <a:r>
              <a:rPr lang="ru" sz="15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) </a:t>
            </a:r>
            <a:endParaRPr sz="15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Char char="●"/>
            </a:pPr>
            <a:r>
              <a:rPr lang="ru" sz="15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Дополнительные расходы:  </a:t>
            </a:r>
            <a:r>
              <a:rPr lang="ru" sz="15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Настройка процессов = </a:t>
            </a:r>
            <a:r>
              <a:rPr lang="ru" sz="1500" b="1" i="1" u="sng">
                <a:solidFill>
                  <a:srgbClr val="2DC75C"/>
                </a:solidFill>
                <a:latin typeface="Roboto"/>
                <a:ea typeface="Roboto"/>
                <a:cs typeface="Roboto"/>
                <a:sym typeface="Roboto"/>
              </a:rPr>
              <a:t>200 000–500 000 ₽</a:t>
            </a:r>
            <a:r>
              <a:rPr lang="ru" sz="15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/ единоразово</a:t>
            </a:r>
            <a:endParaRPr sz="15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5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Итого: </a:t>
            </a:r>
            <a:endParaRPr sz="15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Внедрение платформы Битрикс в работу отдела ППС обойдется в: </a:t>
            </a:r>
            <a:endParaRPr sz="15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Первый год с установкой -</a:t>
            </a:r>
            <a:r>
              <a:rPr lang="ru" sz="15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500" b="1" i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5 000 000</a:t>
            </a:r>
            <a:r>
              <a:rPr lang="ru" sz="1500" b="1" i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500" b="1" i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рублей</a:t>
            </a:r>
            <a:endParaRPr sz="1500" b="1" i="1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1000"/>
              </a:spcAft>
              <a:buNone/>
            </a:pPr>
            <a:r>
              <a:rPr lang="ru" sz="15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Далее -</a:t>
            </a:r>
            <a:r>
              <a:rPr lang="ru" sz="15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500" b="1" i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4 788 000</a:t>
            </a:r>
            <a:r>
              <a:rPr lang="ru" sz="1500" i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500" b="1" i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рублей</a:t>
            </a:r>
            <a:r>
              <a:rPr lang="ru" sz="1500" i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5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в год</a:t>
            </a:r>
            <a:endParaRPr sz="1500" b="1" i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41"/>
          <p:cNvSpPr/>
          <p:nvPr/>
        </p:nvSpPr>
        <p:spPr>
          <a:xfrm>
            <a:off x="0" y="0"/>
            <a:ext cx="9144000" cy="832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41"/>
          <p:cNvSpPr txBox="1">
            <a:spLocks noGrp="1"/>
          </p:cNvSpPr>
          <p:nvPr>
            <p:ph type="title" idx="4294967295"/>
          </p:nvPr>
        </p:nvSpPr>
        <p:spPr>
          <a:xfrm>
            <a:off x="45675" y="1147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680" b="1"/>
              <a:t>Расчет стоимости внедрения БИТРИКС:</a:t>
            </a:r>
            <a:endParaRPr sz="2680"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2"/>
          <p:cNvSpPr/>
          <p:nvPr/>
        </p:nvSpPr>
        <p:spPr>
          <a:xfrm>
            <a:off x="0" y="2788478"/>
            <a:ext cx="5550850" cy="21087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42"/>
          <p:cNvSpPr/>
          <p:nvPr/>
        </p:nvSpPr>
        <p:spPr>
          <a:xfrm>
            <a:off x="0" y="968113"/>
            <a:ext cx="5550850" cy="1707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rgbClr val="F4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42"/>
          <p:cNvSpPr/>
          <p:nvPr/>
        </p:nvSpPr>
        <p:spPr>
          <a:xfrm>
            <a:off x="5550850" y="4307760"/>
            <a:ext cx="1591200" cy="16011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42"/>
          <p:cNvSpPr txBox="1"/>
          <p:nvPr/>
        </p:nvSpPr>
        <p:spPr>
          <a:xfrm>
            <a:off x="555825" y="1347838"/>
            <a:ext cx="76053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20 сотрудников * 40 000 (зп) = 800 000 р</a:t>
            </a:r>
            <a:endParaRPr sz="11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600"/>
              </a:spcBef>
              <a:spcAft>
                <a:spcPts val="1000"/>
              </a:spcAft>
              <a:buNone/>
            </a:pPr>
            <a:endParaRPr sz="1100" b="1" i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42"/>
          <p:cNvSpPr/>
          <p:nvPr/>
        </p:nvSpPr>
        <p:spPr>
          <a:xfrm>
            <a:off x="0" y="0"/>
            <a:ext cx="9144000" cy="832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42"/>
          <p:cNvSpPr/>
          <p:nvPr/>
        </p:nvSpPr>
        <p:spPr>
          <a:xfrm>
            <a:off x="129175" y="1373438"/>
            <a:ext cx="369000" cy="3690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42"/>
          <p:cNvSpPr/>
          <p:nvPr/>
        </p:nvSpPr>
        <p:spPr>
          <a:xfrm>
            <a:off x="129175" y="1998075"/>
            <a:ext cx="369000" cy="3690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p42"/>
          <p:cNvSpPr txBox="1"/>
          <p:nvPr/>
        </p:nvSpPr>
        <p:spPr>
          <a:xfrm>
            <a:off x="555825" y="1997675"/>
            <a:ext cx="5708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1000"/>
              </a:spcAft>
              <a:buNone/>
            </a:pPr>
            <a:r>
              <a:rPr lang="ru" sz="1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+ 30% (ст.взносы) = 1 040 000 р. в месяц (за год 12 480 000 р)  </a:t>
            </a:r>
            <a:endParaRPr/>
          </a:p>
        </p:txBody>
      </p:sp>
      <p:sp>
        <p:nvSpPr>
          <p:cNvPr id="469" name="Google Shape;469;p42"/>
          <p:cNvSpPr/>
          <p:nvPr/>
        </p:nvSpPr>
        <p:spPr>
          <a:xfrm>
            <a:off x="129175" y="3072625"/>
            <a:ext cx="369000" cy="3690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42"/>
          <p:cNvSpPr txBox="1"/>
          <p:nvPr/>
        </p:nvSpPr>
        <p:spPr>
          <a:xfrm>
            <a:off x="555825" y="30801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1000"/>
              </a:spcAft>
              <a:buNone/>
            </a:pPr>
            <a:r>
              <a:rPr lang="ru" sz="1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3 * 40 000= 120 000 р</a:t>
            </a:r>
            <a:endParaRPr/>
          </a:p>
        </p:txBody>
      </p:sp>
      <p:sp>
        <p:nvSpPr>
          <p:cNvPr id="471" name="Google Shape;471;p42"/>
          <p:cNvSpPr/>
          <p:nvPr/>
        </p:nvSpPr>
        <p:spPr>
          <a:xfrm>
            <a:off x="129175" y="3532938"/>
            <a:ext cx="369000" cy="3690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p42"/>
          <p:cNvSpPr txBox="1"/>
          <p:nvPr/>
        </p:nvSpPr>
        <p:spPr>
          <a:xfrm>
            <a:off x="498175" y="3544200"/>
            <a:ext cx="5166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1000"/>
              </a:spcAft>
              <a:buNone/>
            </a:pPr>
            <a:r>
              <a:rPr lang="ru" sz="1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+ 30% (страх.взносы) = 156 000 р. (за год 1 872 000 р.)</a:t>
            </a:r>
            <a:endParaRPr/>
          </a:p>
        </p:txBody>
      </p:sp>
      <p:sp>
        <p:nvSpPr>
          <p:cNvPr id="473" name="Google Shape;473;p42"/>
          <p:cNvSpPr/>
          <p:nvPr/>
        </p:nvSpPr>
        <p:spPr>
          <a:xfrm>
            <a:off x="129175" y="3993275"/>
            <a:ext cx="369000" cy="3690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42"/>
          <p:cNvSpPr txBox="1"/>
          <p:nvPr/>
        </p:nvSpPr>
        <p:spPr>
          <a:xfrm>
            <a:off x="555825" y="40082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1000"/>
              </a:spcAft>
              <a:buNone/>
            </a:pPr>
            <a:r>
              <a:rPr lang="ru" sz="1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1 872 000 р + 5 000 000 р = 6 872 000 р</a:t>
            </a:r>
            <a:endParaRPr/>
          </a:p>
        </p:txBody>
      </p:sp>
      <p:sp>
        <p:nvSpPr>
          <p:cNvPr id="475" name="Google Shape;475;p42"/>
          <p:cNvSpPr/>
          <p:nvPr/>
        </p:nvSpPr>
        <p:spPr>
          <a:xfrm>
            <a:off x="129175" y="4453600"/>
            <a:ext cx="369000" cy="3690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42"/>
          <p:cNvSpPr txBox="1"/>
          <p:nvPr/>
        </p:nvSpPr>
        <p:spPr>
          <a:xfrm>
            <a:off x="555825" y="44380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1000"/>
              </a:spcAft>
              <a:buNone/>
            </a:pPr>
            <a:r>
              <a:rPr lang="ru" sz="1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12 480 000 р - 6 872 000 р = </a:t>
            </a:r>
            <a:r>
              <a:rPr lang="ru" sz="11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5 608 000 </a:t>
            </a:r>
            <a:r>
              <a:rPr lang="ru" sz="11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р</a:t>
            </a:r>
            <a:endParaRPr sz="11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42"/>
          <p:cNvSpPr/>
          <p:nvPr/>
        </p:nvSpPr>
        <p:spPr>
          <a:xfrm>
            <a:off x="6264525" y="2964600"/>
            <a:ext cx="3771000" cy="37941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42"/>
          <p:cNvSpPr txBox="1"/>
          <p:nvPr/>
        </p:nvSpPr>
        <p:spPr>
          <a:xfrm>
            <a:off x="6852675" y="3704425"/>
            <a:ext cx="2594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latin typeface="Roboto"/>
                <a:ea typeface="Roboto"/>
                <a:cs typeface="Roboto"/>
                <a:sym typeface="Roboto"/>
              </a:rPr>
              <a:t>ЭКОНОМИЯ: </a:t>
            </a:r>
            <a:r>
              <a:rPr lang="ru">
                <a:latin typeface="Roboto"/>
                <a:ea typeface="Roboto"/>
                <a:cs typeface="Roboto"/>
                <a:sym typeface="Roboto"/>
              </a:rPr>
              <a:t>5 608 000 рублей</a:t>
            </a:r>
            <a:endParaRPr/>
          </a:p>
        </p:txBody>
      </p:sp>
      <p:sp>
        <p:nvSpPr>
          <p:cNvPr id="479" name="Google Shape;479;p42"/>
          <p:cNvSpPr txBox="1"/>
          <p:nvPr/>
        </p:nvSpPr>
        <p:spPr>
          <a:xfrm>
            <a:off x="6852675" y="44380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latin typeface="Roboto"/>
                <a:ea typeface="Roboto"/>
                <a:cs typeface="Roboto"/>
                <a:sym typeface="Roboto"/>
              </a:rPr>
              <a:t>ВЫВОД:</a:t>
            </a:r>
            <a:r>
              <a:rPr lang="ru">
                <a:latin typeface="Roboto"/>
                <a:ea typeface="Roboto"/>
                <a:cs typeface="Roboto"/>
                <a:sym typeface="Roboto"/>
              </a:rPr>
              <a:t> Выгодно</a:t>
            </a:r>
            <a:endParaRPr/>
          </a:p>
        </p:txBody>
      </p:sp>
      <p:sp>
        <p:nvSpPr>
          <p:cNvPr id="480" name="Google Shape;480;p42"/>
          <p:cNvSpPr/>
          <p:nvPr/>
        </p:nvSpPr>
        <p:spPr>
          <a:xfrm>
            <a:off x="8492775" y="2075399"/>
            <a:ext cx="1827900" cy="18390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42"/>
          <p:cNvSpPr/>
          <p:nvPr/>
        </p:nvSpPr>
        <p:spPr>
          <a:xfrm>
            <a:off x="9022950" y="751500"/>
            <a:ext cx="666000" cy="6702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42"/>
          <p:cNvSpPr/>
          <p:nvPr/>
        </p:nvSpPr>
        <p:spPr>
          <a:xfrm>
            <a:off x="7996625" y="1037700"/>
            <a:ext cx="827100" cy="8322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42"/>
          <p:cNvSpPr/>
          <p:nvPr/>
        </p:nvSpPr>
        <p:spPr>
          <a:xfrm>
            <a:off x="7798025" y="2173050"/>
            <a:ext cx="485100" cy="4884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42"/>
          <p:cNvSpPr/>
          <p:nvPr/>
        </p:nvSpPr>
        <p:spPr>
          <a:xfrm>
            <a:off x="6864775" y="1904113"/>
            <a:ext cx="723600" cy="7284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42"/>
          <p:cNvSpPr/>
          <p:nvPr/>
        </p:nvSpPr>
        <p:spPr>
          <a:xfrm>
            <a:off x="9022950" y="1642504"/>
            <a:ext cx="210600" cy="2121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42"/>
          <p:cNvSpPr txBox="1"/>
          <p:nvPr/>
        </p:nvSpPr>
        <p:spPr>
          <a:xfrm>
            <a:off x="4027325" y="10065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1000"/>
              </a:spcAft>
              <a:buNone/>
            </a:pPr>
            <a:r>
              <a:rPr lang="ru" sz="18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СЕЙЧАС</a:t>
            </a:r>
            <a:endParaRPr sz="18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42"/>
          <p:cNvSpPr txBox="1"/>
          <p:nvPr/>
        </p:nvSpPr>
        <p:spPr>
          <a:xfrm>
            <a:off x="4084975" y="2879263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BITRIX24</a:t>
            </a:r>
            <a:r>
              <a:rPr lang="ru" sz="15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3"/>
          <p:cNvSpPr txBox="1"/>
          <p:nvPr/>
        </p:nvSpPr>
        <p:spPr>
          <a:xfrm>
            <a:off x="267325" y="1783150"/>
            <a:ext cx="8426100" cy="36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Нанять курьера на полный день для переноса процесса транспортировки документов с сотрудников на него, поскольку помимо одного заявления на отпуск нужно отнести и другие документы.</a:t>
            </a:r>
            <a:endParaRPr sz="12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Заработная плата курьера (с занятостью на полный день) примерно</a:t>
            </a:r>
            <a:r>
              <a:rPr lang="ru" sz="12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100 000р + 30%(старховые взносы) =130 000р</a:t>
            </a:r>
            <a:endParaRPr sz="1200" b="1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На транспортировку всех необходимых документов сотрудник тратит 1 час по 2 раза в день в месяц (20 рабочих дней)</a:t>
            </a:r>
            <a:endParaRPr sz="12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ru" sz="12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(40 000р/168ч)*2*20д = 10 000р + 30%(страховые взносы) = 13 000р</a:t>
            </a:r>
            <a:endParaRPr sz="1200" b="1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Вывод:</a:t>
            </a:r>
            <a:endParaRPr sz="1200" b="1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Если курьер будет обслуживать все отделения университета, то скорее всего это окупиться, для точного ответа необходимо провести анализ на уровне всех подразделений КФУ.</a:t>
            </a:r>
            <a:endParaRPr sz="12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Только для данного отделения курьер не выгоден</a:t>
            </a:r>
            <a:endParaRPr sz="12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43"/>
          <p:cNvSpPr txBox="1"/>
          <p:nvPr/>
        </p:nvSpPr>
        <p:spPr>
          <a:xfrm>
            <a:off x="474625" y="545785"/>
            <a:ext cx="8011500" cy="25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Что еще можно модернизировать?</a:t>
            </a:r>
            <a:endParaRPr sz="27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4"/>
          <p:cNvSpPr/>
          <p:nvPr/>
        </p:nvSpPr>
        <p:spPr>
          <a:xfrm>
            <a:off x="-319575" y="1985875"/>
            <a:ext cx="3598800" cy="25719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A4C2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4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</a:rPr>
              <a:t>Вывод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0" name="Google Shape;500;p44"/>
          <p:cNvSpPr txBox="1">
            <a:spLocks noGrp="1"/>
          </p:cNvSpPr>
          <p:nvPr>
            <p:ph type="body" idx="1"/>
          </p:nvPr>
        </p:nvSpPr>
        <p:spPr>
          <a:xfrm>
            <a:off x="4496775" y="1599600"/>
            <a:ext cx="3908100" cy="35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1A1A1A"/>
                </a:solidFill>
              </a:rPr>
              <a:t>РЕКОМЕНДАЦИИ</a:t>
            </a:r>
            <a:endParaRPr sz="1700" b="1">
              <a:solidFill>
                <a:srgbClr val="1A1A1A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rgbClr val="1A1A1A"/>
              </a:solidFill>
            </a:endParaRPr>
          </a:p>
        </p:txBody>
      </p:sp>
      <p:sp>
        <p:nvSpPr>
          <p:cNvPr id="501" name="Google Shape;501;p44"/>
          <p:cNvSpPr txBox="1"/>
          <p:nvPr/>
        </p:nvSpPr>
        <p:spPr>
          <a:xfrm>
            <a:off x="236100" y="2085000"/>
            <a:ext cx="2541000" cy="22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В данном процессе используется много лишних действий, которые сильно увеличивают его длительность. Например, переделывание неверно заполненных заявлений,  частая транспортировка документов в другое здание, заполнение заявлений в систему вручную.</a:t>
            </a:r>
            <a:endParaRPr/>
          </a:p>
        </p:txBody>
      </p:sp>
      <p:sp>
        <p:nvSpPr>
          <p:cNvPr id="502" name="Google Shape;502;p44"/>
          <p:cNvSpPr/>
          <p:nvPr/>
        </p:nvSpPr>
        <p:spPr>
          <a:xfrm>
            <a:off x="3692825" y="2480450"/>
            <a:ext cx="2361600" cy="23760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44"/>
          <p:cNvSpPr/>
          <p:nvPr/>
        </p:nvSpPr>
        <p:spPr>
          <a:xfrm>
            <a:off x="6528850" y="1360825"/>
            <a:ext cx="2481000" cy="24963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44"/>
          <p:cNvSpPr/>
          <p:nvPr/>
        </p:nvSpPr>
        <p:spPr>
          <a:xfrm>
            <a:off x="5506025" y="2899900"/>
            <a:ext cx="2754300" cy="27711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44"/>
          <p:cNvSpPr txBox="1"/>
          <p:nvPr/>
        </p:nvSpPr>
        <p:spPr>
          <a:xfrm>
            <a:off x="3692825" y="2981350"/>
            <a:ext cx="18411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Для автоматизации процессов установить Битрикс</a:t>
            </a:r>
            <a:endParaRPr sz="12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44"/>
          <p:cNvSpPr txBox="1"/>
          <p:nvPr/>
        </p:nvSpPr>
        <p:spPr>
          <a:xfrm>
            <a:off x="5445175" y="3287100"/>
            <a:ext cx="2437200" cy="18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Создать единую систему оповещений между сотрудниками для более быстрой работы (Битрикс, если у него есть такой функционал, Яндекс Диск в режиме совместимости)</a:t>
            </a:r>
            <a:endParaRPr sz="12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44"/>
          <p:cNvSpPr txBox="1"/>
          <p:nvPr/>
        </p:nvSpPr>
        <p:spPr>
          <a:xfrm>
            <a:off x="6467975" y="2206750"/>
            <a:ext cx="26784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Создать единый шаблон для заявлений</a:t>
            </a:r>
            <a:endParaRPr/>
          </a:p>
        </p:txBody>
      </p:sp>
      <p:sp>
        <p:nvSpPr>
          <p:cNvPr id="508" name="Google Shape;508;p44"/>
          <p:cNvSpPr/>
          <p:nvPr/>
        </p:nvSpPr>
        <p:spPr>
          <a:xfrm>
            <a:off x="5166325" y="913825"/>
            <a:ext cx="3977700" cy="767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2334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" name="Google Shape;522;p47"/>
          <p:cNvGrpSpPr/>
          <p:nvPr/>
        </p:nvGrpSpPr>
        <p:grpSpPr>
          <a:xfrm>
            <a:off x="816700" y="331550"/>
            <a:ext cx="3126225" cy="2417200"/>
            <a:chOff x="816700" y="331550"/>
            <a:chExt cx="3126225" cy="2417200"/>
          </a:xfrm>
        </p:grpSpPr>
        <p:pic>
          <p:nvPicPr>
            <p:cNvPr id="523" name="Google Shape;523;p4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6700" y="331550"/>
              <a:ext cx="3126225" cy="2084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7"/>
            <p:cNvSpPr txBox="1"/>
            <p:nvPr/>
          </p:nvSpPr>
          <p:spPr>
            <a:xfrm>
              <a:off x="816700" y="2394750"/>
              <a:ext cx="30000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3A3A3A"/>
                  </a:solidFill>
                  <a:highlight>
                    <a:srgbClr val="FFFFFF"/>
                  </a:highlight>
                </a:rPr>
                <a:t>Bombardiro Crocodilo</a:t>
              </a:r>
              <a:endParaRPr sz="1600"/>
            </a:p>
          </p:txBody>
        </p:sp>
      </p:grpSp>
      <p:pic>
        <p:nvPicPr>
          <p:cNvPr id="525" name="Google Shape;525;p47"/>
          <p:cNvPicPr preferRelativeResize="0"/>
          <p:nvPr/>
        </p:nvPicPr>
        <p:blipFill rotWithShape="1">
          <a:blip r:embed="rId4">
            <a:alphaModFix/>
          </a:blip>
          <a:srcRect l="35748" r="35711" b="7166"/>
          <a:stretch/>
        </p:blipFill>
        <p:spPr>
          <a:xfrm>
            <a:off x="5297712" y="-106200"/>
            <a:ext cx="1560400" cy="28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47"/>
          <p:cNvSpPr txBox="1"/>
          <p:nvPr/>
        </p:nvSpPr>
        <p:spPr>
          <a:xfrm>
            <a:off x="6807900" y="5085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highlight>
                  <a:srgbClr val="FFFFFF"/>
                </a:highlight>
              </a:rPr>
              <a:t>Ballerina Cappuccina</a:t>
            </a:r>
            <a:endParaRPr sz="1100"/>
          </a:p>
        </p:txBody>
      </p:sp>
      <p:pic>
        <p:nvPicPr>
          <p:cNvPr id="527" name="Google Shape;527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200" y="2748750"/>
            <a:ext cx="3453825" cy="18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47"/>
          <p:cNvSpPr txBox="1"/>
          <p:nvPr/>
        </p:nvSpPr>
        <p:spPr>
          <a:xfrm>
            <a:off x="707200" y="46349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A3A3A"/>
                </a:solidFill>
                <a:highlight>
                  <a:srgbClr val="FFFFFF"/>
                </a:highlight>
              </a:rPr>
              <a:t>Spijuniro Golubiro</a:t>
            </a:r>
            <a:endParaRPr sz="1600"/>
          </a:p>
        </p:txBody>
      </p:sp>
      <p:pic>
        <p:nvPicPr>
          <p:cNvPr id="529" name="Google Shape;529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65063" y="2794987"/>
            <a:ext cx="3126225" cy="187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7"/>
          <p:cNvSpPr txBox="1"/>
          <p:nvPr/>
        </p:nvSpPr>
        <p:spPr>
          <a:xfrm>
            <a:off x="5297700" y="46349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highlight>
                  <a:srgbClr val="FFFFFF"/>
                </a:highlight>
              </a:rPr>
              <a:t>Bobrito Bondito</a:t>
            </a:r>
            <a:endParaRPr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535;p48"/>
          <p:cNvGrpSpPr/>
          <p:nvPr/>
        </p:nvGrpSpPr>
        <p:grpSpPr>
          <a:xfrm>
            <a:off x="637850" y="106175"/>
            <a:ext cx="3000000" cy="2138175"/>
            <a:chOff x="637850" y="106175"/>
            <a:chExt cx="3000000" cy="2138175"/>
          </a:xfrm>
        </p:grpSpPr>
        <p:pic>
          <p:nvPicPr>
            <p:cNvPr id="536" name="Google Shape;536;p4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37850" y="106175"/>
              <a:ext cx="2378900" cy="1784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8"/>
            <p:cNvSpPr txBox="1"/>
            <p:nvPr/>
          </p:nvSpPr>
          <p:spPr>
            <a:xfrm>
              <a:off x="637850" y="1890350"/>
              <a:ext cx="30000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3A3A3A"/>
                  </a:solidFill>
                  <a:highlight>
                    <a:srgbClr val="FFFFFF"/>
                  </a:highlight>
                </a:rPr>
                <a:t>Chimpanzini Bannanini</a:t>
              </a:r>
              <a:endParaRPr sz="1100"/>
            </a:p>
          </p:txBody>
        </p:sp>
      </p:grpSp>
      <p:pic>
        <p:nvPicPr>
          <p:cNvPr id="538" name="Google Shape;53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6350" y="6950"/>
            <a:ext cx="2034300" cy="203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8"/>
          <p:cNvSpPr txBox="1"/>
          <p:nvPr/>
        </p:nvSpPr>
        <p:spPr>
          <a:xfrm>
            <a:off x="3547525" y="20412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A3A3A"/>
                </a:solidFill>
                <a:highlight>
                  <a:srgbClr val="FFFFFF"/>
                </a:highlight>
              </a:rPr>
              <a:t>Tralalero Tralala</a:t>
            </a:r>
            <a:endParaRPr sz="1100"/>
          </a:p>
        </p:txBody>
      </p:sp>
      <p:pic>
        <p:nvPicPr>
          <p:cNvPr id="540" name="Google Shape;540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9600" y="0"/>
            <a:ext cx="1585362" cy="20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8"/>
          <p:cNvSpPr txBox="1"/>
          <p:nvPr/>
        </p:nvSpPr>
        <p:spPr>
          <a:xfrm>
            <a:off x="6547525" y="20567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A3A3A"/>
                </a:solidFill>
                <a:highlight>
                  <a:srgbClr val="FFFFFF"/>
                </a:highlight>
              </a:rPr>
              <a:t>Tung Tung Tung Sahur</a:t>
            </a:r>
            <a:endParaRPr sz="1100"/>
          </a:p>
        </p:txBody>
      </p:sp>
      <p:pic>
        <p:nvPicPr>
          <p:cNvPr id="542" name="Google Shape;542;p48"/>
          <p:cNvPicPr preferRelativeResize="0"/>
          <p:nvPr/>
        </p:nvPicPr>
        <p:blipFill rotWithShape="1">
          <a:blip r:embed="rId6">
            <a:alphaModFix/>
          </a:blip>
          <a:srcRect l="20438" r="21841" b="5114"/>
          <a:stretch/>
        </p:blipFill>
        <p:spPr>
          <a:xfrm>
            <a:off x="637850" y="2410700"/>
            <a:ext cx="2034301" cy="1881101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8"/>
          <p:cNvSpPr txBox="1"/>
          <p:nvPr/>
        </p:nvSpPr>
        <p:spPr>
          <a:xfrm>
            <a:off x="637850" y="44037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A3A3A"/>
                </a:solidFill>
                <a:highlight>
                  <a:srgbClr val="FFFFFF"/>
                </a:highlight>
              </a:rPr>
              <a:t>Boneca Ambalabu</a:t>
            </a:r>
            <a:endParaRPr sz="1100"/>
          </a:p>
        </p:txBody>
      </p:sp>
      <p:sp>
        <p:nvSpPr>
          <p:cNvPr id="544" name="Google Shape;544;p48"/>
          <p:cNvSpPr txBox="1"/>
          <p:nvPr/>
        </p:nvSpPr>
        <p:spPr>
          <a:xfrm>
            <a:off x="3271050" y="41993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A3A3A"/>
                </a:solidFill>
                <a:highlight>
                  <a:srgbClr val="FFFFFF"/>
                </a:highlight>
              </a:rPr>
              <a:t>Trippi Troppi</a:t>
            </a:r>
            <a:endParaRPr sz="1100"/>
          </a:p>
        </p:txBody>
      </p:sp>
      <p:pic>
        <p:nvPicPr>
          <p:cNvPr id="545" name="Google Shape;545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08775" y="2513513"/>
            <a:ext cx="2682875" cy="15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31000" y="2395250"/>
            <a:ext cx="2203832" cy="219465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8"/>
          <p:cNvSpPr txBox="1"/>
          <p:nvPr/>
        </p:nvSpPr>
        <p:spPr>
          <a:xfrm>
            <a:off x="6331000" y="45533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A3A3A"/>
                </a:solidFill>
                <a:highlight>
                  <a:srgbClr val="FFFFFF"/>
                </a:highlight>
              </a:rPr>
              <a:t>Liriri Larira</a:t>
            </a:r>
            <a:endParaRPr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75" y="1262000"/>
            <a:ext cx="3016804" cy="169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9"/>
          <p:cNvSpPr txBox="1"/>
          <p:nvPr/>
        </p:nvSpPr>
        <p:spPr>
          <a:xfrm>
            <a:off x="302675" y="29589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A3A3A"/>
                </a:solidFill>
                <a:highlight>
                  <a:srgbClr val="FFFFFF"/>
                </a:highlight>
              </a:rPr>
              <a:t>Frigo Camelo</a:t>
            </a:r>
            <a:endParaRPr sz="1100"/>
          </a:p>
        </p:txBody>
      </p:sp>
      <p:sp>
        <p:nvSpPr>
          <p:cNvPr id="554" name="Google Shape;554;p49"/>
          <p:cNvSpPr txBox="1"/>
          <p:nvPr/>
        </p:nvSpPr>
        <p:spPr>
          <a:xfrm>
            <a:off x="3571575" y="29950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1A1A1A"/>
                </a:solidFill>
              </a:rPr>
              <a:t>La Vacca Saturno Saturnita</a:t>
            </a:r>
            <a:endParaRPr sz="1100">
              <a:solidFill>
                <a:srgbClr val="1A1A1A"/>
              </a:solidFill>
            </a:endParaRPr>
          </a:p>
        </p:txBody>
      </p:sp>
      <p:pic>
        <p:nvPicPr>
          <p:cNvPr id="555" name="Google Shape;55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1575" y="922425"/>
            <a:ext cx="2124600" cy="21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8650" y="922413"/>
            <a:ext cx="2124600" cy="1869467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49"/>
          <p:cNvSpPr txBox="1"/>
          <p:nvPr/>
        </p:nvSpPr>
        <p:spPr>
          <a:xfrm>
            <a:off x="6606250" y="27918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A3A3A"/>
                </a:solidFill>
                <a:highlight>
                  <a:srgbClr val="FFFFFF"/>
                </a:highlight>
              </a:rPr>
              <a:t>Cappuccino Assassino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2514</TotalTime>
  <Words>1607</Words>
  <Application>Microsoft Office PowerPoint</Application>
  <PresentationFormat>Экран (16:9)</PresentationFormat>
  <Paragraphs>278</Paragraphs>
  <Slides>36</Slides>
  <Notes>36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0" baseType="lpstr">
      <vt:lpstr>Arial</vt:lpstr>
      <vt:lpstr>Roboto</vt:lpstr>
      <vt:lpstr>Times New Roman</vt:lpstr>
      <vt:lpstr>Material</vt:lpstr>
      <vt:lpstr>Проектное задание по дисциплине “Анализ и моделирование процессов”</vt:lpstr>
      <vt:lpstr>ГЕМБА: наблюдение за процессами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Ключевые проблема в рамках процесса:</vt:lpstr>
      <vt:lpstr>Презентация PowerPoint</vt:lpstr>
      <vt:lpstr>SMART: Формулировка цели</vt:lpstr>
      <vt:lpstr> Определение ожидаемых выгод:</vt:lpstr>
      <vt:lpstr>Планирование проекта </vt:lpstr>
      <vt:lpstr>5 причин почему текущий процесс занимает длительное время</vt:lpstr>
      <vt:lpstr>5 причин почему текущий процесс занимает длительное время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Целевой процесс :</vt:lpstr>
      <vt:lpstr>Презентация PowerPoint</vt:lpstr>
      <vt:lpstr>БИТРИКС дает возможность руководителю, HR и сотруднику:</vt:lpstr>
      <vt:lpstr>Сформированный программой БИТРИКС график отпусков в виде списка</vt:lpstr>
      <vt:lpstr>Сформированный программой БИТРИКС график отпусков в виде канбан</vt:lpstr>
      <vt:lpstr>Презентация PowerPoint</vt:lpstr>
      <vt:lpstr>Презентация PowerPoint</vt:lpstr>
      <vt:lpstr>Расчет трудоемкости процесса:</vt:lpstr>
      <vt:lpstr>Расчет трудоемкости процесса:</vt:lpstr>
      <vt:lpstr>Расчет стоимости внедрения БИТРИКС:</vt:lpstr>
      <vt:lpstr>Презентация PowerPoint</vt:lpstr>
      <vt:lpstr>Презентация PowerPoint</vt:lpstr>
      <vt:lpstr>Вывод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Проектное задание по дисциплине “Анализ и моделирование процессов”</dc:title>
  <cp:lastModifiedBy>Алёна Храмцова</cp:lastModifiedBy>
  <cp:revision>14</cp:revision>
  <dcterms:modified xsi:type="dcterms:W3CDTF">2025-05-14T13:15:37Z</dcterms:modified>
</cp:coreProperties>
</file>