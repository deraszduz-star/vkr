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ink/ink1.xml" ContentType="application/inkml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65" r:id="rId4"/>
    <p:sldId id="266" r:id="rId5"/>
    <p:sldId id="261" r:id="rId6"/>
    <p:sldId id="267" r:id="rId7"/>
    <p:sldId id="268" r:id="rId8"/>
    <p:sldId id="275" r:id="rId9"/>
    <p:sldId id="276" r:id="rId10"/>
    <p:sldId id="278" r:id="rId11"/>
    <p:sldId id="279" r:id="rId12"/>
    <p:sldId id="283" r:id="rId13"/>
    <p:sldId id="282" r:id="rId14"/>
    <p:sldId id="262" r:id="rId15"/>
    <p:sldId id="281" r:id="rId16"/>
    <p:sldId id="284" r:id="rId17"/>
    <p:sldId id="286" r:id="rId18"/>
    <p:sldId id="285" r:id="rId19"/>
    <p:sldId id="287" r:id="rId20"/>
    <p:sldId id="269" r:id="rId21"/>
    <p:sldId id="270" r:id="rId22"/>
  </p:sldIdLst>
  <p:sldSz cx="9144000" cy="5143500" type="screen16x9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F0AB3D85-F2AA-438C-A691-0BD89FA5DA1C}">
          <p14:sldIdLst>
            <p14:sldId id="256"/>
            <p14:sldId id="257"/>
            <p14:sldId id="265"/>
            <p14:sldId id="266"/>
            <p14:sldId id="261"/>
            <p14:sldId id="267"/>
            <p14:sldId id="268"/>
            <p14:sldId id="275"/>
            <p14:sldId id="276"/>
            <p14:sldId id="278"/>
            <p14:sldId id="279"/>
            <p14:sldId id="283"/>
            <p14:sldId id="282"/>
            <p14:sldId id="262"/>
            <p14:sldId id="281"/>
            <p14:sldId id="284"/>
            <p14:sldId id="286"/>
            <p14:sldId id="285"/>
            <p14:sldId id="287"/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4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486"/>
    <p:restoredTop sz="79454" autoAdjust="0"/>
  </p:normalViewPr>
  <p:slideViewPr>
    <p:cSldViewPr>
      <p:cViewPr>
        <p:scale>
          <a:sx n="145" d="100"/>
          <a:sy n="145" d="100"/>
        </p:scale>
        <p:origin x="192" y="512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2" d="100"/>
          <a:sy n="82" d="100"/>
        </p:scale>
        <p:origin x="3992" y="1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30T11:43:40.985"/>
    </inkml:context>
    <inkml:brush xml:id="br0">
      <inkml:brushProperty name="width" value="0.35" units="cm"/>
      <inkml:brushProperty name="height" value="0.35" units="cm"/>
      <inkml:brushProperty name="color" value="#7FE2DB"/>
    </inkml:brush>
  </inkml:definitions>
  <inkml:trace contextRef="#ctx0" brushRef="#br0">0 81 24575,'0'-31'0,"0"2"0,0 18 0,0 2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71BDCD-EBE6-4678-8413-13BFAA387E1D}" type="datetimeFigureOut">
              <a:rPr lang="ru-RU" smtClean="0"/>
              <a:t>30.04.2025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A570D4-9143-4E91-8959-8D963457B7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36375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01676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aseline="0" dirty="0"/>
              <a:t>След. слайд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90741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3434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14522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62272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i="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40967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i="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81927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i="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16693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i="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86006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i="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58022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ru-RU" baseline="0" dirty="0"/>
          </a:p>
          <a:p>
            <a:pPr marL="228600" indent="-228600">
              <a:buAutoNum type="arabicParenR"/>
            </a:pPr>
            <a:endParaRPr lang="ru-RU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57253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i="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420053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  <a:defRPr/>
            </a:pPr>
            <a:r>
              <a:rPr lang="ru-RU" sz="1200" dirty="0">
                <a:latin typeface="PT Sans" panose="020B0503020203020204" pitchFamily="34" charset="-52"/>
              </a:rPr>
              <a:t>Перейдем ко второй категории предложений от подразделений.</a:t>
            </a:r>
          </a:p>
          <a:p>
            <a:pPr marL="0" lvl="0" indent="0">
              <a:buNone/>
              <a:defRPr/>
            </a:pPr>
            <a:r>
              <a:rPr lang="ru-RU" sz="1200" dirty="0">
                <a:latin typeface="PT Sans" panose="020B0503020203020204" pitchFamily="34" charset="-52"/>
              </a:rPr>
              <a:t>Исходя</a:t>
            </a:r>
            <a:r>
              <a:rPr lang="ru-RU" sz="1200" baseline="0" dirty="0">
                <a:latin typeface="PT Sans" panose="020B0503020203020204" pitchFamily="34" charset="-52"/>
              </a:rPr>
              <a:t> из запросов подразделений мы определили, что есть потребность в создании сопроводительных графических элементов таких как:</a:t>
            </a:r>
            <a:endParaRPr lang="ru-RU" sz="1200" dirty="0">
              <a:latin typeface="PT Sans" panose="020B0503020203020204" pitchFamily="34" charset="-52"/>
            </a:endParaRPr>
          </a:p>
          <a:p>
            <a:pPr marL="228600" lvl="0" indent="-228600">
              <a:buAutoNum type="arabicPeriod"/>
              <a:defRPr/>
            </a:pPr>
            <a:endParaRPr lang="ru-RU" sz="1200" dirty="0">
              <a:latin typeface="PT Sans" panose="020B0503020203020204" pitchFamily="34" charset="-52"/>
            </a:endParaRPr>
          </a:p>
          <a:p>
            <a:pPr marL="228600" lvl="0" indent="-228600">
              <a:buAutoNum type="arabicPeriod"/>
              <a:defRPr/>
            </a:pPr>
            <a:r>
              <a:rPr lang="ru-RU" sz="1200" dirty="0">
                <a:latin typeface="PT Sans" panose="020B0503020203020204" pitchFamily="34" charset="-52"/>
              </a:rPr>
              <a:t>Пиктограммы</a:t>
            </a:r>
          </a:p>
          <a:p>
            <a:pPr marL="228600" lvl="0" indent="-228600">
              <a:buAutoNum type="arabicPeriod"/>
              <a:defRPr/>
            </a:pPr>
            <a:r>
              <a:rPr lang="ru-RU" sz="1200" dirty="0">
                <a:latin typeface="PT Sans" panose="020B0503020203020204" pitchFamily="34" charset="-52"/>
              </a:rPr>
              <a:t>Представление предметных рейтингов</a:t>
            </a:r>
          </a:p>
          <a:p>
            <a:pPr marL="228600" lvl="0" indent="-228600">
              <a:buAutoNum type="arabicPeriod"/>
              <a:defRPr/>
            </a:pPr>
            <a:r>
              <a:rPr lang="ru-RU" sz="1200" dirty="0">
                <a:latin typeface="PT Sans" panose="020B0503020203020204" pitchFamily="34" charset="-52"/>
              </a:rPr>
              <a:t>Фотографии</a:t>
            </a:r>
            <a:endParaRPr lang="en-US" sz="1200" dirty="0">
              <a:latin typeface="PT Sans" panose="020B0503020203020204" pitchFamily="34" charset="-52"/>
            </a:endParaRPr>
          </a:p>
          <a:p>
            <a:pPr marL="0" indent="0">
              <a:buNone/>
            </a:pPr>
            <a:endParaRPr lang="ru-RU" baseline="0" dirty="0"/>
          </a:p>
          <a:p>
            <a:pPr marL="0" indent="0">
              <a:buNone/>
            </a:pPr>
            <a:r>
              <a:rPr lang="ru-RU" baseline="0" dirty="0"/>
              <a:t>На данном слайде представляем вам 3 вида пиктограмм, которые </a:t>
            </a:r>
            <a:r>
              <a:rPr lang="ru-RU" baseline="0" dirty="0" err="1"/>
              <a:t>отрисованы</a:t>
            </a:r>
            <a:r>
              <a:rPr lang="ru-RU" baseline="0" dirty="0"/>
              <a:t> в разных цветах, приемах графики и подойдут для разных стилей представления информации. В последующем мы разместим ссылку на архив пиктограмм на все случаи жизни.</a:t>
            </a:r>
          </a:p>
          <a:p>
            <a:pPr marL="0" indent="0">
              <a:buNone/>
            </a:pPr>
            <a:endParaRPr lang="ru-RU" baseline="0" dirty="0"/>
          </a:p>
          <a:p>
            <a:pPr marL="0" indent="0">
              <a:buNone/>
            </a:pPr>
            <a:r>
              <a:rPr lang="ru-RU" baseline="0" dirty="0"/>
              <a:t>След. слайд</a:t>
            </a:r>
          </a:p>
          <a:p>
            <a:pPr marL="228600" indent="-228600">
              <a:buAutoNum type="arabicParenR"/>
            </a:pPr>
            <a:endParaRPr lang="ru-RU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013846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679653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06714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30.04.2025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30.04.2025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30.04.2025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30.04.2025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30.04.2025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30.04.2025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30.04.2025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30.04.2025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30.04.2025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30.04.2025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30.04.2025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C71EC6-210F-42DE-9C53-41977AD35B3D}" type="datetimeFigureOut">
              <a:rPr lang="ru-RU" smtClean="0"/>
              <a:t>30.04.2025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8.png"/><Relationship Id="rId7" Type="http://schemas.openxmlformats.org/officeDocument/2006/relationships/image" Target="../media/image17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5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2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2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2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2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8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image" Target="../media/image26.png"/><Relationship Id="rId5" Type="http://schemas.openxmlformats.org/officeDocument/2006/relationships/image" Target="../media/image10.png"/><Relationship Id="rId10" Type="http://schemas.openxmlformats.org/officeDocument/2006/relationships/image" Target="../media/image25.png"/><Relationship Id="rId4" Type="http://schemas.openxmlformats.org/officeDocument/2006/relationships/image" Target="../media/image9.png"/><Relationship Id="rId9" Type="http://schemas.openxmlformats.org/officeDocument/2006/relationships/customXml" Target="../ink/ink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8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31.png"/><Relationship Id="rId4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jpeg"/><Relationship Id="rId4" Type="http://schemas.openxmlformats.org/officeDocument/2006/relationships/image" Target="../media/image34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MSShafigullin\Desktop\Проекты\Брендбук\Гайдлайн\Презентация\презентация шаблон КФУ-01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472"/>
          <a:stretch/>
        </p:blipFill>
        <p:spPr bwMode="auto">
          <a:xfrm>
            <a:off x="0" y="1786"/>
            <a:ext cx="9144000" cy="51417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1259632" y="2377528"/>
            <a:ext cx="633670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buClr>
                <a:srgbClr val="000000"/>
              </a:buClr>
              <a:buSzPts val="1100"/>
            </a:pPr>
            <a:r>
              <a:rPr lang="ru-RU" sz="3600" dirty="0" err="1">
                <a:solidFill>
                  <a:schemeClr val="l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Гемба</a:t>
            </a:r>
            <a:r>
              <a:rPr lang="ru-RU" sz="2000" dirty="0">
                <a:solidFill>
                  <a:schemeClr val="lt1"/>
                </a:solidFill>
                <a:latin typeface="PT Sans" panose="020B0503020203020204" pitchFamily="34" charset="-52"/>
              </a:rPr>
              <a:t> </a:t>
            </a:r>
          </a:p>
          <a:p>
            <a:pPr lvl="0" algn="ctr">
              <a:buClr>
                <a:srgbClr val="000000"/>
              </a:buClr>
              <a:buSzPts val="1100"/>
            </a:pPr>
            <a:endParaRPr lang="ru-RU" sz="2000" dirty="0">
              <a:solidFill>
                <a:schemeClr val="lt1"/>
              </a:solidFill>
              <a:latin typeface="PT Sans" panose="020B0503020203020204" pitchFamily="34" charset="-52"/>
            </a:endParaRPr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 flipH="1">
            <a:off x="2339753" y="2058086"/>
            <a:ext cx="4464495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129CF49-BFAC-429C-A952-E43301A34BE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7390" y="483518"/>
            <a:ext cx="2749221" cy="112493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1248819-9302-A564-738A-7742AED9C343}"/>
              </a:ext>
            </a:extLst>
          </p:cNvPr>
          <p:cNvSpPr txBox="1"/>
          <p:nvPr/>
        </p:nvSpPr>
        <p:spPr>
          <a:xfrm>
            <a:off x="5508104" y="4333724"/>
            <a:ext cx="34563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Подготовили</a:t>
            </a:r>
            <a:r>
              <a:rPr lang="en-US" dirty="0"/>
              <a:t>:</a:t>
            </a:r>
            <a:r>
              <a:rPr lang="ru-RU" dirty="0" err="1"/>
              <a:t>Букачакова</a:t>
            </a:r>
            <a:r>
              <a:rPr lang="ru-RU" dirty="0"/>
              <a:t> </a:t>
            </a:r>
            <a:r>
              <a:rPr lang="ru-RU" dirty="0" err="1"/>
              <a:t>Байару</a:t>
            </a:r>
            <a:r>
              <a:rPr lang="ru-RU" dirty="0"/>
              <a:t> </a:t>
            </a:r>
          </a:p>
          <a:p>
            <a:r>
              <a:rPr lang="ru-RU" dirty="0"/>
              <a:t>                         Курбанов Тимур </a:t>
            </a:r>
          </a:p>
        </p:txBody>
      </p:sp>
    </p:spTree>
    <p:extLst>
      <p:ext uri="{BB962C8B-B14F-4D97-AF65-F5344CB8AC3E}">
        <p14:creationId xmlns:p14="http://schemas.microsoft.com/office/powerpoint/2010/main" val="32208401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-16005" y="601312"/>
            <a:ext cx="3347865" cy="769250"/>
          </a:xfrm>
          <a:prstGeom prst="rect">
            <a:avLst/>
          </a:prstGeom>
          <a:gradFill flip="none" rotWithShape="1">
            <a:gsLst>
              <a:gs pos="0">
                <a:srgbClr val="00549F">
                  <a:shade val="30000"/>
                  <a:satMod val="115000"/>
                </a:srgbClr>
              </a:gs>
              <a:gs pos="50000">
                <a:srgbClr val="00549F">
                  <a:shade val="67500"/>
                  <a:satMod val="115000"/>
                </a:srgbClr>
              </a:gs>
              <a:gs pos="100000">
                <a:srgbClr val="00549F">
                  <a:shade val="100000"/>
                  <a:satMod val="115000"/>
                </a:srgb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3567200" y="697803"/>
            <a:ext cx="5256584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Этнографический музей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16016" y="1915861"/>
            <a:ext cx="4107768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b="0" i="0" dirty="0">
                <a:solidFill>
                  <a:schemeClr val="tx2">
                    <a:lumMod val="50000"/>
                    <a:lumOff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Этнографический музей является одним из старейших музеев гуманитарного профиля на территории России. Основы музея были заложены в 1815 г. в связи с организацией Кабинета редкостей Казанского Императорского университета.</a:t>
            </a:r>
          </a:p>
          <a:p>
            <a:endParaRPr lang="ru-RU" sz="1200" dirty="0">
              <a:solidFill>
                <a:srgbClr val="00549F"/>
              </a:solidFill>
              <a:latin typeface="PT Sans" panose="020B0503020203020204" pitchFamily="34" charset="-52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B99288A-28EA-4333-A305-E315C8C40F7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831" y="820691"/>
            <a:ext cx="1728192" cy="330491"/>
          </a:xfrm>
          <a:prstGeom prst="rect">
            <a:avLst/>
          </a:prstGeom>
        </p:spPr>
      </p:pic>
      <p:pic>
        <p:nvPicPr>
          <p:cNvPr id="1026" name="Picture 2" descr="Этнографический музей КФУ, музей, Кремлёвская ул., 18, корп. 1, Казань —  Яндекс Карты">
            <a:extLst>
              <a:ext uri="{FF2B5EF4-FFF2-40B4-BE49-F238E27FC236}">
                <a16:creationId xmlns:a16="http://schemas.microsoft.com/office/drawing/2014/main" id="{1AEE0E90-6703-3F23-0C1C-CB1F8F53AE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607" y="1649212"/>
            <a:ext cx="2636018" cy="17608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Этнографический музей\Музеи - Казанский (Приволжский) федеральный  университет">
            <a:extLst>
              <a:ext uri="{FF2B5EF4-FFF2-40B4-BE49-F238E27FC236}">
                <a16:creationId xmlns:a16="http://schemas.microsoft.com/office/drawing/2014/main" id="{C8468348-F9F4-5953-D924-7F3EF9F8B1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9829" y="2753493"/>
            <a:ext cx="2925559" cy="20388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31" descr="C:\Users\MSShafigullin\Desktop\2020\Презентация КФУ\Пиктограммы и иконки\1772978-school-and-education\1772978-school-and-education\png\012-award.png">
            <a:extLst>
              <a:ext uri="{FF2B5EF4-FFF2-40B4-BE49-F238E27FC236}">
                <a16:creationId xmlns:a16="http://schemas.microsoft.com/office/drawing/2014/main" id="{6D046BCE-76A8-06AE-DC72-490816FAC8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352" y="820691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C:\Users\MSShafigullin\Downloads\1-02.png">
            <a:extLst>
              <a:ext uri="{FF2B5EF4-FFF2-40B4-BE49-F238E27FC236}">
                <a16:creationId xmlns:a16="http://schemas.microsoft.com/office/drawing/2014/main" id="{A2777008-A914-EE62-BD1E-2D50114061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8144" y="4227934"/>
            <a:ext cx="1557456" cy="756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74244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Прямоугольник 13"/>
          <p:cNvSpPr/>
          <p:nvPr/>
        </p:nvSpPr>
        <p:spPr>
          <a:xfrm>
            <a:off x="0" y="0"/>
            <a:ext cx="827584" cy="5143500"/>
          </a:xfrm>
          <a:prstGeom prst="rect">
            <a:avLst/>
          </a:prstGeom>
          <a:gradFill>
            <a:gsLst>
              <a:gs pos="0">
                <a:schemeClr val="bg1">
                  <a:lumMod val="50000"/>
                </a:schemeClr>
              </a:gs>
              <a:gs pos="50000">
                <a:schemeClr val="bg1">
                  <a:lumMod val="6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extBox 6"/>
          <p:cNvSpPr txBox="1"/>
          <p:nvPr/>
        </p:nvSpPr>
        <p:spPr>
          <a:xfrm>
            <a:off x="1007604" y="342923"/>
            <a:ext cx="712879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Процессы фондовой регистрации и описании музейных предметов в КАМИС</a:t>
            </a:r>
            <a:r>
              <a:rPr lang="ru-RU" sz="1400" b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endParaRPr lang="ru-RU" sz="1400" b="1" dirty="0">
              <a:solidFill>
                <a:schemeClr val="bg1">
                  <a:lumMod val="50000"/>
                </a:schemeClr>
              </a:solidFill>
              <a:latin typeface="PT Sans" panose="020B0503020203020204" pitchFamily="34" charset="-52"/>
            </a:endParaRPr>
          </a:p>
        </p:txBody>
      </p:sp>
      <p:pic>
        <p:nvPicPr>
          <p:cNvPr id="8" name="Picture 4" descr="C:\Users\MSShafigullin\Desktop\Проекты\Презентация по ДК\qs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099" y="4450612"/>
            <a:ext cx="353386" cy="353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6" descr="C:\Users\MSShafigullin\Desktop\2020\Презентация КФУ\THE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792" y="3867894"/>
            <a:ext cx="252000" cy="25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84051" y="4728776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 algn="ctr">
              <a:defRPr/>
            </a:pPr>
            <a:r>
              <a:rPr lang="ru-RU" sz="800" b="0" dirty="0">
                <a:solidFill>
                  <a:schemeClr val="tx1"/>
                </a:solidFill>
                <a:latin typeface="PT Sans" panose="020B0503020203020204" pitchFamily="34" charset="-52"/>
              </a:rPr>
              <a:t>322</a:t>
            </a:r>
          </a:p>
          <a:p>
            <a:pPr lvl="0" algn="ctr">
              <a:defRPr/>
            </a:pPr>
            <a:r>
              <a:rPr kumimoji="0" lang="ru-RU" sz="800" b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uLnTx/>
                <a:uFillTx/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uLnTx/>
              <a:uFillTx/>
              <a:latin typeface="PT Sans" panose="020B0503020203020204" pitchFamily="34" charset="-5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4051" y="4083918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dirty="0">
                <a:solidFill>
                  <a:schemeClr val="tx1"/>
                </a:solidFill>
                <a:latin typeface="PT Sans" panose="020B0503020203020204" pitchFamily="34" charset="-52"/>
              </a:rPr>
              <a:t>8</a:t>
            </a:r>
            <a:r>
              <a:rPr lang="ru-RU" sz="800" b="0" dirty="0">
                <a:solidFill>
                  <a:schemeClr val="tx1"/>
                </a:solidFill>
                <a:latin typeface="PT Sans" panose="020B0503020203020204" pitchFamily="34" charset="-52"/>
              </a:rPr>
              <a:t>01-</a:t>
            </a:r>
            <a:r>
              <a:rPr lang="en-US" sz="800" b="0" dirty="0">
                <a:solidFill>
                  <a:schemeClr val="tx1"/>
                </a:solidFill>
                <a:latin typeface="PT Sans" panose="020B0503020203020204" pitchFamily="34" charset="-52"/>
              </a:rPr>
              <a:t>10</a:t>
            </a:r>
            <a:r>
              <a:rPr lang="ru-RU" sz="800" b="0" dirty="0">
                <a:solidFill>
                  <a:schemeClr val="tx1"/>
                </a:solidFill>
                <a:latin typeface="PT Sans" panose="020B0503020203020204" pitchFamily="34" charset="-52"/>
              </a:rPr>
              <a:t>00</a:t>
            </a:r>
          </a:p>
          <a:p>
            <a:pPr lvl="0" algn="ctr">
              <a:defRPr/>
            </a:pPr>
            <a:r>
              <a:rPr lang="en-US" sz="800" b="0" kern="0" dirty="0">
                <a:solidFill>
                  <a:schemeClr val="tx1"/>
                </a:solidFill>
                <a:latin typeface="PT Sans" panose="020B0503020203020204" pitchFamily="34" charset="-52"/>
              </a:rPr>
              <a:t>1</a:t>
            </a:r>
            <a:r>
              <a:rPr lang="ru-RU" sz="800" b="0" kern="0" dirty="0">
                <a:solidFill>
                  <a:schemeClr val="tx1"/>
                </a:solidFill>
                <a:latin typeface="PT Sans" panose="020B0503020203020204" pitchFamily="34" charset="-52"/>
              </a:rPr>
              <a:t>4</a:t>
            </a:r>
            <a:r>
              <a:rPr lang="en-US" sz="800" b="0" kern="0" dirty="0">
                <a:solidFill>
                  <a:schemeClr val="tx1"/>
                </a:solidFill>
                <a:latin typeface="PT Sans" panose="020B0503020203020204" pitchFamily="34" charset="-52"/>
              </a:rPr>
              <a:t>-1</a:t>
            </a:r>
            <a:r>
              <a:rPr lang="ru-RU" sz="800" b="0" kern="0" dirty="0">
                <a:solidFill>
                  <a:schemeClr val="tx1"/>
                </a:solidFill>
                <a:latin typeface="PT Sans" panose="020B0503020203020204" pitchFamily="34" charset="-52"/>
              </a:rPr>
              <a:t>6</a:t>
            </a:r>
            <a:endParaRPr lang="en-US" sz="800" b="0" kern="0" dirty="0">
              <a:solidFill>
                <a:schemeClr val="tx1"/>
              </a:solidFill>
              <a:latin typeface="PT Sans" panose="020B0503020203020204" pitchFamily="34" charset="-52"/>
            </a:endParaRPr>
          </a:p>
        </p:txBody>
      </p:sp>
      <p:pic>
        <p:nvPicPr>
          <p:cNvPr id="20" name="Picture 4" descr="C:\Users\MSShafigullin\Desktop\2020\5+\5+ (white)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389" y="3435846"/>
            <a:ext cx="524805" cy="238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28A289C4-5314-4BCB-BC4D-E52E15221243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390" y="87534"/>
            <a:ext cx="524805" cy="1141075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462B52B-2E4B-D5E6-D9B3-C12C6524103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2200" y="1446130"/>
            <a:ext cx="2288852" cy="305180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EFE65E2-4ECF-AAA2-1174-558CADC9F15A}"/>
              </a:ext>
            </a:extLst>
          </p:cNvPr>
          <p:cNvSpPr txBox="1"/>
          <p:nvPr/>
        </p:nvSpPr>
        <p:spPr>
          <a:xfrm>
            <a:off x="1007605" y="1446130"/>
            <a:ext cx="5004556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Сейчас основная задача заключается в том, чтобы перевести все музейные экспонаты в электронную базу КАМИС.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как можно быстрее учесть в каком состоянии предметы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1600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учесть все размер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предмета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1600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проверить документацию каждого предмета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описать предмет, что это , с какого века, для чего его использовали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все предметы нужно </a:t>
            </a:r>
            <a:r>
              <a:rPr lang="ru-RU" sz="1600" dirty="0" err="1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отфотографировать</a:t>
            </a:r>
            <a:r>
              <a:rPr lang="ru-RU" sz="16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под хорошим светом и ракурсом </a:t>
            </a:r>
          </a:p>
        </p:txBody>
      </p:sp>
      <p:pic>
        <p:nvPicPr>
          <p:cNvPr id="15" name="Picture 6" descr="C:\Users\MSShafigullin\Desktop\2020\Презентация КФУ\Пиктограммы и иконки\1772879-school-and-education\1772879-school-and-education\png\005-book.png">
            <a:extLst>
              <a:ext uri="{FF2B5EF4-FFF2-40B4-BE49-F238E27FC236}">
                <a16:creationId xmlns:a16="http://schemas.microsoft.com/office/drawing/2014/main" id="{952CFC82-3E69-75C7-13F5-306CB9BB8F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752" y="716603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46492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0" y="1924"/>
            <a:ext cx="9144000" cy="832664"/>
          </a:xfrm>
          <a:prstGeom prst="rect">
            <a:avLst/>
          </a:prstGeom>
          <a:gradFill flip="none" rotWithShape="1">
            <a:gsLst>
              <a:gs pos="0">
                <a:srgbClr val="00549F">
                  <a:shade val="30000"/>
                  <a:satMod val="115000"/>
                </a:srgbClr>
              </a:gs>
              <a:gs pos="50000">
                <a:srgbClr val="00549F">
                  <a:shade val="67500"/>
                  <a:satMod val="115000"/>
                </a:srgbClr>
              </a:gs>
              <a:gs pos="100000">
                <a:srgbClr val="00549F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extBox 6"/>
          <p:cNvSpPr txBox="1"/>
          <p:nvPr/>
        </p:nvSpPr>
        <p:spPr>
          <a:xfrm>
            <a:off x="913365" y="192706"/>
            <a:ext cx="7344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 err="1">
                <a:solidFill>
                  <a:schemeClr val="bg1"/>
                </a:solidFill>
                <a:latin typeface="PT Sans" panose="020B0503020203020204" pitchFamily="34" charset="-52"/>
              </a:rPr>
              <a:t>Гемба</a:t>
            </a:r>
            <a:r>
              <a:rPr lang="ru-RU" sz="1400" b="1" dirty="0">
                <a:solidFill>
                  <a:schemeClr val="bg1"/>
                </a:solidFill>
                <a:latin typeface="PT Sans" panose="020B0503020203020204" pitchFamily="34" charset="-52"/>
              </a:rPr>
              <a:t> </a:t>
            </a:r>
          </a:p>
        </p:txBody>
      </p:sp>
      <p:pic>
        <p:nvPicPr>
          <p:cNvPr id="8" name="Picture 4" descr="C:\Users\MSShafigullin\Desktop\Проекты\Презентация по ДК\qs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8094" y="367563"/>
            <a:ext cx="353386" cy="353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6" descr="C:\Users\MSShafigullin\Desktop\2020\Презентация КФУ\THE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8787" y="114719"/>
            <a:ext cx="252000" cy="25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8279432" y="374979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322</a:t>
            </a:r>
            <a:endParaRPr lang="ru-RU" sz="800" b="0" dirty="0">
              <a:solidFill>
                <a:schemeClr val="bg1"/>
              </a:solidFill>
              <a:latin typeface="PT Sans" panose="020B0503020203020204" pitchFamily="34" charset="-52"/>
            </a:endParaRPr>
          </a:p>
          <a:p>
            <a:pPr lvl="0">
              <a:defRPr/>
            </a:pPr>
            <a:r>
              <a:rPr kumimoji="0" lang="ru-RU" sz="800" b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uLnTx/>
                <a:uFillTx/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279432" y="71442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8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01-</a:t>
            </a: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10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00</a:t>
            </a:r>
          </a:p>
          <a:p>
            <a:pPr lvl="0">
              <a:defRPr/>
            </a:pPr>
            <a:r>
              <a:rPr lang="en-US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1</a:t>
            </a: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4</a:t>
            </a:r>
            <a:r>
              <a:rPr lang="en-US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-1</a:t>
            </a: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6</a:t>
            </a:r>
            <a:endParaRPr lang="en-US" sz="800" b="0" kern="0" dirty="0">
              <a:solidFill>
                <a:schemeClr val="bg1"/>
              </a:solidFill>
              <a:latin typeface="PT Sans" panose="020B0503020203020204" pitchFamily="34" charset="-52"/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26206" y="1153227"/>
            <a:ext cx="9041080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Замеры процессов </a:t>
            </a:r>
          </a:p>
          <a:p>
            <a:pPr lvl="0" algn="ctr">
              <a:defRPr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 algn="ctr">
              <a:defRPr/>
            </a:pPr>
            <a:r>
              <a:rPr lang="ru-RU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13:02 — загрузка файлов (6 экспонатов) в базу данных, параллельно фиксируются записи на бумаге.</a:t>
            </a:r>
          </a:p>
          <a:p>
            <a:pPr marL="342900" lvl="0" indent="-342900">
              <a:buAutoNum type="arabicPeriod"/>
              <a:defRPr/>
            </a:pPr>
            <a:r>
              <a:rPr lang="ru-RU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Первый экспонат занесён за 1:05 минуту</a:t>
            </a:r>
          </a:p>
          <a:p>
            <a:pPr marL="342900" lvl="0" indent="-342900">
              <a:buAutoNum type="arabicPeriod"/>
              <a:defRPr/>
            </a:pPr>
            <a:r>
              <a:rPr lang="ru-RU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Второй — за 56 секунд. </a:t>
            </a:r>
          </a:p>
          <a:p>
            <a:pPr marL="342900" lvl="0" indent="-342900">
              <a:buAutoNum type="arabicPeriod"/>
              <a:defRPr/>
            </a:pPr>
            <a:r>
              <a:rPr lang="ru-RU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Третий экспонат —процесс ушло 4:43 минуты, миска: внесены размеры, описание техники изготовления, сделаны фото с разных ракурсов, описана степень сохранности, хранитель, принадлежность к фонду и примечания. </a:t>
            </a:r>
          </a:p>
          <a:p>
            <a:pPr marL="342900" lvl="0" indent="-342900">
              <a:buAutoNum type="arabicPeriod"/>
              <a:defRPr/>
            </a:pPr>
            <a:r>
              <a:rPr lang="ru-RU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13:20 — пятый экспонат: документ. Потребовалась фотошоп-обработка — переворот изображения и ретушь (2:27). 13:25 — шестой экспонат: цветы</a:t>
            </a: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Работа с белым фоном в фотошопе (9:04). Внесение фото в базу (1:45).</a:t>
            </a:r>
            <a:endParaRPr lang="ru-RU" sz="16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AutoNum type="arabicPeriod"/>
              <a:defRPr/>
            </a:pPr>
            <a:endParaRPr lang="ru-RU" sz="16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342900" lvl="0" indent="-342900">
              <a:buAutoNum type="arabicPeriod"/>
              <a:defRPr/>
            </a:pPr>
            <a:endParaRPr lang="ru-RU" sz="1600" dirty="0">
              <a:latin typeface="PT Sans" panose="020B0503020203020204" pitchFamily="34" charset="-52"/>
            </a:endParaRPr>
          </a:p>
          <a:p>
            <a:pPr lvl="0" algn="ctr">
              <a:defRPr/>
            </a:pPr>
            <a:endParaRPr lang="ru-RU" sz="1600" dirty="0">
              <a:latin typeface="PT Sans" panose="020B0503020203020204" pitchFamily="34" charset="-52"/>
            </a:endParaRPr>
          </a:p>
        </p:txBody>
      </p:sp>
      <p:pic>
        <p:nvPicPr>
          <p:cNvPr id="2050" name="Picture 2" descr="C:\Users\MSShafigullin\Desktop\2020\5+\5+ (white)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2240" y="184996"/>
            <a:ext cx="989269" cy="45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7A070EB8-D2AB-456D-B935-4749A127C4D0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52" y="248038"/>
            <a:ext cx="845840" cy="346104"/>
          </a:xfrm>
          <a:prstGeom prst="rect">
            <a:avLst/>
          </a:prstGeom>
        </p:spPr>
      </p:pic>
      <p:pic>
        <p:nvPicPr>
          <p:cNvPr id="2" name="Picture 20" descr="C:\Users\MSShafigullin\Desktop\2020\Презентация КФУ\Пиктограммы и иконки\1772916-school-and-education\1772916-school-and-education\png\009-archive.png">
            <a:extLst>
              <a:ext uri="{FF2B5EF4-FFF2-40B4-BE49-F238E27FC236}">
                <a16:creationId xmlns:a16="http://schemas.microsoft.com/office/drawing/2014/main" id="{A5263C05-6ADA-6884-68DA-4D8199DB26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104" y="1046887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133154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827584" cy="5143500"/>
          </a:xfrm>
          <a:prstGeom prst="rect">
            <a:avLst/>
          </a:prstGeom>
          <a:gradFill flip="none" rotWithShape="1">
            <a:gsLst>
              <a:gs pos="0">
                <a:srgbClr val="00549F">
                  <a:shade val="30000"/>
                  <a:satMod val="115000"/>
                </a:srgbClr>
              </a:gs>
              <a:gs pos="50000">
                <a:srgbClr val="00549F">
                  <a:shade val="67500"/>
                  <a:satMod val="115000"/>
                </a:srgbClr>
              </a:gs>
              <a:gs pos="100000">
                <a:srgbClr val="00549F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978974" y="288739"/>
            <a:ext cx="73448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Процессы</a:t>
            </a:r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b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Экскурсии </a:t>
            </a:r>
          </a:p>
        </p:txBody>
      </p:sp>
      <p:pic>
        <p:nvPicPr>
          <p:cNvPr id="7" name="Picture 4" descr="C:\Users\MSShafigullin\Desktop\Проекты\Презентация по ДК\qs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099" y="4422472"/>
            <a:ext cx="353386" cy="353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C:\Users\MSShafigullin\Desktop\2020\Презентация КФУ\THE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792" y="3843770"/>
            <a:ext cx="252000" cy="25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84051" y="4728776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322</a:t>
            </a:r>
            <a:endParaRPr lang="ru-RU" sz="800" b="0" dirty="0">
              <a:solidFill>
                <a:schemeClr val="bg1"/>
              </a:solidFill>
              <a:latin typeface="PT Sans" panose="020B0503020203020204" pitchFamily="34" charset="-5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" b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uLnTx/>
                <a:uFillTx/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4051" y="4083918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8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01-</a:t>
            </a: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10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00</a:t>
            </a:r>
          </a:p>
          <a:p>
            <a:pPr lvl="0" algn="ctr">
              <a:defRPr/>
            </a:pP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14</a:t>
            </a:r>
            <a:r>
              <a:rPr lang="en-US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-1</a:t>
            </a: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6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pic>
        <p:nvPicPr>
          <p:cNvPr id="1028" name="Picture 4" descr="C:\Users\MSShafigullin\Desktop\2020\5+\5+ (white)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389" y="3435846"/>
            <a:ext cx="524805" cy="238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E879BAB-C986-4BEB-8A83-99751304597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390" y="87534"/>
            <a:ext cx="524805" cy="114107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CF8E88C-6ABD-D76F-7831-6643B39B1FDE}"/>
              </a:ext>
            </a:extLst>
          </p:cNvPr>
          <p:cNvSpPr txBox="1"/>
          <p:nvPr/>
        </p:nvSpPr>
        <p:spPr>
          <a:xfrm>
            <a:off x="978973" y="685690"/>
            <a:ext cx="5054458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Обычно экскурсии длятся по продолжительности полтора часа. Для детей время уменьшают до часу.</a:t>
            </a:r>
          </a:p>
          <a:p>
            <a:endParaRPr lang="ru-RU" sz="1600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1600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6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Обычно за 10 минут до экскурсии встречают гостей в холе. </a:t>
            </a:r>
          </a:p>
          <a:p>
            <a:r>
              <a:rPr lang="ru-RU" sz="16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 9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sz="16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 начало экскурсии, опоздали на 18 минут, т.к. студенты опоздали</a:t>
            </a:r>
          </a:p>
          <a:p>
            <a:r>
              <a:rPr lang="ru-RU" sz="16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sz="16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sz="16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40 закончили экскурсию</a:t>
            </a:r>
          </a:p>
          <a:p>
            <a:r>
              <a:rPr lang="ru-RU" sz="16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 конце каждой экскурсии проводят интерактив, задают вопросы, а так же получают обратную связь. </a:t>
            </a:r>
          </a:p>
          <a:p>
            <a:r>
              <a:rPr lang="ru-RU" sz="16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Обычно некоторых студентов, школьников студентов отправляют на экскурсии, поэтому не все слушают хранителя, им не интересно, они шумят, отвлекают хранителя  </a:t>
            </a:r>
          </a:p>
          <a:p>
            <a:endParaRPr lang="ru-RU" sz="1600" dirty="0">
              <a:solidFill>
                <a:schemeClr val="bg1">
                  <a:lumMod val="50000"/>
                </a:schemeClr>
              </a:solidFill>
              <a:latin typeface="PT Sans" panose="020B0503020203020204" pitchFamily="34" charset="-52"/>
              <a:cs typeface="Al Bayan Plain" pitchFamily="2" charset="-78"/>
            </a:endParaRPr>
          </a:p>
          <a:p>
            <a:endParaRPr lang="ru-RU" sz="1600" dirty="0">
              <a:solidFill>
                <a:schemeClr val="bg1">
                  <a:lumMod val="50000"/>
                </a:schemeClr>
              </a:solidFill>
              <a:latin typeface="PT Sans" panose="020B0503020203020204" pitchFamily="34" charset="-52"/>
              <a:cs typeface="Al Bayan Plain" pitchFamily="2" charset="-78"/>
            </a:endParaRPr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4A3D871D-ECD8-AC0A-C12B-DDE85252975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7482" y="717460"/>
            <a:ext cx="2755928" cy="3674570"/>
          </a:xfrm>
          <a:prstGeom prst="rect">
            <a:avLst/>
          </a:prstGeom>
        </p:spPr>
      </p:pic>
      <p:pic>
        <p:nvPicPr>
          <p:cNvPr id="18" name="Picture 23" descr="C:\Users\MSShafigullin\Desktop\2020\Презентация КФУ\Пиктограммы и иконки\1772978-school-and-education\1772978-school-and-education\png\017-business and finance.png">
            <a:extLst>
              <a:ext uri="{FF2B5EF4-FFF2-40B4-BE49-F238E27FC236}">
                <a16:creationId xmlns:a16="http://schemas.microsoft.com/office/drawing/2014/main" id="{9DBDA53F-AF1E-458D-D611-20B5B024D2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9872" y="229350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843441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/>
          <p:cNvSpPr/>
          <p:nvPr/>
        </p:nvSpPr>
        <p:spPr>
          <a:xfrm>
            <a:off x="-104" y="-7298"/>
            <a:ext cx="9144000" cy="834588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50000"/>
                </a:schemeClr>
              </a:gs>
              <a:gs pos="50000">
                <a:schemeClr val="bg1">
                  <a:lumMod val="65000"/>
                </a:schemeClr>
              </a:gs>
              <a:gs pos="100000">
                <a:schemeClr val="bg1">
                  <a:lumMod val="7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7" name="Picture 4" descr="C:\Users\MSShafigullin\Desktop\Проекты\Презентация по ДК\qs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8094" y="367563"/>
            <a:ext cx="353386" cy="353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C:\Users\MSShafigullin\Desktop\2020\Презентация КФУ\THE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8787" y="114719"/>
            <a:ext cx="252000" cy="25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8279432" y="374979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>
              <a:defRPr/>
            </a:pPr>
            <a:r>
              <a:rPr lang="ru-RU" sz="800" b="0" dirty="0">
                <a:solidFill>
                  <a:srgbClr val="00549F"/>
                </a:solidFill>
                <a:latin typeface="PT Sans" panose="020B0503020203020204" pitchFamily="34" charset="-52"/>
              </a:rPr>
              <a:t>322</a:t>
            </a:r>
          </a:p>
          <a:p>
            <a:pPr lvl="0">
              <a:defRPr/>
            </a:pPr>
            <a:r>
              <a:rPr lang="ru-RU" sz="800" b="0" kern="0" dirty="0">
                <a:solidFill>
                  <a:srgbClr val="00549F"/>
                </a:solidFill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rgbClr val="00549F"/>
              </a:solidFill>
              <a:uLnTx/>
              <a:uFillTx/>
              <a:latin typeface="PT Sans" panose="020B0503020203020204" pitchFamily="34" charset="-5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279432" y="71442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dirty="0">
                <a:solidFill>
                  <a:srgbClr val="00549F"/>
                </a:solidFill>
                <a:latin typeface="PT Sans" panose="020B0503020203020204" pitchFamily="34" charset="-52"/>
              </a:rPr>
              <a:t>8</a:t>
            </a:r>
            <a:r>
              <a:rPr lang="ru-RU" sz="800" b="0" dirty="0">
                <a:solidFill>
                  <a:srgbClr val="00549F"/>
                </a:solidFill>
                <a:latin typeface="PT Sans" panose="020B0503020203020204" pitchFamily="34" charset="-52"/>
              </a:rPr>
              <a:t>01-</a:t>
            </a:r>
            <a:r>
              <a:rPr lang="en-US" sz="800" b="0" dirty="0">
                <a:solidFill>
                  <a:srgbClr val="00549F"/>
                </a:solidFill>
                <a:latin typeface="PT Sans" panose="020B0503020203020204" pitchFamily="34" charset="-52"/>
              </a:rPr>
              <a:t>10</a:t>
            </a:r>
            <a:r>
              <a:rPr lang="ru-RU" sz="800" b="0" dirty="0">
                <a:solidFill>
                  <a:srgbClr val="00549F"/>
                </a:solidFill>
                <a:latin typeface="PT Sans" panose="020B0503020203020204" pitchFamily="34" charset="-52"/>
              </a:rPr>
              <a:t>00</a:t>
            </a:r>
          </a:p>
          <a:p>
            <a:pPr lvl="0">
              <a:defRPr/>
            </a:pPr>
            <a:r>
              <a:rPr lang="en-US" sz="800" b="0" kern="0" dirty="0">
                <a:solidFill>
                  <a:srgbClr val="00549F"/>
                </a:solidFill>
                <a:latin typeface="PT Sans" panose="020B0503020203020204" pitchFamily="34" charset="-52"/>
              </a:rPr>
              <a:t>1</a:t>
            </a:r>
            <a:r>
              <a:rPr lang="ru-RU" sz="800" b="0" kern="0" dirty="0">
                <a:solidFill>
                  <a:srgbClr val="00549F"/>
                </a:solidFill>
                <a:latin typeface="PT Sans" panose="020B0503020203020204" pitchFamily="34" charset="-52"/>
              </a:rPr>
              <a:t>4</a:t>
            </a:r>
            <a:r>
              <a:rPr lang="en-US" sz="800" b="0" kern="0" dirty="0">
                <a:solidFill>
                  <a:srgbClr val="00549F"/>
                </a:solidFill>
                <a:latin typeface="PT Sans" panose="020B0503020203020204" pitchFamily="34" charset="-52"/>
              </a:rPr>
              <a:t>-1</a:t>
            </a:r>
            <a:r>
              <a:rPr lang="ru-RU" sz="800" b="0" kern="0" dirty="0">
                <a:solidFill>
                  <a:srgbClr val="00549F"/>
                </a:solidFill>
                <a:latin typeface="PT Sans" panose="020B0503020203020204" pitchFamily="34" charset="-52"/>
              </a:rPr>
              <a:t>6</a:t>
            </a:r>
            <a:endParaRPr lang="en-US" sz="800" b="0" kern="0" dirty="0">
              <a:solidFill>
                <a:srgbClr val="00549F"/>
              </a:solidFill>
              <a:latin typeface="PT Sans" panose="020B0503020203020204" pitchFamily="34" charset="-52"/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54536" y="946419"/>
            <a:ext cx="1246120" cy="338554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lvl="0" algn="ctr">
              <a:defRPr/>
            </a:pPr>
            <a:r>
              <a:rPr lang="ru-RU" sz="1600" dirty="0">
                <a:latin typeface="PT Sans"/>
              </a:rPr>
              <a:t> 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74D13E39-9BC2-45BE-926A-638D38CCFD4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52" y="248038"/>
            <a:ext cx="845840" cy="34610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475412B-C188-A354-61B8-77CD83D27CED}"/>
              </a:ext>
            </a:extLst>
          </p:cNvPr>
          <p:cNvSpPr txBox="1"/>
          <p:nvPr/>
        </p:nvSpPr>
        <p:spPr>
          <a:xfrm>
            <a:off x="141406" y="1628775"/>
            <a:ext cx="4176464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ru-RU" sz="1600" u="sng" dirty="0"/>
              <a:t>Процесс внесения данных об экспонатах в базу КАМИС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Каждый экспонат вносится вручную: размеры, описание, фото, степень сохранности, происхождение.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Много времени уходит на подготовку данных (фото, тексты).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Фотографирование, настройка света, обработка в </a:t>
            </a:r>
            <a:r>
              <a:rPr lang="en" sz="1600" dirty="0"/>
              <a:t>Photoshop </a:t>
            </a:r>
            <a:r>
              <a:rPr lang="ru-RU" sz="1600" dirty="0"/>
              <a:t>занимают много времени.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E981F4-DECD-FA97-2E6A-5AB964406E21}"/>
              </a:ext>
            </a:extLst>
          </p:cNvPr>
          <p:cNvSpPr txBox="1"/>
          <p:nvPr/>
        </p:nvSpPr>
        <p:spPr>
          <a:xfrm>
            <a:off x="1770428" y="224056"/>
            <a:ext cx="458872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Гемба</a:t>
            </a:r>
            <a:r>
              <a:rPr lang="ru-RU" sz="2400" dirty="0">
                <a:latin typeface="PT Mono" panose="02060509020205020204" pitchFamily="49" charset="0"/>
              </a:rPr>
              <a:t>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C36F5D1-AC3B-E9BC-2632-21FB9E99B706}"/>
              </a:ext>
            </a:extLst>
          </p:cNvPr>
          <p:cNvSpPr txBox="1"/>
          <p:nvPr/>
        </p:nvSpPr>
        <p:spPr>
          <a:xfrm>
            <a:off x="4499992" y="1640926"/>
            <a:ext cx="432048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/>
              <a:t>2</a:t>
            </a:r>
            <a:r>
              <a:rPr lang="ru-RU" sz="1600" u="sng" dirty="0"/>
              <a:t>. Процесс взаимодействия с посетителями (экскурсии)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Экскурсии отвлекают сотрудников от основной работы.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8A076FA-489B-B0A9-C30D-055D92F12504}"/>
              </a:ext>
            </a:extLst>
          </p:cNvPr>
          <p:cNvSpPr txBox="1"/>
          <p:nvPr/>
        </p:nvSpPr>
        <p:spPr>
          <a:xfrm>
            <a:off x="4572000" y="2871689"/>
            <a:ext cx="424847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u="sng" dirty="0"/>
              <a:t>3. Процесс атрибуции новых/неизвестных предметов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600" dirty="0"/>
              <a:t>Иногда поступают предметы без документации.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600" dirty="0"/>
              <a:t>Атрибуция одного экспоната может занимать несколько дней.</a:t>
            </a:r>
          </a:p>
        </p:txBody>
      </p:sp>
      <p:pic>
        <p:nvPicPr>
          <p:cNvPr id="19" name="Picture 30" descr="C:\Users\MSShafigullin\Desktop\2020\Презентация КФУ\Пиктограммы и иконки\1772978-school-and-education\1772978-school-and-education\png\009-archive.png">
            <a:extLst>
              <a:ext uri="{FF2B5EF4-FFF2-40B4-BE49-F238E27FC236}">
                <a16:creationId xmlns:a16="http://schemas.microsoft.com/office/drawing/2014/main" id="{F563E469-DD4C-5A15-AFDF-5D2685F736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4656" y="898384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A856A975-9CDE-D328-1EE8-36B6BA84584B}"/>
              </a:ext>
            </a:extLst>
          </p:cNvPr>
          <p:cNvSpPr txBox="1"/>
          <p:nvPr/>
        </p:nvSpPr>
        <p:spPr>
          <a:xfrm>
            <a:off x="1907704" y="923560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Процессы,  которые следует улучшить  </a:t>
            </a:r>
          </a:p>
        </p:txBody>
      </p:sp>
    </p:spTree>
    <p:extLst>
      <p:ext uri="{BB962C8B-B14F-4D97-AF65-F5344CB8AC3E}">
        <p14:creationId xmlns:p14="http://schemas.microsoft.com/office/powerpoint/2010/main" val="6608696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827584" cy="5143500"/>
          </a:xfrm>
          <a:prstGeom prst="rect">
            <a:avLst/>
          </a:prstGeom>
          <a:gradFill flip="none" rotWithShape="1">
            <a:gsLst>
              <a:gs pos="0">
                <a:srgbClr val="00549F">
                  <a:shade val="30000"/>
                  <a:satMod val="115000"/>
                </a:srgbClr>
              </a:gs>
              <a:gs pos="50000">
                <a:srgbClr val="00549F">
                  <a:shade val="67500"/>
                  <a:satMod val="115000"/>
                </a:srgbClr>
              </a:gs>
              <a:gs pos="100000">
                <a:srgbClr val="00549F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1799184" y="184590"/>
            <a:ext cx="7344816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Паспорт проекта по улучшению процесса </a:t>
            </a:r>
          </a:p>
          <a:p>
            <a:endParaRPr lang="ru-RU" sz="1400" b="1" dirty="0">
              <a:solidFill>
                <a:schemeClr val="bg1">
                  <a:lumMod val="50000"/>
                </a:schemeClr>
              </a:solidFill>
              <a:latin typeface="PT Sans" panose="020B0503020203020204" pitchFamily="34" charset="-52"/>
            </a:endParaRPr>
          </a:p>
        </p:txBody>
      </p:sp>
      <p:pic>
        <p:nvPicPr>
          <p:cNvPr id="7" name="Picture 4" descr="C:\Users\MSShafigullin\Desktop\Проекты\Презентация по ДК\qs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099" y="4422472"/>
            <a:ext cx="353386" cy="353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C:\Users\MSShafigullin\Desktop\2020\Презентация КФУ\THE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792" y="3843770"/>
            <a:ext cx="252000" cy="25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84051" y="4728776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 algn="ctr"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322</a:t>
            </a:r>
            <a:endParaRPr lang="ru-RU" sz="800" b="0" dirty="0">
              <a:solidFill>
                <a:schemeClr val="bg1"/>
              </a:solidFill>
              <a:latin typeface="PT Sans" panose="020B0503020203020204" pitchFamily="34" charset="-5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4051" y="4083918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8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01-</a:t>
            </a: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10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00</a:t>
            </a:r>
          </a:p>
          <a:p>
            <a:pPr lvl="0" algn="ctr">
              <a:defRPr/>
            </a:pPr>
            <a:r>
              <a:rPr lang="en-US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1</a:t>
            </a: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4</a:t>
            </a:r>
            <a:r>
              <a:rPr lang="en-US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-1</a:t>
            </a: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6</a:t>
            </a:r>
            <a:endParaRPr lang="en-US" sz="800" b="0" kern="0" dirty="0">
              <a:solidFill>
                <a:schemeClr val="bg1"/>
              </a:solidFill>
              <a:latin typeface="PT Sans" panose="020B0503020203020204" pitchFamily="34" charset="-52"/>
            </a:endParaRPr>
          </a:p>
        </p:txBody>
      </p:sp>
      <p:pic>
        <p:nvPicPr>
          <p:cNvPr id="3076" name="Picture 4" descr="C:\Users\MSShafigullin\Desktop\2020\Презентация КФУ\Пиктограммы и иконки\1772916-school-and-education\1772916-school-and-education\png\036-astronomy.png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 bwMode="auto">
          <a:xfrm>
            <a:off x="6730002" y="414723"/>
            <a:ext cx="2413997" cy="48279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4" descr="C:\Users\MSShafigullin\Desktop\2020\5+\5+ (white).pn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389" y="3435846"/>
            <a:ext cx="524805" cy="238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B3758C0-3B65-4B6D-8CDA-D19D737FE371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390" y="87534"/>
            <a:ext cx="524805" cy="1141075"/>
          </a:xfrm>
          <a:prstGeom prst="rect">
            <a:avLst/>
          </a:prstGeom>
        </p:spPr>
      </p:pic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1536B076-C269-2942-96C5-A17A3C0478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6911931"/>
              </p:ext>
            </p:extLst>
          </p:nvPr>
        </p:nvGraphicFramePr>
        <p:xfrm>
          <a:off x="945384" y="947234"/>
          <a:ext cx="6336704" cy="378154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61408">
                  <a:extLst>
                    <a:ext uri="{9D8B030D-6E8A-4147-A177-3AD203B41FA5}">
                      <a16:colId xmlns:a16="http://schemas.microsoft.com/office/drawing/2014/main" val="1282588895"/>
                    </a:ext>
                  </a:extLst>
                </a:gridCol>
                <a:gridCol w="4175296">
                  <a:extLst>
                    <a:ext uri="{9D8B030D-6E8A-4147-A177-3AD203B41FA5}">
                      <a16:colId xmlns:a16="http://schemas.microsoft.com/office/drawing/2014/main" val="3745552699"/>
                    </a:ext>
                  </a:extLst>
                </a:gridCol>
              </a:tblGrid>
              <a:tr h="764960">
                <a:tc>
                  <a:txBody>
                    <a:bodyPr/>
                    <a:lstStyle/>
                    <a:p>
                      <a:pPr algn="ctr"/>
                      <a:r>
                        <a:rPr lang="ru-RU" sz="1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Цель</a:t>
                      </a:r>
                      <a:endParaRPr lang="ru-RU" sz="14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172" marR="55172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Улучшение процесса «фондовая регистрация и описание музейных экспонатов в </a:t>
                      </a:r>
                      <a:r>
                        <a:rPr lang="ru-RU" sz="12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Камис</a:t>
                      </a:r>
                      <a:r>
                        <a:rPr lang="ru-RU" sz="12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», проведение экскурсий  и повышения эффективности работы сотрудника </a:t>
                      </a:r>
                      <a:endParaRPr lang="ru-RU" sz="1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172" marR="55172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0246205"/>
                  </a:ext>
                </a:extLst>
              </a:tr>
              <a:tr h="721703">
                <a:tc>
                  <a:txBody>
                    <a:bodyPr/>
                    <a:lstStyle/>
                    <a:p>
                      <a:pPr algn="ctr"/>
                      <a:r>
                        <a:rPr lang="ru-RU" sz="1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Описание проекта </a:t>
                      </a:r>
                      <a:endParaRPr lang="ru-RU" sz="14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172" marR="55172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Мы будем внедрять инструменты методологии </a:t>
                      </a:r>
                      <a:r>
                        <a:rPr lang="ru-RU" sz="12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</a:t>
                      </a:r>
                      <a:r>
                        <a:rPr lang="en-US" sz="12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ean</a:t>
                      </a:r>
                      <a:r>
                        <a:rPr lang="ru-RU" sz="12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5 почему, поиск потерь, 5</a:t>
                      </a: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lang="ru-RU" sz="12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2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Sipoc</a:t>
                      </a:r>
                      <a:r>
                        <a:rPr lang="en-US" sz="12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2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для достижения цели проекта</a:t>
                      </a:r>
                      <a:endParaRPr lang="ru-RU" sz="1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172" marR="55172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9328202"/>
                  </a:ext>
                </a:extLst>
              </a:tr>
              <a:tr h="2294879">
                <a:tc>
                  <a:txBody>
                    <a:bodyPr/>
                    <a:lstStyle/>
                    <a:p>
                      <a:pPr algn="ctr"/>
                      <a:r>
                        <a:rPr lang="ru-RU" sz="1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Обоснование проекта</a:t>
                      </a:r>
                      <a:endParaRPr lang="ru-RU" sz="14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172" marR="55172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2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 данный момент в Этнографическом музее наблюдается неэффективное использование времени.</a:t>
                      </a:r>
                    </a:p>
                    <a:p>
                      <a:pPr algn="l"/>
                      <a:r>
                        <a:rPr lang="ru-RU" sz="12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Главный хранитель, имеющий профильное образование 80% своего времени занимается с внесением экспонатов в электронную базу </a:t>
                      </a:r>
                      <a:r>
                        <a:rPr lang="ru-RU" sz="12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Камис</a:t>
                      </a:r>
                      <a:r>
                        <a:rPr lang="ru-RU" sz="12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 Для этого они должны учесть состояние каждого экспоната, очистить их, замерить, </a:t>
                      </a:r>
                      <a:r>
                        <a:rPr lang="ru-RU" sz="12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отфотать</a:t>
                      </a:r>
                      <a:r>
                        <a:rPr lang="ru-RU" sz="12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проверить документацию и описать экспонат- все это занимает очень много времени и сил </a:t>
                      </a:r>
                    </a:p>
                    <a:p>
                      <a:pPr algn="l"/>
                      <a:r>
                        <a:rPr lang="ru-RU" sz="12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15% времени занимают экскурсии, которые отвлекают от основной работы.  </a:t>
                      </a:r>
                      <a:endParaRPr lang="ru-RU" sz="1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172" marR="55172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9779729"/>
                  </a:ext>
                </a:extLst>
              </a:tr>
            </a:tbl>
          </a:graphicData>
        </a:graphic>
      </p:graphicFrame>
      <p:pic>
        <p:nvPicPr>
          <p:cNvPr id="5" name="Picture 18" descr="C:\Users\MSShafigullin\Desktop\2020\Презентация КФУ\Пиктограммы и иконки\1772916-school-and-education\1772916-school-and-education\png\006-bag.png">
            <a:extLst>
              <a:ext uri="{FF2B5EF4-FFF2-40B4-BE49-F238E27FC236}">
                <a16:creationId xmlns:a16="http://schemas.microsoft.com/office/drawing/2014/main" id="{F8847947-270F-A74D-08B4-83A75086F3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647" y="243650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972079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827584" cy="5143500"/>
          </a:xfrm>
          <a:prstGeom prst="rect">
            <a:avLst/>
          </a:prstGeom>
          <a:gradFill flip="none" rotWithShape="1">
            <a:gsLst>
              <a:gs pos="0">
                <a:srgbClr val="00549F">
                  <a:shade val="30000"/>
                  <a:satMod val="115000"/>
                </a:srgbClr>
              </a:gs>
              <a:gs pos="50000">
                <a:srgbClr val="00549F">
                  <a:shade val="67500"/>
                  <a:satMod val="115000"/>
                </a:srgbClr>
              </a:gs>
              <a:gs pos="100000">
                <a:srgbClr val="00549F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1403648" y="87534"/>
            <a:ext cx="7344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Этапы проекта </a:t>
            </a:r>
          </a:p>
        </p:txBody>
      </p:sp>
      <p:pic>
        <p:nvPicPr>
          <p:cNvPr id="7" name="Picture 4" descr="C:\Users\MSShafigullin\Desktop\Проекты\Презентация по ДК\qs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099" y="4422472"/>
            <a:ext cx="353386" cy="353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C:\Users\MSShafigullin\Desktop\2020\Презентация КФУ\THE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792" y="3843770"/>
            <a:ext cx="252000" cy="25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84051" y="4728776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 algn="ctr"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322</a:t>
            </a:r>
            <a:endParaRPr lang="ru-RU" sz="800" b="0" dirty="0">
              <a:solidFill>
                <a:schemeClr val="bg1"/>
              </a:solidFill>
              <a:latin typeface="PT Sans" panose="020B0503020203020204" pitchFamily="34" charset="-5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4051" y="4083918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8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01-</a:t>
            </a: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10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00</a:t>
            </a:r>
          </a:p>
          <a:p>
            <a:pPr lvl="0" algn="ctr">
              <a:defRPr/>
            </a:pPr>
            <a:r>
              <a:rPr lang="en-US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1</a:t>
            </a: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4</a:t>
            </a:r>
            <a:r>
              <a:rPr lang="en-US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-1</a:t>
            </a: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6</a:t>
            </a:r>
            <a:endParaRPr lang="en-US" sz="800" b="0" kern="0" dirty="0">
              <a:solidFill>
                <a:schemeClr val="bg1"/>
              </a:solidFill>
              <a:latin typeface="PT Sans" panose="020B0503020203020204" pitchFamily="34" charset="-52"/>
            </a:endParaRPr>
          </a:p>
        </p:txBody>
      </p:sp>
      <p:pic>
        <p:nvPicPr>
          <p:cNvPr id="3076" name="Picture 4" descr="C:\Users\MSShafigullin\Desktop\2020\Презентация КФУ\Пиктограммы и иконки\1772916-school-and-education\1772916-school-and-education\png\036-astronomy.png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 bwMode="auto">
          <a:xfrm>
            <a:off x="6730002" y="414723"/>
            <a:ext cx="2413997" cy="48279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4" descr="C:\Users\MSShafigullin\Desktop\2020\5+\5+ (white).pn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389" y="3435846"/>
            <a:ext cx="524805" cy="238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B3758C0-3B65-4B6D-8CDA-D19D737FE371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390" y="87534"/>
            <a:ext cx="524805" cy="1141075"/>
          </a:xfrm>
          <a:prstGeom prst="rect">
            <a:avLst/>
          </a:prstGeom>
        </p:spPr>
      </p:pic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AFE75DD4-3616-BC98-1BA9-DA5AC87E69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5264042"/>
              </p:ext>
            </p:extLst>
          </p:nvPr>
        </p:nvGraphicFramePr>
        <p:xfrm>
          <a:off x="1115376" y="792905"/>
          <a:ext cx="6552728" cy="407162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60280">
                  <a:extLst>
                    <a:ext uri="{9D8B030D-6E8A-4147-A177-3AD203B41FA5}">
                      <a16:colId xmlns:a16="http://schemas.microsoft.com/office/drawing/2014/main" val="3937802911"/>
                    </a:ext>
                  </a:extLst>
                </a:gridCol>
                <a:gridCol w="6192448">
                  <a:extLst>
                    <a:ext uri="{9D8B030D-6E8A-4147-A177-3AD203B41FA5}">
                      <a16:colId xmlns:a16="http://schemas.microsoft.com/office/drawing/2014/main" val="3209029566"/>
                    </a:ext>
                  </a:extLst>
                </a:gridCol>
              </a:tblGrid>
              <a:tr h="1480592"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ru-RU" sz="1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Изучение должностных инструкций сотрудника, выявление проблемы, </a:t>
                      </a:r>
                    </a:p>
                    <a:p>
                      <a:r>
                        <a:rPr lang="ru-RU" sz="1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разработка паспорта проекта, описание процессов, работа в 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business studio</a:t>
                      </a:r>
                      <a:r>
                        <a:rPr lang="ru-RU" sz="1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изучение методологии 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BPMN</a:t>
                      </a:r>
                      <a:r>
                        <a:rPr lang="ru-RU" sz="1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SIPOC</a:t>
                      </a:r>
                      <a:r>
                        <a:rPr lang="ru-RU" sz="1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DMAIC</a:t>
                      </a:r>
                      <a:r>
                        <a:rPr lang="ru-RU" sz="1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SMART</a:t>
                      </a:r>
                      <a:r>
                        <a:rPr lang="ru-RU" sz="1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ru-RU" sz="14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350178"/>
                  </a:ext>
                </a:extLst>
              </a:tr>
              <a:tr h="1480592"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ru-RU" sz="1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Выход на </a:t>
                      </a:r>
                      <a:r>
                        <a:rPr lang="ru-RU" sz="14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Гембу</a:t>
                      </a:r>
                      <a:r>
                        <a:rPr lang="ru-RU" sz="1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(Осуществление  2 выезда по 3 часа для наблюдения за реальными процессами Этнографического музея, проведение измерений операций,  выявление потери времени, проблем во время работы. Использование диаграммы спагетти, </a:t>
                      </a:r>
                      <a:r>
                        <a:rPr lang="ru-RU" sz="14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ишикавы</a:t>
                      </a:r>
                      <a:r>
                        <a:rPr lang="ru-RU" sz="1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 </a:t>
                      </a:r>
                      <a:endParaRPr lang="ru-RU" sz="14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1405238"/>
                  </a:ext>
                </a:extLst>
              </a:tr>
              <a:tr h="740295"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ru-RU" sz="1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Проведение анализа выявленных процессов, определение видов потерь, построение карты потока создания ценности. </a:t>
                      </a:r>
                      <a:endParaRPr lang="ru-RU" sz="14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4851722"/>
                  </a:ext>
                </a:extLst>
              </a:tr>
              <a:tr h="370148"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ru-RU" sz="14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Разработка и внедрений мероприятий по оптимизации процессов, </a:t>
                      </a:r>
                      <a:endParaRPr lang="ru-RU" sz="14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3088976"/>
                  </a:ext>
                </a:extLst>
              </a:tr>
            </a:tbl>
          </a:graphicData>
        </a:graphic>
      </p:graphicFrame>
      <p:pic>
        <p:nvPicPr>
          <p:cNvPr id="5" name="Picture 13" descr="C:\Users\MSShafigullin\Desktop\2020\Презентация КФУ\Пиктограммы и иконки\1772916-school-and-education\1772916-school-and-education\png\017-business and finance.png">
            <a:extLst>
              <a:ext uri="{FF2B5EF4-FFF2-40B4-BE49-F238E27FC236}">
                <a16:creationId xmlns:a16="http://schemas.microsoft.com/office/drawing/2014/main" id="{076485B6-E8C2-3329-829C-3FE8829345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8793" y="189199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2381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827584" cy="5143500"/>
          </a:xfrm>
          <a:prstGeom prst="rect">
            <a:avLst/>
          </a:prstGeom>
          <a:gradFill flip="none" rotWithShape="1">
            <a:gsLst>
              <a:gs pos="0">
                <a:srgbClr val="00549F">
                  <a:shade val="30000"/>
                  <a:satMod val="115000"/>
                </a:srgbClr>
              </a:gs>
              <a:gs pos="50000">
                <a:srgbClr val="00549F">
                  <a:shade val="67500"/>
                  <a:satMod val="115000"/>
                </a:srgbClr>
              </a:gs>
              <a:gs pos="100000">
                <a:srgbClr val="00549F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1403648" y="318366"/>
            <a:ext cx="7344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>
                <a:latin typeface="PT Sans" panose="020B0503020203020204" pitchFamily="34" charset="-52"/>
              </a:rPr>
              <a:t>Конкретизация по проекту </a:t>
            </a:r>
          </a:p>
        </p:txBody>
      </p:sp>
      <p:pic>
        <p:nvPicPr>
          <p:cNvPr id="7" name="Picture 4" descr="C:\Users\MSShafigullin\Desktop\Проекты\Презентация по ДК\qs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099" y="4422472"/>
            <a:ext cx="353386" cy="353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C:\Users\MSShafigullin\Desktop\2020\Презентация КФУ\THE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792" y="3843770"/>
            <a:ext cx="252000" cy="25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84051" y="4728776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 algn="ctr"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322</a:t>
            </a:r>
            <a:endParaRPr lang="ru-RU" sz="800" b="0" dirty="0">
              <a:solidFill>
                <a:schemeClr val="bg1"/>
              </a:solidFill>
              <a:latin typeface="PT Sans" panose="020B0503020203020204" pitchFamily="34" charset="-5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4051" y="4083918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8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01-</a:t>
            </a: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10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00</a:t>
            </a:r>
          </a:p>
          <a:p>
            <a:pPr lvl="0" algn="ctr">
              <a:defRPr/>
            </a:pPr>
            <a:r>
              <a:rPr lang="en-US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1</a:t>
            </a: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4</a:t>
            </a:r>
            <a:r>
              <a:rPr lang="en-US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-1</a:t>
            </a: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6</a:t>
            </a:r>
            <a:endParaRPr lang="en-US" sz="800" b="0" kern="0" dirty="0">
              <a:solidFill>
                <a:schemeClr val="bg1"/>
              </a:solidFill>
              <a:latin typeface="PT Sans" panose="020B0503020203020204" pitchFamily="34" charset="-52"/>
            </a:endParaRPr>
          </a:p>
        </p:txBody>
      </p:sp>
      <p:pic>
        <p:nvPicPr>
          <p:cNvPr id="3076" name="Picture 4" descr="C:\Users\MSShafigullin\Desktop\2020\Презентация КФУ\Пиктограммы и иконки\1772916-school-and-education\1772916-school-and-education\png\036-astronomy.png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 bwMode="auto">
          <a:xfrm>
            <a:off x="6730002" y="414723"/>
            <a:ext cx="2413997" cy="48279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4" descr="C:\Users\MSShafigullin\Desktop\2020\5+\5+ (white).pn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389" y="3435846"/>
            <a:ext cx="524805" cy="238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B3758C0-3B65-4B6D-8CDA-D19D737FE371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390" y="87534"/>
            <a:ext cx="524805" cy="1141075"/>
          </a:xfrm>
          <a:prstGeom prst="rect">
            <a:avLst/>
          </a:prstGeom>
        </p:spPr>
      </p:pic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7F4BD28E-B7D0-5BF1-E3BA-0AB6BD497D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9426154"/>
              </p:ext>
            </p:extLst>
          </p:nvPr>
        </p:nvGraphicFramePr>
        <p:xfrm>
          <a:off x="1031325" y="936701"/>
          <a:ext cx="6348987" cy="388843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94626">
                  <a:extLst>
                    <a:ext uri="{9D8B030D-6E8A-4147-A177-3AD203B41FA5}">
                      <a16:colId xmlns:a16="http://schemas.microsoft.com/office/drawing/2014/main" val="65838534"/>
                    </a:ext>
                  </a:extLst>
                </a:gridCol>
                <a:gridCol w="4454361">
                  <a:extLst>
                    <a:ext uri="{9D8B030D-6E8A-4147-A177-3AD203B41FA5}">
                      <a16:colId xmlns:a16="http://schemas.microsoft.com/office/drawing/2014/main" val="626141520"/>
                    </a:ext>
                  </a:extLst>
                </a:gridCol>
              </a:tblGrid>
              <a:tr h="228731">
                <a:tc>
                  <a:txBody>
                    <a:bodyPr/>
                    <a:lstStyle/>
                    <a:p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</a:rPr>
                        <a:t>Подразделения </a:t>
                      </a:r>
                      <a:endParaRPr lang="ru-RU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 (Основной текст"/>
                      </a:endParaRPr>
                    </a:p>
                  </a:txBody>
                  <a:tcPr marL="64174" marR="6417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0" dirty="0">
                          <a:solidFill>
                            <a:schemeClr val="tx1"/>
                          </a:solidFill>
                          <a:effectLst/>
                        </a:rPr>
                        <a:t>Этнографический музей</a:t>
                      </a:r>
                      <a:endParaRPr lang="ru-RU" sz="12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 (Основной текст"/>
                      </a:endParaRPr>
                    </a:p>
                  </a:txBody>
                  <a:tcPr marL="64174" marR="6417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6944179"/>
                  </a:ext>
                </a:extLst>
              </a:tr>
              <a:tr h="914926">
                <a:tc>
                  <a:txBody>
                    <a:bodyPr/>
                    <a:lstStyle/>
                    <a:p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</a:rPr>
                        <a:t>Результаты</a:t>
                      </a:r>
                      <a:endParaRPr lang="ru-RU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 (Основной текст"/>
                      </a:endParaRPr>
                    </a:p>
                  </a:txBody>
                  <a:tcPr marL="64174" marR="6417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</a:rPr>
                        <a:t>Ученический результат, 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</a:rPr>
                        <a:t>Business studio</a:t>
                      </a:r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</a:rPr>
                        <a:t>BPMN</a:t>
                      </a:r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</a:rPr>
                        <a:t>, бережливое производство.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</a:rPr>
                        <a:t>Результат сокращение времени </a:t>
                      </a:r>
                      <a:endParaRPr lang="ru-RU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 (Основной текст"/>
                      </a:endParaRPr>
                    </a:p>
                  </a:txBody>
                  <a:tcPr marL="64174" marR="6417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0088408"/>
                  </a:ext>
                </a:extLst>
              </a:tr>
              <a:tr h="228731">
                <a:tc>
                  <a:txBody>
                    <a:bodyPr/>
                    <a:lstStyle/>
                    <a:p>
                      <a:r>
                        <a:rPr lang="ru-RU" sz="1200">
                          <a:solidFill>
                            <a:schemeClr val="tx1"/>
                          </a:solidFill>
                          <a:effectLst/>
                        </a:rPr>
                        <a:t>Сроки </a:t>
                      </a:r>
                      <a:endParaRPr lang="ru-RU" sz="12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 (Основной текст"/>
                      </a:endParaRPr>
                    </a:p>
                  </a:txBody>
                  <a:tcPr marL="64174" marR="6417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</a:rPr>
                        <a:t>     24.03.2025-5.04.2025</a:t>
                      </a:r>
                      <a:endParaRPr lang="ru-RU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 (Основной текст"/>
                      </a:endParaRPr>
                    </a:p>
                  </a:txBody>
                  <a:tcPr marL="64174" marR="6417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1049557"/>
                  </a:ext>
                </a:extLst>
              </a:tr>
              <a:tr h="914926">
                <a:tc>
                  <a:txBody>
                    <a:bodyPr/>
                    <a:lstStyle/>
                    <a:p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</a:rPr>
                        <a:t>Риски</a:t>
                      </a:r>
                      <a:endParaRPr lang="ru-RU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 (Основной текст"/>
                      </a:endParaRPr>
                    </a:p>
                  </a:txBody>
                  <a:tcPr marL="64174" marR="6417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ru-RU" sz="1200">
                          <a:solidFill>
                            <a:schemeClr val="tx1"/>
                          </a:solidFill>
                          <a:effectLst/>
                        </a:rPr>
                        <a:t>Требование законодательства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ru-RU" sz="1200">
                          <a:solidFill>
                            <a:schemeClr val="tx1"/>
                          </a:solidFill>
                          <a:effectLst/>
                        </a:rPr>
                        <a:t>Мнение сотрудников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ru-RU" sz="1200">
                          <a:solidFill>
                            <a:schemeClr val="tx1"/>
                          </a:solidFill>
                          <a:effectLst/>
                        </a:rPr>
                        <a:t>Ограничения возможности автоматизацции </a:t>
                      </a:r>
                      <a:endParaRPr lang="ru-RU" sz="12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 (Основной текст"/>
                      </a:endParaRPr>
                    </a:p>
                  </a:txBody>
                  <a:tcPr marL="64174" marR="6417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9121443"/>
                  </a:ext>
                </a:extLst>
              </a:tr>
              <a:tr h="457463">
                <a:tc>
                  <a:txBody>
                    <a:bodyPr/>
                    <a:lstStyle/>
                    <a:p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</a:rPr>
                        <a:t>Заказчики</a:t>
                      </a:r>
                    </a:p>
                    <a:p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ru-RU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 (Основной текст"/>
                      </a:endParaRPr>
                    </a:p>
                  </a:txBody>
                  <a:tcPr marL="64174" marR="6417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>
                          <a:solidFill>
                            <a:schemeClr val="tx1"/>
                          </a:solidFill>
                          <a:effectLst/>
                        </a:rPr>
                        <a:t>Проректор по административной работе Прохоров С.Ю</a:t>
                      </a:r>
                      <a:endParaRPr lang="ru-RU" sz="12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 (Основной текст"/>
                      </a:endParaRPr>
                    </a:p>
                  </a:txBody>
                  <a:tcPr marL="64174" marR="6417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3109239"/>
                  </a:ext>
                </a:extLst>
              </a:tr>
              <a:tr h="457463">
                <a:tc>
                  <a:txBody>
                    <a:bodyPr/>
                    <a:lstStyle/>
                    <a:p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</a:rPr>
                        <a:t>Куратор </a:t>
                      </a:r>
                      <a:endParaRPr lang="ru-RU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 (Основной текст"/>
                      </a:endParaRPr>
                    </a:p>
                  </a:txBody>
                  <a:tcPr marL="64174" marR="6417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>
                          <a:solidFill>
                            <a:schemeClr val="tx1"/>
                          </a:solidFill>
                          <a:effectLst/>
                        </a:rPr>
                        <a:t>Лукишина Л.В., Якупов А.Г, Садриев А.Р</a:t>
                      </a:r>
                      <a:endParaRPr lang="ru-RU" sz="12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 (Основной текст"/>
                      </a:endParaRPr>
                    </a:p>
                  </a:txBody>
                  <a:tcPr marL="64174" marR="6417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3694190"/>
                  </a:ext>
                </a:extLst>
              </a:tr>
              <a:tr h="228731">
                <a:tc>
                  <a:txBody>
                    <a:bodyPr/>
                    <a:lstStyle/>
                    <a:p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</a:rPr>
                        <a:t>Руководитель </a:t>
                      </a:r>
                      <a:endParaRPr lang="ru-RU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 (Основной текст"/>
                      </a:endParaRPr>
                    </a:p>
                  </a:txBody>
                  <a:tcPr marL="64174" marR="6417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>
                          <a:solidFill>
                            <a:schemeClr val="tx1"/>
                          </a:solidFill>
                          <a:effectLst/>
                        </a:rPr>
                        <a:t>Букачакова Б, Курбанов Т</a:t>
                      </a:r>
                      <a:endParaRPr lang="ru-RU" sz="12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 (Основной текст"/>
                      </a:endParaRPr>
                    </a:p>
                  </a:txBody>
                  <a:tcPr marL="64174" marR="6417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2118519"/>
                  </a:ext>
                </a:extLst>
              </a:tr>
              <a:tr h="228731">
                <a:tc>
                  <a:txBody>
                    <a:bodyPr/>
                    <a:lstStyle/>
                    <a:p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</a:rPr>
                        <a:t>Участники </a:t>
                      </a:r>
                      <a:endParaRPr lang="ru-RU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 (Основной текст"/>
                      </a:endParaRPr>
                    </a:p>
                  </a:txBody>
                  <a:tcPr marL="64174" marR="6417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>
                          <a:solidFill>
                            <a:schemeClr val="tx1"/>
                          </a:solidFill>
                          <a:effectLst/>
                        </a:rPr>
                        <a:t>Букачакова Байару</a:t>
                      </a:r>
                      <a:endParaRPr lang="ru-RU" sz="12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 (Основной текст"/>
                      </a:endParaRPr>
                    </a:p>
                  </a:txBody>
                  <a:tcPr marL="64174" marR="6417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4905742"/>
                  </a:ext>
                </a:extLst>
              </a:tr>
              <a:tr h="228731">
                <a:tc>
                  <a:txBody>
                    <a:bodyPr/>
                    <a:lstStyle/>
                    <a:p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</a:rPr>
                        <a:t>Администратор </a:t>
                      </a:r>
                      <a:endParaRPr lang="ru-RU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 (Основной текст"/>
                      </a:endParaRPr>
                    </a:p>
                  </a:txBody>
                  <a:tcPr marL="64174" marR="6417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dirty="0">
                          <a:solidFill>
                            <a:schemeClr val="tx1"/>
                          </a:solidFill>
                          <a:effectLst/>
                        </a:rPr>
                        <a:t>Курбанов Тимур </a:t>
                      </a:r>
                      <a:endParaRPr lang="ru-RU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 (Основной текст"/>
                      </a:endParaRPr>
                    </a:p>
                  </a:txBody>
                  <a:tcPr marL="64174" marR="6417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5063923"/>
                  </a:ext>
                </a:extLst>
              </a:tr>
            </a:tbl>
          </a:graphicData>
        </a:graphic>
      </p:graphicFrame>
      <p:pic>
        <p:nvPicPr>
          <p:cNvPr id="5" name="Picture 19" descr="C:\Users\MSShafigullin\Desktop\2020\Презентация КФУ\Пиктограммы и иконки\1772916-school-and-education\1772916-school-and-education\png\008-chat.png">
            <a:extLst>
              <a:ext uri="{FF2B5EF4-FFF2-40B4-BE49-F238E27FC236}">
                <a16:creationId xmlns:a16="http://schemas.microsoft.com/office/drawing/2014/main" id="{847D837B-843E-6D3B-7DC1-A60D10AB0F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0072" y="320494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767030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827584" cy="5143500"/>
          </a:xfrm>
          <a:prstGeom prst="rect">
            <a:avLst/>
          </a:prstGeom>
          <a:gradFill flip="none" rotWithShape="1">
            <a:gsLst>
              <a:gs pos="0">
                <a:srgbClr val="00549F">
                  <a:shade val="30000"/>
                  <a:satMod val="115000"/>
                </a:srgbClr>
              </a:gs>
              <a:gs pos="50000">
                <a:srgbClr val="00549F">
                  <a:shade val="67500"/>
                  <a:satMod val="115000"/>
                </a:srgbClr>
              </a:gs>
              <a:gs pos="100000">
                <a:srgbClr val="00549F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7" name="Picture 4" descr="C:\Users\MSShafigullin\Desktop\Проекты\Презентация по ДК\qs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099" y="4422472"/>
            <a:ext cx="353386" cy="353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C:\Users\MSShafigullin\Desktop\2020\Презентация КФУ\THE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792" y="3843770"/>
            <a:ext cx="252000" cy="25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84051" y="4728776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 algn="ctr"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322</a:t>
            </a:r>
            <a:endParaRPr lang="ru-RU" sz="800" b="0" dirty="0">
              <a:solidFill>
                <a:schemeClr val="bg1"/>
              </a:solidFill>
              <a:latin typeface="PT Sans" panose="020B0503020203020204" pitchFamily="34" charset="-5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4051" y="4083918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8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01-</a:t>
            </a: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10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00</a:t>
            </a:r>
          </a:p>
          <a:p>
            <a:pPr lvl="0" algn="ctr">
              <a:defRPr/>
            </a:pPr>
            <a:r>
              <a:rPr lang="en-US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1</a:t>
            </a: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4</a:t>
            </a:r>
            <a:r>
              <a:rPr lang="en-US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-1</a:t>
            </a: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6</a:t>
            </a:r>
            <a:endParaRPr lang="en-US" sz="800" b="0" kern="0" dirty="0">
              <a:solidFill>
                <a:schemeClr val="bg1"/>
              </a:solidFill>
              <a:latin typeface="PT Sans" panose="020B0503020203020204" pitchFamily="34" charset="-52"/>
            </a:endParaRPr>
          </a:p>
        </p:txBody>
      </p:sp>
      <p:pic>
        <p:nvPicPr>
          <p:cNvPr id="3076" name="Picture 4" descr="C:\Users\MSShafigullin\Desktop\2020\Презентация КФУ\Пиктограммы и иконки\1772916-school-and-education\1772916-school-and-education\png\036-astronomy.png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 bwMode="auto">
          <a:xfrm>
            <a:off x="6730002" y="414723"/>
            <a:ext cx="2413997" cy="48279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4" descr="C:\Users\MSShafigullin\Desktop\2020\5+\5+ (white).pn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389" y="3435846"/>
            <a:ext cx="524805" cy="238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B3758C0-3B65-4B6D-8CDA-D19D737FE371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390" y="87534"/>
            <a:ext cx="524805" cy="1141075"/>
          </a:xfrm>
          <a:prstGeom prst="rect">
            <a:avLst/>
          </a:prstGeom>
        </p:spPr>
      </p:pic>
      <p:pic>
        <p:nvPicPr>
          <p:cNvPr id="5" name="Picture 19" descr="C:\Users\MSShafigullin\Desktop\2020\Презентация КФУ\Пиктограммы и иконки\1772916-school-and-education\1772916-school-and-education\png\008-chat.png">
            <a:extLst>
              <a:ext uri="{FF2B5EF4-FFF2-40B4-BE49-F238E27FC236}">
                <a16:creationId xmlns:a16="http://schemas.microsoft.com/office/drawing/2014/main" id="{847D837B-843E-6D3B-7DC1-A60D10AB0F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0072" y="320494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998AA1F1-05AA-0EA1-5C52-2B4D0C01D7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1079776"/>
              </p:ext>
            </p:extLst>
          </p:nvPr>
        </p:nvGraphicFramePr>
        <p:xfrm>
          <a:off x="913838" y="494216"/>
          <a:ext cx="8123634" cy="43849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2638">
                  <a:extLst>
                    <a:ext uri="{9D8B030D-6E8A-4147-A177-3AD203B41FA5}">
                      <a16:colId xmlns:a16="http://schemas.microsoft.com/office/drawing/2014/main" val="2847343899"/>
                    </a:ext>
                  </a:extLst>
                </a:gridCol>
                <a:gridCol w="5290996">
                  <a:extLst>
                    <a:ext uri="{9D8B030D-6E8A-4147-A177-3AD203B41FA5}">
                      <a16:colId xmlns:a16="http://schemas.microsoft.com/office/drawing/2014/main" val="1580833096"/>
                    </a:ext>
                  </a:extLst>
                </a:gridCol>
              </a:tblGrid>
              <a:tr h="613759">
                <a:tc>
                  <a:txBody>
                    <a:bodyPr/>
                    <a:lstStyle/>
                    <a:p>
                      <a:r>
                        <a:rPr lang="ru-RU" sz="1000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Define</a:t>
                      </a:r>
                      <a:r>
                        <a:rPr lang="ru-RU" sz="10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(определить)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0" i="0" u="none" strike="noStrike" noProof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Внесение данных об экспонатах в электронную базу КАМИС занимает слишком много времени, что снижает общую продуктивность сотрудников и задерживает выполнение плана по цифровизации фонда.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b="0" i="0" u="none" strike="noStrike" noProof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Цель проекта:</a:t>
                      </a:r>
                      <a:br>
                        <a:rPr lang="ru-RU" sz="1000" b="0" i="0" u="none" strike="noStrike" noProof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ru-RU" sz="1000" b="0" i="0" u="none" strike="noStrike" noProof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Сократить время обработки одного экспоната минимум на 30% без потери качества данных.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9243469"/>
                  </a:ext>
                </a:extLst>
              </a:tr>
              <a:tr h="335497">
                <a:tc>
                  <a:txBody>
                    <a:bodyPr/>
                    <a:lstStyle/>
                    <a:p>
                      <a:r>
                        <a:rPr lang="ru-RU" sz="10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Measure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(измерить)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Фактическое время обработки одного экспоната (по </a:t>
                      </a:r>
                      <a:r>
                        <a:rPr lang="ru-RU" sz="10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наблюдени</a:t>
                      </a:r>
                      <a:endParaRPr lang="ru-RU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0831211"/>
                  </a:ext>
                </a:extLst>
              </a:tr>
              <a:tr h="709350">
                <a:tc>
                  <a:txBody>
                    <a:bodyPr/>
                    <a:lstStyle/>
                    <a:p>
                      <a:r>
                        <a:rPr lang="ru-RU" sz="10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Analyze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(анализировать)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00" b="0" i="0" u="none" strike="noStrike" noProof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Создание шаблонов карточек и описаний для экспонатов с типовой информацией.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00" b="0" i="0" u="none" strike="noStrike" noProof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Разделение ролей: один человек фотографирует и измеряет, второй заносит в базу.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00" b="0" i="0" u="none" strike="noStrike" noProof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Выделение «чистого времени» без экскурсионной нагрузки — фокус на базу.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00" b="0" i="0" u="none" strike="noStrike" noProof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Оптимизация рабочего места: ускорение обработки фотографий (настройка света, белый фон, </a:t>
                      </a:r>
                      <a:r>
                        <a:rPr lang="ru-RU" sz="1000" b="0" i="0" u="none" strike="noStrike" noProof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пресеты</a:t>
                      </a:r>
                      <a:r>
                        <a:rPr lang="ru-RU" sz="1000" b="0" i="0" u="none" strike="noStrike" noProof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" sz="1000" b="0" i="0" u="none" strike="noStrike" noProof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Photoshop).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00" b="0" i="0" u="none" strike="noStrike" noProof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Использование базовых скриптов или форм для автоматизации рутинных задач.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0515527"/>
                  </a:ext>
                </a:extLst>
              </a:tr>
              <a:tr h="832402">
                <a:tc>
                  <a:txBody>
                    <a:bodyPr/>
                    <a:lstStyle/>
                    <a:p>
                      <a:r>
                        <a:rPr lang="ru-RU" sz="10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</a:t>
                      </a:r>
                      <a:r>
                        <a:rPr lang="ru-RU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(улучшить)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00" b="0" i="0" u="none" strike="noStrike" noProof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Рассмотреть возможность найма дополнительного специалиста, чтобы разгрузить имеющихся сотрудников.</a:t>
                      </a:r>
                      <a:endParaRPr lang="ru-RU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00" b="0" i="0" u="none" strike="noStrike" noProof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Оптимизировать процесс атрибуции, распределяя задачи между сотрудниками более эффективно.</a:t>
                      </a:r>
                      <a:endParaRPr lang="ru-RU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00" b="0" i="0" u="none" strike="noStrike" noProof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Внедрить систему для упрощенного поиска информации о предметах (например, более структурированная база данных).</a:t>
                      </a:r>
                      <a:endParaRPr lang="ru-RU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00" b="0" i="0" u="none" strike="noStrike" noProof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 Улучшить интернет-соединение для ускорения работы.</a:t>
                      </a:r>
                      <a:endParaRPr lang="ru-RU" sz="1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9238805"/>
                  </a:ext>
                </a:extLst>
              </a:tr>
              <a:tr h="879555">
                <a:tc>
                  <a:txBody>
                    <a:bodyPr/>
                    <a:lstStyle/>
                    <a:p>
                      <a:r>
                        <a:rPr lang="ru-RU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Control (контролировать)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Внедрение трекинга времени на один экспонат (до/после).</a:t>
                      </a:r>
                    </a:p>
                    <a:p>
                      <a:r>
                        <a:rPr lang="ru-RU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Еженедельный отчёт о количестве внесённых предметов.</a:t>
                      </a:r>
                    </a:p>
                    <a:p>
                      <a:r>
                        <a:rPr lang="ru-RU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Обратная связь от сотрудников: удобно ли стало работать.</a:t>
                      </a:r>
                    </a:p>
                    <a:p>
                      <a:r>
                        <a:rPr lang="ru-RU" sz="1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Поддержка стандартизированных инструкций по каждому этапу.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03906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2E9593F5-D18B-11FB-B1EB-16F1108C8698}"/>
              </a:ext>
            </a:extLst>
          </p:cNvPr>
          <p:cNvSpPr txBox="1"/>
          <p:nvPr/>
        </p:nvSpPr>
        <p:spPr>
          <a:xfrm>
            <a:off x="2068376" y="76868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b="1" dirty="0"/>
              <a:t>DMAIC-</a:t>
            </a:r>
            <a:r>
              <a:rPr lang="ru-RU" b="1" dirty="0"/>
              <a:t>анализ</a:t>
            </a:r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87553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827584" cy="5143500"/>
          </a:xfrm>
          <a:prstGeom prst="rect">
            <a:avLst/>
          </a:prstGeom>
          <a:gradFill flip="none" rotWithShape="1">
            <a:gsLst>
              <a:gs pos="0">
                <a:srgbClr val="00549F">
                  <a:shade val="30000"/>
                  <a:satMod val="115000"/>
                </a:srgbClr>
              </a:gs>
              <a:gs pos="50000">
                <a:srgbClr val="00549F">
                  <a:shade val="67500"/>
                  <a:satMod val="115000"/>
                </a:srgbClr>
              </a:gs>
              <a:gs pos="100000">
                <a:srgbClr val="00549F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7" name="Picture 4" descr="C:\Users\MSShafigullin\Desktop\Проекты\Презентация по ДК\qs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099" y="4422472"/>
            <a:ext cx="353386" cy="353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C:\Users\MSShafigullin\Desktop\2020\Презентация КФУ\THE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792" y="3843770"/>
            <a:ext cx="252000" cy="25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84051" y="4728776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 algn="ctr"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322</a:t>
            </a:r>
            <a:endParaRPr lang="ru-RU" sz="800" b="0" dirty="0">
              <a:solidFill>
                <a:schemeClr val="bg1"/>
              </a:solidFill>
              <a:latin typeface="PT Sans" panose="020B0503020203020204" pitchFamily="34" charset="-5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4051" y="4083918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8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01-</a:t>
            </a: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10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00</a:t>
            </a:r>
          </a:p>
          <a:p>
            <a:pPr lvl="0" algn="ctr">
              <a:defRPr/>
            </a:pPr>
            <a:r>
              <a:rPr lang="en-US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1</a:t>
            </a: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4</a:t>
            </a:r>
            <a:r>
              <a:rPr lang="en-US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-1</a:t>
            </a: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6</a:t>
            </a:r>
            <a:endParaRPr lang="en-US" sz="800" b="0" kern="0" dirty="0">
              <a:solidFill>
                <a:schemeClr val="bg1"/>
              </a:solidFill>
              <a:latin typeface="PT Sans" panose="020B0503020203020204" pitchFamily="34" charset="-52"/>
            </a:endParaRPr>
          </a:p>
        </p:txBody>
      </p:sp>
      <p:pic>
        <p:nvPicPr>
          <p:cNvPr id="19" name="Picture 4" descr="C:\Users\MSShafigullin\Desktop\2020\5+\5+ (white)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389" y="3435846"/>
            <a:ext cx="524805" cy="238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B3758C0-3B65-4B6D-8CDA-D19D737FE37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390" y="87534"/>
            <a:ext cx="524805" cy="1141075"/>
          </a:xfrm>
          <a:prstGeom prst="rect">
            <a:avLst/>
          </a:prstGeom>
        </p:spPr>
      </p:pic>
      <p:pic>
        <p:nvPicPr>
          <p:cNvPr id="5" name="Picture 19" descr="C:\Users\MSShafigullin\Desktop\2020\Презентация КФУ\Пиктограммы и иконки\1772916-school-and-education\1772916-school-and-education\png\008-chat.png">
            <a:extLst>
              <a:ext uri="{FF2B5EF4-FFF2-40B4-BE49-F238E27FC236}">
                <a16:creationId xmlns:a16="http://schemas.microsoft.com/office/drawing/2014/main" id="{847D837B-843E-6D3B-7DC1-A60D10AB0F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4505" y="164141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7FF483D-F731-0058-4CB4-FF0A5252C08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2" y="1538984"/>
            <a:ext cx="8316417" cy="202045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D6C7AA2-C96F-BCC6-9962-A96810C75B99}"/>
              </a:ext>
            </a:extLst>
          </p:cNvPr>
          <p:cNvSpPr txBox="1"/>
          <p:nvPr/>
        </p:nvSpPr>
        <p:spPr>
          <a:xfrm>
            <a:off x="963986" y="189108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2400" b="1" dirty="0"/>
              <a:t>SIPOC — </a:t>
            </a:r>
            <a:r>
              <a:rPr lang="ru-RU" sz="2400" b="1" dirty="0"/>
              <a:t>модель процесса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1" name="Рукописный ввод 10">
                <a:extLst>
                  <a:ext uri="{FF2B5EF4-FFF2-40B4-BE49-F238E27FC236}">
                    <a16:creationId xmlns:a16="http://schemas.microsoft.com/office/drawing/2014/main" id="{97052738-5A6F-AEA8-D391-3844E5DB92AF}"/>
                  </a:ext>
                </a:extLst>
              </p14:cNvPr>
              <p14:cNvContentPartPr/>
              <p14:nvPr/>
            </p14:nvContentPartPr>
            <p14:xfrm>
              <a:off x="-1317974" y="696932"/>
              <a:ext cx="360" cy="29160"/>
            </p14:xfrm>
          </p:contentPart>
        </mc:Choice>
        <mc:Fallback>
          <p:pic>
            <p:nvPicPr>
              <p:cNvPr id="11" name="Рукописный ввод 10">
                <a:extLst>
                  <a:ext uri="{FF2B5EF4-FFF2-40B4-BE49-F238E27FC236}">
                    <a16:creationId xmlns:a16="http://schemas.microsoft.com/office/drawing/2014/main" id="{97052738-5A6F-AEA8-D391-3844E5DB92AF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-1380974" y="634292"/>
                <a:ext cx="126000" cy="154800"/>
              </a:xfrm>
              <a:prstGeom prst="rect">
                <a:avLst/>
              </a:prstGeom>
            </p:spPr>
          </p:pic>
        </mc:Fallback>
      </mc:AlternateContent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CFA212F1-8643-FD9A-EEA2-0DD02FB4CFE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43608" y="2283717"/>
            <a:ext cx="1152128" cy="62406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A75E5E7-3087-7D41-C98E-705FFFD01517}"/>
              </a:ext>
            </a:extLst>
          </p:cNvPr>
          <p:cNvSpPr txBox="1"/>
          <p:nvPr/>
        </p:nvSpPr>
        <p:spPr>
          <a:xfrm>
            <a:off x="1087670" y="2241808"/>
            <a:ext cx="1029582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Другие музеи и дирекция музея , </a:t>
            </a:r>
            <a:r>
              <a:rPr lang="ru-RU" sz="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гос</a:t>
            </a:r>
            <a:r>
              <a:rPr lang="ru-RU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учреждения , исследователи и ученные</a:t>
            </a:r>
          </a:p>
        </p:txBody>
      </p:sp>
    </p:spTree>
    <p:extLst>
      <p:ext uri="{BB962C8B-B14F-4D97-AF65-F5344CB8AC3E}">
        <p14:creationId xmlns:p14="http://schemas.microsoft.com/office/powerpoint/2010/main" val="38771812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B0EB1C-EB60-B3D2-60FD-855283E91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>
                <a:ea typeface="Calibri"/>
                <a:cs typeface="Calibri"/>
              </a:rPr>
              <a:t>IDEF0</a:t>
            </a:r>
            <a:endParaRPr lang="ru-RU"/>
          </a:p>
        </p:txBody>
      </p:sp>
      <p:pic>
        <p:nvPicPr>
          <p:cNvPr id="4" name="Объект 3" descr="Изображение выглядит как текст, снимок экрана, диаграмм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72A59A6-29CC-FFCE-0788-9484DBF481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98494" y="1200151"/>
            <a:ext cx="5747011" cy="3394472"/>
          </a:xfrm>
        </p:spPr>
      </p:pic>
    </p:spTree>
    <p:extLst>
      <p:ext uri="{BB962C8B-B14F-4D97-AF65-F5344CB8AC3E}">
        <p14:creationId xmlns:p14="http://schemas.microsoft.com/office/powerpoint/2010/main" val="12431513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56DE15-6F89-0354-5DEE-238B11E66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>
                <a:ea typeface="Calibri"/>
                <a:cs typeface="Calibri"/>
              </a:rPr>
              <a:t>USM</a:t>
            </a:r>
            <a:endParaRPr lang="ru-RU"/>
          </a:p>
        </p:txBody>
      </p:sp>
      <p:pic>
        <p:nvPicPr>
          <p:cNvPr id="4" name="Объект 3" descr="Изображение выглядит как текст, диаграмма, снимок экрана, Параллельны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88C3836-187B-02F9-9353-C128B05CAC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205747"/>
            <a:ext cx="8229600" cy="3383280"/>
          </a:xfrm>
        </p:spPr>
      </p:pic>
    </p:spTree>
    <p:extLst>
      <p:ext uri="{BB962C8B-B14F-4D97-AF65-F5344CB8AC3E}">
        <p14:creationId xmlns:p14="http://schemas.microsoft.com/office/powerpoint/2010/main" val="8123987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827584" cy="5143500"/>
          </a:xfrm>
          <a:prstGeom prst="rect">
            <a:avLst/>
          </a:prstGeom>
          <a:gradFill flip="none" rotWithShape="1">
            <a:gsLst>
              <a:gs pos="0">
                <a:srgbClr val="00549F">
                  <a:shade val="30000"/>
                  <a:satMod val="115000"/>
                </a:srgbClr>
              </a:gs>
              <a:gs pos="50000">
                <a:srgbClr val="00549F">
                  <a:shade val="67500"/>
                  <a:satMod val="115000"/>
                </a:srgbClr>
              </a:gs>
              <a:gs pos="100000">
                <a:srgbClr val="00549F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7" name="Picture 4" descr="C:\Users\MSShafigullin\Desktop\Проекты\Презентация по ДК\qs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099" y="4422472"/>
            <a:ext cx="353386" cy="353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C:\Users\MSShafigullin\Desktop\2020\Презентация КФУ\THE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792" y="3843770"/>
            <a:ext cx="252000" cy="25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84051" y="4728776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 algn="ctr">
              <a:defRPr/>
            </a:pP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322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4051" y="4083918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8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01-</a:t>
            </a: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10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00</a:t>
            </a:r>
          </a:p>
          <a:p>
            <a:pPr lvl="0" algn="ctr">
              <a:defRPr/>
            </a:pPr>
            <a:r>
              <a:rPr lang="en-US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1</a:t>
            </a: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4</a:t>
            </a:r>
            <a:r>
              <a:rPr lang="en-US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-1</a:t>
            </a: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6</a:t>
            </a:r>
            <a:endParaRPr lang="en-US" sz="800" b="0" kern="0" dirty="0">
              <a:solidFill>
                <a:schemeClr val="bg1"/>
              </a:solidFill>
              <a:latin typeface="PT Sans" panose="020B0503020203020204" pitchFamily="34" charset="-52"/>
            </a:endParaRPr>
          </a:p>
        </p:txBody>
      </p:sp>
      <p:pic>
        <p:nvPicPr>
          <p:cNvPr id="48" name="Picture 4" descr="C:\Users\MSShafigullin\Desktop\2020\5+\5+ (white)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389" y="3435846"/>
            <a:ext cx="524805" cy="238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" name="Рисунок 41">
            <a:extLst>
              <a:ext uri="{FF2B5EF4-FFF2-40B4-BE49-F238E27FC236}">
                <a16:creationId xmlns:a16="http://schemas.microsoft.com/office/drawing/2014/main" id="{052701A4-CF07-4E54-B14D-A8D0B956729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390" y="87534"/>
            <a:ext cx="524805" cy="1141075"/>
          </a:xfrm>
          <a:prstGeom prst="rect">
            <a:avLst/>
          </a:prstGeom>
        </p:spPr>
      </p:pic>
      <p:pic>
        <p:nvPicPr>
          <p:cNvPr id="2" name="Picture 34" descr="C:\Users\MSShafigullin\Downloads\1-01.png">
            <a:extLst>
              <a:ext uri="{FF2B5EF4-FFF2-40B4-BE49-F238E27FC236}">
                <a16:creationId xmlns:a16="http://schemas.microsoft.com/office/drawing/2014/main" id="{A9B8832E-827A-7C05-30E0-D3714EEC6B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1840" y="3930028"/>
            <a:ext cx="3481751" cy="16837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7731AF5-68F9-D113-1E07-6760A113F6F4}"/>
              </a:ext>
            </a:extLst>
          </p:cNvPr>
          <p:cNvSpPr txBox="1"/>
          <p:nvPr/>
        </p:nvSpPr>
        <p:spPr>
          <a:xfrm>
            <a:off x="1031325" y="959986"/>
            <a:ext cx="6858000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Почему процесс внесения данных идёт медленно?</a:t>
            </a:r>
            <a:b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Потому что каждый раз приходится писать описание заново и вручную загружать фото.</a:t>
            </a:r>
          </a:p>
          <a:p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Почему приходится писать описание заново?</a:t>
            </a:r>
            <a:b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Потому что нет готовых шаблонов для типичных предметов.</a:t>
            </a:r>
          </a:p>
          <a:p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Почему нет шаблонов описаний?</a:t>
            </a:r>
            <a:b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Потому что процесс не был стандартизирован.</a:t>
            </a:r>
          </a:p>
          <a:p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Почему процесс не был стандартизирован?</a:t>
            </a:r>
            <a:b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Потому что в приоритете стояла скорость оцифровки, а не оптимизация.</a:t>
            </a:r>
          </a:p>
          <a:p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Почему приоритет был на скорость, а не на систематизацию?</a:t>
            </a:r>
            <a:b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Потому что нужно срочно внести большое количество экспонатов в КАМИС по новым требованиям закона.</a:t>
            </a:r>
          </a:p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Отсутствие стандартизированных шаблонов описания и рабочего алгоритма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8398ADF-876B-F314-C933-B42004BB6ADA}"/>
              </a:ext>
            </a:extLst>
          </p:cNvPr>
          <p:cNvSpPr txBox="1"/>
          <p:nvPr/>
        </p:nvSpPr>
        <p:spPr>
          <a:xfrm>
            <a:off x="2843808" y="411510"/>
            <a:ext cx="3960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 Почему </a:t>
            </a:r>
          </a:p>
        </p:txBody>
      </p:sp>
    </p:spTree>
    <p:extLst>
      <p:ext uri="{BB962C8B-B14F-4D97-AF65-F5344CB8AC3E}">
        <p14:creationId xmlns:p14="http://schemas.microsoft.com/office/powerpoint/2010/main" val="5867272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827584" cy="5143500"/>
          </a:xfrm>
          <a:prstGeom prst="rect">
            <a:avLst/>
          </a:prstGeom>
          <a:gradFill flip="none" rotWithShape="1">
            <a:gsLst>
              <a:gs pos="0">
                <a:srgbClr val="00549F">
                  <a:shade val="30000"/>
                  <a:satMod val="115000"/>
                </a:srgbClr>
              </a:gs>
              <a:gs pos="50000">
                <a:srgbClr val="00549F">
                  <a:shade val="67500"/>
                  <a:satMod val="115000"/>
                </a:srgbClr>
              </a:gs>
              <a:gs pos="100000">
                <a:srgbClr val="00549F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7" name="Picture 4" descr="C:\Users\MSShafigullin\Desktop\Проекты\Презентация по ДК\qs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099" y="4422472"/>
            <a:ext cx="353386" cy="353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C:\Users\MSShafigullin\Desktop\2020\Презентация КФУ\THE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792" y="3843770"/>
            <a:ext cx="252000" cy="25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84051" y="4728776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 algn="ctr"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322</a:t>
            </a:r>
            <a:endParaRPr lang="ru-RU" sz="800" b="0" dirty="0">
              <a:solidFill>
                <a:schemeClr val="bg1"/>
              </a:solidFill>
              <a:latin typeface="PT Sans" panose="020B0503020203020204" pitchFamily="34" charset="-5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4051" y="4083918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8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01-</a:t>
            </a: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10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00</a:t>
            </a:r>
          </a:p>
          <a:p>
            <a:pPr lvl="0" algn="ctr">
              <a:defRPr/>
            </a:pPr>
            <a:r>
              <a:rPr lang="en-US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1</a:t>
            </a: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4</a:t>
            </a:r>
            <a:r>
              <a:rPr lang="en-US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-1</a:t>
            </a: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6</a:t>
            </a:r>
            <a:endParaRPr lang="en-US" sz="800" b="0" kern="0" dirty="0">
              <a:solidFill>
                <a:schemeClr val="bg1"/>
              </a:solidFill>
              <a:latin typeface="PT Sans" panose="020B0503020203020204" pitchFamily="34" charset="-52"/>
            </a:endParaRPr>
          </a:p>
        </p:txBody>
      </p:sp>
      <p:pic>
        <p:nvPicPr>
          <p:cNvPr id="19" name="Picture 4" descr="C:\Users\MSShafigullin\Desktop\2020\5+\5+ (white)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389" y="3435846"/>
            <a:ext cx="524805" cy="238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B3758C0-3B65-4B6D-8CDA-D19D737FE37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390" y="87534"/>
            <a:ext cx="524805" cy="1141075"/>
          </a:xfrm>
          <a:prstGeom prst="rect">
            <a:avLst/>
          </a:prstGeom>
        </p:spPr>
      </p:pic>
      <p:pic>
        <p:nvPicPr>
          <p:cNvPr id="5" name="Picture 19" descr="C:\Users\MSShafigullin\Desktop\2020\Презентация КФУ\Пиктограммы и иконки\1772916-school-and-education\1772916-school-and-education\png\008-chat.png">
            <a:extLst>
              <a:ext uri="{FF2B5EF4-FFF2-40B4-BE49-F238E27FC236}">
                <a16:creationId xmlns:a16="http://schemas.microsoft.com/office/drawing/2014/main" id="{847D837B-843E-6D3B-7DC1-A60D10AB0F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0072" y="320494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90CEBC9C-1861-D336-57D2-9C49DDEB1AB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1680" y="0"/>
            <a:ext cx="6195217" cy="513721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F28190B-F038-243E-2B03-831C1ADCFEF1}"/>
              </a:ext>
            </a:extLst>
          </p:cNvPr>
          <p:cNvSpPr txBox="1"/>
          <p:nvPr/>
        </p:nvSpPr>
        <p:spPr>
          <a:xfrm>
            <a:off x="6084168" y="195486"/>
            <a:ext cx="2592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Диаграмма </a:t>
            </a:r>
            <a:r>
              <a:rPr lang="ru-RU" dirty="0" err="1"/>
              <a:t>Ишикавы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910231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633E58A4-A27A-0472-ACE0-59147DBCD31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21988803"/>
              </p:ext>
            </p:extLst>
          </p:nvPr>
        </p:nvGraphicFramePr>
        <p:xfrm>
          <a:off x="426368" y="182819"/>
          <a:ext cx="8291264" cy="4777861"/>
        </p:xfrm>
        <a:graphic>
          <a:graphicData uri="http://schemas.openxmlformats.org/drawingml/2006/table">
            <a:tbl>
              <a:tblPr/>
              <a:tblGrid>
                <a:gridCol w="4145632">
                  <a:extLst>
                    <a:ext uri="{9D8B030D-6E8A-4147-A177-3AD203B41FA5}">
                      <a16:colId xmlns:a16="http://schemas.microsoft.com/office/drawing/2014/main" val="3824518056"/>
                    </a:ext>
                  </a:extLst>
                </a:gridCol>
                <a:gridCol w="4145632">
                  <a:extLst>
                    <a:ext uri="{9D8B030D-6E8A-4147-A177-3AD203B41FA5}">
                      <a16:colId xmlns:a16="http://schemas.microsoft.com/office/drawing/2014/main" val="2385223742"/>
                    </a:ext>
                  </a:extLst>
                </a:gridCol>
              </a:tblGrid>
              <a:tr h="681107">
                <a:tc>
                  <a:txBody>
                    <a:bodyPr/>
                    <a:lstStyle/>
                    <a:p>
                      <a:r>
                        <a:rPr lang="ru-RU" sz="1200" b="0" dirty="0">
                          <a:latin typeface="PT Sans" panose="020B0503020203020204" pitchFamily="34" charset="0"/>
                        </a:rPr>
                        <a:t>Вид потерь</a:t>
                      </a:r>
                    </a:p>
                  </a:txBody>
                  <a:tcPr marL="64039" marR="64039" marT="32020" marB="320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0" dirty="0">
                          <a:latin typeface="PT Sans" panose="020B0503020203020204" pitchFamily="34" charset="0"/>
                        </a:rPr>
                        <a:t>Процесс</a:t>
                      </a:r>
                    </a:p>
                  </a:txBody>
                  <a:tcPr marL="64039" marR="64039" marT="32020" marB="320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3463667"/>
                  </a:ext>
                </a:extLst>
              </a:tr>
              <a:tr h="580679">
                <a:tc>
                  <a:txBody>
                    <a:bodyPr/>
                    <a:lstStyle/>
                    <a:p>
                      <a:r>
                        <a:rPr lang="ru-RU" sz="1200" b="0" dirty="0">
                          <a:latin typeface="PT Sans" panose="020B0503020203020204" pitchFamily="34" charset="0"/>
                        </a:rPr>
                        <a:t>Перепроизводство</a:t>
                      </a:r>
                    </a:p>
                  </a:txBody>
                  <a:tcPr marL="64039" marR="64039" marT="32020" marB="320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0" dirty="0">
                          <a:latin typeface="PT Sans" panose="020B0503020203020204" pitchFamily="34" charset="0"/>
                        </a:rPr>
                        <a:t>Частично: создание черновиков, которые не используются</a:t>
                      </a:r>
                    </a:p>
                  </a:txBody>
                  <a:tcPr marL="64039" marR="64039" marT="32020" marB="320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1085257"/>
                  </a:ext>
                </a:extLst>
              </a:tr>
              <a:tr h="580679">
                <a:tc>
                  <a:txBody>
                    <a:bodyPr/>
                    <a:lstStyle/>
                    <a:p>
                      <a:r>
                        <a:rPr lang="ru-RU" sz="1200" b="0" dirty="0">
                          <a:latin typeface="PT Sans" panose="020B0503020203020204" pitchFamily="34" charset="0"/>
                        </a:rPr>
                        <a:t>Ожидание</a:t>
                      </a:r>
                    </a:p>
                  </a:txBody>
                  <a:tcPr marL="64039" marR="64039" marT="32020" marB="320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0">
                          <a:latin typeface="PT Sans" panose="020B0503020203020204" pitchFamily="34" charset="0"/>
                        </a:rPr>
                        <a:t>Ожидание загрузки КАМИС, медленный интернет</a:t>
                      </a:r>
                    </a:p>
                  </a:txBody>
                  <a:tcPr marL="64039" marR="64039" marT="32020" marB="320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0098944"/>
                  </a:ext>
                </a:extLst>
              </a:tr>
              <a:tr h="580679">
                <a:tc>
                  <a:txBody>
                    <a:bodyPr/>
                    <a:lstStyle/>
                    <a:p>
                      <a:r>
                        <a:rPr lang="ru-RU" sz="1200" b="0" dirty="0">
                          <a:latin typeface="PT Sans" panose="020B0503020203020204" pitchFamily="34" charset="0"/>
                        </a:rPr>
                        <a:t>Лишняя транспортировка</a:t>
                      </a:r>
                    </a:p>
                  </a:txBody>
                  <a:tcPr marL="64039" marR="64039" marT="32020" marB="320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0">
                          <a:latin typeface="PT Sans" panose="020B0503020203020204" pitchFamily="34" charset="0"/>
                        </a:rPr>
                        <a:t>Перенос предметов между локациями фотосъёмки и рабочего места</a:t>
                      </a:r>
                    </a:p>
                  </a:txBody>
                  <a:tcPr marL="64039" marR="64039" marT="32020" marB="320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622662"/>
                  </a:ext>
                </a:extLst>
              </a:tr>
              <a:tr h="580679">
                <a:tc>
                  <a:txBody>
                    <a:bodyPr/>
                    <a:lstStyle/>
                    <a:p>
                      <a:r>
                        <a:rPr lang="ru-RU" sz="1200" b="0" dirty="0">
                          <a:latin typeface="PT Sans" panose="020B0503020203020204" pitchFamily="34" charset="0"/>
                        </a:rPr>
                        <a:t>Лишняя обработка</a:t>
                      </a:r>
                    </a:p>
                  </a:txBody>
                  <a:tcPr marL="64039" marR="64039" marT="32020" marB="320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0">
                          <a:latin typeface="PT Sans" panose="020B0503020203020204" pitchFamily="34" charset="0"/>
                        </a:rPr>
                        <a:t>Повторная обработка фото, ручное редактирование, исправления</a:t>
                      </a:r>
                    </a:p>
                  </a:txBody>
                  <a:tcPr marL="64039" marR="64039" marT="32020" marB="320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4323998"/>
                  </a:ext>
                </a:extLst>
              </a:tr>
              <a:tr h="580679">
                <a:tc>
                  <a:txBody>
                    <a:bodyPr/>
                    <a:lstStyle/>
                    <a:p>
                      <a:r>
                        <a:rPr lang="ru-RU" sz="1200" b="0" dirty="0">
                          <a:latin typeface="PT Sans" panose="020B0503020203020204" pitchFamily="34" charset="0"/>
                        </a:rPr>
                        <a:t>Излишние запасы</a:t>
                      </a:r>
                    </a:p>
                  </a:txBody>
                  <a:tcPr marL="64039" marR="64039" marT="32020" marB="320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200" b="0">
                          <a:latin typeface="PT Sans" panose="020B0503020203020204" pitchFamily="34" charset="0"/>
                        </a:rPr>
                        <a:t>Накопление необработанных экспонатов</a:t>
                      </a:r>
                    </a:p>
                  </a:txBody>
                  <a:tcPr marL="64039" marR="64039" marT="32020" marB="320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5700123"/>
                  </a:ext>
                </a:extLst>
              </a:tr>
              <a:tr h="58435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0" dirty="0">
                          <a:latin typeface="PT Sans" panose="020B0503020203020204" pitchFamily="34" charset="0"/>
                        </a:rPr>
                        <a:t>Дефекты / ошибки</a:t>
                      </a:r>
                    </a:p>
                    <a:p>
                      <a:endParaRPr lang="ru-RU" sz="1200" b="0" dirty="0">
                        <a:latin typeface="PT Sans" panose="020B0503020203020204" pitchFamily="34" charset="0"/>
                      </a:endParaRPr>
                    </a:p>
                  </a:txBody>
                  <a:tcPr marL="64039" marR="64039" marT="32020" marB="320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0" dirty="0">
                          <a:latin typeface="PT Sans" panose="020B0503020203020204" pitchFamily="34" charset="0"/>
                        </a:rPr>
                        <a:t>Ошибки в описании, несоответствие фото и предмета, повторный ввод</a:t>
                      </a:r>
                    </a:p>
                    <a:p>
                      <a:endParaRPr lang="ru-RU" sz="1200" b="0" dirty="0">
                        <a:latin typeface="PT Sans" panose="020B0503020203020204" pitchFamily="34" charset="0"/>
                      </a:endParaRPr>
                    </a:p>
                  </a:txBody>
                  <a:tcPr marL="64039" marR="64039" marT="32020" marB="320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75477701"/>
                  </a:ext>
                </a:extLst>
              </a:tr>
              <a:tr h="580679">
                <a:tc>
                  <a:txBody>
                    <a:bodyPr/>
                    <a:lstStyle/>
                    <a:p>
                      <a:endParaRPr lang="ru-RU" sz="1200" b="0" dirty="0">
                        <a:latin typeface="PT Sans" panose="020B0503020203020204" pitchFamily="34" charset="0"/>
                      </a:endParaRPr>
                    </a:p>
                  </a:txBody>
                  <a:tcPr marL="64039" marR="64039" marT="32020" marB="320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200" b="0" dirty="0">
                        <a:latin typeface="PT Sans" panose="020B0503020203020204" pitchFamily="34" charset="0"/>
                      </a:endParaRPr>
                    </a:p>
                  </a:txBody>
                  <a:tcPr marL="64039" marR="64039" marT="32020" marB="320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41639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08595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6C313979-DE43-00DA-69FB-E29AC06E03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2424917"/>
              </p:ext>
            </p:extLst>
          </p:nvPr>
        </p:nvGraphicFramePr>
        <p:xfrm>
          <a:off x="827584" y="483518"/>
          <a:ext cx="6912768" cy="4392485"/>
        </p:xfrm>
        <a:graphic>
          <a:graphicData uri="http://schemas.openxmlformats.org/drawingml/2006/table">
            <a:tbl>
              <a:tblPr/>
              <a:tblGrid>
                <a:gridCol w="844894">
                  <a:extLst>
                    <a:ext uri="{9D8B030D-6E8A-4147-A177-3AD203B41FA5}">
                      <a16:colId xmlns:a16="http://schemas.microsoft.com/office/drawing/2014/main" val="1933720761"/>
                    </a:ext>
                  </a:extLst>
                </a:gridCol>
                <a:gridCol w="2227447">
                  <a:extLst>
                    <a:ext uri="{9D8B030D-6E8A-4147-A177-3AD203B41FA5}">
                      <a16:colId xmlns:a16="http://schemas.microsoft.com/office/drawing/2014/main" val="2379672815"/>
                    </a:ext>
                  </a:extLst>
                </a:gridCol>
                <a:gridCol w="2112235">
                  <a:extLst>
                    <a:ext uri="{9D8B030D-6E8A-4147-A177-3AD203B41FA5}">
                      <a16:colId xmlns:a16="http://schemas.microsoft.com/office/drawing/2014/main" val="3723987545"/>
                    </a:ext>
                  </a:extLst>
                </a:gridCol>
                <a:gridCol w="1728192">
                  <a:extLst>
                    <a:ext uri="{9D8B030D-6E8A-4147-A177-3AD203B41FA5}">
                      <a16:colId xmlns:a16="http://schemas.microsoft.com/office/drawing/2014/main" val="3688716912"/>
                    </a:ext>
                  </a:extLst>
                </a:gridCol>
              </a:tblGrid>
              <a:tr h="222404">
                <a:tc>
                  <a:txBody>
                    <a:bodyPr/>
                    <a:lstStyle/>
                    <a:p>
                      <a:pPr algn="l"/>
                      <a:r>
                        <a:rPr lang="ru-RU" sz="800"/>
                        <a:t>№</a:t>
                      </a:r>
                    </a:p>
                  </a:txBody>
                  <a:tcPr marL="42963" marR="42963" marT="21481" marB="214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800"/>
                        <a:t>Проблема</a:t>
                      </a:r>
                    </a:p>
                  </a:txBody>
                  <a:tcPr marL="42963" marR="42963" marT="21481" marB="214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800"/>
                        <a:t>Потери в процессе</a:t>
                      </a:r>
                    </a:p>
                  </a:txBody>
                  <a:tcPr marL="42963" marR="42963" marT="21481" marB="214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800" dirty="0"/>
                        <a:t>Корневая причина</a:t>
                      </a:r>
                    </a:p>
                  </a:txBody>
                  <a:tcPr marL="42963" marR="42963" marT="21481" marB="214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2502312"/>
                  </a:ext>
                </a:extLst>
              </a:tr>
              <a:tr h="556010">
                <a:tc>
                  <a:txBody>
                    <a:bodyPr/>
                    <a:lstStyle/>
                    <a:p>
                      <a:pPr algn="l"/>
                      <a:r>
                        <a:rPr lang="ru-RU" sz="800" dirty="0"/>
                        <a:t>1</a:t>
                      </a:r>
                    </a:p>
                  </a:txBody>
                  <a:tcPr marL="42963" marR="42963" marT="21481" marB="214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800"/>
                        <a:t>Долгое внесение информации об экспонате</a:t>
                      </a:r>
                    </a:p>
                  </a:txBody>
                  <a:tcPr marL="42963" marR="42963" marT="21481" marB="214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800"/>
                        <a:t>Время на ручной ввод и исправления</a:t>
                      </a:r>
                    </a:p>
                  </a:txBody>
                  <a:tcPr marL="42963" marR="42963" marT="21481" marB="214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800" dirty="0"/>
                        <a:t>Отсутствие шаблонов описания</a:t>
                      </a:r>
                    </a:p>
                  </a:txBody>
                  <a:tcPr marL="42963" marR="42963" marT="21481" marB="214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424619"/>
                  </a:ext>
                </a:extLst>
              </a:tr>
              <a:tr h="889619">
                <a:tc>
                  <a:txBody>
                    <a:bodyPr/>
                    <a:lstStyle/>
                    <a:p>
                      <a:pPr algn="l"/>
                      <a:r>
                        <a:rPr lang="ru-RU" sz="800" dirty="0"/>
                        <a:t>2</a:t>
                      </a:r>
                    </a:p>
                  </a:txBody>
                  <a:tcPr marL="42963" marR="42963" marT="21481" marB="214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800"/>
                        <a:t>Много времени уходит на фотосъемку и обработку</a:t>
                      </a:r>
                    </a:p>
                  </a:txBody>
                  <a:tcPr marL="42963" marR="42963" marT="21481" marB="214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800"/>
                        <a:t>Ожидание подходящего света, корректировки фото</a:t>
                      </a:r>
                    </a:p>
                  </a:txBody>
                  <a:tcPr marL="42963" marR="42963" marT="21481" marB="214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800"/>
                        <a:t>Нет стандартизированного процесса фотосъемки</a:t>
                      </a:r>
                    </a:p>
                  </a:txBody>
                  <a:tcPr marL="42963" marR="42963" marT="21481" marB="214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2639336"/>
                  </a:ext>
                </a:extLst>
              </a:tr>
              <a:tr h="722814">
                <a:tc>
                  <a:txBody>
                    <a:bodyPr/>
                    <a:lstStyle/>
                    <a:p>
                      <a:pPr algn="l"/>
                      <a:r>
                        <a:rPr lang="ru-RU" sz="800" dirty="0"/>
                        <a:t>3</a:t>
                      </a:r>
                    </a:p>
                  </a:txBody>
                  <a:tcPr marL="42963" marR="42963" marT="21481" marB="214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800"/>
                        <a:t>Лишние передвижения между зонами работы</a:t>
                      </a:r>
                    </a:p>
                  </a:txBody>
                  <a:tcPr marL="42963" marR="42963" marT="21481" marB="214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800"/>
                        <a:t>Потеря времени на перемещения</a:t>
                      </a:r>
                    </a:p>
                  </a:txBody>
                  <a:tcPr marL="42963" marR="42963" marT="21481" marB="214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800"/>
                        <a:t>Плохая организация рабочего пространства</a:t>
                      </a:r>
                    </a:p>
                  </a:txBody>
                  <a:tcPr marL="42963" marR="42963" marT="21481" marB="214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920907"/>
                  </a:ext>
                </a:extLst>
              </a:tr>
              <a:tr h="556010">
                <a:tc>
                  <a:txBody>
                    <a:bodyPr/>
                    <a:lstStyle/>
                    <a:p>
                      <a:pPr algn="l"/>
                      <a:r>
                        <a:rPr lang="ru-RU" sz="800" dirty="0"/>
                        <a:t>4</a:t>
                      </a:r>
                    </a:p>
                  </a:txBody>
                  <a:tcPr marL="42963" marR="42963" marT="21481" marB="214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800"/>
                        <a:t>Медленная загрузка в КАМИС</a:t>
                      </a:r>
                    </a:p>
                  </a:txBody>
                  <a:tcPr marL="42963" marR="42963" marT="21481" marB="214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800"/>
                        <a:t>Время ожидания из-за скорости интернета</a:t>
                      </a:r>
                    </a:p>
                  </a:txBody>
                  <a:tcPr marL="42963" marR="42963" marT="21481" marB="214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800"/>
                        <a:t>Низкая скорость интернета</a:t>
                      </a:r>
                    </a:p>
                  </a:txBody>
                  <a:tcPr marL="42963" marR="42963" marT="21481" marB="214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0437610"/>
                  </a:ext>
                </a:extLst>
              </a:tr>
              <a:tr h="722814">
                <a:tc>
                  <a:txBody>
                    <a:bodyPr/>
                    <a:lstStyle/>
                    <a:p>
                      <a:pPr algn="l"/>
                      <a:r>
                        <a:rPr lang="ru-RU" sz="800" dirty="0"/>
                        <a:t>5</a:t>
                      </a:r>
                    </a:p>
                  </a:txBody>
                  <a:tcPr marL="42963" marR="42963" marT="21481" marB="214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800" dirty="0"/>
                        <a:t>Отвлечения от работы из-за других задач и посетителей</a:t>
                      </a:r>
                    </a:p>
                  </a:txBody>
                  <a:tcPr marL="42963" marR="42963" marT="21481" marB="214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800"/>
                        <a:t>Прерывание основной работы</a:t>
                      </a:r>
                    </a:p>
                  </a:txBody>
                  <a:tcPr marL="42963" marR="42963" marT="21481" marB="214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800"/>
                        <a:t>Нет разграничения времени на основную работу и экскурсии</a:t>
                      </a:r>
                    </a:p>
                  </a:txBody>
                  <a:tcPr marL="42963" marR="42963" marT="21481" marB="214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8212459"/>
                  </a:ext>
                </a:extLst>
              </a:tr>
              <a:tr h="722814">
                <a:tc>
                  <a:txBody>
                    <a:bodyPr/>
                    <a:lstStyle/>
                    <a:p>
                      <a:pPr algn="l"/>
                      <a:r>
                        <a:rPr lang="ru-RU" sz="800" dirty="0"/>
                        <a:t>6</a:t>
                      </a:r>
                    </a:p>
                  </a:txBody>
                  <a:tcPr marL="42963" marR="42963" marT="21481" marB="214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800"/>
                        <a:t>Ошибки при заполнении данных</a:t>
                      </a:r>
                    </a:p>
                  </a:txBody>
                  <a:tcPr marL="42963" marR="42963" marT="21481" marB="214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800"/>
                        <a:t>Переделка карточек, время на исправление</a:t>
                      </a:r>
                    </a:p>
                  </a:txBody>
                  <a:tcPr marL="42963" marR="42963" marT="21481" marB="214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800" dirty="0"/>
                        <a:t>Отсутствие системы двойной проверки и чек-листов</a:t>
                      </a:r>
                    </a:p>
                  </a:txBody>
                  <a:tcPr marL="42963" marR="42963" marT="21481" marB="214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881211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2453A2ED-1BD1-F140-8D9E-CB8733550F65}"/>
              </a:ext>
            </a:extLst>
          </p:cNvPr>
          <p:cNvSpPr txBox="1"/>
          <p:nvPr/>
        </p:nvSpPr>
        <p:spPr>
          <a:xfrm>
            <a:off x="1907704" y="8869"/>
            <a:ext cx="67687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Перечень выявленных проблем, потерь и их корневых причин:</a:t>
            </a:r>
          </a:p>
        </p:txBody>
      </p:sp>
    </p:spTree>
    <p:extLst>
      <p:ext uri="{BB962C8B-B14F-4D97-AF65-F5344CB8AC3E}">
        <p14:creationId xmlns:p14="http://schemas.microsoft.com/office/powerpoint/2010/main" val="18003921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827584" cy="5143500"/>
          </a:xfrm>
          <a:prstGeom prst="rect">
            <a:avLst/>
          </a:prstGeom>
          <a:gradFill flip="none" rotWithShape="1">
            <a:gsLst>
              <a:gs pos="0">
                <a:srgbClr val="00549F">
                  <a:shade val="30000"/>
                  <a:satMod val="115000"/>
                </a:srgbClr>
              </a:gs>
              <a:gs pos="50000">
                <a:srgbClr val="00549F">
                  <a:shade val="67500"/>
                  <a:satMod val="115000"/>
                </a:srgbClr>
              </a:gs>
              <a:gs pos="100000">
                <a:srgbClr val="00549F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7" name="Picture 4" descr="C:\Users\MSShafigullin\Desktop\Проекты\Презентация по ДК\qs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099" y="4422472"/>
            <a:ext cx="353386" cy="353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C:\Users\MSShafigullin\Desktop\2020\Презентация КФУ\THE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792" y="3843770"/>
            <a:ext cx="252000" cy="25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84051" y="4728776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 algn="ctr">
              <a:defRPr/>
            </a:pP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322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5</a:t>
            </a:r>
            <a:endParaRPr kumimoji="0" lang="en-US" sz="8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uLnTx/>
              <a:uFillTx/>
              <a:latin typeface="PT Sans" panose="020B0503020203020204" pitchFamily="34" charset="-5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4051" y="4083918"/>
            <a:ext cx="6594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8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01-</a:t>
            </a:r>
            <a:r>
              <a:rPr lang="en-US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10</a:t>
            </a:r>
            <a:r>
              <a:rPr lang="ru-RU" sz="800" b="0" dirty="0">
                <a:solidFill>
                  <a:schemeClr val="bg1"/>
                </a:solidFill>
                <a:latin typeface="PT Sans" panose="020B0503020203020204" pitchFamily="34" charset="-52"/>
              </a:rPr>
              <a:t>00</a:t>
            </a:r>
          </a:p>
          <a:p>
            <a:pPr lvl="0" algn="ctr">
              <a:defRPr/>
            </a:pPr>
            <a:r>
              <a:rPr lang="en-US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1</a:t>
            </a: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4</a:t>
            </a:r>
            <a:r>
              <a:rPr lang="en-US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-1</a:t>
            </a:r>
            <a:r>
              <a:rPr lang="ru-RU" sz="800" b="0" kern="0" dirty="0">
                <a:solidFill>
                  <a:schemeClr val="bg1"/>
                </a:solidFill>
                <a:latin typeface="PT Sans" panose="020B0503020203020204" pitchFamily="34" charset="-52"/>
              </a:rPr>
              <a:t>6</a:t>
            </a:r>
            <a:endParaRPr lang="en-US" sz="800" b="0" kern="0" dirty="0">
              <a:solidFill>
                <a:schemeClr val="bg1"/>
              </a:solidFill>
              <a:latin typeface="PT Sans" panose="020B0503020203020204" pitchFamily="34" charset="-52"/>
            </a:endParaRPr>
          </a:p>
        </p:txBody>
      </p:sp>
      <p:pic>
        <p:nvPicPr>
          <p:cNvPr id="2081" name="Picture 33" descr="C:\Users\MSShafigullin\Desktop\2020\Презентация КФУ\Пиктограммы и иконки\1772978-school-and-education\1772978-school-and-education\png\036-astronomy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7704" y="186593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8" name="Picture 4" descr="C:\Users\MSShafigullin\Desktop\2020\5+\5+ (white).pn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389" y="3435846"/>
            <a:ext cx="524805" cy="238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" name="Рисунок 41">
            <a:extLst>
              <a:ext uri="{FF2B5EF4-FFF2-40B4-BE49-F238E27FC236}">
                <a16:creationId xmlns:a16="http://schemas.microsoft.com/office/drawing/2014/main" id="{052701A4-CF07-4E54-B14D-A8D0B9567291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390" y="87534"/>
            <a:ext cx="524805" cy="1141075"/>
          </a:xfrm>
          <a:prstGeom prst="rect">
            <a:avLst/>
          </a:prstGeom>
        </p:spPr>
      </p:pic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F0147AF7-8DE3-9B12-E9F0-3D323EEB85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8168365"/>
              </p:ext>
            </p:extLst>
          </p:nvPr>
        </p:nvGraphicFramePr>
        <p:xfrm>
          <a:off x="1024598" y="560004"/>
          <a:ext cx="5472608" cy="4396903"/>
        </p:xfrm>
        <a:graphic>
          <a:graphicData uri="http://schemas.openxmlformats.org/drawingml/2006/table">
            <a:tbl>
              <a:tblPr/>
              <a:tblGrid>
                <a:gridCol w="2160240">
                  <a:extLst>
                    <a:ext uri="{9D8B030D-6E8A-4147-A177-3AD203B41FA5}">
                      <a16:colId xmlns:a16="http://schemas.microsoft.com/office/drawing/2014/main" val="2794868271"/>
                    </a:ext>
                  </a:extLst>
                </a:gridCol>
                <a:gridCol w="3312368">
                  <a:extLst>
                    <a:ext uri="{9D8B030D-6E8A-4147-A177-3AD203B41FA5}">
                      <a16:colId xmlns:a16="http://schemas.microsoft.com/office/drawing/2014/main" val="2475445925"/>
                    </a:ext>
                  </a:extLst>
                </a:gridCol>
              </a:tblGrid>
              <a:tr h="383231">
                <a:tc>
                  <a:txBody>
                    <a:bodyPr/>
                    <a:lstStyle/>
                    <a:p>
                      <a:r>
                        <a:rPr lang="ru-RU" sz="1400" b="0" dirty="0"/>
                        <a:t>Категория</a:t>
                      </a:r>
                    </a:p>
                  </a:txBody>
                  <a:tcPr marL="69267" marR="69267" marT="34633" marB="346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0" dirty="0"/>
                        <a:t>Предложение</a:t>
                      </a:r>
                    </a:p>
                  </a:txBody>
                  <a:tcPr marL="69267" marR="69267" marT="34633" marB="346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7685477"/>
                  </a:ext>
                </a:extLst>
              </a:tr>
              <a:tr h="488128">
                <a:tc>
                  <a:txBody>
                    <a:bodyPr/>
                    <a:lstStyle/>
                    <a:p>
                      <a:r>
                        <a:rPr lang="ru-RU" sz="1400" b="0" dirty="0"/>
                        <a:t>Стандартизация</a:t>
                      </a:r>
                    </a:p>
                  </a:txBody>
                  <a:tcPr marL="69267" marR="69267" marT="34633" marB="346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0"/>
                        <a:t>Создать шаблоны карточек экспонатов (для типовых предметов)</a:t>
                      </a:r>
                    </a:p>
                  </a:txBody>
                  <a:tcPr marL="69267" marR="69267" marT="34633" marB="346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92391077"/>
                  </a:ext>
                </a:extLst>
              </a:tr>
              <a:tr h="488128">
                <a:tc>
                  <a:txBody>
                    <a:bodyPr/>
                    <a:lstStyle/>
                    <a:p>
                      <a:r>
                        <a:rPr lang="ru-RU" sz="1400" b="0" dirty="0"/>
                        <a:t>Визуальное управление</a:t>
                      </a:r>
                    </a:p>
                  </a:txBody>
                  <a:tcPr marL="69267" marR="69267" marT="34633" marB="346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0"/>
                        <a:t>Использовать чек-листы, визуальные инструкции рядом с рабочими зонами</a:t>
                      </a:r>
                    </a:p>
                  </a:txBody>
                  <a:tcPr marL="69267" marR="69267" marT="34633" marB="346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066146"/>
                  </a:ext>
                </a:extLst>
              </a:tr>
              <a:tr h="488128">
                <a:tc>
                  <a:txBody>
                    <a:bodyPr/>
                    <a:lstStyle/>
                    <a:p>
                      <a:r>
                        <a:rPr lang="ru-RU" sz="1400" b="0" dirty="0"/>
                        <a:t>Упрощение потока</a:t>
                      </a:r>
                    </a:p>
                  </a:txBody>
                  <a:tcPr marL="69267" marR="69267" marT="34633" marB="346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0"/>
                        <a:t>Чётко разделить фотозону и рабочую зону; минимизировать перемещения</a:t>
                      </a:r>
                    </a:p>
                  </a:txBody>
                  <a:tcPr marL="69267" marR="69267" marT="34633" marB="346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8794045"/>
                  </a:ext>
                </a:extLst>
              </a:tr>
              <a:tr h="488128">
                <a:tc>
                  <a:txBody>
                    <a:bodyPr/>
                    <a:lstStyle/>
                    <a:p>
                      <a:r>
                        <a:rPr lang="ru-RU" sz="1400" b="0" dirty="0"/>
                        <a:t>Автоматизация</a:t>
                      </a:r>
                    </a:p>
                  </a:txBody>
                  <a:tcPr marL="69267" marR="69267" marT="34633" marB="346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0" dirty="0"/>
                        <a:t>Настроить шаблоны в КАМИС, макросы или </a:t>
                      </a:r>
                      <a:r>
                        <a:rPr lang="ru-RU" sz="1400" b="0" dirty="0" err="1"/>
                        <a:t>автоформы</a:t>
                      </a:r>
                      <a:r>
                        <a:rPr lang="ru-RU" sz="1400" b="0" dirty="0"/>
                        <a:t> в </a:t>
                      </a:r>
                      <a:r>
                        <a:rPr lang="en" sz="1400" b="0" dirty="0"/>
                        <a:t>Excel/Word</a:t>
                      </a:r>
                    </a:p>
                  </a:txBody>
                  <a:tcPr marL="69267" marR="69267" marT="34633" marB="346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5308327"/>
                  </a:ext>
                </a:extLst>
              </a:tr>
              <a:tr h="680302">
                <a:tc>
                  <a:txBody>
                    <a:bodyPr/>
                    <a:lstStyle/>
                    <a:p>
                      <a:r>
                        <a:rPr lang="ru-RU" sz="1400" b="0" dirty="0"/>
                        <a:t>Устранение ожиданий</a:t>
                      </a:r>
                    </a:p>
                  </a:txBody>
                  <a:tcPr marL="69267" marR="69267" marT="34633" marB="346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0" dirty="0"/>
                        <a:t>Ускорить интернет, организовать кэш-загрузку, использовать офлайн-шаблоны</a:t>
                      </a:r>
                    </a:p>
                  </a:txBody>
                  <a:tcPr marL="69267" marR="69267" marT="34633" marB="346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1697394"/>
                  </a:ext>
                </a:extLst>
              </a:tr>
              <a:tr h="680302">
                <a:tc>
                  <a:txBody>
                    <a:bodyPr/>
                    <a:lstStyle/>
                    <a:p>
                      <a:r>
                        <a:rPr lang="ru-RU" sz="1400" b="0" dirty="0"/>
                        <a:t>Оптимизация времени</a:t>
                      </a:r>
                    </a:p>
                  </a:txBody>
                  <a:tcPr marL="69267" marR="69267" marT="34633" marB="346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Выделить «тихое» время без приёма посетителей, чтобы каждый раз не отвлекаться на экскурсии. </a:t>
                      </a:r>
                    </a:p>
                    <a:p>
                      <a:r>
                        <a:rPr lang="ru-RU" sz="1400" dirty="0"/>
                        <a:t>Создание локальной справочной базы или внутренней Вики по типам экспонатов</a:t>
                      </a:r>
                      <a:endParaRPr lang="ru-RU" sz="1400" b="0" dirty="0"/>
                    </a:p>
                  </a:txBody>
                  <a:tcPr marL="69267" marR="69267" marT="34633" marB="3463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0436069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623F4237-C3DF-2DBF-7F5E-E0E9C5443FE4}"/>
              </a:ext>
            </a:extLst>
          </p:cNvPr>
          <p:cNvSpPr txBox="1"/>
          <p:nvPr/>
        </p:nvSpPr>
        <p:spPr>
          <a:xfrm>
            <a:off x="2087704" y="84539"/>
            <a:ext cx="65344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latin typeface="PT Sans" panose="020B0503020203020204" pitchFamily="34" charset="0"/>
              </a:rPr>
              <a:t>Предложения по </a:t>
            </a:r>
            <a:r>
              <a:rPr lang="en" sz="2400" b="1" dirty="0">
                <a:latin typeface="PT Sans" panose="020B0503020203020204" pitchFamily="34" charset="0"/>
              </a:rPr>
              <a:t>Lean-</a:t>
            </a:r>
            <a:r>
              <a:rPr lang="ru-RU" sz="2400" b="1" dirty="0">
                <a:latin typeface="PT Sans" panose="020B0503020203020204" pitchFamily="34" charset="0"/>
              </a:rPr>
              <a:t>улучшениям (</a:t>
            </a:r>
            <a:r>
              <a:rPr lang="en" sz="2400" b="1" dirty="0">
                <a:latin typeface="PT Sans" panose="020B0503020203020204" pitchFamily="34" charset="0"/>
              </a:rPr>
              <a:t>Kaizen)</a:t>
            </a:r>
            <a:endParaRPr lang="ru-RU" sz="2400" b="1" dirty="0">
              <a:latin typeface="PT Sans" panose="020B0503020203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0B57182-69EF-A7EC-097D-A4DE103D68A9}"/>
              </a:ext>
            </a:extLst>
          </p:cNvPr>
          <p:cNvSpPr txBox="1"/>
          <p:nvPr/>
        </p:nvSpPr>
        <p:spPr>
          <a:xfrm>
            <a:off x="6709080" y="1091764"/>
            <a:ext cx="228353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Целевое состояние: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Обработка одного экспоната в среднем за </a:t>
            </a: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5–6 минут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а не 10–15.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Снижение количества ошибок, повторов, ручной работы.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Чёткий поток: 📷 Фото → 📄 Запись → 🖥️ Ввод → ✔ Проверка.</a:t>
            </a:r>
          </a:p>
        </p:txBody>
      </p:sp>
    </p:spTree>
    <p:extLst>
      <p:ext uri="{BB962C8B-B14F-4D97-AF65-F5344CB8AC3E}">
        <p14:creationId xmlns:p14="http://schemas.microsoft.com/office/powerpoint/2010/main" val="18301502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0B911A-FCD3-FF99-86FD-DFCB44B1E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Спагетти</a:t>
            </a:r>
          </a:p>
        </p:txBody>
      </p:sp>
      <p:pic>
        <p:nvPicPr>
          <p:cNvPr id="5" name="Объект 4" descr="Изображение выглядит как текст, диаграмма, снимок экрана, План&#10;&#10;Автоматически созданное описание">
            <a:extLst>
              <a:ext uri="{FF2B5EF4-FFF2-40B4-BE49-F238E27FC236}">
                <a16:creationId xmlns:a16="http://schemas.microsoft.com/office/drawing/2014/main" id="{D8AAE892-7803-DF8C-ECCD-465DF42AE7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1920" y="1482627"/>
            <a:ext cx="5212157" cy="3454894"/>
          </a:xfrm>
        </p:spPr>
      </p:pic>
      <p:pic>
        <p:nvPicPr>
          <p:cNvPr id="8" name="Рисунок 7" descr="Изображение выглядит как диаграмма, Прямоугольник, План,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B6760B13-1E3A-DDC5-7F23-39EE63D68C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1479900"/>
            <a:ext cx="3949916" cy="3291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51160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827584" cy="5143500"/>
          </a:xfrm>
          <a:prstGeom prst="rect">
            <a:avLst/>
          </a:prstGeom>
          <a:gradFill flip="none" rotWithShape="1">
            <a:gsLst>
              <a:gs pos="0">
                <a:srgbClr val="00549F">
                  <a:shade val="30000"/>
                  <a:satMod val="115000"/>
                </a:srgbClr>
              </a:gs>
              <a:gs pos="50000">
                <a:srgbClr val="00549F">
                  <a:shade val="67500"/>
                  <a:satMod val="115000"/>
                </a:srgbClr>
              </a:gs>
              <a:gs pos="100000">
                <a:srgbClr val="00549F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1008554" y="423877"/>
            <a:ext cx="504056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Ожидаемые результаты: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Сокращение времени обработки одного экспоната до 5–6 минут.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Повышение точности и полноты внесённой информации.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Снижение нагрузки на хранителя и повышение удовлетворённости работой.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Увеличение количества предметов, внесённых в базу за день.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Повышение прозрачности и управляемости музейных процессов.</a:t>
            </a:r>
          </a:p>
          <a:p>
            <a:endParaRPr lang="ru-RU" sz="1400" b="1" dirty="0">
              <a:solidFill>
                <a:schemeClr val="bg1">
                  <a:lumMod val="50000"/>
                </a:schemeClr>
              </a:solidFill>
              <a:latin typeface="PT Sans" panose="020B0503020203020204" pitchFamily="34" charset="-52"/>
            </a:endParaRPr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34343ECC-09D4-470A-A1B9-E7EE200A4A3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390" y="87534"/>
            <a:ext cx="524805" cy="1141075"/>
          </a:xfrm>
          <a:prstGeom prst="rect">
            <a:avLst/>
          </a:prstGeom>
        </p:spPr>
      </p:pic>
      <p:pic>
        <p:nvPicPr>
          <p:cNvPr id="2" name="Picture 4" descr="C:\Users\MSShafigullin\Downloads\IMG_1581 (1).jpg">
            <a:extLst>
              <a:ext uri="{FF2B5EF4-FFF2-40B4-BE49-F238E27FC236}">
                <a16:creationId xmlns:a16="http://schemas.microsoft.com/office/drawing/2014/main" id="{8E39E6A7-78C7-0214-15FF-58F1E68C145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410" b="6683"/>
          <a:stretch/>
        </p:blipFill>
        <p:spPr bwMode="auto">
          <a:xfrm>
            <a:off x="6228185" y="2462660"/>
            <a:ext cx="2633499" cy="14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3" descr="C:\Users\MSShafigullin\Downloads\WhatsApp Image 2020-07-16 at 14.19.40.jpeg">
            <a:extLst>
              <a:ext uri="{FF2B5EF4-FFF2-40B4-BE49-F238E27FC236}">
                <a16:creationId xmlns:a16="http://schemas.microsoft.com/office/drawing/2014/main" id="{C5A9006C-534A-CB2A-94BE-5CFE557EDB3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45"/>
          <a:stretch/>
        </p:blipFill>
        <p:spPr bwMode="auto">
          <a:xfrm>
            <a:off x="6228184" y="873428"/>
            <a:ext cx="2633500" cy="14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E42E487-6658-FA99-6624-7145F74939EE}"/>
              </a:ext>
            </a:extLst>
          </p:cNvPr>
          <p:cNvSpPr txBox="1"/>
          <p:nvPr/>
        </p:nvSpPr>
        <p:spPr>
          <a:xfrm>
            <a:off x="1067889" y="2978422"/>
            <a:ext cx="4572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Оптимизация процесса внесения данных в КАМИС позволит сократить время обработки экспонатов, снизить нагрузку на сотрудников и повысить точность информации. Внедрение стандартов, автоматизация и распределение задач создадут устойчивую и эффективную систему учёта музейных фондов.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218F806-A2AC-A761-10EF-784C1F3ACD8A}"/>
              </a:ext>
            </a:extLst>
          </p:cNvPr>
          <p:cNvSpPr txBox="1"/>
          <p:nvPr/>
        </p:nvSpPr>
        <p:spPr>
          <a:xfrm>
            <a:off x="1067889" y="2609090"/>
            <a:ext cx="1080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Вывод</a:t>
            </a:r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937653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MSShafigullin\Desktop\Проекты\Брендбук\Гайдлайн\Презентация\презентация шаблон КФУ-01.jp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472"/>
          <a:stretch/>
        </p:blipFill>
        <p:spPr bwMode="auto">
          <a:xfrm>
            <a:off x="0" y="-31936"/>
            <a:ext cx="9144000" cy="51417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898;g89d9307d70_13_164"/>
          <p:cNvSpPr txBox="1"/>
          <p:nvPr/>
        </p:nvSpPr>
        <p:spPr>
          <a:xfrm>
            <a:off x="2123728" y="1908867"/>
            <a:ext cx="5904656" cy="9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67"/>
              <a:buFont typeface="Arial"/>
              <a:buNone/>
            </a:pPr>
            <a:r>
              <a:rPr lang="en-US" sz="3600" b="1" i="0" u="none" strike="noStrike" cap="none" dirty="0" err="1">
                <a:solidFill>
                  <a:schemeClr val="bg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Спасибо</a:t>
            </a:r>
            <a:r>
              <a:rPr lang="en-US" sz="3600" b="1" i="0" u="none" strike="noStrike" cap="none" dirty="0">
                <a:solidFill>
                  <a:schemeClr val="bg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 </a:t>
            </a:r>
            <a:r>
              <a:rPr lang="en-US" sz="3600" b="1" i="0" u="none" strike="noStrike" cap="none" dirty="0" err="1">
                <a:solidFill>
                  <a:schemeClr val="bg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за</a:t>
            </a:r>
            <a:r>
              <a:rPr lang="en-US" sz="3600" b="1" i="0" u="none" strike="noStrike" cap="none" dirty="0">
                <a:solidFill>
                  <a:schemeClr val="bg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 </a:t>
            </a:r>
            <a:r>
              <a:rPr lang="en-US" sz="3600" b="1" i="0" u="none" strike="noStrike" cap="none" dirty="0" err="1">
                <a:solidFill>
                  <a:schemeClr val="bg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внимание</a:t>
            </a:r>
            <a:r>
              <a:rPr lang="en-US" sz="3600" b="1" i="0" u="none" strike="noStrike" cap="none" dirty="0">
                <a:solidFill>
                  <a:schemeClr val="bg1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!</a:t>
            </a:r>
            <a:endParaRPr sz="3600" b="1" i="0" u="none" strike="noStrike" cap="none" dirty="0">
              <a:solidFill>
                <a:schemeClr val="bg1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E01F81E5-8EFA-4C91-9D37-F65076B7B42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811" y="656018"/>
            <a:ext cx="1554123" cy="635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899014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2937</TotalTime>
  <Words>1649</Words>
  <Application>Microsoft Macintosh PowerPoint</Application>
  <PresentationFormat>Экран (16:9)</PresentationFormat>
  <Paragraphs>266</Paragraphs>
  <Slides>21</Slides>
  <Notes>15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21</vt:i4>
      </vt:variant>
    </vt:vector>
  </HeadingPairs>
  <TitlesOfParts>
    <vt:vector size="28" baseType="lpstr">
      <vt:lpstr>Arial</vt:lpstr>
      <vt:lpstr>Calibri</vt:lpstr>
      <vt:lpstr>PT Mono</vt:lpstr>
      <vt:lpstr>PT Sans</vt:lpstr>
      <vt:lpstr>Roboto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IDEF0</vt:lpstr>
      <vt:lpstr>USM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Спагетти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Шафигуллин Марат Шарифуллович</dc:creator>
  <cp:lastModifiedBy>Aurora Tsvetkova</cp:lastModifiedBy>
  <cp:revision>82</cp:revision>
  <dcterms:created xsi:type="dcterms:W3CDTF">2020-07-15T10:53:07Z</dcterms:created>
  <dcterms:modified xsi:type="dcterms:W3CDTF">2025-04-30T13:15:12Z</dcterms:modified>
</cp:coreProperties>
</file>